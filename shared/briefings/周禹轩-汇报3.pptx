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20.xml" ContentType="application/vnd.openxmlformats-officedocument.presentationml.tags+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5691" r:id="rId2"/>
    <p:sldId id="5692" r:id="rId3"/>
    <p:sldId id="5725" r:id="rId4"/>
    <p:sldId id="5726" r:id="rId5"/>
    <p:sldId id="5727" r:id="rId6"/>
    <p:sldId id="5728" r:id="rId7"/>
    <p:sldId id="5729" r:id="rId8"/>
    <p:sldId id="5732" r:id="rId9"/>
    <p:sldId id="5730" r:id="rId10"/>
    <p:sldId id="5731" r:id="rId11"/>
    <p:sldId id="5733" r:id="rId12"/>
    <p:sldId id="5734" r:id="rId13"/>
    <p:sldId id="5739" r:id="rId14"/>
    <p:sldId id="5740" r:id="rId15"/>
    <p:sldId id="5741" r:id="rId16"/>
    <p:sldId id="5737" r:id="rId17"/>
    <p:sldId id="5738" r:id="rId18"/>
    <p:sldId id="5736" r:id="rId19"/>
    <p:sldId id="5742" r:id="rId20"/>
    <p:sldId id="5743" r:id="rId21"/>
    <p:sldId id="5744" r:id="rId22"/>
    <p:sldId id="5745" r:id="rId23"/>
    <p:sldId id="5746" r:id="rId24"/>
    <p:sldId id="5747" r:id="rId25"/>
    <p:sldId id="5748" r:id="rId26"/>
    <p:sldId id="5749" r:id="rId27"/>
    <p:sldId id="767"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1303EFA-1BE9-4BE2-B518-C061CAE0A248}">
          <p14:sldIdLst>
            <p14:sldId id="5691"/>
            <p14:sldId id="5692"/>
            <p14:sldId id="5725"/>
            <p14:sldId id="5726"/>
            <p14:sldId id="5727"/>
            <p14:sldId id="5728"/>
            <p14:sldId id="5729"/>
            <p14:sldId id="5732"/>
            <p14:sldId id="5730"/>
            <p14:sldId id="5731"/>
            <p14:sldId id="5733"/>
            <p14:sldId id="5734"/>
            <p14:sldId id="5739"/>
            <p14:sldId id="5740"/>
            <p14:sldId id="5741"/>
            <p14:sldId id="5737"/>
            <p14:sldId id="5738"/>
            <p14:sldId id="5736"/>
            <p14:sldId id="5742"/>
            <p14:sldId id="5743"/>
            <p14:sldId id="5744"/>
            <p14:sldId id="5745"/>
            <p14:sldId id="5746"/>
            <p14:sldId id="5747"/>
            <p14:sldId id="5748"/>
            <p14:sldId id="5749"/>
            <p14:sldId id="76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66BB"/>
    <a:srgbClr val="203864"/>
    <a:srgbClr val="EB9191"/>
    <a:srgbClr val="DEEBF6"/>
    <a:srgbClr val="548235"/>
    <a:srgbClr val="F2F2F2"/>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27" autoAdjust="0"/>
    <p:restoredTop sz="88140" autoAdjust="0"/>
  </p:normalViewPr>
  <p:slideViewPr>
    <p:cSldViewPr snapToGrid="0" showGuides="1">
      <p:cViewPr>
        <p:scale>
          <a:sx n="50" d="100"/>
          <a:sy n="50" d="100"/>
        </p:scale>
        <p:origin x="754" y="614"/>
      </p:cViewPr>
      <p:guideLst>
        <p:guide orient="horz" pos="2160"/>
        <p:guide pos="3840"/>
      </p:guideLst>
    </p:cSldViewPr>
  </p:slideViewPr>
  <p:outlineViewPr>
    <p:cViewPr>
      <p:scale>
        <a:sx n="66" d="100"/>
        <a:sy n="66"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A4AA46-F7C5-46F5-A1CF-9FF651DFE9F4}" type="datetimeFigureOut">
              <a:rPr lang="zh-CN" altLang="en-US" smtClean="0"/>
              <a:t>2026/8/24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386D02-A27C-4816-B8F8-2DF6E9572461}" type="slidenum">
              <a:rPr lang="zh-CN" altLang="en-US" smtClean="0"/>
              <a:t>‹#›</a:t>
            </a:fld>
            <a:endParaRPr lang="zh-CN" altLang="en-US"/>
          </a:p>
        </p:txBody>
      </p:sp>
    </p:spTree>
    <p:extLst>
      <p:ext uri="{BB962C8B-B14F-4D97-AF65-F5344CB8AC3E}">
        <p14:creationId xmlns:p14="http://schemas.microsoft.com/office/powerpoint/2010/main" val="1755589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2</a:t>
            </a:fld>
            <a:endParaRPr lang="zh-CN" altLang="en-US"/>
          </a:p>
        </p:txBody>
      </p:sp>
    </p:spTree>
    <p:extLst>
      <p:ext uri="{BB962C8B-B14F-4D97-AF65-F5344CB8AC3E}">
        <p14:creationId xmlns:p14="http://schemas.microsoft.com/office/powerpoint/2010/main" val="1526750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1.</a:t>
            </a:r>
            <a:r>
              <a:rPr lang="zh-CN" altLang="en-US"/>
              <a:t>关注机制有多少 </a:t>
            </a:r>
            <a:r>
              <a:rPr lang="en-US" altLang="zh-CN"/>
              <a:t>2.</a:t>
            </a:r>
            <a:r>
              <a:rPr lang="zh-CN" altLang="en-US"/>
              <a:t>配网市场太多种</a:t>
            </a:r>
            <a:r>
              <a:rPr lang="en-US" altLang="zh-CN">
                <a:sym typeface="Wingdings" panose="05000000000000000000" pitchFamily="2" charset="2"/>
              </a:rPr>
              <a:t></a:t>
            </a:r>
            <a:r>
              <a:rPr lang="zh-CN" altLang="en-US"/>
              <a:t>现存市场机制参考</a:t>
            </a:r>
            <a:r>
              <a:rPr lang="en-US" altLang="zh-CN">
                <a:sym typeface="Wingdings" panose="05000000000000000000" pitchFamily="2" charset="2"/>
              </a:rPr>
              <a:t></a:t>
            </a:r>
            <a:r>
              <a:rPr lang="zh-CN" altLang="en-US">
                <a:sym typeface="Wingdings" panose="05000000000000000000" pitchFamily="2" charset="2"/>
              </a:rPr>
              <a:t>评判体系 现有的市场结构来迁移 非结构化到结构化的链接 大模型的连接 </a:t>
            </a:r>
            <a:r>
              <a:rPr lang="en-US" altLang="zh-CN">
                <a:sym typeface="Wingdings" panose="05000000000000000000" pitchFamily="2" charset="2"/>
              </a:rPr>
              <a:t>3.</a:t>
            </a:r>
            <a:r>
              <a:rPr lang="zh-CN" altLang="en-US">
                <a:sym typeface="Wingdings" panose="05000000000000000000" pitchFamily="2" charset="2"/>
              </a:rPr>
              <a:t>回答问题 </a:t>
            </a:r>
            <a:r>
              <a:rPr lang="en-US" altLang="zh-CN">
                <a:sym typeface="Wingdings" panose="05000000000000000000" pitchFamily="2" charset="2"/>
              </a:rPr>
              <a:t>1.</a:t>
            </a:r>
            <a:r>
              <a:rPr lang="zh-CN" altLang="en-US">
                <a:sym typeface="Wingdings" panose="05000000000000000000" pitchFamily="2" charset="2"/>
              </a:rPr>
              <a:t>异质的模型不好建立（市场领域没人做） </a:t>
            </a:r>
            <a:r>
              <a:rPr lang="en-US" altLang="zh-CN">
                <a:sym typeface="Wingdings" panose="05000000000000000000" pitchFamily="2" charset="2"/>
              </a:rPr>
              <a:t>2.</a:t>
            </a:r>
            <a:r>
              <a:rPr lang="zh-CN" altLang="en-US">
                <a:sym typeface="Wingdings" panose="05000000000000000000" pitchFamily="2" charset="2"/>
              </a:rPr>
              <a:t>多种市场机制不好配置 </a:t>
            </a:r>
            <a:r>
              <a:rPr lang="en-US" altLang="zh-CN">
                <a:sym typeface="Wingdings" panose="05000000000000000000" pitchFamily="2" charset="2"/>
              </a:rPr>
              <a:t>3.</a:t>
            </a:r>
            <a:r>
              <a:rPr lang="zh-CN" altLang="en-US">
                <a:sym typeface="Wingdings" panose="05000000000000000000" pitchFamily="2" charset="2"/>
              </a:rPr>
              <a:t>多少种机制组合起来（假设是上百种，有没有一种方式 ） </a:t>
            </a:r>
            <a:r>
              <a:rPr lang="en-US" altLang="zh-CN">
                <a:sym typeface="Wingdings" panose="05000000000000000000" pitchFamily="2" charset="2"/>
              </a:rPr>
              <a:t>4. </a:t>
            </a:r>
            <a:r>
              <a:rPr lang="zh-CN" altLang="en-US">
                <a:sym typeface="Wingdings" panose="05000000000000000000" pitchFamily="2" charset="2"/>
              </a:rPr>
              <a:t>三种跑出新的</a:t>
            </a:r>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3</a:t>
            </a:fld>
            <a:endParaRPr lang="zh-CN" altLang="en-US"/>
          </a:p>
        </p:txBody>
      </p:sp>
    </p:spTree>
    <p:extLst>
      <p:ext uri="{BB962C8B-B14F-4D97-AF65-F5344CB8AC3E}">
        <p14:creationId xmlns:p14="http://schemas.microsoft.com/office/powerpoint/2010/main" val="1601611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a:t>自动化框架（评价标准等跑通） </a:t>
            </a:r>
            <a:r>
              <a:rPr lang="en-US" altLang="zh-CN"/>
              <a:t>2.</a:t>
            </a:r>
            <a:r>
              <a:rPr lang="zh-CN" altLang="en-US"/>
              <a:t>市场设计</a:t>
            </a:r>
            <a:r>
              <a:rPr lang="en-US" altLang="zh-CN"/>
              <a:t>Agent</a:t>
            </a:r>
            <a:r>
              <a:rPr lang="zh-CN" altLang="en-US"/>
              <a:t>（小点 </a:t>
            </a:r>
            <a:r>
              <a:rPr lang="en-US" altLang="zh-CN"/>
              <a:t>2.1 </a:t>
            </a:r>
            <a:r>
              <a:rPr lang="zh-CN" altLang="en-US"/>
              <a:t>默认模板</a:t>
            </a:r>
            <a:r>
              <a:rPr lang="en-US" altLang="zh-CN"/>
              <a:t>--》</a:t>
            </a:r>
            <a:r>
              <a:rPr lang="zh-CN" altLang="en-US"/>
              <a:t>优化逻辑 目标函数</a:t>
            </a:r>
            <a:r>
              <a:rPr lang="en-US" altLang="zh-CN"/>
              <a:t>+</a:t>
            </a:r>
            <a:r>
              <a:rPr lang="zh-CN" altLang="en-US"/>
              <a:t>约束 </a:t>
            </a:r>
            <a:r>
              <a:rPr lang="en-US" altLang="zh-CN"/>
              <a:t>2.2 </a:t>
            </a:r>
            <a:r>
              <a:rPr lang="zh-CN" altLang="en-US"/>
              <a:t>）</a:t>
            </a:r>
            <a:r>
              <a:rPr lang="en-US" altLang="zh-CN"/>
              <a:t> 3. Units</a:t>
            </a:r>
            <a:r>
              <a:rPr lang="zh-CN" altLang="en-US"/>
              <a:t>规则化</a:t>
            </a:r>
            <a:r>
              <a:rPr lang="en-US" altLang="zh-CN"/>
              <a:t>/</a:t>
            </a:r>
            <a:r>
              <a:rPr lang="zh-CN" altLang="en-US"/>
              <a:t>市场仿真器</a:t>
            </a:r>
            <a:r>
              <a:rPr lang="en-US" altLang="zh-CN"/>
              <a:t>/</a:t>
            </a:r>
            <a:r>
              <a:rPr lang="zh-CN" altLang="en-US"/>
              <a:t>几维指标  </a:t>
            </a:r>
            <a:r>
              <a:rPr lang="en-US" altLang="zh-CN"/>
              <a:t>m3 pro</a:t>
            </a:r>
          </a:p>
          <a:p>
            <a:pPr marL="228600" indent="-228600">
              <a:buAutoNum type="arabicPeriod"/>
            </a:pPr>
            <a:r>
              <a:rPr lang="zh-CN" altLang="en-US"/>
              <a:t>钟老师</a:t>
            </a:r>
            <a:endParaRPr lang="en-US" altLang="zh-CN"/>
          </a:p>
          <a:p>
            <a:pPr marL="228600" indent="-228600">
              <a:buAutoNum type="arabicPeriod"/>
            </a:pPr>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4</a:t>
            </a:fld>
            <a:endParaRPr lang="zh-CN" altLang="en-US"/>
          </a:p>
        </p:txBody>
      </p:sp>
    </p:spTree>
    <p:extLst>
      <p:ext uri="{BB962C8B-B14F-4D97-AF65-F5344CB8AC3E}">
        <p14:creationId xmlns:p14="http://schemas.microsoft.com/office/powerpoint/2010/main" val="722323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5</a:t>
            </a:fld>
            <a:endParaRPr lang="zh-CN" altLang="en-US"/>
          </a:p>
        </p:txBody>
      </p:sp>
    </p:spTree>
    <p:extLst>
      <p:ext uri="{BB962C8B-B14F-4D97-AF65-F5344CB8AC3E}">
        <p14:creationId xmlns:p14="http://schemas.microsoft.com/office/powerpoint/2010/main" val="4178614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6</a:t>
            </a:fld>
            <a:endParaRPr lang="zh-CN" altLang="en-US"/>
          </a:p>
        </p:txBody>
      </p:sp>
    </p:spTree>
    <p:extLst>
      <p:ext uri="{BB962C8B-B14F-4D97-AF65-F5344CB8AC3E}">
        <p14:creationId xmlns:p14="http://schemas.microsoft.com/office/powerpoint/2010/main" val="1155513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7</a:t>
            </a:fld>
            <a:endParaRPr lang="zh-CN" altLang="en-US"/>
          </a:p>
        </p:txBody>
      </p:sp>
    </p:spTree>
    <p:extLst>
      <p:ext uri="{BB962C8B-B14F-4D97-AF65-F5344CB8AC3E}">
        <p14:creationId xmlns:p14="http://schemas.microsoft.com/office/powerpoint/2010/main" val="845744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8</a:t>
            </a:fld>
            <a:endParaRPr lang="zh-CN" altLang="en-US"/>
          </a:p>
        </p:txBody>
      </p:sp>
    </p:spTree>
    <p:extLst>
      <p:ext uri="{BB962C8B-B14F-4D97-AF65-F5344CB8AC3E}">
        <p14:creationId xmlns:p14="http://schemas.microsoft.com/office/powerpoint/2010/main" val="2694726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9</a:t>
            </a:fld>
            <a:endParaRPr lang="zh-CN" altLang="en-US"/>
          </a:p>
        </p:txBody>
      </p:sp>
    </p:spTree>
    <p:extLst>
      <p:ext uri="{BB962C8B-B14F-4D97-AF65-F5344CB8AC3E}">
        <p14:creationId xmlns:p14="http://schemas.microsoft.com/office/powerpoint/2010/main" val="15098022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10</a:t>
            </a:fld>
            <a:endParaRPr lang="zh-CN" altLang="en-US"/>
          </a:p>
        </p:txBody>
      </p:sp>
    </p:spTree>
    <p:extLst>
      <p:ext uri="{BB962C8B-B14F-4D97-AF65-F5344CB8AC3E}">
        <p14:creationId xmlns:p14="http://schemas.microsoft.com/office/powerpoint/2010/main" val="3940095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11</a:t>
            </a:fld>
            <a:endParaRPr lang="zh-CN" altLang="en-US"/>
          </a:p>
        </p:txBody>
      </p:sp>
    </p:spTree>
    <p:extLst>
      <p:ext uri="{BB962C8B-B14F-4D97-AF65-F5344CB8AC3E}">
        <p14:creationId xmlns:p14="http://schemas.microsoft.com/office/powerpoint/2010/main" val="7277992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12</a:t>
            </a:fld>
            <a:endParaRPr lang="zh-CN" altLang="en-US"/>
          </a:p>
        </p:txBody>
      </p:sp>
    </p:spTree>
    <p:extLst>
      <p:ext uri="{BB962C8B-B14F-4D97-AF65-F5344CB8AC3E}">
        <p14:creationId xmlns:p14="http://schemas.microsoft.com/office/powerpoint/2010/main" val="23495039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13</a:t>
            </a:fld>
            <a:endParaRPr lang="zh-CN" altLang="en-US"/>
          </a:p>
        </p:txBody>
      </p:sp>
    </p:spTree>
    <p:extLst>
      <p:ext uri="{BB962C8B-B14F-4D97-AF65-F5344CB8AC3E}">
        <p14:creationId xmlns:p14="http://schemas.microsoft.com/office/powerpoint/2010/main" val="13813029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14</a:t>
            </a:fld>
            <a:endParaRPr lang="zh-CN" altLang="en-US"/>
          </a:p>
        </p:txBody>
      </p:sp>
    </p:spTree>
    <p:extLst>
      <p:ext uri="{BB962C8B-B14F-4D97-AF65-F5344CB8AC3E}">
        <p14:creationId xmlns:p14="http://schemas.microsoft.com/office/powerpoint/2010/main" val="10379682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15</a:t>
            </a:fld>
            <a:endParaRPr lang="zh-CN" altLang="en-US"/>
          </a:p>
        </p:txBody>
      </p:sp>
    </p:spTree>
    <p:extLst>
      <p:ext uri="{BB962C8B-B14F-4D97-AF65-F5344CB8AC3E}">
        <p14:creationId xmlns:p14="http://schemas.microsoft.com/office/powerpoint/2010/main" val="40952460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16</a:t>
            </a:fld>
            <a:endParaRPr lang="zh-CN" altLang="en-US"/>
          </a:p>
        </p:txBody>
      </p:sp>
    </p:spTree>
    <p:extLst>
      <p:ext uri="{BB962C8B-B14F-4D97-AF65-F5344CB8AC3E}">
        <p14:creationId xmlns:p14="http://schemas.microsoft.com/office/powerpoint/2010/main" val="16733175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17</a:t>
            </a:fld>
            <a:endParaRPr lang="zh-CN" altLang="en-US"/>
          </a:p>
        </p:txBody>
      </p:sp>
    </p:spTree>
    <p:extLst>
      <p:ext uri="{BB962C8B-B14F-4D97-AF65-F5344CB8AC3E}">
        <p14:creationId xmlns:p14="http://schemas.microsoft.com/office/powerpoint/2010/main" val="30922238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18</a:t>
            </a:fld>
            <a:endParaRPr lang="zh-CN" altLang="en-US"/>
          </a:p>
        </p:txBody>
      </p:sp>
    </p:spTree>
    <p:extLst>
      <p:ext uri="{BB962C8B-B14F-4D97-AF65-F5344CB8AC3E}">
        <p14:creationId xmlns:p14="http://schemas.microsoft.com/office/powerpoint/2010/main" val="2986305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19</a:t>
            </a:fld>
            <a:endParaRPr lang="zh-CN" altLang="en-US"/>
          </a:p>
        </p:txBody>
      </p:sp>
    </p:spTree>
    <p:extLst>
      <p:ext uri="{BB962C8B-B14F-4D97-AF65-F5344CB8AC3E}">
        <p14:creationId xmlns:p14="http://schemas.microsoft.com/office/powerpoint/2010/main" val="10997592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20</a:t>
            </a:fld>
            <a:endParaRPr lang="zh-CN" altLang="en-US"/>
          </a:p>
        </p:txBody>
      </p:sp>
    </p:spTree>
    <p:extLst>
      <p:ext uri="{BB962C8B-B14F-4D97-AF65-F5344CB8AC3E}">
        <p14:creationId xmlns:p14="http://schemas.microsoft.com/office/powerpoint/2010/main" val="6484662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块交易的约束表达 互斥块  满足时间长度的块</a:t>
            </a:r>
          </a:p>
        </p:txBody>
      </p:sp>
      <p:sp>
        <p:nvSpPr>
          <p:cNvPr id="4" name="灯片编号占位符 3"/>
          <p:cNvSpPr>
            <a:spLocks noGrp="1"/>
          </p:cNvSpPr>
          <p:nvPr>
            <p:ph type="sldNum" sz="quarter" idx="5"/>
          </p:nvPr>
        </p:nvSpPr>
        <p:spPr/>
        <p:txBody>
          <a:bodyPr/>
          <a:lstStyle/>
          <a:p>
            <a:fld id="{0F386D02-A27C-4816-B8F8-2DF6E9572461}" type="slidenum">
              <a:rPr lang="zh-CN" altLang="en-US" smtClean="0"/>
              <a:t>23</a:t>
            </a:fld>
            <a:endParaRPr lang="zh-CN" altLang="en-US"/>
          </a:p>
        </p:txBody>
      </p:sp>
    </p:spTree>
    <p:extLst>
      <p:ext uri="{BB962C8B-B14F-4D97-AF65-F5344CB8AC3E}">
        <p14:creationId xmlns:p14="http://schemas.microsoft.com/office/powerpoint/2010/main" val="3177799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用户设计权重</a:t>
            </a:r>
          </a:p>
        </p:txBody>
      </p:sp>
      <p:sp>
        <p:nvSpPr>
          <p:cNvPr id="4" name="灯片编号占位符 3"/>
          <p:cNvSpPr>
            <a:spLocks noGrp="1"/>
          </p:cNvSpPr>
          <p:nvPr>
            <p:ph type="sldNum" sz="quarter" idx="5"/>
          </p:nvPr>
        </p:nvSpPr>
        <p:spPr/>
        <p:txBody>
          <a:bodyPr/>
          <a:lstStyle/>
          <a:p>
            <a:fld id="{0F386D02-A27C-4816-B8F8-2DF6E9572461}" type="slidenum">
              <a:rPr lang="zh-CN" altLang="en-US" smtClean="0"/>
              <a:t>24</a:t>
            </a:fld>
            <a:endParaRPr lang="zh-CN" altLang="en-US"/>
          </a:p>
        </p:txBody>
      </p:sp>
    </p:spTree>
    <p:extLst>
      <p:ext uri="{BB962C8B-B14F-4D97-AF65-F5344CB8AC3E}">
        <p14:creationId xmlns:p14="http://schemas.microsoft.com/office/powerpoint/2010/main" val="37351453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386D02-A27C-4816-B8F8-2DF6E9572461}" type="slidenum">
              <a:rPr lang="zh-CN" altLang="en-US" smtClean="0"/>
              <a:t>26</a:t>
            </a:fld>
            <a:endParaRPr lang="zh-CN" altLang="en-US"/>
          </a:p>
        </p:txBody>
      </p:sp>
    </p:spTree>
    <p:extLst>
      <p:ext uri="{BB962C8B-B14F-4D97-AF65-F5344CB8AC3E}">
        <p14:creationId xmlns:p14="http://schemas.microsoft.com/office/powerpoint/2010/main" val="3573907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9FEE1E-88D1-628B-78A6-F1F30DED2F4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C5EA8A1-91AF-794A-9094-FD4AFD8538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182B12B-2B11-F72D-7D2D-849E74CC65F7}"/>
              </a:ext>
            </a:extLst>
          </p:cNvPr>
          <p:cNvSpPr>
            <a:spLocks noGrp="1"/>
          </p:cNvSpPr>
          <p:nvPr>
            <p:ph type="dt" sz="half" idx="10"/>
          </p:nvPr>
        </p:nvSpPr>
        <p:spPr/>
        <p:txBody>
          <a:bodyPr/>
          <a:lstStyle/>
          <a:p>
            <a:fld id="{367A4E34-2F71-4963-86D7-17E7EF8C3E10}" type="datetimeFigureOut">
              <a:rPr lang="zh-CN" altLang="en-US" smtClean="0"/>
              <a:t>2026/8/24</a:t>
            </a:fld>
            <a:endParaRPr lang="zh-CN" altLang="en-US"/>
          </a:p>
        </p:txBody>
      </p:sp>
      <p:sp>
        <p:nvSpPr>
          <p:cNvPr id="5" name="页脚占位符 4">
            <a:extLst>
              <a:ext uri="{FF2B5EF4-FFF2-40B4-BE49-F238E27FC236}">
                <a16:creationId xmlns:a16="http://schemas.microsoft.com/office/drawing/2014/main" id="{03271EF8-AF18-E655-4D8F-782583147CE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A3CAB53-165E-614A-8507-0175667A1F62}"/>
              </a:ext>
            </a:extLst>
          </p:cNvPr>
          <p:cNvSpPr>
            <a:spLocks noGrp="1"/>
          </p:cNvSpPr>
          <p:nvPr>
            <p:ph type="sldNum" sz="quarter" idx="12"/>
          </p:nvPr>
        </p:nvSpPr>
        <p:spPr/>
        <p:txBody>
          <a:bodyPr/>
          <a:lstStyle/>
          <a:p>
            <a:fld id="{62774681-0E17-4486-A577-D49B0DDE0E46}" type="slidenum">
              <a:rPr lang="zh-CN" altLang="en-US" smtClean="0"/>
              <a:t>‹#›</a:t>
            </a:fld>
            <a:endParaRPr lang="zh-CN" altLang="en-US"/>
          </a:p>
        </p:txBody>
      </p:sp>
    </p:spTree>
    <p:extLst>
      <p:ext uri="{BB962C8B-B14F-4D97-AF65-F5344CB8AC3E}">
        <p14:creationId xmlns:p14="http://schemas.microsoft.com/office/powerpoint/2010/main" val="4197062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5AD4E0-D721-4797-D78D-34C613DC3AE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9E437B3-F58B-9FD0-E99D-B2CF33E0D87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47A7E1-F647-E639-0ED4-1823A5AB3065}"/>
              </a:ext>
            </a:extLst>
          </p:cNvPr>
          <p:cNvSpPr>
            <a:spLocks noGrp="1"/>
          </p:cNvSpPr>
          <p:nvPr>
            <p:ph type="dt" sz="half" idx="10"/>
          </p:nvPr>
        </p:nvSpPr>
        <p:spPr/>
        <p:txBody>
          <a:bodyPr/>
          <a:lstStyle/>
          <a:p>
            <a:fld id="{367A4E34-2F71-4963-86D7-17E7EF8C3E10}" type="datetimeFigureOut">
              <a:rPr lang="zh-CN" altLang="en-US" smtClean="0"/>
              <a:t>2026/8/24</a:t>
            </a:fld>
            <a:endParaRPr lang="zh-CN" altLang="en-US"/>
          </a:p>
        </p:txBody>
      </p:sp>
      <p:sp>
        <p:nvSpPr>
          <p:cNvPr id="5" name="页脚占位符 4">
            <a:extLst>
              <a:ext uri="{FF2B5EF4-FFF2-40B4-BE49-F238E27FC236}">
                <a16:creationId xmlns:a16="http://schemas.microsoft.com/office/drawing/2014/main" id="{32FA28EE-50D0-AE1E-F4F2-EC6B3EE408F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B6C906-9600-BED9-AAD7-3E9110087B7E}"/>
              </a:ext>
            </a:extLst>
          </p:cNvPr>
          <p:cNvSpPr>
            <a:spLocks noGrp="1"/>
          </p:cNvSpPr>
          <p:nvPr>
            <p:ph type="sldNum" sz="quarter" idx="12"/>
          </p:nvPr>
        </p:nvSpPr>
        <p:spPr/>
        <p:txBody>
          <a:bodyPr/>
          <a:lstStyle/>
          <a:p>
            <a:fld id="{62774681-0E17-4486-A577-D49B0DDE0E46}" type="slidenum">
              <a:rPr lang="zh-CN" altLang="en-US" smtClean="0"/>
              <a:t>‹#›</a:t>
            </a:fld>
            <a:endParaRPr lang="zh-CN" altLang="en-US"/>
          </a:p>
        </p:txBody>
      </p:sp>
    </p:spTree>
    <p:extLst>
      <p:ext uri="{BB962C8B-B14F-4D97-AF65-F5344CB8AC3E}">
        <p14:creationId xmlns:p14="http://schemas.microsoft.com/office/powerpoint/2010/main" val="2283953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B077F7-C180-C110-588E-09792AD9E99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A6AAB71-71EF-F91A-E862-5EFD047426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B335EE9-5FD1-8F66-12FC-02E8D22EC0D5}"/>
              </a:ext>
            </a:extLst>
          </p:cNvPr>
          <p:cNvSpPr>
            <a:spLocks noGrp="1"/>
          </p:cNvSpPr>
          <p:nvPr>
            <p:ph type="dt" sz="half" idx="10"/>
          </p:nvPr>
        </p:nvSpPr>
        <p:spPr/>
        <p:txBody>
          <a:bodyPr/>
          <a:lstStyle/>
          <a:p>
            <a:fld id="{367A4E34-2F71-4963-86D7-17E7EF8C3E10}" type="datetimeFigureOut">
              <a:rPr lang="zh-CN" altLang="en-US" smtClean="0"/>
              <a:t>2026/8/24</a:t>
            </a:fld>
            <a:endParaRPr lang="zh-CN" altLang="en-US"/>
          </a:p>
        </p:txBody>
      </p:sp>
      <p:sp>
        <p:nvSpPr>
          <p:cNvPr id="5" name="页脚占位符 4">
            <a:extLst>
              <a:ext uri="{FF2B5EF4-FFF2-40B4-BE49-F238E27FC236}">
                <a16:creationId xmlns:a16="http://schemas.microsoft.com/office/drawing/2014/main" id="{19C0A1A3-376C-9893-9764-2E559BDF4A5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756D5E8-8BCD-AD6A-C84E-F51A2C8DF532}"/>
              </a:ext>
            </a:extLst>
          </p:cNvPr>
          <p:cNvSpPr>
            <a:spLocks noGrp="1"/>
          </p:cNvSpPr>
          <p:nvPr>
            <p:ph type="sldNum" sz="quarter" idx="12"/>
          </p:nvPr>
        </p:nvSpPr>
        <p:spPr/>
        <p:txBody>
          <a:bodyPr/>
          <a:lstStyle/>
          <a:p>
            <a:fld id="{62774681-0E17-4486-A577-D49B0DDE0E46}" type="slidenum">
              <a:rPr lang="zh-CN" altLang="en-US" smtClean="0"/>
              <a:t>‹#›</a:t>
            </a:fld>
            <a:endParaRPr lang="zh-CN" altLang="en-US"/>
          </a:p>
        </p:txBody>
      </p:sp>
    </p:spTree>
    <p:extLst>
      <p:ext uri="{BB962C8B-B14F-4D97-AF65-F5344CB8AC3E}">
        <p14:creationId xmlns:p14="http://schemas.microsoft.com/office/powerpoint/2010/main" val="139988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69D610-1417-E5A0-7C01-98B9BDB15EC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1BF4A45-C967-5427-573C-A2FE2E8CA40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B7DE63B-0AE2-5CC8-FCEC-BAE8C609B68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302D41F-B833-0ABD-7952-04D20E74940D}"/>
              </a:ext>
            </a:extLst>
          </p:cNvPr>
          <p:cNvSpPr>
            <a:spLocks noGrp="1"/>
          </p:cNvSpPr>
          <p:nvPr>
            <p:ph type="dt" sz="half" idx="10"/>
          </p:nvPr>
        </p:nvSpPr>
        <p:spPr/>
        <p:txBody>
          <a:bodyPr/>
          <a:lstStyle/>
          <a:p>
            <a:fld id="{367A4E34-2F71-4963-86D7-17E7EF8C3E10}" type="datetimeFigureOut">
              <a:rPr lang="zh-CN" altLang="en-US" smtClean="0"/>
              <a:t>2026/8/24</a:t>
            </a:fld>
            <a:endParaRPr lang="zh-CN" altLang="en-US"/>
          </a:p>
        </p:txBody>
      </p:sp>
      <p:sp>
        <p:nvSpPr>
          <p:cNvPr id="6" name="页脚占位符 5">
            <a:extLst>
              <a:ext uri="{FF2B5EF4-FFF2-40B4-BE49-F238E27FC236}">
                <a16:creationId xmlns:a16="http://schemas.microsoft.com/office/drawing/2014/main" id="{E16D4C73-56A2-800D-5589-4CF7277167A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D4E3355-5668-65AB-181C-6E46F9535899}"/>
              </a:ext>
            </a:extLst>
          </p:cNvPr>
          <p:cNvSpPr>
            <a:spLocks noGrp="1"/>
          </p:cNvSpPr>
          <p:nvPr>
            <p:ph type="sldNum" sz="quarter" idx="12"/>
          </p:nvPr>
        </p:nvSpPr>
        <p:spPr/>
        <p:txBody>
          <a:bodyPr/>
          <a:lstStyle/>
          <a:p>
            <a:fld id="{62774681-0E17-4486-A577-D49B0DDE0E46}" type="slidenum">
              <a:rPr lang="zh-CN" altLang="en-US" smtClean="0"/>
              <a:t>‹#›</a:t>
            </a:fld>
            <a:endParaRPr lang="zh-CN" altLang="en-US"/>
          </a:p>
        </p:txBody>
      </p:sp>
    </p:spTree>
    <p:extLst>
      <p:ext uri="{BB962C8B-B14F-4D97-AF65-F5344CB8AC3E}">
        <p14:creationId xmlns:p14="http://schemas.microsoft.com/office/powerpoint/2010/main" val="1051942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AECB88-2721-9B47-62E0-DAD93F1DCA7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3E4D75C-7FBE-F2FD-2565-0AB64385E5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2576D27-312F-6232-FBCA-D3A664E8465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1D5B534-66E6-9C7B-47BB-D6B7A78429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AA84168-A447-9821-8129-327A8B70F60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FB0F6C1-0671-9667-DB90-C5085AB7F1D4}"/>
              </a:ext>
            </a:extLst>
          </p:cNvPr>
          <p:cNvSpPr>
            <a:spLocks noGrp="1"/>
          </p:cNvSpPr>
          <p:nvPr>
            <p:ph type="dt" sz="half" idx="10"/>
          </p:nvPr>
        </p:nvSpPr>
        <p:spPr/>
        <p:txBody>
          <a:bodyPr/>
          <a:lstStyle/>
          <a:p>
            <a:fld id="{367A4E34-2F71-4963-86D7-17E7EF8C3E10}" type="datetimeFigureOut">
              <a:rPr lang="zh-CN" altLang="en-US" smtClean="0"/>
              <a:t>2026/8/24</a:t>
            </a:fld>
            <a:endParaRPr lang="zh-CN" altLang="en-US"/>
          </a:p>
        </p:txBody>
      </p:sp>
      <p:sp>
        <p:nvSpPr>
          <p:cNvPr id="8" name="页脚占位符 7">
            <a:extLst>
              <a:ext uri="{FF2B5EF4-FFF2-40B4-BE49-F238E27FC236}">
                <a16:creationId xmlns:a16="http://schemas.microsoft.com/office/drawing/2014/main" id="{F2571D98-BD8E-22EE-2794-590B69054FF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4ADC48C-331A-6C52-F1FA-863B972D3122}"/>
              </a:ext>
            </a:extLst>
          </p:cNvPr>
          <p:cNvSpPr>
            <a:spLocks noGrp="1"/>
          </p:cNvSpPr>
          <p:nvPr>
            <p:ph type="sldNum" sz="quarter" idx="12"/>
          </p:nvPr>
        </p:nvSpPr>
        <p:spPr/>
        <p:txBody>
          <a:bodyPr/>
          <a:lstStyle/>
          <a:p>
            <a:fld id="{62774681-0E17-4486-A577-D49B0DDE0E46}" type="slidenum">
              <a:rPr lang="zh-CN" altLang="en-US" smtClean="0"/>
              <a:t>‹#›</a:t>
            </a:fld>
            <a:endParaRPr lang="zh-CN" altLang="en-US"/>
          </a:p>
        </p:txBody>
      </p:sp>
    </p:spTree>
    <p:extLst>
      <p:ext uri="{BB962C8B-B14F-4D97-AF65-F5344CB8AC3E}">
        <p14:creationId xmlns:p14="http://schemas.microsoft.com/office/powerpoint/2010/main" val="854755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D76703-8271-A6E7-6F0B-91D09FE9E3A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A299C59-C10C-FF14-9E8C-546F5FC574FE}"/>
              </a:ext>
            </a:extLst>
          </p:cNvPr>
          <p:cNvSpPr>
            <a:spLocks noGrp="1"/>
          </p:cNvSpPr>
          <p:nvPr>
            <p:ph type="dt" sz="half" idx="10"/>
          </p:nvPr>
        </p:nvSpPr>
        <p:spPr/>
        <p:txBody>
          <a:bodyPr/>
          <a:lstStyle/>
          <a:p>
            <a:fld id="{367A4E34-2F71-4963-86D7-17E7EF8C3E10}" type="datetimeFigureOut">
              <a:rPr lang="zh-CN" altLang="en-US" smtClean="0"/>
              <a:t>2026/8/24</a:t>
            </a:fld>
            <a:endParaRPr lang="zh-CN" altLang="en-US"/>
          </a:p>
        </p:txBody>
      </p:sp>
      <p:sp>
        <p:nvSpPr>
          <p:cNvPr id="4" name="页脚占位符 3">
            <a:extLst>
              <a:ext uri="{FF2B5EF4-FFF2-40B4-BE49-F238E27FC236}">
                <a16:creationId xmlns:a16="http://schemas.microsoft.com/office/drawing/2014/main" id="{34E7BBA4-182E-89EF-60C9-15312C37BEE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1BC87D4-8331-C921-0F8E-21D17DB3156B}"/>
              </a:ext>
            </a:extLst>
          </p:cNvPr>
          <p:cNvSpPr>
            <a:spLocks noGrp="1"/>
          </p:cNvSpPr>
          <p:nvPr>
            <p:ph type="sldNum" sz="quarter" idx="12"/>
          </p:nvPr>
        </p:nvSpPr>
        <p:spPr/>
        <p:txBody>
          <a:bodyPr/>
          <a:lstStyle/>
          <a:p>
            <a:fld id="{62774681-0E17-4486-A577-D49B0DDE0E46}" type="slidenum">
              <a:rPr lang="zh-CN" altLang="en-US" smtClean="0"/>
              <a:t>‹#›</a:t>
            </a:fld>
            <a:endParaRPr lang="zh-CN" altLang="en-US"/>
          </a:p>
        </p:txBody>
      </p:sp>
    </p:spTree>
    <p:extLst>
      <p:ext uri="{BB962C8B-B14F-4D97-AF65-F5344CB8AC3E}">
        <p14:creationId xmlns:p14="http://schemas.microsoft.com/office/powerpoint/2010/main" val="365143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2BB06A8-0B7C-E545-C1A9-0B88DE6BE509}"/>
              </a:ext>
            </a:extLst>
          </p:cNvPr>
          <p:cNvSpPr>
            <a:spLocks noGrp="1"/>
          </p:cNvSpPr>
          <p:nvPr>
            <p:ph type="dt" sz="half" idx="10"/>
          </p:nvPr>
        </p:nvSpPr>
        <p:spPr/>
        <p:txBody>
          <a:bodyPr/>
          <a:lstStyle/>
          <a:p>
            <a:fld id="{367A4E34-2F71-4963-86D7-17E7EF8C3E10}" type="datetimeFigureOut">
              <a:rPr lang="zh-CN" altLang="en-US" smtClean="0"/>
              <a:t>2026/8/24</a:t>
            </a:fld>
            <a:endParaRPr lang="zh-CN" altLang="en-US"/>
          </a:p>
        </p:txBody>
      </p:sp>
      <p:sp>
        <p:nvSpPr>
          <p:cNvPr id="3" name="页脚占位符 2">
            <a:extLst>
              <a:ext uri="{FF2B5EF4-FFF2-40B4-BE49-F238E27FC236}">
                <a16:creationId xmlns:a16="http://schemas.microsoft.com/office/drawing/2014/main" id="{4E4576D7-B74F-FA9E-7960-5F8075F4420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7C5835D-DF6F-7F02-130E-06FE2C633C74}"/>
              </a:ext>
            </a:extLst>
          </p:cNvPr>
          <p:cNvSpPr>
            <a:spLocks noGrp="1"/>
          </p:cNvSpPr>
          <p:nvPr>
            <p:ph type="sldNum" sz="quarter" idx="12"/>
          </p:nvPr>
        </p:nvSpPr>
        <p:spPr/>
        <p:txBody>
          <a:bodyPr/>
          <a:lstStyle/>
          <a:p>
            <a:fld id="{62774681-0E17-4486-A577-D49B0DDE0E46}" type="slidenum">
              <a:rPr lang="zh-CN" altLang="en-US" smtClean="0"/>
              <a:t>‹#›</a:t>
            </a:fld>
            <a:endParaRPr lang="zh-CN" altLang="en-US"/>
          </a:p>
        </p:txBody>
      </p:sp>
    </p:spTree>
    <p:extLst>
      <p:ext uri="{BB962C8B-B14F-4D97-AF65-F5344CB8AC3E}">
        <p14:creationId xmlns:p14="http://schemas.microsoft.com/office/powerpoint/2010/main" val="3015252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FE3B6-10F1-8C8A-049B-081F6D7CEDA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D4F67AF-B508-EF2E-213A-856DF0A706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4560E80-7EB0-E6F8-BF11-D1D099C0BC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0034A6A-2EE9-A3CA-605A-9D453D6A4F7A}"/>
              </a:ext>
            </a:extLst>
          </p:cNvPr>
          <p:cNvSpPr>
            <a:spLocks noGrp="1"/>
          </p:cNvSpPr>
          <p:nvPr>
            <p:ph type="dt" sz="half" idx="10"/>
          </p:nvPr>
        </p:nvSpPr>
        <p:spPr/>
        <p:txBody>
          <a:bodyPr/>
          <a:lstStyle/>
          <a:p>
            <a:fld id="{367A4E34-2F71-4963-86D7-17E7EF8C3E10}" type="datetimeFigureOut">
              <a:rPr lang="zh-CN" altLang="en-US" smtClean="0"/>
              <a:t>2026/8/24</a:t>
            </a:fld>
            <a:endParaRPr lang="zh-CN" altLang="en-US"/>
          </a:p>
        </p:txBody>
      </p:sp>
      <p:sp>
        <p:nvSpPr>
          <p:cNvPr id="6" name="页脚占位符 5">
            <a:extLst>
              <a:ext uri="{FF2B5EF4-FFF2-40B4-BE49-F238E27FC236}">
                <a16:creationId xmlns:a16="http://schemas.microsoft.com/office/drawing/2014/main" id="{44AF32B9-CD2B-B7FA-8EE8-C9F62508A36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724CEB7-BAB5-61D7-38D7-18E2CBB1B940}"/>
              </a:ext>
            </a:extLst>
          </p:cNvPr>
          <p:cNvSpPr>
            <a:spLocks noGrp="1"/>
          </p:cNvSpPr>
          <p:nvPr>
            <p:ph type="sldNum" sz="quarter" idx="12"/>
          </p:nvPr>
        </p:nvSpPr>
        <p:spPr/>
        <p:txBody>
          <a:bodyPr/>
          <a:lstStyle/>
          <a:p>
            <a:fld id="{62774681-0E17-4486-A577-D49B0DDE0E46}" type="slidenum">
              <a:rPr lang="zh-CN" altLang="en-US" smtClean="0"/>
              <a:t>‹#›</a:t>
            </a:fld>
            <a:endParaRPr lang="zh-CN" altLang="en-US"/>
          </a:p>
        </p:txBody>
      </p:sp>
    </p:spTree>
    <p:extLst>
      <p:ext uri="{BB962C8B-B14F-4D97-AF65-F5344CB8AC3E}">
        <p14:creationId xmlns:p14="http://schemas.microsoft.com/office/powerpoint/2010/main" val="528049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38FB34-7C94-A71E-71AB-E9780C6F561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F5636D9-ED60-A5BF-5DE0-485C435B28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13EFD80-77C9-3D3C-7AE7-663493312F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C1D5A7B-9EA3-0ADF-4F9A-620653EFA8C9}"/>
              </a:ext>
            </a:extLst>
          </p:cNvPr>
          <p:cNvSpPr>
            <a:spLocks noGrp="1"/>
          </p:cNvSpPr>
          <p:nvPr>
            <p:ph type="dt" sz="half" idx="10"/>
          </p:nvPr>
        </p:nvSpPr>
        <p:spPr/>
        <p:txBody>
          <a:bodyPr/>
          <a:lstStyle/>
          <a:p>
            <a:fld id="{367A4E34-2F71-4963-86D7-17E7EF8C3E10}" type="datetimeFigureOut">
              <a:rPr lang="zh-CN" altLang="en-US" smtClean="0"/>
              <a:t>2026/8/24</a:t>
            </a:fld>
            <a:endParaRPr lang="zh-CN" altLang="en-US"/>
          </a:p>
        </p:txBody>
      </p:sp>
      <p:sp>
        <p:nvSpPr>
          <p:cNvPr id="6" name="页脚占位符 5">
            <a:extLst>
              <a:ext uri="{FF2B5EF4-FFF2-40B4-BE49-F238E27FC236}">
                <a16:creationId xmlns:a16="http://schemas.microsoft.com/office/drawing/2014/main" id="{A22E683E-67A1-30F0-3769-280C8A08AB1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5B17DF1-03A9-C189-671A-F51A0B0B3527}"/>
              </a:ext>
            </a:extLst>
          </p:cNvPr>
          <p:cNvSpPr>
            <a:spLocks noGrp="1"/>
          </p:cNvSpPr>
          <p:nvPr>
            <p:ph type="sldNum" sz="quarter" idx="12"/>
          </p:nvPr>
        </p:nvSpPr>
        <p:spPr/>
        <p:txBody>
          <a:bodyPr/>
          <a:lstStyle/>
          <a:p>
            <a:fld id="{62774681-0E17-4486-A577-D49B0DDE0E46}" type="slidenum">
              <a:rPr lang="zh-CN" altLang="en-US" smtClean="0"/>
              <a:t>‹#›</a:t>
            </a:fld>
            <a:endParaRPr lang="zh-CN" altLang="en-US"/>
          </a:p>
        </p:txBody>
      </p:sp>
    </p:spTree>
    <p:extLst>
      <p:ext uri="{BB962C8B-B14F-4D97-AF65-F5344CB8AC3E}">
        <p14:creationId xmlns:p14="http://schemas.microsoft.com/office/powerpoint/2010/main" val="1340034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40EFD2-094C-F32B-43CA-C4D38FF6354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16223D8-52AF-5BF1-0405-2C3144E10DA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28380D6-4FB4-875B-9C2A-946320660509}"/>
              </a:ext>
            </a:extLst>
          </p:cNvPr>
          <p:cNvSpPr>
            <a:spLocks noGrp="1"/>
          </p:cNvSpPr>
          <p:nvPr>
            <p:ph type="dt" sz="half" idx="10"/>
          </p:nvPr>
        </p:nvSpPr>
        <p:spPr/>
        <p:txBody>
          <a:bodyPr/>
          <a:lstStyle/>
          <a:p>
            <a:fld id="{367A4E34-2F71-4963-86D7-17E7EF8C3E10}" type="datetimeFigureOut">
              <a:rPr lang="zh-CN" altLang="en-US" smtClean="0"/>
              <a:t>2026/8/24</a:t>
            </a:fld>
            <a:endParaRPr lang="zh-CN" altLang="en-US"/>
          </a:p>
        </p:txBody>
      </p:sp>
      <p:sp>
        <p:nvSpPr>
          <p:cNvPr id="5" name="页脚占位符 4">
            <a:extLst>
              <a:ext uri="{FF2B5EF4-FFF2-40B4-BE49-F238E27FC236}">
                <a16:creationId xmlns:a16="http://schemas.microsoft.com/office/drawing/2014/main" id="{4BC768C3-076A-B561-808C-F099E297E10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E115B55-69E0-3BFA-EA1A-1E191CC74D65}"/>
              </a:ext>
            </a:extLst>
          </p:cNvPr>
          <p:cNvSpPr>
            <a:spLocks noGrp="1"/>
          </p:cNvSpPr>
          <p:nvPr>
            <p:ph type="sldNum" sz="quarter" idx="12"/>
          </p:nvPr>
        </p:nvSpPr>
        <p:spPr/>
        <p:txBody>
          <a:bodyPr/>
          <a:lstStyle/>
          <a:p>
            <a:fld id="{62774681-0E17-4486-A577-D49B0DDE0E46}" type="slidenum">
              <a:rPr lang="zh-CN" altLang="en-US" smtClean="0"/>
              <a:t>‹#›</a:t>
            </a:fld>
            <a:endParaRPr lang="zh-CN" altLang="en-US"/>
          </a:p>
        </p:txBody>
      </p:sp>
    </p:spTree>
    <p:extLst>
      <p:ext uri="{BB962C8B-B14F-4D97-AF65-F5344CB8AC3E}">
        <p14:creationId xmlns:p14="http://schemas.microsoft.com/office/powerpoint/2010/main" val="752286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2541B29-EFF5-1EB5-9163-50E8B3CE3C0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70267D9-8D1C-3002-CF6C-6C7685E95E0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35FA3E1-A851-B362-5EFB-391B09CA9747}"/>
              </a:ext>
            </a:extLst>
          </p:cNvPr>
          <p:cNvSpPr>
            <a:spLocks noGrp="1"/>
          </p:cNvSpPr>
          <p:nvPr>
            <p:ph type="dt" sz="half" idx="10"/>
          </p:nvPr>
        </p:nvSpPr>
        <p:spPr/>
        <p:txBody>
          <a:bodyPr/>
          <a:lstStyle/>
          <a:p>
            <a:fld id="{367A4E34-2F71-4963-86D7-17E7EF8C3E10}" type="datetimeFigureOut">
              <a:rPr lang="zh-CN" altLang="en-US" smtClean="0"/>
              <a:t>2026/8/24</a:t>
            </a:fld>
            <a:endParaRPr lang="zh-CN" altLang="en-US"/>
          </a:p>
        </p:txBody>
      </p:sp>
      <p:sp>
        <p:nvSpPr>
          <p:cNvPr id="5" name="页脚占位符 4">
            <a:extLst>
              <a:ext uri="{FF2B5EF4-FFF2-40B4-BE49-F238E27FC236}">
                <a16:creationId xmlns:a16="http://schemas.microsoft.com/office/drawing/2014/main" id="{43CBC3B9-D80E-5DDD-EBE6-A77E17992B3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6D3C051-8D53-2E34-EA25-AB7CC0619045}"/>
              </a:ext>
            </a:extLst>
          </p:cNvPr>
          <p:cNvSpPr>
            <a:spLocks noGrp="1"/>
          </p:cNvSpPr>
          <p:nvPr>
            <p:ph type="sldNum" sz="quarter" idx="12"/>
          </p:nvPr>
        </p:nvSpPr>
        <p:spPr/>
        <p:txBody>
          <a:bodyPr/>
          <a:lstStyle/>
          <a:p>
            <a:fld id="{62774681-0E17-4486-A577-D49B0DDE0E46}" type="slidenum">
              <a:rPr lang="zh-CN" altLang="en-US" smtClean="0"/>
              <a:t>‹#›</a:t>
            </a:fld>
            <a:endParaRPr lang="zh-CN" altLang="en-US"/>
          </a:p>
        </p:txBody>
      </p:sp>
    </p:spTree>
    <p:extLst>
      <p:ext uri="{BB962C8B-B14F-4D97-AF65-F5344CB8AC3E}">
        <p14:creationId xmlns:p14="http://schemas.microsoft.com/office/powerpoint/2010/main" val="15892120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127062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首页">
    <p:spTree>
      <p:nvGrpSpPr>
        <p:cNvPr id="1" name=""/>
        <p:cNvGrpSpPr/>
        <p:nvPr/>
      </p:nvGrpSpPr>
      <p:grpSpPr>
        <a:xfrm>
          <a:off x="0" y="0"/>
          <a:ext cx="0" cy="0"/>
          <a:chOff x="0" y="0"/>
          <a:chExt cx="0" cy="0"/>
        </a:xfrm>
      </p:grpSpPr>
      <p:sp>
        <p:nvSpPr>
          <p:cNvPr id="2" name="矩形 1"/>
          <p:cNvSpPr/>
          <p:nvPr userDrawn="1"/>
        </p:nvSpPr>
        <p:spPr>
          <a:xfrm>
            <a:off x="0" y="914400"/>
            <a:ext cx="12192000" cy="10795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grpSp>
        <p:nvGrpSpPr>
          <p:cNvPr id="3" name="组合 6"/>
          <p:cNvGrpSpPr/>
          <p:nvPr userDrawn="1"/>
        </p:nvGrpSpPr>
        <p:grpSpPr bwMode="auto">
          <a:xfrm>
            <a:off x="410949" y="68264"/>
            <a:ext cx="1799288" cy="1800225"/>
            <a:chOff x="925401" y="3148271"/>
            <a:chExt cx="1800000" cy="1800000"/>
          </a:xfrm>
        </p:grpSpPr>
        <p:sp>
          <p:nvSpPr>
            <p:cNvPr id="4" name="椭圆 3"/>
            <p:cNvSpPr/>
            <p:nvPr userDrawn="1"/>
          </p:nvSpPr>
          <p:spPr>
            <a:xfrm>
              <a:off x="925401" y="3148271"/>
              <a:ext cx="1800000" cy="1800000"/>
            </a:xfrm>
            <a:prstGeom prst="ellipse">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sp>
          <p:nvSpPr>
            <p:cNvPr id="5" name="椭圆 4"/>
            <p:cNvSpPr/>
            <p:nvPr userDrawn="1"/>
          </p:nvSpPr>
          <p:spPr>
            <a:xfrm>
              <a:off x="1015877" y="3238747"/>
              <a:ext cx="1619048" cy="161904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grpSp>
      <p:sp>
        <p:nvSpPr>
          <p:cNvPr id="6" name="矩形 5"/>
          <p:cNvSpPr>
            <a:spLocks noChangeArrowheads="1"/>
          </p:cNvSpPr>
          <p:nvPr userDrawn="1"/>
        </p:nvSpPr>
        <p:spPr bwMode="auto">
          <a:xfrm>
            <a:off x="10687833" y="466725"/>
            <a:ext cx="1093219" cy="369888"/>
          </a:xfrm>
          <a:prstGeom prst="rect">
            <a:avLst/>
          </a:prstGeom>
          <a:noFill/>
          <a:ln>
            <a:noFill/>
          </a:ln>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1600">
                <a:solidFill>
                  <a:srgbClr val="404040"/>
                </a:solidFill>
                <a:latin typeface="微软雅黑" panose="020B0503020204020204" pitchFamily="34" charset="-122"/>
                <a:ea typeface="微软雅黑" panose="020B0503020204020204" pitchFamily="34" charset="-122"/>
              </a:rPr>
              <a:t>第 </a:t>
            </a:r>
            <a:fld id="{CB1B8CB3-3B43-2A43-943A-D7E2EC42B1A2}" type="slidenum">
              <a:rPr lang="zh-CN" altLang="en-US" sz="1600">
                <a:solidFill>
                  <a:srgbClr val="404040"/>
                </a:solidFill>
                <a:latin typeface="微软雅黑" panose="020B0503020204020204" pitchFamily="34" charset="-122"/>
                <a:ea typeface="微软雅黑" panose="020B0503020204020204" pitchFamily="34" charset="-122"/>
              </a:rPr>
              <a:pPr algn="ctr" eaLnBrk="1" hangingPunct="1"/>
              <a:t>‹#›</a:t>
            </a:fld>
            <a:r>
              <a:rPr lang="zh-CN" altLang="en-US" sz="1600">
                <a:solidFill>
                  <a:srgbClr val="404040"/>
                </a:solidFill>
              </a:rPr>
              <a:t>  </a:t>
            </a:r>
            <a:r>
              <a:rPr lang="zh-CN" altLang="en-US" sz="1600">
                <a:solidFill>
                  <a:srgbClr val="404040"/>
                </a:solidFill>
                <a:latin typeface="微软雅黑" panose="020B0503020204020204" pitchFamily="34" charset="-122"/>
                <a:ea typeface="微软雅黑" panose="020B0503020204020204" pitchFamily="34" charset="-122"/>
              </a:rPr>
              <a:t>页</a:t>
            </a:r>
          </a:p>
        </p:txBody>
      </p:sp>
      <p:sp>
        <p:nvSpPr>
          <p:cNvPr id="7" name="Rectangle 6"/>
          <p:cNvSpPr/>
          <p:nvPr userDrawn="1"/>
        </p:nvSpPr>
        <p:spPr>
          <a:xfrm>
            <a:off x="0" y="-60326"/>
            <a:ext cx="12192000" cy="5028565"/>
          </a:xfrm>
          <a:prstGeom prst="rect">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lvl="0" algn="just"/>
            <a:endParaRPr lang="en-US" b="1" kern="0">
              <a:solidFill>
                <a:prstClr val="white"/>
              </a:solidFill>
              <a:ea typeface="HarmonyOS Sans SC" pitchFamily="2" charset="-122"/>
            </a:endParaRPr>
          </a:p>
        </p:txBody>
      </p:sp>
    </p:spTree>
    <p:extLst>
      <p:ext uri="{BB962C8B-B14F-4D97-AF65-F5344CB8AC3E}">
        <p14:creationId xmlns:p14="http://schemas.microsoft.com/office/powerpoint/2010/main" val="27819094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4DB7449-8B85-E311-4BFE-EC899ADB23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A94C72A-AEB0-2F24-D82D-27C4A05B3E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CB1FA2B-5F21-96CE-C936-1C11303F64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7A4E34-2F71-4963-86D7-17E7EF8C3E10}" type="datetimeFigureOut">
              <a:rPr lang="zh-CN" altLang="en-US" smtClean="0"/>
              <a:t>2026/8/24</a:t>
            </a:fld>
            <a:endParaRPr lang="zh-CN" altLang="en-US"/>
          </a:p>
        </p:txBody>
      </p:sp>
      <p:sp>
        <p:nvSpPr>
          <p:cNvPr id="5" name="页脚占位符 4">
            <a:extLst>
              <a:ext uri="{FF2B5EF4-FFF2-40B4-BE49-F238E27FC236}">
                <a16:creationId xmlns:a16="http://schemas.microsoft.com/office/drawing/2014/main" id="{DEBADE8D-9AFB-2C13-33D9-2ED77DEE28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8A6CF5E-051B-FFFA-0462-E02D808696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774681-0E17-4486-A577-D49B0DDE0E46}" type="slidenum">
              <a:rPr lang="zh-CN" altLang="en-US" smtClean="0"/>
              <a:t>‹#›</a:t>
            </a:fld>
            <a:endParaRPr lang="zh-CN" altLang="en-US"/>
          </a:p>
        </p:txBody>
      </p:sp>
    </p:spTree>
    <p:extLst>
      <p:ext uri="{BB962C8B-B14F-4D97-AF65-F5344CB8AC3E}">
        <p14:creationId xmlns:p14="http://schemas.microsoft.com/office/powerpoint/2010/main" val="2181823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3" Type="http://schemas.openxmlformats.org/officeDocument/2006/relationships/notesSlide" Target="../notesSlides/notesSlide3.xml"/><Relationship Id="rId7" Type="http://schemas.openxmlformats.org/officeDocument/2006/relationships/image" Target="../media/image8.svg"/><Relationship Id="rId12"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notesSlide" Target="../notesSlides/notesSlide7.xml"/><Relationship Id="rId7"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3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44.pn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48.png"/><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8.xml"/><Relationship Id="rId5" Type="http://schemas.openxmlformats.org/officeDocument/2006/relationships/image" Target="../media/image50.jpeg"/><Relationship Id="rId4" Type="http://schemas.openxmlformats.org/officeDocument/2006/relationships/image" Target="../media/image49.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7.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a:spLocks noChangeArrowheads="1"/>
          </p:cNvSpPr>
          <p:nvPr/>
        </p:nvSpPr>
        <p:spPr bwMode="auto">
          <a:xfrm>
            <a:off x="0" y="1922577"/>
            <a:ext cx="12192000" cy="2224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gn="ctr">
              <a:lnSpc>
                <a:spcPct val="120000"/>
              </a:lnSpc>
              <a:defRPr/>
            </a:pPr>
            <a:r>
              <a:rPr lang="en-US" altLang="zh-CN" sz="4400" b="1">
                <a:ln w="3175">
                  <a:noFill/>
                </a:ln>
                <a:solidFill>
                  <a:schemeClr val="bg1"/>
                </a:solidFill>
                <a:latin typeface="Times New Roman" panose="02020603050405020304" pitchFamily="18" charset="0"/>
                <a:ea typeface="Microsoft YaHei" panose="020B0503020204020204" pitchFamily="34" charset="-122"/>
                <a:cs typeface="+mn-ea"/>
                <a:sym typeface="Times New Roman" panose="02020603050405020304" pitchFamily="18" charset="0"/>
              </a:rPr>
              <a:t>LLM</a:t>
            </a:r>
            <a:r>
              <a:rPr lang="zh-CN" altLang="en-US" sz="4400" b="1">
                <a:ln w="3175">
                  <a:noFill/>
                </a:ln>
                <a:solidFill>
                  <a:schemeClr val="bg1"/>
                </a:solidFill>
                <a:latin typeface="Times New Roman" panose="02020603050405020304" pitchFamily="18" charset="0"/>
                <a:ea typeface="Microsoft YaHei" panose="020B0503020204020204" pitchFamily="34" charset="-122"/>
                <a:cs typeface="+mn-ea"/>
                <a:sym typeface="Times New Roman" panose="02020603050405020304" pitchFamily="18" charset="0"/>
              </a:rPr>
              <a:t>增强的异质化</a:t>
            </a:r>
            <a:r>
              <a:rPr lang="en-US" altLang="zh-CN" sz="4400" b="1">
                <a:ln w="3175">
                  <a:noFill/>
                </a:ln>
                <a:solidFill>
                  <a:schemeClr val="bg1"/>
                </a:solidFill>
                <a:latin typeface="Times New Roman" panose="02020603050405020304" pitchFamily="18" charset="0"/>
                <a:ea typeface="Microsoft YaHei" panose="020B0503020204020204" pitchFamily="34" charset="-122"/>
                <a:cs typeface="+mn-ea"/>
                <a:sym typeface="Times New Roman" panose="02020603050405020304" pitchFamily="18" charset="0"/>
              </a:rPr>
              <a:t>DEM</a:t>
            </a:r>
            <a:r>
              <a:rPr lang="zh-CN" altLang="en-US" sz="4400" b="1">
                <a:ln w="3175">
                  <a:noFill/>
                </a:ln>
                <a:solidFill>
                  <a:schemeClr val="bg1"/>
                </a:solidFill>
                <a:latin typeface="Times New Roman" panose="02020603050405020304" pitchFamily="18" charset="0"/>
                <a:ea typeface="Microsoft YaHei" panose="020B0503020204020204" pitchFamily="34" charset="-122"/>
                <a:cs typeface="+mn-ea"/>
                <a:sym typeface="Times New Roman" panose="02020603050405020304" pitchFamily="18" charset="0"/>
              </a:rPr>
              <a:t>市场规则设计</a:t>
            </a:r>
            <a:r>
              <a:rPr lang="en-US" altLang="zh-CN" sz="4400" b="1">
                <a:ln w="3175">
                  <a:noFill/>
                </a:ln>
                <a:solidFill>
                  <a:schemeClr val="bg1"/>
                </a:solidFill>
                <a:latin typeface="Times New Roman" panose="02020603050405020304" pitchFamily="18" charset="0"/>
                <a:ea typeface="Microsoft YaHei" panose="020B0503020204020204" pitchFamily="34" charset="-122"/>
                <a:cs typeface="+mn-ea"/>
                <a:sym typeface="Times New Roman" panose="02020603050405020304" pitchFamily="18" charset="0"/>
              </a:rPr>
              <a:t>/</a:t>
            </a:r>
            <a:r>
              <a:rPr lang="zh-CN" altLang="en-US" sz="4400" b="1">
                <a:ln w="3175">
                  <a:noFill/>
                </a:ln>
                <a:solidFill>
                  <a:schemeClr val="bg1"/>
                </a:solidFill>
                <a:latin typeface="Times New Roman" panose="02020603050405020304" pitchFamily="18" charset="0"/>
                <a:ea typeface="Microsoft YaHei" panose="020B0503020204020204" pitchFamily="34" charset="-122"/>
                <a:cs typeface="+mn-ea"/>
                <a:sym typeface="Times New Roman" panose="02020603050405020304" pitchFamily="18" charset="0"/>
              </a:rPr>
              <a:t>评估体系</a:t>
            </a:r>
            <a:endParaRPr lang="en-US" altLang="zh-CN" sz="4400" b="1">
              <a:ln w="3175">
                <a:noFill/>
              </a:ln>
              <a:solidFill>
                <a:schemeClr val="bg1"/>
              </a:solidFill>
              <a:latin typeface="Times New Roman" panose="02020603050405020304" pitchFamily="18" charset="0"/>
              <a:ea typeface="Microsoft YaHei" panose="020B0503020204020204" pitchFamily="34" charset="-122"/>
              <a:cs typeface="+mn-ea"/>
              <a:sym typeface="Times New Roman" panose="02020603050405020304" pitchFamily="18" charset="0"/>
            </a:endParaRPr>
          </a:p>
          <a:p>
            <a:pPr lvl="0" algn="ctr">
              <a:lnSpc>
                <a:spcPct val="150000"/>
              </a:lnSpc>
              <a:defRPr/>
            </a:pPr>
            <a:r>
              <a:rPr lang="en-US" altLang="zh-CN" sz="3600" b="1">
                <a:ln w="3175">
                  <a:noFill/>
                </a:ln>
                <a:solidFill>
                  <a:schemeClr val="bg1"/>
                </a:solidFill>
                <a:latin typeface="Times New Roman" panose="02020603050405020304" pitchFamily="18" charset="0"/>
                <a:ea typeface="Microsoft YaHei" panose="020B0503020204020204" pitchFamily="34" charset="-122"/>
                <a:cs typeface="+mn-ea"/>
                <a:sym typeface="Times New Roman" panose="02020603050405020304" pitchFamily="18" charset="0"/>
              </a:rPr>
              <a:t>—Units</a:t>
            </a:r>
            <a:r>
              <a:rPr lang="zh-CN" altLang="en-US" sz="3600" b="1">
                <a:ln w="3175">
                  <a:noFill/>
                </a:ln>
                <a:solidFill>
                  <a:schemeClr val="bg1"/>
                </a:solidFill>
                <a:latin typeface="Times New Roman" panose="02020603050405020304" pitchFamily="18" charset="0"/>
                <a:ea typeface="Microsoft YaHei" panose="020B0503020204020204" pitchFamily="34" charset="-122"/>
                <a:cs typeface="+mn-ea"/>
                <a:sym typeface="Times New Roman" panose="02020603050405020304" pitchFamily="18" charset="0"/>
              </a:rPr>
              <a:t>进展、市场规则生成方案、港大计划等一系列汇报</a:t>
            </a:r>
            <a:endParaRPr lang="en-US" altLang="zh-CN" sz="3600" b="1" kern="100" spc="300">
              <a:solidFill>
                <a:srgbClr val="FFFFFF"/>
              </a:solidFill>
              <a:latin typeface="Times New Roman" panose="02020603050405020304" pitchFamily="18" charset="0"/>
              <a:ea typeface="Microsoft YaHei" panose="020B0503020204020204" pitchFamily="34" charset="-122"/>
              <a:sym typeface="Times New Roman" panose="02020603050405020304" pitchFamily="18" charset="0"/>
            </a:endParaRPr>
          </a:p>
          <a:p>
            <a:pPr lvl="0" algn="ctr">
              <a:lnSpc>
                <a:spcPct val="150000"/>
              </a:lnSpc>
              <a:tabLst>
                <a:tab pos="809625" algn="l"/>
              </a:tabLst>
              <a:defRPr/>
            </a:pPr>
            <a:r>
              <a:rPr lang="zh-CN" altLang="en-US" sz="2400" b="1" kern="100" spc="300">
                <a:solidFill>
                  <a:srgbClr val="FFFFFF"/>
                </a:solidFill>
                <a:latin typeface="Times New Roman" panose="02020603050405020304" pitchFamily="18" charset="0"/>
                <a:ea typeface="Microsoft YaHei" panose="020B0503020204020204" pitchFamily="34" charset="-122"/>
                <a:sym typeface="Times New Roman" panose="02020603050405020304" pitchFamily="18" charset="0"/>
              </a:rPr>
              <a:t>汇报人：周禹轩</a:t>
            </a:r>
          </a:p>
        </p:txBody>
      </p:sp>
      <p:sp>
        <p:nvSpPr>
          <p:cNvPr id="7" name="文本框 1">
            <a:extLst>
              <a:ext uri="{FF2B5EF4-FFF2-40B4-BE49-F238E27FC236}">
                <a16:creationId xmlns:a16="http://schemas.microsoft.com/office/drawing/2014/main" id="{A810E709-DCCE-4A25-B212-4D7D13BA1B31}"/>
              </a:ext>
            </a:extLst>
          </p:cNvPr>
          <p:cNvSpPr txBox="1"/>
          <p:nvPr/>
        </p:nvSpPr>
        <p:spPr>
          <a:xfrm>
            <a:off x="5229" y="4967043"/>
            <a:ext cx="12186771" cy="499624"/>
          </a:xfrm>
          <a:prstGeom prst="rect">
            <a:avLst/>
          </a:prstGeom>
          <a:noFill/>
        </p:spPr>
        <p:txBody>
          <a:bodyPr wrap="square" rtlCol="0">
            <a:spAutoFit/>
          </a:bodyPr>
          <a:lstStyle/>
          <a:p>
            <a:pPr algn="ctr" eaLnBrk="0" fontAlgn="base" hangingPunct="0">
              <a:lnSpc>
                <a:spcPct val="150000"/>
              </a:lnSpc>
              <a:spcBef>
                <a:spcPct val="0"/>
              </a:spcBef>
              <a:spcAft>
                <a:spcPct val="0"/>
              </a:spcAft>
            </a:pPr>
            <a:r>
              <a:rPr lang="en-US" altLang="zh-CN" sz="2000" b="1">
                <a:solidFill>
                  <a:schemeClr val="tx1">
                    <a:lumMod val="75000"/>
                    <a:lumOff val="25000"/>
                  </a:schemeClr>
                </a:solidFill>
                <a:latin typeface="微软雅黑" panose="020B0503020204020204" pitchFamily="34" charset="-122"/>
                <a:ea typeface="微软雅黑" panose="020B0503020204020204" pitchFamily="34" charset="-122"/>
              </a:rPr>
              <a:t>2026</a:t>
            </a:r>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rPr>
              <a:t>年</a:t>
            </a:r>
            <a:r>
              <a:rPr lang="en-US" altLang="zh-CN" sz="2000" b="1">
                <a:solidFill>
                  <a:schemeClr val="tx1">
                    <a:lumMod val="75000"/>
                    <a:lumOff val="25000"/>
                  </a:schemeClr>
                </a:solidFill>
                <a:latin typeface="微软雅黑" panose="020B0503020204020204" pitchFamily="34" charset="-122"/>
                <a:ea typeface="微软雅黑" panose="020B0503020204020204" pitchFamily="34" charset="-122"/>
              </a:rPr>
              <a:t>08</a:t>
            </a:r>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rPr>
              <a:t>月</a:t>
            </a:r>
            <a:r>
              <a:rPr lang="en-US" altLang="zh-CN" sz="2000" b="1">
                <a:solidFill>
                  <a:schemeClr val="tx1">
                    <a:lumMod val="75000"/>
                    <a:lumOff val="25000"/>
                  </a:schemeClr>
                </a:solidFill>
                <a:latin typeface="微软雅黑" panose="020B0503020204020204" pitchFamily="34" charset="-122"/>
                <a:ea typeface="微软雅黑" panose="020B0503020204020204" pitchFamily="34" charset="-122"/>
              </a:rPr>
              <a:t>24</a:t>
            </a:r>
            <a:r>
              <a:rPr lang="zh-CN" altLang="en-US" sz="2000" b="1">
                <a:solidFill>
                  <a:schemeClr val="tx1">
                    <a:lumMod val="75000"/>
                    <a:lumOff val="25000"/>
                  </a:schemeClr>
                </a:solidFill>
                <a:latin typeface="微软雅黑" panose="020B0503020204020204" pitchFamily="34" charset="-122"/>
                <a:ea typeface="微软雅黑" panose="020B0503020204020204" pitchFamily="34" charset="-122"/>
              </a:rPr>
              <a:t>日更新</a:t>
            </a:r>
          </a:p>
        </p:txBody>
      </p:sp>
      <p:sp>
        <p:nvSpPr>
          <p:cNvPr id="8" name="文本框 1">
            <a:extLst>
              <a:ext uri="{FF2B5EF4-FFF2-40B4-BE49-F238E27FC236}">
                <a16:creationId xmlns:a16="http://schemas.microsoft.com/office/drawing/2014/main" id="{77979D11-6702-476D-AF07-072722E5932F}"/>
              </a:ext>
            </a:extLst>
          </p:cNvPr>
          <p:cNvSpPr txBox="1"/>
          <p:nvPr/>
        </p:nvSpPr>
        <p:spPr>
          <a:xfrm>
            <a:off x="5229" y="-92697"/>
            <a:ext cx="12186771" cy="662554"/>
          </a:xfrm>
          <a:prstGeom prst="rect">
            <a:avLst/>
          </a:prstGeom>
          <a:noFill/>
        </p:spPr>
        <p:txBody>
          <a:bodyPr wrap="square" rtlCol="0">
            <a:spAutoFit/>
          </a:bodyPr>
          <a:lstStyle/>
          <a:p>
            <a:pPr eaLnBrk="0" fontAlgn="base" hangingPunct="0">
              <a:lnSpc>
                <a:spcPct val="150000"/>
              </a:lnSpc>
              <a:spcBef>
                <a:spcPct val="0"/>
              </a:spcBef>
              <a:spcAft>
                <a:spcPct val="0"/>
              </a:spcAft>
            </a:pPr>
            <a:r>
              <a:rPr lang="zh-CN" altLang="en-US" sz="2800" b="1">
                <a:solidFill>
                  <a:schemeClr val="bg1">
                    <a:lumMod val="95000"/>
                    <a:alpha val="91000"/>
                  </a:schemeClr>
                </a:solidFill>
                <a:latin typeface="微软雅黑" panose="020B0503020204020204" pitchFamily="34" charset="-122"/>
                <a:ea typeface="微软雅黑" panose="020B0503020204020204" pitchFamily="34" charset="-122"/>
              </a:rPr>
              <a:t>市场与需求小组汇报</a:t>
            </a:r>
          </a:p>
        </p:txBody>
      </p:sp>
      <p:pic>
        <p:nvPicPr>
          <p:cNvPr id="9" name="图片 8">
            <a:extLst>
              <a:ext uri="{FF2B5EF4-FFF2-40B4-BE49-F238E27FC236}">
                <a16:creationId xmlns:a16="http://schemas.microsoft.com/office/drawing/2014/main" id="{68FAB369-CEA8-42C1-9769-58231D92135F}"/>
              </a:ext>
            </a:extLst>
          </p:cNvPr>
          <p:cNvPicPr>
            <a:picLocks noChangeAspect="1"/>
          </p:cNvPicPr>
          <p:nvPr/>
        </p:nvPicPr>
        <p:blipFill>
          <a:blip r:embed="rId2"/>
          <a:stretch>
            <a:fillRect/>
          </a:stretch>
        </p:blipFill>
        <p:spPr>
          <a:xfrm>
            <a:off x="4736580" y="6127037"/>
            <a:ext cx="2882222" cy="700523"/>
          </a:xfrm>
          <a:prstGeom prst="rect">
            <a:avLst/>
          </a:prstGeom>
        </p:spPr>
      </p:pic>
      <p:pic>
        <p:nvPicPr>
          <p:cNvPr id="10" name="图片 9">
            <a:extLst>
              <a:ext uri="{FF2B5EF4-FFF2-40B4-BE49-F238E27FC236}">
                <a16:creationId xmlns:a16="http://schemas.microsoft.com/office/drawing/2014/main" id="{893ABA76-54F6-490F-9229-C906568BDE24}"/>
              </a:ext>
            </a:extLst>
          </p:cNvPr>
          <p:cNvPicPr>
            <a:picLocks noChangeAspect="1"/>
          </p:cNvPicPr>
          <p:nvPr/>
        </p:nvPicPr>
        <p:blipFill>
          <a:blip r:embed="rId3"/>
          <a:stretch>
            <a:fillRect/>
          </a:stretch>
        </p:blipFill>
        <p:spPr>
          <a:xfrm>
            <a:off x="2054902" y="6127037"/>
            <a:ext cx="2600531" cy="700524"/>
          </a:xfrm>
          <a:prstGeom prst="rect">
            <a:avLst/>
          </a:prstGeom>
        </p:spPr>
      </p:pic>
      <p:pic>
        <p:nvPicPr>
          <p:cNvPr id="12" name="图片 11">
            <a:extLst>
              <a:ext uri="{FF2B5EF4-FFF2-40B4-BE49-F238E27FC236}">
                <a16:creationId xmlns:a16="http://schemas.microsoft.com/office/drawing/2014/main" id="{32B1CBDB-CE7E-4D6B-BDE1-C751FA680813}"/>
              </a:ext>
            </a:extLst>
          </p:cNvPr>
          <p:cNvPicPr>
            <a:picLocks noChangeAspect="1"/>
          </p:cNvPicPr>
          <p:nvPr/>
        </p:nvPicPr>
        <p:blipFill rotWithShape="1">
          <a:blip r:embed="rId4"/>
          <a:srcRect l="23903"/>
          <a:stretch/>
        </p:blipFill>
        <p:spPr>
          <a:xfrm>
            <a:off x="7699949" y="6157475"/>
            <a:ext cx="2119716" cy="639645"/>
          </a:xfrm>
          <a:prstGeom prst="rect">
            <a:avLst/>
          </a:prstGeom>
        </p:spPr>
      </p:pic>
    </p:spTree>
    <p:extLst>
      <p:ext uri="{BB962C8B-B14F-4D97-AF65-F5344CB8AC3E}">
        <p14:creationId xmlns:p14="http://schemas.microsoft.com/office/powerpoint/2010/main" val="33145265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0069359" cy="523220"/>
          </a:xfrm>
          <a:prstGeom prst="rect">
            <a:avLst/>
          </a:prstGeom>
          <a:noFill/>
          <a:effectLst>
            <a:outerShdw blurRad="63500" sx="102000" sy="102000" algn="ctr" rotWithShape="0">
              <a:prstClr val="black">
                <a:alpha val="40000"/>
              </a:prstClr>
            </a:outerShdw>
          </a:effectLst>
        </p:spPr>
        <p:txBody>
          <a:bodyPr wrap="square">
            <a:sp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0 </a:t>
            </a:r>
            <a:r>
              <a:rPr lang="zh-CN" altLang="en-US" sz="2800" spc="0">
                <a:solidFill>
                  <a:schemeClr val="tx1"/>
                </a:solidFill>
                <a:effectLst/>
                <a:sym typeface="微软雅黑" panose="020B0503020204020204" pitchFamily="34" charset="-122"/>
              </a:rPr>
              <a:t>摘要</a:t>
            </a:r>
          </a:p>
        </p:txBody>
      </p:sp>
      <p:sp>
        <p:nvSpPr>
          <p:cNvPr id="7" name="矩形 1">
            <a:extLst>
              <a:ext uri="{FF2B5EF4-FFF2-40B4-BE49-F238E27FC236}">
                <a16:creationId xmlns:a16="http://schemas.microsoft.com/office/drawing/2014/main" id="{F6F21322-B795-4436-93A2-324F0C8ACD8D}"/>
              </a:ext>
            </a:extLst>
          </p:cNvPr>
          <p:cNvSpPr>
            <a:spLocks noChangeArrowheads="1"/>
          </p:cNvSpPr>
          <p:nvPr/>
        </p:nvSpPr>
        <p:spPr bwMode="auto">
          <a:xfrm>
            <a:off x="435396" y="994410"/>
            <a:ext cx="11334577" cy="612486"/>
          </a:xfrm>
          <a:prstGeom prst="roundRect">
            <a:avLst>
              <a:gd name="adj" fmla="val 4475"/>
            </a:avLst>
          </a:prstGeom>
          <a:gradFill>
            <a:gsLst>
              <a:gs pos="0">
                <a:srgbClr val="1DB9F1"/>
              </a:gs>
              <a:gs pos="45000">
                <a:srgbClr val="2B49AD"/>
              </a:gs>
            </a:gsLst>
            <a:lin ang="10800000" scaled="0"/>
          </a:gradFill>
          <a:ln>
            <a:noFill/>
          </a:ln>
        </p:spPr>
        <p:txBody>
          <a:bodyPr tIns="144000" anchor="t" anchorCtr="0">
            <a:noAutofit/>
          </a:bodyPr>
          <a:lstStyle/>
          <a:p>
            <a:pPr marL="0" marR="0" lvl="0" indent="0" algn="ctr" defTabSz="914400" rtl="0" eaLnBrk="1" fontAlgn="auto" latinLnBrk="0" hangingPunct="1">
              <a:lnSpc>
                <a:spcPct val="130000"/>
              </a:lnSpc>
              <a:spcBef>
                <a:spcPts val="0"/>
              </a:spcBef>
              <a:spcAft>
                <a:spcPts val="0"/>
              </a:spcAft>
              <a:buClrTx/>
              <a:buSzTx/>
              <a:buFontTx/>
              <a:buNone/>
              <a:defRPr/>
            </a:pPr>
            <a:endParaRPr kumimoji="0" lang="en-US" altLang="zh-CN" sz="2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8" name="同侧圆角矩形 119">
            <a:extLst>
              <a:ext uri="{FF2B5EF4-FFF2-40B4-BE49-F238E27FC236}">
                <a16:creationId xmlns:a16="http://schemas.microsoft.com/office/drawing/2014/main" id="{93D06453-3616-45CD-BB1C-62E6334DA67E}"/>
              </a:ext>
            </a:extLst>
          </p:cNvPr>
          <p:cNvSpPr/>
          <p:nvPr/>
        </p:nvSpPr>
        <p:spPr>
          <a:xfrm rot="16200000" flipV="1">
            <a:off x="3310122" y="-2010655"/>
            <a:ext cx="5571755" cy="11449274"/>
          </a:xfrm>
          <a:prstGeom prst="round2SameRect">
            <a:avLst>
              <a:gd name="adj1" fmla="val 1"/>
              <a:gd name="adj2" fmla="val 0"/>
            </a:avLst>
          </a:prstGeom>
          <a:noFill/>
          <a:ln w="22225">
            <a:gradFill>
              <a:gsLst>
                <a:gs pos="0">
                  <a:srgbClr val="1DB9F1"/>
                </a:gs>
                <a:gs pos="47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50800" dist="38100" dir="2700000" algn="tl" rotWithShape="0">
              <a:srgbClr val="1DB9F1">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pic>
        <p:nvPicPr>
          <p:cNvPr id="9" name="图片 8">
            <a:extLst>
              <a:ext uri="{FF2B5EF4-FFF2-40B4-BE49-F238E27FC236}">
                <a16:creationId xmlns:a16="http://schemas.microsoft.com/office/drawing/2014/main" id="{51985AC1-3D70-4092-B81A-F40FD9FE2BF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8351" y="1074048"/>
            <a:ext cx="544215" cy="482786"/>
          </a:xfrm>
          <a:prstGeom prst="rect">
            <a:avLst/>
          </a:prstGeom>
        </p:spPr>
      </p:pic>
      <p:sp>
        <p:nvSpPr>
          <p:cNvPr id="10" name="矩形 9">
            <a:extLst>
              <a:ext uri="{FF2B5EF4-FFF2-40B4-BE49-F238E27FC236}">
                <a16:creationId xmlns:a16="http://schemas.microsoft.com/office/drawing/2014/main" id="{7A8BB3CC-62BE-4E32-8646-7DDF40E3BBD2}"/>
              </a:ext>
            </a:extLst>
          </p:cNvPr>
          <p:cNvSpPr/>
          <p:nvPr/>
        </p:nvSpPr>
        <p:spPr>
          <a:xfrm>
            <a:off x="435396" y="1616568"/>
            <a:ext cx="11254709" cy="4883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342900" lvl="0" indent="-342900" algn="just">
              <a:lnSpc>
                <a:spcPct val="120000"/>
              </a:lnSpc>
              <a:buFont typeface="Wingdings" panose="05000000000000000000" pitchFamily="2" charset="2"/>
              <a:buChar char="p"/>
              <a:defRPr/>
            </a:pPr>
            <a:r>
              <a:rPr lang="zh-CN" altLang="en-US"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mn-lt"/>
              </a:rPr>
              <a:t>一、论文</a:t>
            </a:r>
            <a:r>
              <a:rPr lang="en-US" altLang="zh-CN"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mn-lt"/>
              </a:rPr>
              <a:t>《LLM</a:t>
            </a:r>
            <a:r>
              <a:rPr lang="zh-CN" altLang="en-US"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mn-lt"/>
              </a:rPr>
              <a:t>增强的异质</a:t>
            </a:r>
            <a:r>
              <a:rPr lang="en-US" altLang="zh-CN"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mn-lt"/>
              </a:rPr>
              <a:t>DEM</a:t>
            </a:r>
            <a:r>
              <a:rPr lang="zh-CN" altLang="en-US"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mn-lt"/>
              </a:rPr>
              <a:t>市场规则设计</a:t>
            </a:r>
            <a:r>
              <a:rPr lang="en-US" altLang="zh-CN"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mn-lt"/>
              </a:rPr>
              <a:t>评估一致化体系</a:t>
            </a:r>
            <a:r>
              <a:rPr lang="en-US" altLang="zh-CN"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mn-lt"/>
              </a:rPr>
              <a:t>（暂定的题目）当前的进展报告</a:t>
            </a:r>
            <a:endParaRPr lang="en-US" altLang="zh-CN"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800100" lvl="1" indent="-342900" algn="just">
              <a:lnSpc>
                <a:spcPct val="120000"/>
              </a:lnSpc>
              <a:buFont typeface="Wingdings" panose="05000000000000000000" pitchFamily="2" charset="2"/>
              <a:buChar char="n"/>
              <a:defRPr/>
            </a:pPr>
            <a:r>
              <a:rPr lang="en-US" altLang="zh-CN"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1.1</a:t>
            </a:r>
            <a:r>
              <a:rPr lang="zh-CN" altLang="en-US"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 本研究的框架、业务逻辑、以及形成的体系畅想</a:t>
            </a:r>
            <a:endParaRPr lang="en-US" altLang="zh-CN"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800100" lvl="1" indent="-342900" algn="just">
              <a:lnSpc>
                <a:spcPct val="120000"/>
              </a:lnSpc>
              <a:buFont typeface="Wingdings" panose="05000000000000000000" pitchFamily="2" charset="2"/>
              <a:buChar char="n"/>
              <a:defRPr/>
            </a:pPr>
            <a:r>
              <a:rPr lang="en-US" altLang="zh-CN"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1.2</a:t>
            </a:r>
            <a:r>
              <a:rPr lang="zh-CN" altLang="en-US"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 现有的进展：</a:t>
            </a:r>
            <a:r>
              <a:rPr lang="en-US" altLang="zh-CN"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LLM Prompt</a:t>
            </a:r>
            <a:r>
              <a:rPr lang="zh-CN" altLang="en-US"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工程</a:t>
            </a:r>
            <a:r>
              <a:rPr lang="en-US" altLang="zh-CN"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—Units</a:t>
            </a:r>
            <a:r>
              <a:rPr lang="zh-CN" altLang="en-US"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规则化实验</a:t>
            </a:r>
            <a:endParaRPr lang="en-US" altLang="zh-CN"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800100" lvl="1" indent="-342900" algn="just">
              <a:lnSpc>
                <a:spcPct val="120000"/>
              </a:lnSpc>
              <a:buFont typeface="Wingdings" panose="05000000000000000000" pitchFamily="2" charset="2"/>
              <a:buChar char="n"/>
              <a:defRPr/>
            </a:pPr>
            <a:r>
              <a:rPr lang="en-US" altLang="zh-CN"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1.3</a:t>
            </a:r>
            <a:r>
              <a:rPr lang="zh-CN" altLang="en-US"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 现有的进展：市场仿真器</a:t>
            </a:r>
            <a:r>
              <a:rPr lang="en-US" altLang="zh-CN"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基于</a:t>
            </a:r>
            <a:r>
              <a:rPr lang="en-US" altLang="zh-CN"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Pandapowers</a:t>
            </a:r>
            <a:r>
              <a:rPr lang="zh-CN" altLang="en-US"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的三相不平衡仿真</a:t>
            </a:r>
            <a:endParaRPr lang="en-US" altLang="zh-CN"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800100" lvl="1" indent="-342900" algn="just">
              <a:lnSpc>
                <a:spcPct val="120000"/>
              </a:lnSpc>
              <a:buFont typeface="Wingdings" panose="05000000000000000000" pitchFamily="2" charset="2"/>
              <a:buChar char="n"/>
              <a:defRPr/>
            </a:pPr>
            <a:r>
              <a:rPr lang="en-US" altLang="zh-CN" b="1">
                <a:solidFill>
                  <a:schemeClr val="tx1">
                    <a:lumMod val="50000"/>
                    <a:lumOff val="50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1.4 Todo</a:t>
            </a:r>
            <a:r>
              <a:rPr lang="zh-CN" altLang="en-US" b="1">
                <a:solidFill>
                  <a:schemeClr val="tx1">
                    <a:lumMod val="50000"/>
                    <a:lumOff val="50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清单：</a:t>
            </a:r>
            <a:r>
              <a:rPr lang="en-US" altLang="zh-CN" b="1">
                <a:solidFill>
                  <a:schemeClr val="tx1">
                    <a:lumMod val="50000"/>
                    <a:lumOff val="50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i Units</a:t>
            </a:r>
            <a:r>
              <a:rPr lang="zh-CN" altLang="en-US" b="1">
                <a:solidFill>
                  <a:schemeClr val="tx1">
                    <a:lumMod val="50000"/>
                    <a:lumOff val="50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仿真器框架与数据</a:t>
            </a:r>
            <a:r>
              <a:rPr lang="en-US" altLang="zh-CN" b="1">
                <a:solidFill>
                  <a:schemeClr val="tx1">
                    <a:lumMod val="50000"/>
                    <a:lumOff val="50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 ii GAMS</a:t>
            </a:r>
            <a:r>
              <a:rPr lang="zh-CN" altLang="en-US" b="1">
                <a:solidFill>
                  <a:schemeClr val="tx1">
                    <a:lumMod val="50000"/>
                    <a:lumOff val="50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的</a:t>
            </a:r>
            <a:r>
              <a:rPr lang="en-US" altLang="zh-CN" b="1">
                <a:solidFill>
                  <a:schemeClr val="tx1">
                    <a:lumMod val="50000"/>
                    <a:lumOff val="50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license iii </a:t>
            </a:r>
            <a:r>
              <a:rPr lang="zh-CN" altLang="en-US" b="1">
                <a:solidFill>
                  <a:schemeClr val="tx1">
                    <a:lumMod val="50000"/>
                    <a:lumOff val="50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软件平台？体系方法？文章怎么写</a:t>
            </a:r>
            <a:endParaRPr lang="en-US" altLang="zh-CN" b="1">
              <a:solidFill>
                <a:schemeClr val="tx1">
                  <a:lumMod val="50000"/>
                  <a:lumOff val="50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342900" lvl="0" indent="-342900" algn="just">
              <a:lnSpc>
                <a:spcPct val="120000"/>
              </a:lnSpc>
              <a:buFont typeface="Wingdings" panose="05000000000000000000" pitchFamily="2" charset="2"/>
              <a:buChar char="p"/>
              <a:defRPr/>
            </a:pPr>
            <a:r>
              <a:rPr lang="zh-CN" altLang="en-US"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mn-lt"/>
              </a:rPr>
              <a:t>二、论文核心章节</a:t>
            </a:r>
            <a:r>
              <a:rPr lang="en-US" altLang="zh-CN"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mn-lt"/>
              </a:rPr>
              <a:t>—DEM</a:t>
            </a:r>
            <a:r>
              <a:rPr lang="zh-CN" altLang="en-US"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mn-lt"/>
              </a:rPr>
              <a:t>市场规则设计的调研报告</a:t>
            </a:r>
            <a:endParaRPr lang="en-US" altLang="zh-CN"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800100" lvl="1" indent="-342900" algn="just">
              <a:lnSpc>
                <a:spcPct val="120000"/>
              </a:lnSpc>
              <a:buFont typeface="Wingdings" panose="05000000000000000000" pitchFamily="2" charset="2"/>
              <a:buChar char="n"/>
              <a:defRPr/>
            </a:pPr>
            <a:r>
              <a:rPr lang="en-US" altLang="zh-CN"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2.1</a:t>
            </a:r>
            <a:r>
              <a:rPr lang="zh-CN" altLang="en-US"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 </a:t>
            </a:r>
            <a:r>
              <a:rPr lang="en-US" altLang="zh-CN"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Review</a:t>
            </a:r>
            <a:r>
              <a:rPr lang="zh-CN" altLang="en-US"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中的市场规则分层设计框架</a:t>
            </a:r>
            <a:endParaRPr lang="en-US" altLang="zh-CN"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800100" lvl="1" indent="-342900" algn="just">
              <a:lnSpc>
                <a:spcPct val="120000"/>
              </a:lnSpc>
              <a:buFont typeface="Wingdings" panose="05000000000000000000" pitchFamily="2" charset="2"/>
              <a:buChar char="n"/>
              <a:defRPr/>
            </a:pPr>
            <a:r>
              <a:rPr lang="en-US" altLang="zh-CN"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2.2 </a:t>
            </a:r>
            <a:r>
              <a:rPr lang="zh-CN" altLang="en-US"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商业化平台是怎么干的</a:t>
            </a:r>
            <a:endParaRPr lang="en-US" altLang="zh-CN"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800100" lvl="1" indent="-342900" algn="just">
              <a:lnSpc>
                <a:spcPct val="120000"/>
              </a:lnSpc>
              <a:buFont typeface="Wingdings" panose="05000000000000000000" pitchFamily="2" charset="2"/>
              <a:buChar char="n"/>
              <a:defRPr/>
            </a:pPr>
            <a:r>
              <a:rPr lang="en-US" altLang="zh-CN"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2.3 </a:t>
            </a:r>
            <a:r>
              <a:rPr lang="zh-CN" altLang="en-US"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规则分层组合有向图？典型市场设计模板，以及其延申的设计空间预估</a:t>
            </a:r>
            <a:endParaRPr lang="en-US" altLang="zh-CN"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800100" lvl="1" indent="-342900" algn="just">
              <a:lnSpc>
                <a:spcPct val="120000"/>
              </a:lnSpc>
              <a:buFont typeface="Wingdings" panose="05000000000000000000" pitchFamily="2" charset="2"/>
              <a:buChar char="n"/>
              <a:defRPr/>
            </a:pPr>
            <a:r>
              <a:rPr lang="en-US" altLang="zh-CN"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2.4 </a:t>
            </a:r>
            <a:r>
              <a:rPr lang="zh-CN" altLang="en-US"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初步考虑</a:t>
            </a:r>
            <a:r>
              <a:rPr lang="en-US" altLang="zh-CN"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—LLM</a:t>
            </a:r>
            <a:r>
              <a:rPr lang="zh-CN" altLang="en-US"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如何增强设计</a:t>
            </a:r>
            <a:endParaRPr lang="en-US" altLang="zh-CN"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800100" lvl="1" indent="-342900" algn="just">
              <a:lnSpc>
                <a:spcPct val="120000"/>
              </a:lnSpc>
              <a:buFont typeface="Wingdings" panose="05000000000000000000" pitchFamily="2" charset="2"/>
              <a:buChar char="n"/>
              <a:defRPr/>
            </a:pPr>
            <a:r>
              <a:rPr lang="en-US" altLang="zh-CN" b="1">
                <a:solidFill>
                  <a:schemeClr val="tx1">
                    <a:lumMod val="50000"/>
                    <a:lumOff val="50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2.5 Todo</a:t>
            </a:r>
            <a:r>
              <a:rPr lang="zh-CN" altLang="en-US" b="1">
                <a:solidFill>
                  <a:schemeClr val="tx1">
                    <a:lumMod val="50000"/>
                    <a:lumOff val="50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清单：</a:t>
            </a:r>
            <a:r>
              <a:rPr lang="en-US" altLang="zh-CN" b="1">
                <a:solidFill>
                  <a:schemeClr val="tx1">
                    <a:lumMod val="50000"/>
                    <a:lumOff val="50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i </a:t>
            </a:r>
            <a:r>
              <a:rPr lang="zh-CN" altLang="en-US" b="1">
                <a:solidFill>
                  <a:schemeClr val="tx1">
                    <a:lumMod val="50000"/>
                    <a:lumOff val="50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现在这种方法很难实现动态市场设计</a:t>
            </a:r>
            <a:endParaRPr lang="en-US" altLang="zh-CN" b="1">
              <a:solidFill>
                <a:schemeClr val="tx1">
                  <a:lumMod val="50000"/>
                  <a:lumOff val="50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342900" lvl="0" indent="-342900" algn="just">
              <a:lnSpc>
                <a:spcPct val="120000"/>
              </a:lnSpc>
              <a:buFont typeface="Wingdings" panose="05000000000000000000" pitchFamily="2" charset="2"/>
              <a:buChar char="p"/>
              <a:defRPr/>
            </a:pPr>
            <a:r>
              <a:rPr lang="zh-CN" altLang="en-US"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mn-lt"/>
              </a:rPr>
              <a:t>三、香港大学博一工作计划报告</a:t>
            </a:r>
            <a:endParaRPr lang="en-US" altLang="zh-CN"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800100" lvl="1" indent="-342900" algn="just">
              <a:lnSpc>
                <a:spcPct val="120000"/>
              </a:lnSpc>
              <a:buFont typeface="Wingdings" panose="05000000000000000000" pitchFamily="2" charset="2"/>
              <a:buChar char="n"/>
              <a:defRPr/>
            </a:pPr>
            <a:r>
              <a:rPr lang="en-US" altLang="zh-CN"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3.1</a:t>
            </a:r>
            <a:r>
              <a:rPr lang="zh-CN" altLang="en-US"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 目前及后续的选课</a:t>
            </a:r>
            <a:endParaRPr lang="en-US" altLang="zh-CN"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800100" lvl="1" indent="-342900" algn="just">
              <a:lnSpc>
                <a:spcPct val="120000"/>
              </a:lnSpc>
              <a:buFont typeface="Wingdings" panose="05000000000000000000" pitchFamily="2" charset="2"/>
              <a:buChar char="n"/>
              <a:defRPr/>
            </a:pPr>
            <a:r>
              <a:rPr lang="en-US" altLang="zh-CN"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3.2 </a:t>
            </a:r>
            <a:r>
              <a:rPr lang="zh-CN" altLang="en-US" b="1">
                <a:solidFill>
                  <a:schemeClr val="tx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与钟老师的汇报</a:t>
            </a:r>
            <a:endParaRPr lang="en-US" altLang="zh-CN"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800100" lvl="1" indent="-342900" algn="just">
              <a:lnSpc>
                <a:spcPct val="120000"/>
              </a:lnSpc>
              <a:buFont typeface="Wingdings" panose="05000000000000000000" pitchFamily="2" charset="2"/>
              <a:buChar char="n"/>
              <a:defRPr/>
            </a:pPr>
            <a:endParaRPr lang="en-US" altLang="zh-CN" b="1">
              <a:solidFill>
                <a:schemeClr val="tx1">
                  <a:lumMod val="50000"/>
                  <a:lumOff val="50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11" name="文本框 10">
            <a:extLst>
              <a:ext uri="{FF2B5EF4-FFF2-40B4-BE49-F238E27FC236}">
                <a16:creationId xmlns:a16="http://schemas.microsoft.com/office/drawing/2014/main" id="{AC88792B-A835-4710-A5D0-22A76846C482}"/>
              </a:ext>
            </a:extLst>
          </p:cNvPr>
          <p:cNvSpPr txBox="1"/>
          <p:nvPr/>
        </p:nvSpPr>
        <p:spPr>
          <a:xfrm>
            <a:off x="1662896" y="1078709"/>
            <a:ext cx="9012532" cy="461665"/>
          </a:xfrm>
          <a:prstGeom prst="rect">
            <a:avLst/>
          </a:prstGeom>
          <a:noFill/>
        </p:spPr>
        <p:txBody>
          <a:bodyPr wrap="square">
            <a:spAutoFit/>
          </a:bodyPr>
          <a:lstStyle/>
          <a:p>
            <a:pPr marL="0" marR="0" lvl="0" indent="0" algn="ctr" defTabSz="914400" rtl="0" eaLnBrk="1" fontAlgn="auto" latinLnBrk="0" hangingPunct="1">
              <a:spcBef>
                <a:spcPts val="0"/>
              </a:spcBef>
              <a:spcAft>
                <a:spcPts val="0"/>
              </a:spcAft>
              <a:buClrTx/>
              <a:buSzTx/>
              <a:buFontTx/>
              <a:buNone/>
              <a:defRPr/>
            </a:pPr>
            <a:r>
              <a:rPr lang="zh-CN" altLang="en-US" sz="2400" b="1">
                <a:solidFill>
                  <a:prstClr val="white"/>
                </a:solidFill>
                <a:latin typeface="微软雅黑" panose="020B0503020204020204" pitchFamily="34" charset="-122"/>
                <a:ea typeface="微软雅黑" panose="020B0503020204020204" pitchFamily="34" charset="-122"/>
                <a:cs typeface="+mn-ea"/>
                <a:sym typeface="+mn-lt"/>
              </a:rPr>
              <a:t>汇报与待讨论的内容清单</a:t>
            </a:r>
            <a:endParaRPr kumimoji="0" lang="en-US" altLang="zh-CN"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custDataLst>
      <p:tags r:id="rId1"/>
    </p:custDataLst>
    <p:extLst>
      <p:ext uri="{BB962C8B-B14F-4D97-AF65-F5344CB8AC3E}">
        <p14:creationId xmlns:p14="http://schemas.microsoft.com/office/powerpoint/2010/main" val="1196533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2" name="连接符: 肘形 201">
            <a:extLst>
              <a:ext uri="{FF2B5EF4-FFF2-40B4-BE49-F238E27FC236}">
                <a16:creationId xmlns:a16="http://schemas.microsoft.com/office/drawing/2014/main" id="{10CE90D3-C4C3-4713-B2AC-996C28C4D846}"/>
              </a:ext>
            </a:extLst>
          </p:cNvPr>
          <p:cNvCxnSpPr>
            <a:cxnSpLocks/>
            <a:stCxn id="183" idx="3"/>
            <a:endCxn id="136" idx="2"/>
          </p:cNvCxnSpPr>
          <p:nvPr/>
        </p:nvCxnSpPr>
        <p:spPr>
          <a:xfrm flipH="1">
            <a:off x="1375296" y="2022264"/>
            <a:ext cx="10365602" cy="283444"/>
          </a:xfrm>
          <a:prstGeom prst="bentConnector4">
            <a:avLst>
              <a:gd name="adj1" fmla="val -2205"/>
              <a:gd name="adj2" fmla="val 314986"/>
            </a:avLst>
          </a:prstGeom>
          <a:ln w="34925">
            <a:solidFill>
              <a:srgbClr val="00206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1" name="连接符: 肘形 200">
            <a:extLst>
              <a:ext uri="{FF2B5EF4-FFF2-40B4-BE49-F238E27FC236}">
                <a16:creationId xmlns:a16="http://schemas.microsoft.com/office/drawing/2014/main" id="{03EFA261-16B3-4A46-A068-88FE28AD5CAB}"/>
              </a:ext>
            </a:extLst>
          </p:cNvPr>
          <p:cNvCxnSpPr>
            <a:cxnSpLocks/>
            <a:stCxn id="185" idx="0"/>
            <a:endCxn id="139" idx="1"/>
          </p:cNvCxnSpPr>
          <p:nvPr/>
        </p:nvCxnSpPr>
        <p:spPr>
          <a:xfrm rot="16200000" flipV="1">
            <a:off x="3375955" y="1305120"/>
            <a:ext cx="3331514" cy="4813428"/>
          </a:xfrm>
          <a:prstGeom prst="bentConnector4">
            <a:avLst>
              <a:gd name="adj1" fmla="val 71304"/>
              <a:gd name="adj2" fmla="val 103482"/>
            </a:avLst>
          </a:prstGeom>
          <a:ln w="34925">
            <a:solidFill>
              <a:srgbClr val="002060"/>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矩形: 圆角 11">
            <a:extLst>
              <a:ext uri="{FF2B5EF4-FFF2-40B4-BE49-F238E27FC236}">
                <a16:creationId xmlns:a16="http://schemas.microsoft.com/office/drawing/2014/main" id="{94940B05-8BA5-4B17-A330-B0712E0C0E81}"/>
              </a:ext>
            </a:extLst>
          </p:cNvPr>
          <p:cNvSpPr/>
          <p:nvPr/>
        </p:nvSpPr>
        <p:spPr>
          <a:xfrm>
            <a:off x="511848" y="4744880"/>
            <a:ext cx="1787302" cy="2024515"/>
          </a:xfrm>
          <a:prstGeom prst="roundRect">
            <a:avLst>
              <a:gd name="adj" fmla="val 12461"/>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5" name="文本框 4"/>
          <p:cNvSpPr txBox="1"/>
          <p:nvPr/>
        </p:nvSpPr>
        <p:spPr>
          <a:xfrm>
            <a:off x="398615" y="144773"/>
            <a:ext cx="114885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1.1 </a:t>
            </a:r>
            <a:r>
              <a:rPr lang="zh-CN" altLang="en-US" sz="2800" spc="0">
                <a:solidFill>
                  <a:schemeClr val="tx1"/>
                </a:solidFill>
                <a:effectLst/>
                <a:sym typeface="微软雅黑" panose="020B0503020204020204" pitchFamily="34" charset="-122"/>
              </a:rPr>
              <a:t>本研究的框架、业务逻辑、以及形成的体系畅想</a:t>
            </a:r>
          </a:p>
        </p:txBody>
      </p:sp>
      <p:sp>
        <p:nvSpPr>
          <p:cNvPr id="184" name="units-frame">
            <a:extLst>
              <a:ext uri="{FF2B5EF4-FFF2-40B4-BE49-F238E27FC236}">
                <a16:creationId xmlns:a16="http://schemas.microsoft.com/office/drawing/2014/main" id="{D80C555E-5812-491A-9945-9D9E0A1ABF58}"/>
              </a:ext>
            </a:extLst>
          </p:cNvPr>
          <p:cNvSpPr>
            <a:spLocks noGrp="1"/>
          </p:cNvSpPr>
          <p:nvPr/>
        </p:nvSpPr>
        <p:spPr>
          <a:xfrm>
            <a:off x="2632525" y="5332102"/>
            <a:ext cx="9286875" cy="1381125"/>
          </a:xfrm>
          <a:prstGeom prst="roundRect">
            <a:avLst>
              <a:gd name="adj" fmla="val 4828"/>
            </a:avLst>
          </a:prstGeom>
          <a:solidFill>
            <a:srgbClr val="FAFAFA"/>
          </a:solidFill>
          <a:ln w="10954">
            <a:solidFill>
              <a:srgbClr val="111111"/>
            </a:solidFill>
            <a:prstDash val="solid"/>
          </a:ln>
        </p:spPr>
        <p:txBody>
          <a:bodyPr>
            <a:noAutofit/>
          </a:bodyPr>
          <a:lstStyle/>
          <a:p>
            <a:endParaRPr lang="zh-CN" altLang="en-US"/>
          </a:p>
        </p:txBody>
      </p:sp>
      <p:sp>
        <p:nvSpPr>
          <p:cNvPr id="185" name="units-title">
            <a:extLst>
              <a:ext uri="{FF2B5EF4-FFF2-40B4-BE49-F238E27FC236}">
                <a16:creationId xmlns:a16="http://schemas.microsoft.com/office/drawing/2014/main" id="{A7F05917-52CF-43BE-B1EA-9FAE3B77E76B}"/>
              </a:ext>
            </a:extLst>
          </p:cNvPr>
          <p:cNvSpPr>
            <a:spLocks noGrp="1"/>
          </p:cNvSpPr>
          <p:nvPr/>
        </p:nvSpPr>
        <p:spPr>
          <a:xfrm>
            <a:off x="4727617" y="5377591"/>
            <a:ext cx="5441618" cy="228600"/>
          </a:xfrm>
          <a:prstGeom prst="rect">
            <a:avLst/>
          </a:prstGeom>
          <a:noFill/>
          <a:ln w="0">
            <a:noFill/>
            <a:prstDash val="solid"/>
          </a:ln>
        </p:spPr>
        <p:txBody>
          <a:bodyPr wrap="square" lIns="38100" tIns="19050" rIns="38100" bIns="19050" anchor="ctr">
            <a:noAutofit/>
          </a:bodyPr>
          <a:lstStyle/>
          <a:p>
            <a:pPr algn="ctr">
              <a:lnSpc>
                <a:spcPct val="100000"/>
              </a:lnSpc>
              <a:buNone/>
              <a:defRPr sz="1350" b="1">
                <a:solidFill>
                  <a:srgbClr val="111111"/>
                </a:solidFill>
                <a:latin typeface="Microsoft YaHei"/>
                <a:ea typeface="Microsoft YaHei"/>
                <a:cs typeface="Microsoft YaHei"/>
              </a:defRPr>
            </a:pPr>
            <a:r>
              <a:rPr lang="zh-CN" altLang="en-US" sz="1400" b="1">
                <a:solidFill>
                  <a:srgbClr val="111111"/>
                </a:solidFill>
                <a:latin typeface="Microsoft YaHei"/>
                <a:ea typeface="Microsoft YaHei"/>
                <a:cs typeface="Microsoft YaHei"/>
              </a:rPr>
              <a:t>第一层：</a:t>
            </a:r>
            <a:r>
              <a:rPr lang="en-US" altLang="zh-CN" sz="1400" b="1">
                <a:solidFill>
                  <a:srgbClr val="111111"/>
                </a:solidFill>
                <a:latin typeface="Microsoft YaHei"/>
                <a:ea typeface="Microsoft YaHei"/>
                <a:cs typeface="Microsoft YaHei"/>
              </a:rPr>
              <a:t>LLM-Prompt+MCP </a:t>
            </a:r>
            <a:r>
              <a:rPr lang="zh-CN" altLang="en-US" sz="1400" b="1">
                <a:solidFill>
                  <a:srgbClr val="111111"/>
                </a:solidFill>
                <a:latin typeface="Microsoft YaHei"/>
                <a:ea typeface="Microsoft YaHei"/>
                <a:cs typeface="Microsoft YaHei"/>
              </a:rPr>
              <a:t>将异质化</a:t>
            </a:r>
            <a:r>
              <a:rPr lang="en-US" altLang="zh-CN" sz="1400" b="1">
                <a:solidFill>
                  <a:srgbClr val="111111"/>
                </a:solidFill>
                <a:latin typeface="Microsoft YaHei"/>
                <a:ea typeface="Microsoft YaHei"/>
                <a:cs typeface="Microsoft YaHei"/>
              </a:rPr>
              <a:t>Units</a:t>
            </a:r>
            <a:r>
              <a:rPr lang="zh-CN" altLang="en-US" sz="1400" b="1">
                <a:solidFill>
                  <a:srgbClr val="111111"/>
                </a:solidFill>
                <a:latin typeface="Microsoft YaHei"/>
                <a:ea typeface="Microsoft YaHei"/>
                <a:cs typeface="Microsoft YaHei"/>
              </a:rPr>
              <a:t>文本规则化</a:t>
            </a:r>
            <a:r>
              <a:rPr lang="en-US" altLang="zh-CN" sz="1400" b="1">
                <a:solidFill>
                  <a:srgbClr val="111111"/>
                </a:solidFill>
                <a:latin typeface="Microsoft YaHei"/>
                <a:ea typeface="Microsoft YaHei"/>
                <a:cs typeface="Microsoft YaHei"/>
              </a:rPr>
              <a:t>Agent</a:t>
            </a:r>
            <a:endParaRPr sz="1400" b="1">
              <a:solidFill>
                <a:srgbClr val="111111"/>
              </a:solidFill>
              <a:latin typeface="Microsoft YaHei"/>
              <a:ea typeface="Microsoft YaHei"/>
              <a:cs typeface="Microsoft YaHei"/>
            </a:endParaRPr>
          </a:p>
        </p:txBody>
      </p:sp>
      <p:sp>
        <p:nvSpPr>
          <p:cNvPr id="186" name="units-left-heading">
            <a:extLst>
              <a:ext uri="{FF2B5EF4-FFF2-40B4-BE49-F238E27FC236}">
                <a16:creationId xmlns:a16="http://schemas.microsoft.com/office/drawing/2014/main" id="{11C96917-4CF1-40E3-B3CF-65E7A6F7F1B1}"/>
              </a:ext>
            </a:extLst>
          </p:cNvPr>
          <p:cNvSpPr>
            <a:spLocks noGrp="1"/>
          </p:cNvSpPr>
          <p:nvPr/>
        </p:nvSpPr>
        <p:spPr>
          <a:xfrm>
            <a:off x="2708725" y="5627377"/>
            <a:ext cx="3067050" cy="276225"/>
          </a:xfrm>
          <a:prstGeom prst="rect">
            <a:avLst/>
          </a:prstGeom>
          <a:solidFill>
            <a:srgbClr val="FFFFFF"/>
          </a:solidFill>
          <a:ln w="7620">
            <a:solidFill>
              <a:srgbClr val="777777"/>
            </a:solidFill>
            <a:prstDash val="solid"/>
          </a:ln>
        </p:spPr>
        <p:txBody>
          <a:bodyPr wrap="square" lIns="38100" tIns="28575" rIns="38100" bIns="28575" anchor="ctr">
            <a:noAutofit/>
          </a:bodyPr>
          <a:lstStyle/>
          <a:p>
            <a:pPr algn="ctr">
              <a:lnSpc>
                <a:spcPct val="100000"/>
              </a:lnSpc>
              <a:buNone/>
              <a:defRPr sz="1065" b="1">
                <a:solidFill>
                  <a:srgbClr val="111111"/>
                </a:solidFill>
                <a:latin typeface="Microsoft YaHei"/>
                <a:ea typeface="Microsoft YaHei"/>
                <a:cs typeface="Microsoft YaHei"/>
              </a:defRPr>
            </a:pPr>
            <a:r>
              <a:rPr lang="zh-CN" altLang="en-US" sz="1065" b="1">
                <a:solidFill>
                  <a:srgbClr val="111111"/>
                </a:solidFill>
                <a:latin typeface="Microsoft YaHei"/>
                <a:ea typeface="Microsoft YaHei"/>
                <a:cs typeface="Microsoft YaHei"/>
              </a:rPr>
              <a:t>异质化的</a:t>
            </a:r>
            <a:r>
              <a:rPr lang="en-US" altLang="zh-CN" sz="1065" b="1">
                <a:solidFill>
                  <a:srgbClr val="111111"/>
                </a:solidFill>
                <a:latin typeface="Microsoft YaHei"/>
                <a:ea typeface="Microsoft YaHei"/>
                <a:cs typeface="Microsoft YaHei"/>
              </a:rPr>
              <a:t>Units</a:t>
            </a:r>
            <a:r>
              <a:rPr lang="zh-CN" altLang="en-US" sz="1065" b="1">
                <a:solidFill>
                  <a:srgbClr val="111111"/>
                </a:solidFill>
                <a:latin typeface="Microsoft YaHei"/>
                <a:ea typeface="Microsoft YaHei"/>
                <a:cs typeface="Microsoft YaHei"/>
              </a:rPr>
              <a:t>对象</a:t>
            </a:r>
            <a:endParaRPr sz="1065" b="1">
              <a:solidFill>
                <a:srgbClr val="111111"/>
              </a:solidFill>
              <a:latin typeface="Microsoft YaHei"/>
              <a:ea typeface="Microsoft YaHei"/>
              <a:cs typeface="Microsoft YaHei"/>
            </a:endParaRPr>
          </a:p>
        </p:txBody>
      </p:sp>
      <p:sp>
        <p:nvSpPr>
          <p:cNvPr id="187" name="units-right-heading">
            <a:extLst>
              <a:ext uri="{FF2B5EF4-FFF2-40B4-BE49-F238E27FC236}">
                <a16:creationId xmlns:a16="http://schemas.microsoft.com/office/drawing/2014/main" id="{E4D7CF0C-872B-4321-BE9D-7E9E090D9289}"/>
              </a:ext>
            </a:extLst>
          </p:cNvPr>
          <p:cNvSpPr>
            <a:spLocks noGrp="1"/>
          </p:cNvSpPr>
          <p:nvPr/>
        </p:nvSpPr>
        <p:spPr>
          <a:xfrm>
            <a:off x="5775775" y="5627377"/>
            <a:ext cx="6076950" cy="276225"/>
          </a:xfrm>
          <a:prstGeom prst="rect">
            <a:avLst/>
          </a:prstGeom>
          <a:solidFill>
            <a:srgbClr val="FFFFFF"/>
          </a:solidFill>
          <a:ln w="7620">
            <a:solidFill>
              <a:srgbClr val="777777"/>
            </a:solidFill>
            <a:prstDash val="solid"/>
          </a:ln>
        </p:spPr>
        <p:txBody>
          <a:bodyPr wrap="square" lIns="38100" tIns="28575" rIns="38100" bIns="28575" anchor="ctr">
            <a:noAutofit/>
          </a:bodyPr>
          <a:lstStyle/>
          <a:p>
            <a:pPr algn="ctr">
              <a:lnSpc>
                <a:spcPct val="100000"/>
              </a:lnSpc>
              <a:buNone/>
              <a:defRPr sz="1065" b="1">
                <a:solidFill>
                  <a:srgbClr val="111111"/>
                </a:solidFill>
                <a:latin typeface="Microsoft YaHei"/>
                <a:ea typeface="Microsoft YaHei"/>
                <a:cs typeface="Microsoft YaHei"/>
              </a:defRPr>
            </a:pPr>
            <a:r>
              <a:rPr lang="zh-CN" altLang="en-US" sz="1065" b="1">
                <a:solidFill>
                  <a:srgbClr val="111111"/>
                </a:solidFill>
                <a:latin typeface="Microsoft YaHei"/>
                <a:ea typeface="Microsoft YaHei"/>
                <a:cs typeface="Microsoft YaHei"/>
              </a:rPr>
              <a:t>用于表征</a:t>
            </a:r>
            <a:r>
              <a:rPr lang="en-US" altLang="zh-CN" sz="1065" b="1">
                <a:solidFill>
                  <a:srgbClr val="111111"/>
                </a:solidFill>
                <a:latin typeface="Microsoft YaHei"/>
                <a:ea typeface="Microsoft YaHei"/>
                <a:cs typeface="Microsoft YaHei"/>
              </a:rPr>
              <a:t>Units/</a:t>
            </a:r>
            <a:r>
              <a:rPr lang="en-US" altLang="zh-CN" sz="1065" b="1" err="1">
                <a:solidFill>
                  <a:srgbClr val="111111"/>
                </a:solidFill>
                <a:latin typeface="Microsoft YaHei"/>
                <a:ea typeface="Microsoft YaHei"/>
                <a:cs typeface="Microsoft YaHei"/>
              </a:rPr>
              <a:t>Persumer</a:t>
            </a:r>
            <a:r>
              <a:rPr lang="en-US" altLang="zh-CN" sz="1065" b="1">
                <a:solidFill>
                  <a:srgbClr val="111111"/>
                </a:solidFill>
                <a:latin typeface="Microsoft YaHei"/>
                <a:ea typeface="Microsoft YaHei"/>
                <a:cs typeface="Microsoft YaHei"/>
              </a:rPr>
              <a:t> </a:t>
            </a:r>
            <a:r>
              <a:rPr lang="zh-CN" altLang="en-US" sz="1065" b="1">
                <a:solidFill>
                  <a:srgbClr val="111111"/>
                </a:solidFill>
                <a:latin typeface="Microsoft YaHei"/>
                <a:ea typeface="Microsoft YaHei"/>
                <a:cs typeface="Microsoft YaHei"/>
              </a:rPr>
              <a:t>的数学元组（</a:t>
            </a:r>
            <a:r>
              <a:rPr lang="zh-CN" altLang="en-US" sz="1065" b="1">
                <a:solidFill>
                  <a:srgbClr val="FF0000"/>
                </a:solidFill>
                <a:latin typeface="Microsoft YaHei"/>
                <a:ea typeface="Microsoft YaHei"/>
                <a:cs typeface="Microsoft YaHei"/>
              </a:rPr>
              <a:t>归类于此前的市场设计文献</a:t>
            </a:r>
            <a:r>
              <a:rPr lang="zh-CN" altLang="en-US" sz="1065" b="1">
                <a:solidFill>
                  <a:srgbClr val="111111"/>
                </a:solidFill>
                <a:latin typeface="Microsoft YaHei"/>
                <a:ea typeface="Microsoft YaHei"/>
                <a:cs typeface="Microsoft YaHei"/>
              </a:rPr>
              <a:t>）</a:t>
            </a:r>
            <a:endParaRPr sz="1065" b="1">
              <a:solidFill>
                <a:srgbClr val="111111"/>
              </a:solidFill>
              <a:latin typeface="Microsoft YaHei"/>
              <a:ea typeface="Microsoft YaHei"/>
              <a:cs typeface="Microsoft YaHei"/>
            </a:endParaRPr>
          </a:p>
        </p:txBody>
      </p:sp>
      <p:sp>
        <p:nvSpPr>
          <p:cNvPr id="188" name="unit-example-1">
            <a:extLst>
              <a:ext uri="{FF2B5EF4-FFF2-40B4-BE49-F238E27FC236}">
                <a16:creationId xmlns:a16="http://schemas.microsoft.com/office/drawing/2014/main" id="{0A317253-4DD1-467A-8A87-D19EC7BACA56}"/>
              </a:ext>
            </a:extLst>
          </p:cNvPr>
          <p:cNvSpPr>
            <a:spLocks noGrp="1"/>
          </p:cNvSpPr>
          <p:nvPr/>
        </p:nvSpPr>
        <p:spPr>
          <a:xfrm>
            <a:off x="2708725" y="5903602"/>
            <a:ext cx="657225" cy="476250"/>
          </a:xfrm>
          <a:prstGeom prst="rect">
            <a:avLst/>
          </a:prstGeom>
          <a:solidFill>
            <a:srgbClr val="FFFFFF"/>
          </a:solidFill>
          <a:ln w="6668">
            <a:solidFill>
              <a:srgbClr val="777777"/>
            </a:solidFill>
            <a:prstDash val="solid"/>
          </a:ln>
        </p:spPr>
        <p:txBody>
          <a:bodyPr wrap="square" lIns="38100" tIns="28575" rIns="38100" bIns="28575" anchor="ctr">
            <a:noAutofit/>
          </a:bodyPr>
          <a:lstStyle/>
          <a:p>
            <a:pPr algn="ctr">
              <a:lnSpc>
                <a:spcPct val="100000"/>
              </a:lnSpc>
              <a:buNone/>
              <a:defRPr sz="938" b="0">
                <a:solidFill>
                  <a:srgbClr val="111111"/>
                </a:solidFill>
                <a:latin typeface="Microsoft YaHei"/>
                <a:ea typeface="Microsoft YaHei"/>
                <a:cs typeface="Microsoft YaHei"/>
              </a:defRPr>
            </a:pPr>
            <a:r>
              <a:rPr sz="1200">
                <a:latin typeface="Microsoft YaHei"/>
                <a:ea typeface="Microsoft YaHei"/>
                <a:cs typeface="Microsoft YaHei"/>
              </a:rPr>
              <a:t>EV</a:t>
            </a:r>
            <a:r>
              <a:rPr lang="en-US" altLang="zh-CN" sz="1200">
                <a:latin typeface="Microsoft YaHei"/>
                <a:ea typeface="Microsoft YaHei"/>
                <a:cs typeface="Microsoft YaHei"/>
              </a:rPr>
              <a:t>/V2G</a:t>
            </a:r>
            <a:endParaRPr sz="1200">
              <a:latin typeface="Microsoft YaHei"/>
              <a:ea typeface="Microsoft YaHei"/>
              <a:cs typeface="Microsoft YaHei"/>
            </a:endParaRPr>
          </a:p>
        </p:txBody>
      </p:sp>
      <p:sp>
        <p:nvSpPr>
          <p:cNvPr id="189" name="unit-example-2">
            <a:extLst>
              <a:ext uri="{FF2B5EF4-FFF2-40B4-BE49-F238E27FC236}">
                <a16:creationId xmlns:a16="http://schemas.microsoft.com/office/drawing/2014/main" id="{D51F22AB-D8FA-4285-94F6-6404ABDA3CF0}"/>
              </a:ext>
            </a:extLst>
          </p:cNvPr>
          <p:cNvSpPr>
            <a:spLocks noGrp="1"/>
          </p:cNvSpPr>
          <p:nvPr/>
        </p:nvSpPr>
        <p:spPr>
          <a:xfrm>
            <a:off x="3365950" y="5903602"/>
            <a:ext cx="742950" cy="476250"/>
          </a:xfrm>
          <a:prstGeom prst="rect">
            <a:avLst/>
          </a:prstGeom>
          <a:solidFill>
            <a:srgbClr val="FFFFFF"/>
          </a:solidFill>
          <a:ln w="6668">
            <a:solidFill>
              <a:srgbClr val="777777"/>
            </a:solidFill>
            <a:prstDash val="solid"/>
          </a:ln>
        </p:spPr>
        <p:txBody>
          <a:bodyPr wrap="square" lIns="38100" tIns="28575" rIns="38100" bIns="28575" anchor="ctr">
            <a:noAutofit/>
          </a:bodyPr>
          <a:lstStyle/>
          <a:p>
            <a:pPr algn="ctr">
              <a:lnSpc>
                <a:spcPct val="100000"/>
              </a:lnSpc>
              <a:buNone/>
              <a:defRPr sz="938" b="0">
                <a:solidFill>
                  <a:srgbClr val="111111"/>
                </a:solidFill>
                <a:latin typeface="Microsoft YaHei"/>
                <a:ea typeface="Microsoft YaHei"/>
                <a:cs typeface="Microsoft YaHei"/>
              </a:defRPr>
            </a:pPr>
            <a:r>
              <a:rPr sz="1200" err="1">
                <a:latin typeface="Microsoft YaHei"/>
                <a:ea typeface="Microsoft YaHei"/>
                <a:cs typeface="Microsoft YaHei"/>
              </a:rPr>
              <a:t>数据中心算力中心</a:t>
            </a:r>
            <a:endParaRPr sz="1200">
              <a:latin typeface="Microsoft YaHei"/>
              <a:ea typeface="Microsoft YaHei"/>
              <a:cs typeface="Microsoft YaHei"/>
            </a:endParaRPr>
          </a:p>
        </p:txBody>
      </p:sp>
      <p:sp>
        <p:nvSpPr>
          <p:cNvPr id="190" name="unit-example-3">
            <a:extLst>
              <a:ext uri="{FF2B5EF4-FFF2-40B4-BE49-F238E27FC236}">
                <a16:creationId xmlns:a16="http://schemas.microsoft.com/office/drawing/2014/main" id="{EF21ACD1-B430-4F43-9B6B-72BB4423481D}"/>
              </a:ext>
            </a:extLst>
          </p:cNvPr>
          <p:cNvSpPr>
            <a:spLocks noGrp="1"/>
          </p:cNvSpPr>
          <p:nvPr/>
        </p:nvSpPr>
        <p:spPr>
          <a:xfrm>
            <a:off x="4108900" y="5903602"/>
            <a:ext cx="457200" cy="476250"/>
          </a:xfrm>
          <a:prstGeom prst="rect">
            <a:avLst/>
          </a:prstGeom>
          <a:solidFill>
            <a:srgbClr val="FFFFFF"/>
          </a:solidFill>
          <a:ln w="6668">
            <a:solidFill>
              <a:srgbClr val="777777"/>
            </a:solidFill>
            <a:prstDash val="solid"/>
          </a:ln>
        </p:spPr>
        <p:txBody>
          <a:bodyPr wrap="square" lIns="38100" tIns="28575" rIns="38100" bIns="28575" anchor="ctr">
            <a:noAutofit/>
          </a:bodyPr>
          <a:lstStyle/>
          <a:p>
            <a:pPr algn="ctr">
              <a:lnSpc>
                <a:spcPct val="100000"/>
              </a:lnSpc>
              <a:buNone/>
              <a:defRPr sz="938" b="0">
                <a:solidFill>
                  <a:srgbClr val="111111"/>
                </a:solidFill>
                <a:latin typeface="Microsoft YaHei"/>
                <a:ea typeface="Microsoft YaHei"/>
                <a:cs typeface="Microsoft YaHei"/>
              </a:defRPr>
            </a:pPr>
            <a:r>
              <a:rPr sz="1200" b="0">
                <a:solidFill>
                  <a:srgbClr val="111111"/>
                </a:solidFill>
                <a:latin typeface="Microsoft YaHei"/>
                <a:ea typeface="Microsoft YaHei"/>
                <a:cs typeface="Microsoft YaHei"/>
              </a:rPr>
              <a:t>储能</a:t>
            </a:r>
          </a:p>
        </p:txBody>
      </p:sp>
      <p:sp>
        <p:nvSpPr>
          <p:cNvPr id="191" name="unit-example-4">
            <a:extLst>
              <a:ext uri="{FF2B5EF4-FFF2-40B4-BE49-F238E27FC236}">
                <a16:creationId xmlns:a16="http://schemas.microsoft.com/office/drawing/2014/main" id="{2E632BC2-EC41-4633-AA5A-B325CF8DC37B}"/>
              </a:ext>
            </a:extLst>
          </p:cNvPr>
          <p:cNvSpPr>
            <a:spLocks noGrp="1"/>
          </p:cNvSpPr>
          <p:nvPr/>
        </p:nvSpPr>
        <p:spPr>
          <a:xfrm>
            <a:off x="4566100" y="5903602"/>
            <a:ext cx="609600" cy="476250"/>
          </a:xfrm>
          <a:prstGeom prst="rect">
            <a:avLst/>
          </a:prstGeom>
          <a:solidFill>
            <a:srgbClr val="FFFFFF"/>
          </a:solidFill>
          <a:ln w="6668">
            <a:solidFill>
              <a:srgbClr val="777777"/>
            </a:solidFill>
            <a:prstDash val="solid"/>
          </a:ln>
        </p:spPr>
        <p:txBody>
          <a:bodyPr wrap="square" lIns="38100" tIns="28575" rIns="38100" bIns="28575" anchor="ctr">
            <a:noAutofit/>
          </a:bodyPr>
          <a:lstStyle/>
          <a:p>
            <a:pPr algn="ctr">
              <a:lnSpc>
                <a:spcPct val="100000"/>
              </a:lnSpc>
              <a:buNone/>
              <a:defRPr sz="938" b="0">
                <a:solidFill>
                  <a:srgbClr val="111111"/>
                </a:solidFill>
                <a:latin typeface="Microsoft YaHei"/>
                <a:ea typeface="Microsoft YaHei"/>
                <a:cs typeface="Microsoft YaHei"/>
              </a:defRPr>
            </a:pPr>
            <a:r>
              <a:rPr sz="1200" b="0" err="1">
                <a:solidFill>
                  <a:srgbClr val="111111"/>
                </a:solidFill>
                <a:latin typeface="Microsoft YaHei"/>
                <a:ea typeface="Microsoft YaHei"/>
                <a:cs typeface="Microsoft YaHei"/>
              </a:rPr>
              <a:t>可调负荷</a:t>
            </a:r>
            <a:endParaRPr sz="1200" b="0">
              <a:solidFill>
                <a:srgbClr val="111111"/>
              </a:solidFill>
              <a:latin typeface="Microsoft YaHei"/>
              <a:ea typeface="Microsoft YaHei"/>
              <a:cs typeface="Microsoft YaHei"/>
            </a:endParaRPr>
          </a:p>
        </p:txBody>
      </p:sp>
      <p:sp>
        <p:nvSpPr>
          <p:cNvPr id="192" name="unit-example-5">
            <a:extLst>
              <a:ext uri="{FF2B5EF4-FFF2-40B4-BE49-F238E27FC236}">
                <a16:creationId xmlns:a16="http://schemas.microsoft.com/office/drawing/2014/main" id="{F45A0FE4-5234-443D-8DD6-2B300CCB8E73}"/>
              </a:ext>
            </a:extLst>
          </p:cNvPr>
          <p:cNvSpPr>
            <a:spLocks noGrp="1"/>
          </p:cNvSpPr>
          <p:nvPr/>
        </p:nvSpPr>
        <p:spPr>
          <a:xfrm>
            <a:off x="5175700" y="5903602"/>
            <a:ext cx="600075" cy="476250"/>
          </a:xfrm>
          <a:prstGeom prst="rect">
            <a:avLst/>
          </a:prstGeom>
          <a:solidFill>
            <a:srgbClr val="FFFFFF"/>
          </a:solidFill>
          <a:ln w="6668">
            <a:solidFill>
              <a:srgbClr val="777777"/>
            </a:solidFill>
            <a:prstDash val="solid"/>
          </a:ln>
        </p:spPr>
        <p:txBody>
          <a:bodyPr wrap="square" lIns="38100" tIns="28575" rIns="38100" bIns="28575" anchor="ctr">
            <a:noAutofit/>
          </a:bodyPr>
          <a:lstStyle/>
          <a:p>
            <a:pPr algn="ctr">
              <a:lnSpc>
                <a:spcPct val="100000"/>
              </a:lnSpc>
              <a:buNone/>
              <a:defRPr sz="938" b="0">
                <a:solidFill>
                  <a:srgbClr val="111111"/>
                </a:solidFill>
                <a:latin typeface="Microsoft YaHei"/>
                <a:ea typeface="Microsoft YaHei"/>
                <a:cs typeface="Microsoft YaHei"/>
              </a:defRPr>
            </a:pPr>
            <a:r>
              <a:rPr sz="1200" b="0">
                <a:solidFill>
                  <a:srgbClr val="111111"/>
                </a:solidFill>
                <a:latin typeface="Microsoft YaHei"/>
                <a:ea typeface="Microsoft YaHei"/>
                <a:cs typeface="Microsoft YaHei"/>
              </a:rPr>
              <a:t>微网/园区</a:t>
            </a:r>
          </a:p>
        </p:txBody>
      </p:sp>
      <p:sp>
        <p:nvSpPr>
          <p:cNvPr id="193" name="tuple-cell-1">
            <a:extLst>
              <a:ext uri="{FF2B5EF4-FFF2-40B4-BE49-F238E27FC236}">
                <a16:creationId xmlns:a16="http://schemas.microsoft.com/office/drawing/2014/main" id="{153BCE49-C956-4AC5-B751-2E2E58668370}"/>
              </a:ext>
            </a:extLst>
          </p:cNvPr>
          <p:cNvSpPr>
            <a:spLocks noGrp="1"/>
          </p:cNvSpPr>
          <p:nvPr/>
        </p:nvSpPr>
        <p:spPr>
          <a:xfrm>
            <a:off x="5775775" y="5903602"/>
            <a:ext cx="923925" cy="476250"/>
          </a:xfrm>
          <a:prstGeom prst="rect">
            <a:avLst/>
          </a:prstGeom>
          <a:solidFill>
            <a:srgbClr val="FFFFFF"/>
          </a:solidFill>
          <a:ln w="6668">
            <a:solidFill>
              <a:srgbClr val="777777"/>
            </a:solidFill>
            <a:prstDash val="solid"/>
          </a:ln>
        </p:spPr>
        <p:txBody>
          <a:bodyPr wrap="square" lIns="38100" tIns="28575" rIns="38100" bIns="28575" anchor="ctr">
            <a:noAutofit/>
          </a:bodyPr>
          <a:lstStyle/>
          <a:p>
            <a:pPr algn="ctr">
              <a:lnSpc>
                <a:spcPct val="100000"/>
              </a:lnSpc>
              <a:buNone/>
              <a:defRPr sz="870" b="0">
                <a:solidFill>
                  <a:srgbClr val="111111"/>
                </a:solidFill>
                <a:latin typeface="Microsoft YaHei"/>
                <a:ea typeface="Microsoft YaHei"/>
                <a:cs typeface="Microsoft YaHei"/>
              </a:defRPr>
            </a:pPr>
            <a:r>
              <a:rPr sz="1200" b="0">
                <a:solidFill>
                  <a:srgbClr val="111111"/>
                </a:solidFill>
                <a:latin typeface="Microsoft YaHei"/>
                <a:ea typeface="Microsoft YaHei"/>
                <a:cs typeface="Microsoft YaHei"/>
              </a:rPr>
              <a:t>1. </a:t>
            </a:r>
            <a:r>
              <a:rPr sz="1200" b="0" err="1">
                <a:solidFill>
                  <a:srgbClr val="111111"/>
                </a:solidFill>
                <a:latin typeface="Microsoft YaHei"/>
                <a:ea typeface="Microsoft YaHei"/>
                <a:cs typeface="Microsoft YaHei"/>
              </a:rPr>
              <a:t>主体类型</a:t>
            </a:r>
            <a:endParaRPr sz="1200" b="0">
              <a:solidFill>
                <a:srgbClr val="111111"/>
              </a:solidFill>
              <a:latin typeface="Microsoft YaHei"/>
              <a:ea typeface="Microsoft YaHei"/>
              <a:cs typeface="Microsoft YaHei"/>
            </a:endParaRPr>
          </a:p>
        </p:txBody>
      </p:sp>
      <p:sp>
        <p:nvSpPr>
          <p:cNvPr id="194" name="tuple-cell-2">
            <a:extLst>
              <a:ext uri="{FF2B5EF4-FFF2-40B4-BE49-F238E27FC236}">
                <a16:creationId xmlns:a16="http://schemas.microsoft.com/office/drawing/2014/main" id="{5B02B862-C471-49C3-9B3A-FD6FEFA73608}"/>
              </a:ext>
            </a:extLst>
          </p:cNvPr>
          <p:cNvSpPr>
            <a:spLocks noGrp="1"/>
          </p:cNvSpPr>
          <p:nvPr/>
        </p:nvSpPr>
        <p:spPr>
          <a:xfrm>
            <a:off x="6699700" y="5903602"/>
            <a:ext cx="923925" cy="476250"/>
          </a:xfrm>
          <a:prstGeom prst="rect">
            <a:avLst/>
          </a:prstGeom>
          <a:solidFill>
            <a:srgbClr val="FFFFFF"/>
          </a:solidFill>
          <a:ln w="6668">
            <a:solidFill>
              <a:srgbClr val="777777"/>
            </a:solidFill>
            <a:prstDash val="solid"/>
          </a:ln>
        </p:spPr>
        <p:txBody>
          <a:bodyPr wrap="square" lIns="38100" tIns="28575" rIns="38100" bIns="28575" anchor="ctr">
            <a:noAutofit/>
          </a:bodyPr>
          <a:lstStyle/>
          <a:p>
            <a:pPr algn="ctr">
              <a:lnSpc>
                <a:spcPct val="100000"/>
              </a:lnSpc>
              <a:buNone/>
              <a:defRPr sz="870" b="0">
                <a:solidFill>
                  <a:srgbClr val="111111"/>
                </a:solidFill>
                <a:latin typeface="Microsoft YaHei"/>
                <a:ea typeface="Microsoft YaHei"/>
                <a:cs typeface="Microsoft YaHei"/>
              </a:defRPr>
            </a:pPr>
            <a:r>
              <a:rPr sz="1200" b="0">
                <a:solidFill>
                  <a:srgbClr val="111111"/>
                </a:solidFill>
                <a:latin typeface="Microsoft YaHei"/>
                <a:ea typeface="Microsoft YaHei"/>
                <a:cs typeface="Microsoft YaHei"/>
              </a:rPr>
              <a:t>2. </a:t>
            </a:r>
            <a:r>
              <a:rPr sz="1200" b="0" err="1">
                <a:solidFill>
                  <a:srgbClr val="111111"/>
                </a:solidFill>
                <a:latin typeface="Microsoft YaHei"/>
                <a:ea typeface="Microsoft YaHei"/>
                <a:cs typeface="Microsoft YaHei"/>
              </a:rPr>
              <a:t>状态变量</a:t>
            </a:r>
            <a:endParaRPr sz="1200" b="0">
              <a:solidFill>
                <a:srgbClr val="111111"/>
              </a:solidFill>
              <a:latin typeface="Microsoft YaHei"/>
              <a:ea typeface="Microsoft YaHei"/>
              <a:cs typeface="Microsoft YaHei"/>
            </a:endParaRPr>
          </a:p>
        </p:txBody>
      </p:sp>
      <p:sp>
        <p:nvSpPr>
          <p:cNvPr id="195" name="tuple-cell-3">
            <a:extLst>
              <a:ext uri="{FF2B5EF4-FFF2-40B4-BE49-F238E27FC236}">
                <a16:creationId xmlns:a16="http://schemas.microsoft.com/office/drawing/2014/main" id="{FEAFD9AD-78C9-43FE-9798-6BA5DDA1618E}"/>
              </a:ext>
            </a:extLst>
          </p:cNvPr>
          <p:cNvSpPr>
            <a:spLocks noGrp="1"/>
          </p:cNvSpPr>
          <p:nvPr/>
        </p:nvSpPr>
        <p:spPr>
          <a:xfrm>
            <a:off x="7623625" y="5903602"/>
            <a:ext cx="1009650" cy="476250"/>
          </a:xfrm>
          <a:prstGeom prst="rect">
            <a:avLst/>
          </a:prstGeom>
          <a:solidFill>
            <a:srgbClr val="FFFFFF"/>
          </a:solidFill>
          <a:ln w="6668">
            <a:solidFill>
              <a:srgbClr val="777777"/>
            </a:solidFill>
            <a:prstDash val="solid"/>
          </a:ln>
        </p:spPr>
        <p:txBody>
          <a:bodyPr wrap="square" lIns="38100" tIns="28575" rIns="38100" bIns="28575" anchor="ctr">
            <a:noAutofit/>
          </a:bodyPr>
          <a:lstStyle/>
          <a:p>
            <a:pPr algn="ctr">
              <a:lnSpc>
                <a:spcPct val="100000"/>
              </a:lnSpc>
              <a:buNone/>
              <a:defRPr sz="870" b="0">
                <a:solidFill>
                  <a:srgbClr val="111111"/>
                </a:solidFill>
                <a:latin typeface="Microsoft YaHei"/>
                <a:ea typeface="Microsoft YaHei"/>
                <a:cs typeface="Microsoft YaHei"/>
              </a:defRPr>
            </a:pPr>
            <a:r>
              <a:rPr sz="1200">
                <a:solidFill>
                  <a:srgbClr val="111111"/>
                </a:solidFill>
                <a:latin typeface="Microsoft YaHei"/>
                <a:ea typeface="Microsoft YaHei"/>
                <a:cs typeface="Microsoft YaHei"/>
              </a:rPr>
              <a:t>3. </a:t>
            </a:r>
            <a:r>
              <a:rPr sz="1200" err="1">
                <a:solidFill>
                  <a:srgbClr val="111111"/>
                </a:solidFill>
                <a:latin typeface="Microsoft YaHei"/>
                <a:ea typeface="Microsoft YaHei"/>
                <a:cs typeface="Microsoft YaHei"/>
              </a:rPr>
              <a:t>物理约束</a:t>
            </a:r>
            <a:endParaRPr sz="1200">
              <a:solidFill>
                <a:srgbClr val="111111"/>
              </a:solidFill>
              <a:latin typeface="Microsoft YaHei"/>
              <a:ea typeface="Microsoft YaHei"/>
              <a:cs typeface="Microsoft YaHei"/>
            </a:endParaRPr>
          </a:p>
        </p:txBody>
      </p:sp>
      <p:sp>
        <p:nvSpPr>
          <p:cNvPr id="196" name="tuple-cell-4">
            <a:extLst>
              <a:ext uri="{FF2B5EF4-FFF2-40B4-BE49-F238E27FC236}">
                <a16:creationId xmlns:a16="http://schemas.microsoft.com/office/drawing/2014/main" id="{3CB7114F-A114-430E-9626-79AAAA691CD2}"/>
              </a:ext>
            </a:extLst>
          </p:cNvPr>
          <p:cNvSpPr>
            <a:spLocks noGrp="1"/>
          </p:cNvSpPr>
          <p:nvPr/>
        </p:nvSpPr>
        <p:spPr>
          <a:xfrm>
            <a:off x="8633275" y="5903602"/>
            <a:ext cx="1009650" cy="476250"/>
          </a:xfrm>
          <a:prstGeom prst="rect">
            <a:avLst/>
          </a:prstGeom>
          <a:solidFill>
            <a:srgbClr val="FFFFFF"/>
          </a:solidFill>
          <a:ln w="6668">
            <a:solidFill>
              <a:srgbClr val="777777"/>
            </a:solidFill>
            <a:prstDash val="solid"/>
          </a:ln>
        </p:spPr>
        <p:txBody>
          <a:bodyPr wrap="square" lIns="38100" tIns="28575" rIns="38100" bIns="28575" anchor="ctr">
            <a:noAutofit/>
          </a:bodyPr>
          <a:lstStyle/>
          <a:p>
            <a:pPr algn="ctr">
              <a:lnSpc>
                <a:spcPct val="100000"/>
              </a:lnSpc>
              <a:buNone/>
              <a:defRPr sz="870" b="0">
                <a:solidFill>
                  <a:srgbClr val="111111"/>
                </a:solidFill>
                <a:latin typeface="Microsoft YaHei"/>
                <a:ea typeface="Microsoft YaHei"/>
                <a:cs typeface="Microsoft YaHei"/>
              </a:defRPr>
            </a:pPr>
            <a:r>
              <a:rPr sz="1200" b="0">
                <a:solidFill>
                  <a:srgbClr val="111111"/>
                </a:solidFill>
                <a:latin typeface="Microsoft YaHei"/>
                <a:ea typeface="Microsoft YaHei"/>
                <a:cs typeface="Microsoft YaHei"/>
              </a:rPr>
              <a:t>4. </a:t>
            </a:r>
            <a:r>
              <a:rPr sz="1200" b="0" err="1">
                <a:solidFill>
                  <a:srgbClr val="111111"/>
                </a:solidFill>
                <a:latin typeface="Microsoft YaHei"/>
                <a:ea typeface="Microsoft YaHei"/>
                <a:cs typeface="Microsoft YaHei"/>
              </a:rPr>
              <a:t>可调节量</a:t>
            </a:r>
            <a:endParaRPr sz="1200" b="0">
              <a:solidFill>
                <a:srgbClr val="111111"/>
              </a:solidFill>
              <a:latin typeface="Microsoft YaHei"/>
              <a:ea typeface="Microsoft YaHei"/>
              <a:cs typeface="Microsoft YaHei"/>
            </a:endParaRPr>
          </a:p>
        </p:txBody>
      </p:sp>
      <p:sp>
        <p:nvSpPr>
          <p:cNvPr id="197" name="tuple-cell-5">
            <a:extLst>
              <a:ext uri="{FF2B5EF4-FFF2-40B4-BE49-F238E27FC236}">
                <a16:creationId xmlns:a16="http://schemas.microsoft.com/office/drawing/2014/main" id="{E1E30F2C-D49D-4F3B-B2B7-67E728CDA976}"/>
              </a:ext>
            </a:extLst>
          </p:cNvPr>
          <p:cNvSpPr>
            <a:spLocks noGrp="1"/>
          </p:cNvSpPr>
          <p:nvPr/>
        </p:nvSpPr>
        <p:spPr>
          <a:xfrm>
            <a:off x="9642925" y="5903602"/>
            <a:ext cx="1066800" cy="476250"/>
          </a:xfrm>
          <a:prstGeom prst="rect">
            <a:avLst/>
          </a:prstGeom>
          <a:solidFill>
            <a:srgbClr val="FFFFFF"/>
          </a:solidFill>
          <a:ln w="6668">
            <a:solidFill>
              <a:srgbClr val="777777"/>
            </a:solidFill>
            <a:prstDash val="solid"/>
          </a:ln>
        </p:spPr>
        <p:txBody>
          <a:bodyPr wrap="square" lIns="38100" tIns="28575" rIns="38100" bIns="28575" anchor="ctr">
            <a:noAutofit/>
          </a:bodyPr>
          <a:lstStyle/>
          <a:p>
            <a:pPr algn="ctr">
              <a:lnSpc>
                <a:spcPct val="100000"/>
              </a:lnSpc>
              <a:buNone/>
              <a:defRPr sz="870" b="0">
                <a:solidFill>
                  <a:srgbClr val="111111"/>
                </a:solidFill>
                <a:latin typeface="Microsoft YaHei"/>
                <a:ea typeface="Microsoft YaHei"/>
                <a:cs typeface="Microsoft YaHei"/>
              </a:defRPr>
            </a:pPr>
            <a:r>
              <a:rPr sz="1200" b="1">
                <a:solidFill>
                  <a:srgbClr val="111111"/>
                </a:solidFill>
                <a:latin typeface="Microsoft YaHei"/>
                <a:ea typeface="Microsoft YaHei"/>
                <a:cs typeface="Microsoft YaHei"/>
              </a:rPr>
              <a:t>5. </a:t>
            </a:r>
            <a:r>
              <a:rPr lang="zh-CN" altLang="en-US" sz="1200" b="1">
                <a:solidFill>
                  <a:srgbClr val="111111"/>
                </a:solidFill>
                <a:latin typeface="Microsoft YaHei"/>
                <a:ea typeface="Microsoft YaHei"/>
                <a:cs typeface="Microsoft YaHei"/>
              </a:rPr>
              <a:t>行为变量</a:t>
            </a:r>
            <a:endParaRPr sz="1200" b="1">
              <a:solidFill>
                <a:srgbClr val="111111"/>
              </a:solidFill>
              <a:latin typeface="Microsoft YaHei"/>
              <a:ea typeface="Microsoft YaHei"/>
              <a:cs typeface="Microsoft YaHei"/>
            </a:endParaRPr>
          </a:p>
        </p:txBody>
      </p:sp>
      <p:sp>
        <p:nvSpPr>
          <p:cNvPr id="198" name="tuple-cell-6">
            <a:extLst>
              <a:ext uri="{FF2B5EF4-FFF2-40B4-BE49-F238E27FC236}">
                <a16:creationId xmlns:a16="http://schemas.microsoft.com/office/drawing/2014/main" id="{9AFA771C-66DA-4495-AA52-76376BC57B8C}"/>
              </a:ext>
            </a:extLst>
          </p:cNvPr>
          <p:cNvSpPr>
            <a:spLocks noGrp="1"/>
          </p:cNvSpPr>
          <p:nvPr/>
        </p:nvSpPr>
        <p:spPr>
          <a:xfrm>
            <a:off x="10709725" y="5903602"/>
            <a:ext cx="1143000" cy="476250"/>
          </a:xfrm>
          <a:prstGeom prst="rect">
            <a:avLst/>
          </a:prstGeom>
          <a:solidFill>
            <a:srgbClr val="FFFFFF"/>
          </a:solidFill>
          <a:ln w="6668">
            <a:solidFill>
              <a:srgbClr val="777777"/>
            </a:solidFill>
            <a:prstDash val="solid"/>
          </a:ln>
        </p:spPr>
        <p:txBody>
          <a:bodyPr wrap="square" lIns="38100" tIns="28575" rIns="38100" bIns="28575" anchor="ctr">
            <a:noAutofit/>
          </a:bodyPr>
          <a:lstStyle/>
          <a:p>
            <a:pPr algn="ctr">
              <a:lnSpc>
                <a:spcPct val="100000"/>
              </a:lnSpc>
              <a:buNone/>
              <a:defRPr sz="870" b="0">
                <a:solidFill>
                  <a:srgbClr val="111111"/>
                </a:solidFill>
                <a:latin typeface="Microsoft YaHei"/>
                <a:ea typeface="Microsoft YaHei"/>
                <a:cs typeface="Microsoft YaHei"/>
              </a:defRPr>
            </a:pPr>
            <a:r>
              <a:rPr sz="1200" b="0">
                <a:solidFill>
                  <a:srgbClr val="111111"/>
                </a:solidFill>
                <a:latin typeface="Microsoft YaHei"/>
                <a:ea typeface="Microsoft YaHei"/>
                <a:cs typeface="Microsoft YaHei"/>
              </a:rPr>
              <a:t>6. </a:t>
            </a:r>
            <a:r>
              <a:rPr sz="1200" b="0" err="1">
                <a:solidFill>
                  <a:srgbClr val="111111"/>
                </a:solidFill>
                <a:latin typeface="Microsoft YaHei"/>
                <a:ea typeface="Microsoft YaHei"/>
                <a:cs typeface="Microsoft YaHei"/>
              </a:rPr>
              <a:t>市场接口</a:t>
            </a:r>
            <a:r>
              <a:rPr sz="1200" b="0">
                <a:solidFill>
                  <a:srgbClr val="111111"/>
                </a:solidFill>
                <a:latin typeface="Microsoft YaHei"/>
                <a:ea typeface="Microsoft YaHei"/>
                <a:cs typeface="Microsoft YaHei"/>
              </a:rPr>
              <a:t>/</a:t>
            </a:r>
            <a:r>
              <a:rPr sz="1200" b="0" err="1">
                <a:solidFill>
                  <a:srgbClr val="111111"/>
                </a:solidFill>
                <a:latin typeface="Microsoft YaHei"/>
                <a:ea typeface="Microsoft YaHei"/>
                <a:cs typeface="Microsoft YaHei"/>
              </a:rPr>
              <a:t>效用</a:t>
            </a:r>
            <a:endParaRPr sz="1200" b="0">
              <a:solidFill>
                <a:srgbClr val="111111"/>
              </a:solidFill>
              <a:latin typeface="Microsoft YaHei"/>
              <a:ea typeface="Microsoft YaHei"/>
              <a:cs typeface="Microsoft YaHei"/>
            </a:endParaRPr>
          </a:p>
        </p:txBody>
      </p:sp>
      <p:sp>
        <p:nvSpPr>
          <p:cNvPr id="199" name="units-output">
            <a:extLst>
              <a:ext uri="{FF2B5EF4-FFF2-40B4-BE49-F238E27FC236}">
                <a16:creationId xmlns:a16="http://schemas.microsoft.com/office/drawing/2014/main" id="{E84A6992-CD48-4203-8DFE-B859FA30B31F}"/>
              </a:ext>
            </a:extLst>
          </p:cNvPr>
          <p:cNvSpPr>
            <a:spLocks noGrp="1"/>
          </p:cNvSpPr>
          <p:nvPr/>
        </p:nvSpPr>
        <p:spPr>
          <a:xfrm>
            <a:off x="2708725" y="6427477"/>
            <a:ext cx="9144000" cy="238125"/>
          </a:xfrm>
          <a:prstGeom prst="rect">
            <a:avLst/>
          </a:prstGeom>
          <a:solidFill>
            <a:srgbClr val="F4F4F4"/>
          </a:solidFill>
          <a:ln w="6668">
            <a:solidFill>
              <a:srgbClr val="A0A0A0"/>
            </a:solidFill>
            <a:prstDash val="solid"/>
          </a:ln>
        </p:spPr>
        <p:txBody>
          <a:bodyPr wrap="square" lIns="38100" tIns="28575" rIns="38100" bIns="28575" anchor="ctr">
            <a:noAutofit/>
          </a:bodyPr>
          <a:lstStyle/>
          <a:p>
            <a:pPr algn="ctr">
              <a:lnSpc>
                <a:spcPct val="100000"/>
              </a:lnSpc>
              <a:buNone/>
              <a:defRPr sz="990" b="1">
                <a:solidFill>
                  <a:srgbClr val="111111"/>
                </a:solidFill>
                <a:latin typeface="Microsoft YaHei"/>
                <a:ea typeface="Microsoft YaHei"/>
                <a:cs typeface="Microsoft YaHei"/>
              </a:defRPr>
            </a:pPr>
            <a:r>
              <a:rPr sz="1400" b="1" err="1">
                <a:solidFill>
                  <a:srgbClr val="C00000"/>
                </a:solidFill>
                <a:latin typeface="Microsoft YaHei"/>
                <a:ea typeface="Microsoft YaHei"/>
                <a:cs typeface="Microsoft YaHei"/>
              </a:rPr>
              <a:t>输出</a:t>
            </a:r>
            <a:r>
              <a:rPr sz="1400" b="1">
                <a:solidFill>
                  <a:srgbClr val="C00000"/>
                </a:solidFill>
                <a:latin typeface="Microsoft YaHei"/>
                <a:ea typeface="Microsoft YaHei"/>
                <a:cs typeface="Microsoft YaHei"/>
              </a:rPr>
              <a:t>：</a:t>
            </a:r>
            <a:r>
              <a:rPr lang="zh-CN" altLang="en-US" sz="1400" b="1">
                <a:solidFill>
                  <a:srgbClr val="C00000"/>
                </a:solidFill>
                <a:latin typeface="Microsoft YaHei"/>
                <a:ea typeface="Microsoft YaHei"/>
                <a:cs typeface="Microsoft YaHei"/>
              </a:rPr>
              <a:t>描述异质化</a:t>
            </a:r>
            <a:r>
              <a:rPr lang="en-US" altLang="zh-CN" sz="1400" b="1">
                <a:solidFill>
                  <a:srgbClr val="C00000"/>
                </a:solidFill>
                <a:latin typeface="Microsoft YaHei"/>
                <a:ea typeface="Microsoft YaHei"/>
                <a:cs typeface="Microsoft YaHei"/>
              </a:rPr>
              <a:t>Units</a:t>
            </a:r>
            <a:r>
              <a:rPr lang="zh-CN" altLang="en-US" sz="1400" b="1">
                <a:solidFill>
                  <a:srgbClr val="C00000"/>
                </a:solidFill>
                <a:latin typeface="Microsoft YaHei"/>
                <a:ea typeface="Microsoft YaHei"/>
                <a:cs typeface="Microsoft YaHei"/>
              </a:rPr>
              <a:t>的统一规则化</a:t>
            </a:r>
            <a:r>
              <a:rPr lang="en-US" altLang="zh-CN" sz="1400" b="1">
                <a:solidFill>
                  <a:srgbClr val="C00000"/>
                </a:solidFill>
                <a:latin typeface="Microsoft YaHei"/>
                <a:ea typeface="Microsoft YaHei"/>
                <a:cs typeface="Microsoft YaHei"/>
              </a:rPr>
              <a:t>Schema</a:t>
            </a:r>
            <a:endParaRPr sz="1400" b="1">
              <a:solidFill>
                <a:srgbClr val="C00000"/>
              </a:solidFill>
              <a:latin typeface="Microsoft YaHei"/>
              <a:ea typeface="Microsoft YaHei"/>
              <a:cs typeface="Microsoft YaHei"/>
            </a:endParaRPr>
          </a:p>
        </p:txBody>
      </p:sp>
      <p:cxnSp>
        <p:nvCxnSpPr>
          <p:cNvPr id="7" name="直接连接符 6">
            <a:extLst>
              <a:ext uri="{FF2B5EF4-FFF2-40B4-BE49-F238E27FC236}">
                <a16:creationId xmlns:a16="http://schemas.microsoft.com/office/drawing/2014/main" id="{1F5E21A0-8257-4CDA-B679-D8716AB4293F}"/>
              </a:ext>
            </a:extLst>
          </p:cNvPr>
          <p:cNvCxnSpPr/>
          <p:nvPr/>
        </p:nvCxnSpPr>
        <p:spPr>
          <a:xfrm>
            <a:off x="2423160" y="853440"/>
            <a:ext cx="0" cy="6004560"/>
          </a:xfrm>
          <a:prstGeom prst="line">
            <a:avLst/>
          </a:prstGeom>
          <a:ln w="15875">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62" name="units-left-heading">
            <a:extLst>
              <a:ext uri="{FF2B5EF4-FFF2-40B4-BE49-F238E27FC236}">
                <a16:creationId xmlns:a16="http://schemas.microsoft.com/office/drawing/2014/main" id="{7703ED14-D575-48C0-AEA1-637965113C33}"/>
              </a:ext>
            </a:extLst>
          </p:cNvPr>
          <p:cNvSpPr>
            <a:spLocks noGrp="1"/>
          </p:cNvSpPr>
          <p:nvPr/>
        </p:nvSpPr>
        <p:spPr>
          <a:xfrm>
            <a:off x="755438" y="6198185"/>
            <a:ext cx="1353212" cy="423863"/>
          </a:xfrm>
          <a:prstGeom prst="rect">
            <a:avLst/>
          </a:prstGeom>
          <a:solidFill>
            <a:srgbClr val="FFFFFF"/>
          </a:solidFill>
          <a:ln w="7620">
            <a:solidFill>
              <a:srgbClr val="777777"/>
            </a:solidFill>
            <a:prstDash val="solid"/>
          </a:ln>
        </p:spPr>
        <p:txBody>
          <a:bodyPr wrap="square" lIns="38100" tIns="28575" rIns="38100" bIns="28575" anchor="ctr">
            <a:noAutofit/>
          </a:bodyPr>
          <a:lstStyle/>
          <a:p>
            <a:pPr algn="ctr">
              <a:lnSpc>
                <a:spcPct val="100000"/>
              </a:lnSpc>
              <a:buNone/>
              <a:defRPr sz="1065" b="1">
                <a:solidFill>
                  <a:srgbClr val="111111"/>
                </a:solidFill>
                <a:latin typeface="Microsoft YaHei"/>
                <a:ea typeface="Microsoft YaHei"/>
                <a:cs typeface="Microsoft YaHei"/>
              </a:defRPr>
            </a:pPr>
            <a:r>
              <a:rPr lang="zh-CN" altLang="en-US" sz="1200" i="1">
                <a:solidFill>
                  <a:schemeClr val="bg2">
                    <a:lumMod val="50000"/>
                  </a:schemeClr>
                </a:solidFill>
                <a:latin typeface="Microsoft YaHei"/>
                <a:ea typeface="Microsoft YaHei"/>
                <a:cs typeface="Microsoft YaHei"/>
              </a:rPr>
              <a:t>大量单元的异质化文本集合</a:t>
            </a:r>
            <a:endParaRPr sz="1200" i="1">
              <a:solidFill>
                <a:schemeClr val="bg2">
                  <a:lumMod val="50000"/>
                </a:schemeClr>
              </a:solidFill>
              <a:latin typeface="Microsoft YaHei"/>
              <a:ea typeface="Microsoft YaHei"/>
              <a:cs typeface="Microsoft YaHei"/>
            </a:endParaRPr>
          </a:p>
        </p:txBody>
      </p:sp>
      <p:sp>
        <p:nvSpPr>
          <p:cNvPr id="8" name="文本框 7">
            <a:extLst>
              <a:ext uri="{FF2B5EF4-FFF2-40B4-BE49-F238E27FC236}">
                <a16:creationId xmlns:a16="http://schemas.microsoft.com/office/drawing/2014/main" id="{CE87F932-7955-4E2F-B662-F5F379237D0A}"/>
              </a:ext>
            </a:extLst>
          </p:cNvPr>
          <p:cNvSpPr txBox="1"/>
          <p:nvPr/>
        </p:nvSpPr>
        <p:spPr>
          <a:xfrm>
            <a:off x="519142" y="4744881"/>
            <a:ext cx="1813346" cy="523220"/>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square" rtlCol="0">
            <a:noAutofit/>
          </a:bodyPr>
          <a:lstStyle/>
          <a:p>
            <a:pPr algn="ctr"/>
            <a:r>
              <a:rPr lang="zh-CN" altLang="en-US" sz="1400" b="1">
                <a:latin typeface="微软雅黑" panose="020B0503020204020204" pitchFamily="34" charset="-122"/>
                <a:ea typeface="微软雅黑" panose="020B0503020204020204" pitchFamily="34" charset="-122"/>
              </a:rPr>
              <a:t>第一步：用户输入异质化的市场用例</a:t>
            </a:r>
          </a:p>
        </p:txBody>
      </p:sp>
      <p:sp>
        <p:nvSpPr>
          <p:cNvPr id="65" name="units-left-heading">
            <a:extLst>
              <a:ext uri="{FF2B5EF4-FFF2-40B4-BE49-F238E27FC236}">
                <a16:creationId xmlns:a16="http://schemas.microsoft.com/office/drawing/2014/main" id="{1539DD36-EF6E-45EE-9989-119E7A38587D}"/>
              </a:ext>
            </a:extLst>
          </p:cNvPr>
          <p:cNvSpPr>
            <a:spLocks noGrp="1"/>
          </p:cNvSpPr>
          <p:nvPr/>
        </p:nvSpPr>
        <p:spPr>
          <a:xfrm>
            <a:off x="755438" y="5295705"/>
            <a:ext cx="1353212" cy="311498"/>
          </a:xfrm>
          <a:prstGeom prst="rect">
            <a:avLst/>
          </a:prstGeom>
          <a:solidFill>
            <a:srgbClr val="FFFFFF"/>
          </a:solidFill>
          <a:ln w="7620">
            <a:solidFill>
              <a:srgbClr val="777777"/>
            </a:solidFill>
            <a:prstDash val="solid"/>
          </a:ln>
        </p:spPr>
        <p:txBody>
          <a:bodyPr wrap="square" lIns="38100" tIns="28575" rIns="38100" bIns="28575" anchor="ctr">
            <a:noAutofit/>
          </a:bodyPr>
          <a:lstStyle/>
          <a:p>
            <a:pPr algn="ctr">
              <a:lnSpc>
                <a:spcPct val="100000"/>
              </a:lnSpc>
              <a:buNone/>
              <a:defRPr sz="1065" b="1">
                <a:solidFill>
                  <a:srgbClr val="111111"/>
                </a:solidFill>
                <a:latin typeface="Microsoft YaHei"/>
                <a:ea typeface="Microsoft YaHei"/>
                <a:cs typeface="Microsoft YaHei"/>
              </a:defRPr>
            </a:pPr>
            <a:r>
              <a:rPr lang="zh-CN" altLang="en-US" sz="1200" i="1">
                <a:solidFill>
                  <a:schemeClr val="bg2">
                    <a:lumMod val="50000"/>
                  </a:schemeClr>
                </a:solidFill>
                <a:latin typeface="Microsoft YaHei"/>
                <a:ea typeface="Microsoft YaHei"/>
                <a:cs typeface="Microsoft YaHei"/>
              </a:rPr>
              <a:t>配置目标</a:t>
            </a:r>
            <a:r>
              <a:rPr lang="en-US" altLang="zh-CN" sz="1200" i="1">
                <a:solidFill>
                  <a:schemeClr val="bg2">
                    <a:lumMod val="50000"/>
                  </a:schemeClr>
                </a:solidFill>
                <a:latin typeface="Microsoft YaHei"/>
                <a:ea typeface="Microsoft YaHei"/>
                <a:cs typeface="Microsoft YaHei"/>
              </a:rPr>
              <a:t>IF</a:t>
            </a:r>
            <a:endParaRPr sz="1200" i="1">
              <a:solidFill>
                <a:schemeClr val="bg2">
                  <a:lumMod val="50000"/>
                </a:schemeClr>
              </a:solidFill>
              <a:latin typeface="Microsoft YaHei"/>
              <a:ea typeface="Microsoft YaHei"/>
              <a:cs typeface="Microsoft YaHei"/>
            </a:endParaRPr>
          </a:p>
        </p:txBody>
      </p:sp>
      <p:sp>
        <p:nvSpPr>
          <p:cNvPr id="66" name="units-left-heading">
            <a:extLst>
              <a:ext uri="{FF2B5EF4-FFF2-40B4-BE49-F238E27FC236}">
                <a16:creationId xmlns:a16="http://schemas.microsoft.com/office/drawing/2014/main" id="{679E09F9-B787-4ED0-811F-2F80A395C489}"/>
              </a:ext>
            </a:extLst>
          </p:cNvPr>
          <p:cNvSpPr>
            <a:spLocks noGrp="1"/>
          </p:cNvSpPr>
          <p:nvPr/>
        </p:nvSpPr>
        <p:spPr>
          <a:xfrm>
            <a:off x="756216" y="5754551"/>
            <a:ext cx="1353212" cy="311498"/>
          </a:xfrm>
          <a:prstGeom prst="rect">
            <a:avLst/>
          </a:prstGeom>
          <a:solidFill>
            <a:srgbClr val="FFFFFF"/>
          </a:solidFill>
          <a:ln w="7620">
            <a:solidFill>
              <a:srgbClr val="777777"/>
            </a:solidFill>
            <a:prstDash val="solid"/>
          </a:ln>
        </p:spPr>
        <p:txBody>
          <a:bodyPr wrap="square" lIns="38100" tIns="28575" rIns="38100" bIns="28575" anchor="ctr">
            <a:noAutofit/>
          </a:bodyPr>
          <a:lstStyle/>
          <a:p>
            <a:pPr algn="ctr">
              <a:lnSpc>
                <a:spcPct val="100000"/>
              </a:lnSpc>
              <a:buNone/>
              <a:defRPr sz="1065" b="1">
                <a:solidFill>
                  <a:srgbClr val="111111"/>
                </a:solidFill>
                <a:latin typeface="Microsoft YaHei"/>
                <a:ea typeface="Microsoft YaHei"/>
                <a:cs typeface="Microsoft YaHei"/>
              </a:defRPr>
            </a:pPr>
            <a:r>
              <a:rPr lang="zh-CN" altLang="en-US" sz="1200" i="1">
                <a:solidFill>
                  <a:schemeClr val="bg2">
                    <a:lumMod val="50000"/>
                  </a:schemeClr>
                </a:solidFill>
                <a:latin typeface="Microsoft YaHei"/>
                <a:ea typeface="Microsoft YaHei"/>
                <a:cs typeface="Microsoft YaHei"/>
              </a:rPr>
              <a:t>现有的结构约束</a:t>
            </a:r>
            <a:r>
              <a:rPr lang="en-US" altLang="zh-CN" sz="1200" i="1">
                <a:solidFill>
                  <a:schemeClr val="bg2">
                    <a:lumMod val="50000"/>
                  </a:schemeClr>
                </a:solidFill>
                <a:latin typeface="Microsoft YaHei"/>
                <a:ea typeface="Microsoft YaHei"/>
                <a:cs typeface="Microsoft YaHei"/>
              </a:rPr>
              <a:t>IF</a:t>
            </a:r>
            <a:endParaRPr sz="1200" i="1">
              <a:solidFill>
                <a:schemeClr val="bg2">
                  <a:lumMod val="50000"/>
                </a:schemeClr>
              </a:solidFill>
              <a:latin typeface="Microsoft YaHei"/>
              <a:ea typeface="Microsoft YaHei"/>
              <a:cs typeface="Microsoft YaHei"/>
            </a:endParaRPr>
          </a:p>
        </p:txBody>
      </p:sp>
      <p:cxnSp>
        <p:nvCxnSpPr>
          <p:cNvPr id="10" name="连接符: 肘形 9">
            <a:extLst>
              <a:ext uri="{FF2B5EF4-FFF2-40B4-BE49-F238E27FC236}">
                <a16:creationId xmlns:a16="http://schemas.microsoft.com/office/drawing/2014/main" id="{ABEF4F45-00A2-47C4-8F3A-4CAB787625DF}"/>
              </a:ext>
            </a:extLst>
          </p:cNvPr>
          <p:cNvCxnSpPr>
            <a:cxnSpLocks/>
            <a:stCxn id="62" idx="3"/>
            <a:endCxn id="184" idx="1"/>
          </p:cNvCxnSpPr>
          <p:nvPr/>
        </p:nvCxnSpPr>
        <p:spPr>
          <a:xfrm flipV="1">
            <a:off x="2108650" y="6022665"/>
            <a:ext cx="523875" cy="387452"/>
          </a:xfrm>
          <a:prstGeom prst="bentConnector3">
            <a:avLst>
              <a:gd name="adj1" fmla="val 50000"/>
            </a:avLst>
          </a:prstGeom>
          <a:ln w="34925">
            <a:solidFill>
              <a:srgbClr val="002060"/>
            </a:solidFill>
            <a:tailEnd type="triangle" w="lg" len="lg"/>
          </a:ln>
        </p:spPr>
        <p:style>
          <a:lnRef idx="1">
            <a:schemeClr val="accent1"/>
          </a:lnRef>
          <a:fillRef idx="0">
            <a:schemeClr val="accent1"/>
          </a:fillRef>
          <a:effectRef idx="0">
            <a:schemeClr val="accent1"/>
          </a:effectRef>
          <a:fontRef idx="minor">
            <a:schemeClr val="tx1"/>
          </a:fontRef>
        </p:style>
      </p:cxnSp>
      <p:sp>
        <p:nvSpPr>
          <p:cNvPr id="72" name="llm-frame">
            <a:extLst>
              <a:ext uri="{FF2B5EF4-FFF2-40B4-BE49-F238E27FC236}">
                <a16:creationId xmlns:a16="http://schemas.microsoft.com/office/drawing/2014/main" id="{758320D9-EB53-4504-BD45-89E432FBC6B0}"/>
              </a:ext>
            </a:extLst>
          </p:cNvPr>
          <p:cNvSpPr>
            <a:spLocks noGrp="1"/>
          </p:cNvSpPr>
          <p:nvPr/>
        </p:nvSpPr>
        <p:spPr>
          <a:xfrm>
            <a:off x="2632525" y="3149263"/>
            <a:ext cx="5419725" cy="1794396"/>
          </a:xfrm>
          <a:prstGeom prst="roundRect">
            <a:avLst>
              <a:gd name="adj" fmla="val 3653"/>
            </a:avLst>
          </a:prstGeom>
          <a:solidFill>
            <a:srgbClr val="C00000">
              <a:alpha val="2000"/>
            </a:srgbClr>
          </a:solidFill>
          <a:ln w="14288">
            <a:solidFill>
              <a:srgbClr val="C00000"/>
            </a:solidFill>
            <a:prstDash val="solid"/>
          </a:ln>
        </p:spPr>
        <p:txBody>
          <a:bodyPr>
            <a:noAutofit/>
          </a:bodyPr>
          <a:lstStyle/>
          <a:p>
            <a:endParaRPr lang="zh-CN" altLang="en-US"/>
          </a:p>
        </p:txBody>
      </p:sp>
      <p:sp>
        <p:nvSpPr>
          <p:cNvPr id="73" name="llm-layer-title">
            <a:extLst>
              <a:ext uri="{FF2B5EF4-FFF2-40B4-BE49-F238E27FC236}">
                <a16:creationId xmlns:a16="http://schemas.microsoft.com/office/drawing/2014/main" id="{6CE80C87-B86D-4C6B-9F4D-33A48ED0804C}"/>
              </a:ext>
            </a:extLst>
          </p:cNvPr>
          <p:cNvSpPr>
            <a:spLocks noGrp="1"/>
          </p:cNvSpPr>
          <p:nvPr/>
        </p:nvSpPr>
        <p:spPr>
          <a:xfrm>
            <a:off x="2632525" y="3215937"/>
            <a:ext cx="5419725" cy="257175"/>
          </a:xfrm>
          <a:prstGeom prst="rect">
            <a:avLst/>
          </a:prstGeom>
          <a:noFill/>
          <a:ln w="0">
            <a:noFill/>
            <a:prstDash val="solid"/>
          </a:ln>
        </p:spPr>
        <p:txBody>
          <a:bodyPr wrap="square" lIns="38100" tIns="19050" rIns="38100" bIns="19050" anchor="ctr">
            <a:noAutofit/>
          </a:bodyPr>
          <a:lstStyle/>
          <a:p>
            <a:pPr algn="ctr">
              <a:lnSpc>
                <a:spcPct val="100000"/>
              </a:lnSpc>
              <a:buNone/>
              <a:defRPr sz="1425" b="1">
                <a:solidFill>
                  <a:srgbClr val="E95500"/>
                </a:solidFill>
                <a:latin typeface="Microsoft YaHei"/>
                <a:ea typeface="Microsoft YaHei"/>
                <a:cs typeface="Microsoft YaHei"/>
              </a:defRPr>
            </a:pPr>
            <a:r>
              <a:rPr lang="zh-CN" altLang="en-US" sz="1425" b="1">
                <a:solidFill>
                  <a:srgbClr val="C00000"/>
                </a:solidFill>
                <a:latin typeface="Microsoft YaHei"/>
                <a:ea typeface="Microsoft YaHei"/>
                <a:cs typeface="Microsoft YaHei"/>
              </a:rPr>
              <a:t>第二层：市场规则设计</a:t>
            </a:r>
            <a:r>
              <a:rPr lang="en-US" altLang="zh-CN" sz="1425" b="1">
                <a:solidFill>
                  <a:srgbClr val="C00000"/>
                </a:solidFill>
                <a:latin typeface="Microsoft YaHei"/>
                <a:ea typeface="Microsoft YaHei"/>
                <a:cs typeface="Microsoft YaHei"/>
              </a:rPr>
              <a:t>Agent</a:t>
            </a:r>
            <a:endParaRPr sz="1425" b="1">
              <a:solidFill>
                <a:srgbClr val="C00000"/>
              </a:solidFill>
              <a:latin typeface="Microsoft YaHei"/>
              <a:ea typeface="Microsoft YaHei"/>
              <a:cs typeface="Microsoft YaHei"/>
            </a:endParaRPr>
          </a:p>
        </p:txBody>
      </p:sp>
      <p:sp>
        <p:nvSpPr>
          <p:cNvPr id="74" name="llm-input-box">
            <a:extLst>
              <a:ext uri="{FF2B5EF4-FFF2-40B4-BE49-F238E27FC236}">
                <a16:creationId xmlns:a16="http://schemas.microsoft.com/office/drawing/2014/main" id="{BFFAE262-1EBB-4A08-A4F9-E9B7D695AD99}"/>
              </a:ext>
            </a:extLst>
          </p:cNvPr>
          <p:cNvSpPr>
            <a:spLocks noGrp="1"/>
          </p:cNvSpPr>
          <p:nvPr/>
        </p:nvSpPr>
        <p:spPr>
          <a:xfrm>
            <a:off x="2708725" y="3482637"/>
            <a:ext cx="1428750" cy="1400175"/>
          </a:xfrm>
          <a:prstGeom prst="rect">
            <a:avLst/>
          </a:prstGeom>
          <a:solidFill>
            <a:srgbClr val="FFFFFF"/>
          </a:solidFill>
          <a:ln w="8573">
            <a:solidFill>
              <a:srgbClr val="E95500"/>
            </a:solidFill>
            <a:prstDash val="solid"/>
          </a:ln>
        </p:spPr>
        <p:txBody>
          <a:bodyPr>
            <a:noAutofit/>
          </a:bodyPr>
          <a:lstStyle/>
          <a:p>
            <a:endParaRPr lang="zh-CN" altLang="en-US"/>
          </a:p>
        </p:txBody>
      </p:sp>
      <p:sp>
        <p:nvSpPr>
          <p:cNvPr id="75" name="llm-process-box">
            <a:extLst>
              <a:ext uri="{FF2B5EF4-FFF2-40B4-BE49-F238E27FC236}">
                <a16:creationId xmlns:a16="http://schemas.microsoft.com/office/drawing/2014/main" id="{B419622C-2C44-429B-A959-7F07BCCF6C3A}"/>
              </a:ext>
            </a:extLst>
          </p:cNvPr>
          <p:cNvSpPr>
            <a:spLocks noGrp="1"/>
          </p:cNvSpPr>
          <p:nvPr/>
        </p:nvSpPr>
        <p:spPr>
          <a:xfrm>
            <a:off x="4204150" y="3482637"/>
            <a:ext cx="2343150" cy="1400175"/>
          </a:xfrm>
          <a:prstGeom prst="rect">
            <a:avLst/>
          </a:prstGeom>
          <a:solidFill>
            <a:srgbClr val="FFFFFF"/>
          </a:solidFill>
          <a:ln w="8573">
            <a:solidFill>
              <a:srgbClr val="E95500"/>
            </a:solidFill>
            <a:prstDash val="solid"/>
          </a:ln>
        </p:spPr>
        <p:txBody>
          <a:bodyPr>
            <a:noAutofit/>
          </a:bodyPr>
          <a:lstStyle/>
          <a:p>
            <a:endParaRPr lang="zh-CN" altLang="en-US"/>
          </a:p>
        </p:txBody>
      </p:sp>
      <p:sp>
        <p:nvSpPr>
          <p:cNvPr id="76" name="llm-output-box">
            <a:extLst>
              <a:ext uri="{FF2B5EF4-FFF2-40B4-BE49-F238E27FC236}">
                <a16:creationId xmlns:a16="http://schemas.microsoft.com/office/drawing/2014/main" id="{DE4D0B22-C18F-4971-A95A-8D9A6ADB996D}"/>
              </a:ext>
            </a:extLst>
          </p:cNvPr>
          <p:cNvSpPr>
            <a:spLocks noGrp="1"/>
          </p:cNvSpPr>
          <p:nvPr/>
        </p:nvSpPr>
        <p:spPr>
          <a:xfrm>
            <a:off x="6604450" y="3482637"/>
            <a:ext cx="1381125" cy="1400175"/>
          </a:xfrm>
          <a:prstGeom prst="rect">
            <a:avLst/>
          </a:prstGeom>
          <a:solidFill>
            <a:srgbClr val="FFFFFF"/>
          </a:solidFill>
          <a:ln w="8573">
            <a:solidFill>
              <a:srgbClr val="E95500"/>
            </a:solidFill>
            <a:prstDash val="solid"/>
          </a:ln>
        </p:spPr>
        <p:txBody>
          <a:bodyPr>
            <a:noAutofit/>
          </a:bodyPr>
          <a:lstStyle/>
          <a:p>
            <a:endParaRPr lang="zh-CN" altLang="en-US"/>
          </a:p>
        </p:txBody>
      </p:sp>
      <p:sp>
        <p:nvSpPr>
          <p:cNvPr id="77" name="llm-input-title">
            <a:extLst>
              <a:ext uri="{FF2B5EF4-FFF2-40B4-BE49-F238E27FC236}">
                <a16:creationId xmlns:a16="http://schemas.microsoft.com/office/drawing/2014/main" id="{0C75058B-FAAA-4E8D-A628-A5C53DF36B77}"/>
              </a:ext>
            </a:extLst>
          </p:cNvPr>
          <p:cNvSpPr>
            <a:spLocks noGrp="1"/>
          </p:cNvSpPr>
          <p:nvPr/>
        </p:nvSpPr>
        <p:spPr>
          <a:xfrm>
            <a:off x="2832550" y="3530262"/>
            <a:ext cx="1181100" cy="209550"/>
          </a:xfrm>
          <a:prstGeom prst="rect">
            <a:avLst/>
          </a:prstGeom>
          <a:noFill/>
          <a:ln w="0">
            <a:noFill/>
            <a:prstDash val="solid"/>
          </a:ln>
        </p:spPr>
        <p:txBody>
          <a:bodyPr wrap="square" lIns="38100" tIns="19050" rIns="38100" bIns="19050" anchor="ctr">
            <a:noAutofit/>
          </a:bodyPr>
          <a:lstStyle/>
          <a:p>
            <a:pPr algn="ctr">
              <a:lnSpc>
                <a:spcPct val="100000"/>
              </a:lnSpc>
              <a:buNone/>
              <a:defRPr sz="1163" b="1">
                <a:solidFill>
                  <a:srgbClr val="E95500"/>
                </a:solidFill>
                <a:latin typeface="Microsoft YaHei"/>
                <a:ea typeface="Microsoft YaHei"/>
                <a:cs typeface="Microsoft YaHei"/>
              </a:defRPr>
            </a:pPr>
            <a:r>
              <a:rPr sz="1163" b="1" err="1">
                <a:solidFill>
                  <a:schemeClr val="tx1">
                    <a:lumMod val="95000"/>
                    <a:lumOff val="5000"/>
                  </a:schemeClr>
                </a:solidFill>
                <a:latin typeface="Microsoft YaHei"/>
                <a:ea typeface="Microsoft YaHei"/>
                <a:cs typeface="Microsoft YaHei"/>
              </a:rPr>
              <a:t>输入</a:t>
            </a:r>
            <a:endParaRPr sz="1163" b="1">
              <a:solidFill>
                <a:schemeClr val="tx1">
                  <a:lumMod val="95000"/>
                  <a:lumOff val="5000"/>
                </a:schemeClr>
              </a:solidFill>
              <a:latin typeface="Microsoft YaHei"/>
              <a:ea typeface="Microsoft YaHei"/>
              <a:cs typeface="Microsoft YaHei"/>
            </a:endParaRPr>
          </a:p>
        </p:txBody>
      </p:sp>
      <p:sp>
        <p:nvSpPr>
          <p:cNvPr id="78" name="llm-input-list">
            <a:extLst>
              <a:ext uri="{FF2B5EF4-FFF2-40B4-BE49-F238E27FC236}">
                <a16:creationId xmlns:a16="http://schemas.microsoft.com/office/drawing/2014/main" id="{F2131097-CCCF-403B-9FDB-40DA98407603}"/>
              </a:ext>
            </a:extLst>
          </p:cNvPr>
          <p:cNvSpPr>
            <a:spLocks noGrp="1"/>
          </p:cNvSpPr>
          <p:nvPr/>
        </p:nvSpPr>
        <p:spPr>
          <a:xfrm>
            <a:off x="2756350" y="3777912"/>
            <a:ext cx="1343025" cy="1057275"/>
          </a:xfrm>
          <a:prstGeom prst="rect">
            <a:avLst/>
          </a:prstGeom>
          <a:noFill/>
          <a:ln w="0">
            <a:noFill/>
            <a:prstDash val="solid"/>
          </a:ln>
        </p:spPr>
        <p:txBody>
          <a:bodyPr wrap="square" lIns="19050" tIns="0" rIns="9525" bIns="0" anchor="t">
            <a:noAutofit/>
          </a:bodyPr>
          <a:lstStyle/>
          <a:p>
            <a:pPr algn="l">
              <a:lnSpc>
                <a:spcPct val="104000"/>
              </a:lnSpc>
              <a:buNone/>
              <a:defRPr sz="878" b="0">
                <a:solidFill>
                  <a:srgbClr val="111111"/>
                </a:solidFill>
                <a:latin typeface="Microsoft YaHei"/>
                <a:ea typeface="Microsoft YaHei"/>
                <a:cs typeface="Microsoft YaHei"/>
              </a:defRPr>
            </a:pPr>
            <a:r>
              <a:rPr sz="1000" b="0">
                <a:solidFill>
                  <a:srgbClr val="111111"/>
                </a:solidFill>
                <a:latin typeface="Microsoft YaHei"/>
                <a:ea typeface="Microsoft YaHei"/>
                <a:cs typeface="Microsoft YaHei"/>
              </a:rPr>
              <a:t>· </a:t>
            </a:r>
            <a:r>
              <a:rPr lang="zh-CN" altLang="en-US" sz="1000" b="1">
                <a:solidFill>
                  <a:srgbClr val="111111"/>
                </a:solidFill>
                <a:latin typeface="Microsoft YaHei"/>
                <a:ea typeface="Microsoft YaHei"/>
                <a:cs typeface="Microsoft YaHei"/>
              </a:rPr>
              <a:t>异质化单元的评分</a:t>
            </a:r>
            <a:r>
              <a:rPr lang="zh-CN" altLang="en-US" sz="1000" b="0">
                <a:solidFill>
                  <a:srgbClr val="111111"/>
                </a:solidFill>
                <a:latin typeface="Microsoft YaHei"/>
                <a:ea typeface="Microsoft YaHei"/>
                <a:cs typeface="Microsoft YaHei"/>
              </a:rPr>
              <a:t>：异质化单元特性</a:t>
            </a:r>
            <a:r>
              <a:rPr lang="en-US" altLang="zh-CN" sz="1000" b="0">
                <a:solidFill>
                  <a:srgbClr val="111111"/>
                </a:solidFill>
                <a:latin typeface="Microsoft YaHei"/>
                <a:ea typeface="Microsoft YaHei"/>
                <a:cs typeface="Microsoft YaHei"/>
                <a:sym typeface="Wingdings" panose="05000000000000000000" pitchFamily="2" charset="2"/>
              </a:rPr>
              <a:t></a:t>
            </a:r>
            <a:r>
              <a:rPr lang="zh-CN" altLang="en-US" sz="1000">
                <a:solidFill>
                  <a:srgbClr val="111111"/>
                </a:solidFill>
                <a:latin typeface="Microsoft YaHei"/>
                <a:ea typeface="Microsoft YaHei"/>
                <a:cs typeface="Microsoft YaHei"/>
                <a:sym typeface="Wingdings" panose="05000000000000000000" pitchFamily="2" charset="2"/>
              </a:rPr>
              <a:t>（市场目标）的规则模块对应评分</a:t>
            </a:r>
            <a:endParaRPr lang="en-US" altLang="zh-CN" sz="1000" b="0">
              <a:solidFill>
                <a:srgbClr val="111111"/>
              </a:solidFill>
              <a:latin typeface="Microsoft YaHei"/>
              <a:ea typeface="Microsoft YaHei"/>
              <a:cs typeface="Microsoft YaHei"/>
            </a:endParaRPr>
          </a:p>
          <a:p>
            <a:pPr algn="l">
              <a:lnSpc>
                <a:spcPct val="104000"/>
              </a:lnSpc>
              <a:buNone/>
              <a:defRPr sz="878" b="0">
                <a:solidFill>
                  <a:srgbClr val="111111"/>
                </a:solidFill>
                <a:latin typeface="Microsoft YaHei"/>
                <a:ea typeface="Microsoft YaHei"/>
                <a:cs typeface="Microsoft YaHei"/>
              </a:defRPr>
            </a:pPr>
            <a:r>
              <a:rPr sz="1000" b="0">
                <a:solidFill>
                  <a:srgbClr val="111111"/>
                </a:solidFill>
                <a:latin typeface="Microsoft YaHei"/>
                <a:ea typeface="Microsoft YaHei"/>
                <a:cs typeface="Microsoft YaHei"/>
              </a:rPr>
              <a:t>· </a:t>
            </a:r>
            <a:r>
              <a:rPr lang="zh-CN" altLang="en-US" sz="1000" b="1">
                <a:solidFill>
                  <a:srgbClr val="111111"/>
                </a:solidFill>
                <a:latin typeface="Microsoft YaHei"/>
                <a:ea typeface="Microsoft YaHei"/>
                <a:cs typeface="Microsoft YaHei"/>
              </a:rPr>
              <a:t>异质化单元的约束</a:t>
            </a:r>
            <a:r>
              <a:rPr lang="zh-CN" altLang="en-US" sz="1000" b="0">
                <a:solidFill>
                  <a:srgbClr val="111111"/>
                </a:solidFill>
                <a:latin typeface="Microsoft YaHei"/>
                <a:ea typeface="Microsoft YaHei"/>
                <a:cs typeface="Microsoft YaHei"/>
              </a:rPr>
              <a:t>：导致哪些市场规则组合失效</a:t>
            </a:r>
            <a:endParaRPr sz="1000" b="0">
              <a:solidFill>
                <a:srgbClr val="111111"/>
              </a:solidFill>
              <a:latin typeface="Microsoft YaHei"/>
              <a:ea typeface="Microsoft YaHei"/>
              <a:cs typeface="Microsoft YaHei"/>
            </a:endParaRPr>
          </a:p>
        </p:txBody>
      </p:sp>
      <p:sp>
        <p:nvSpPr>
          <p:cNvPr id="79" name="llm-process-title">
            <a:extLst>
              <a:ext uri="{FF2B5EF4-FFF2-40B4-BE49-F238E27FC236}">
                <a16:creationId xmlns:a16="http://schemas.microsoft.com/office/drawing/2014/main" id="{3B3CFBDB-126C-4D1D-BE4A-DC9C71B00830}"/>
              </a:ext>
            </a:extLst>
          </p:cNvPr>
          <p:cNvSpPr>
            <a:spLocks noGrp="1"/>
          </p:cNvSpPr>
          <p:nvPr/>
        </p:nvSpPr>
        <p:spPr>
          <a:xfrm>
            <a:off x="4423224" y="3535025"/>
            <a:ext cx="1838325" cy="209550"/>
          </a:xfrm>
          <a:prstGeom prst="rect">
            <a:avLst/>
          </a:prstGeom>
          <a:noFill/>
          <a:ln w="0">
            <a:noFill/>
            <a:prstDash val="solid"/>
          </a:ln>
        </p:spPr>
        <p:txBody>
          <a:bodyPr wrap="square" lIns="38100" tIns="19050" rIns="38100" bIns="19050" anchor="ctr">
            <a:noAutofit/>
          </a:bodyPr>
          <a:lstStyle/>
          <a:p>
            <a:pPr algn="ctr">
              <a:lnSpc>
                <a:spcPct val="100000"/>
              </a:lnSpc>
              <a:buNone/>
              <a:defRPr sz="1163" b="1">
                <a:solidFill>
                  <a:srgbClr val="E95500"/>
                </a:solidFill>
                <a:latin typeface="Microsoft YaHei"/>
                <a:ea typeface="Microsoft YaHei"/>
                <a:cs typeface="Microsoft YaHei"/>
              </a:defRPr>
            </a:pPr>
            <a:r>
              <a:rPr lang="zh-CN" altLang="en-US" sz="1163" b="1">
                <a:solidFill>
                  <a:srgbClr val="0070C0"/>
                </a:solidFill>
                <a:latin typeface="Microsoft YaHei"/>
                <a:ea typeface="Microsoft YaHei"/>
                <a:cs typeface="Microsoft YaHei"/>
              </a:rPr>
              <a:t>一种规则组合生成方法</a:t>
            </a:r>
            <a:endParaRPr sz="1163" b="1">
              <a:solidFill>
                <a:srgbClr val="0070C0"/>
              </a:solidFill>
              <a:latin typeface="Microsoft YaHei"/>
              <a:ea typeface="Microsoft YaHei"/>
              <a:cs typeface="Microsoft YaHei"/>
            </a:endParaRPr>
          </a:p>
        </p:txBody>
      </p:sp>
      <p:sp>
        <p:nvSpPr>
          <p:cNvPr id="80" name="llm-process-list">
            <a:extLst>
              <a:ext uri="{FF2B5EF4-FFF2-40B4-BE49-F238E27FC236}">
                <a16:creationId xmlns:a16="http://schemas.microsoft.com/office/drawing/2014/main" id="{A639FAF6-12C4-423B-ACEA-A5A5880C3615}"/>
              </a:ext>
            </a:extLst>
          </p:cNvPr>
          <p:cNvSpPr>
            <a:spLocks noGrp="1"/>
          </p:cNvSpPr>
          <p:nvPr/>
        </p:nvSpPr>
        <p:spPr>
          <a:xfrm>
            <a:off x="4232725" y="3758862"/>
            <a:ext cx="2286000" cy="1095375"/>
          </a:xfrm>
          <a:prstGeom prst="rect">
            <a:avLst/>
          </a:prstGeom>
          <a:noFill/>
          <a:ln w="0">
            <a:noFill/>
            <a:prstDash val="solid"/>
          </a:ln>
        </p:spPr>
        <p:txBody>
          <a:bodyPr wrap="square" lIns="19050" tIns="0" rIns="9525" bIns="0" anchor="t">
            <a:noAutofit/>
          </a:bodyPr>
          <a:lstStyle/>
          <a:p>
            <a:pPr algn="l">
              <a:lnSpc>
                <a:spcPct val="111000"/>
              </a:lnSpc>
              <a:buNone/>
              <a:defRPr sz="923" b="0">
                <a:solidFill>
                  <a:srgbClr val="111111"/>
                </a:solidFill>
                <a:latin typeface="Microsoft YaHei"/>
                <a:ea typeface="Microsoft YaHei"/>
                <a:cs typeface="Microsoft YaHei"/>
              </a:defRPr>
            </a:pPr>
            <a:r>
              <a:rPr lang="en-US" altLang="zh-CN" sz="1200" b="0">
                <a:solidFill>
                  <a:srgbClr val="111111"/>
                </a:solidFill>
                <a:latin typeface="Microsoft YaHei"/>
                <a:ea typeface="Microsoft YaHei"/>
                <a:cs typeface="Microsoft YaHei"/>
              </a:rPr>
              <a:t>· </a:t>
            </a:r>
            <a:r>
              <a:rPr lang="zh-CN" altLang="en-US" sz="1200">
                <a:solidFill>
                  <a:srgbClr val="111111"/>
                </a:solidFill>
                <a:latin typeface="Microsoft YaHei"/>
                <a:ea typeface="Microsoft YaHei"/>
                <a:cs typeface="Microsoft YaHei"/>
              </a:rPr>
              <a:t>本质上是模块化设计组合</a:t>
            </a:r>
            <a:endParaRPr lang="en-US" altLang="zh-CN" sz="1200">
              <a:solidFill>
                <a:srgbClr val="111111"/>
              </a:solidFill>
              <a:latin typeface="Microsoft YaHei"/>
              <a:ea typeface="Microsoft YaHei"/>
              <a:cs typeface="Microsoft YaHei"/>
            </a:endParaRPr>
          </a:p>
          <a:p>
            <a:pPr algn="l">
              <a:lnSpc>
                <a:spcPct val="111000"/>
              </a:lnSpc>
              <a:buNone/>
              <a:defRPr sz="923" b="0">
                <a:solidFill>
                  <a:srgbClr val="111111"/>
                </a:solidFill>
                <a:latin typeface="Microsoft YaHei"/>
                <a:ea typeface="Microsoft YaHei"/>
                <a:cs typeface="Microsoft YaHei"/>
              </a:defRPr>
            </a:pPr>
            <a:r>
              <a:rPr lang="en-US" altLang="zh-CN" sz="1200" b="0">
                <a:solidFill>
                  <a:srgbClr val="111111"/>
                </a:solidFill>
                <a:latin typeface="Microsoft YaHei"/>
                <a:ea typeface="Microsoft YaHei"/>
                <a:cs typeface="Microsoft YaHei"/>
              </a:rPr>
              <a:t>· </a:t>
            </a:r>
            <a:r>
              <a:rPr lang="zh-CN" altLang="en-US" sz="1200">
                <a:solidFill>
                  <a:srgbClr val="111111"/>
                </a:solidFill>
                <a:latin typeface="Microsoft YaHei"/>
                <a:ea typeface="Microsoft YaHei"/>
                <a:cs typeface="Microsoft YaHei"/>
              </a:rPr>
              <a:t>我认为要输出</a:t>
            </a:r>
            <a:r>
              <a:rPr lang="zh-CN" altLang="en-US" sz="1200" b="1">
                <a:solidFill>
                  <a:srgbClr val="111111"/>
                </a:solidFill>
                <a:latin typeface="Microsoft YaHei"/>
                <a:ea typeface="Microsoft YaHei"/>
                <a:cs typeface="Microsoft YaHei"/>
              </a:rPr>
              <a:t>典型模板</a:t>
            </a:r>
            <a:r>
              <a:rPr lang="en-US" altLang="zh-CN" sz="1200" b="1">
                <a:solidFill>
                  <a:srgbClr val="111111"/>
                </a:solidFill>
                <a:latin typeface="Microsoft YaHei"/>
                <a:ea typeface="Microsoft YaHei"/>
                <a:cs typeface="Microsoft YaHei"/>
              </a:rPr>
              <a:t>+</a:t>
            </a:r>
            <a:r>
              <a:rPr lang="zh-CN" altLang="en-US" sz="1200" b="1">
                <a:solidFill>
                  <a:srgbClr val="111111"/>
                </a:solidFill>
                <a:latin typeface="Microsoft YaHei"/>
                <a:ea typeface="Microsoft YaHei"/>
                <a:cs typeface="Microsoft YaHei"/>
              </a:rPr>
              <a:t>分支设计空间</a:t>
            </a:r>
            <a:endParaRPr lang="en-US" altLang="zh-CN" sz="1200" b="1">
              <a:solidFill>
                <a:srgbClr val="111111"/>
              </a:solidFill>
              <a:latin typeface="Microsoft YaHei"/>
              <a:ea typeface="Microsoft YaHei"/>
              <a:cs typeface="Microsoft YaHei"/>
            </a:endParaRPr>
          </a:p>
          <a:p>
            <a:pPr>
              <a:lnSpc>
                <a:spcPct val="111000"/>
              </a:lnSpc>
              <a:defRPr sz="923" b="0">
                <a:solidFill>
                  <a:srgbClr val="111111"/>
                </a:solidFill>
                <a:latin typeface="Microsoft YaHei"/>
                <a:ea typeface="Microsoft YaHei"/>
                <a:cs typeface="Microsoft YaHei"/>
              </a:defRPr>
            </a:pPr>
            <a:r>
              <a:rPr lang="en-US" altLang="zh-CN" sz="1200">
                <a:solidFill>
                  <a:srgbClr val="111111"/>
                </a:solidFill>
                <a:latin typeface="Microsoft YaHei"/>
                <a:ea typeface="Microsoft YaHei"/>
                <a:cs typeface="Microsoft YaHei"/>
              </a:rPr>
              <a:t>· </a:t>
            </a:r>
            <a:r>
              <a:rPr lang="zh-CN" altLang="en-US" sz="1200">
                <a:solidFill>
                  <a:srgbClr val="111111"/>
                </a:solidFill>
                <a:latin typeface="Microsoft YaHei"/>
                <a:ea typeface="Microsoft YaHei"/>
                <a:cs typeface="Microsoft YaHei"/>
              </a:rPr>
              <a:t>方法思路采用决策树式生成</a:t>
            </a:r>
            <a:endParaRPr lang="en-US" altLang="zh-CN" sz="1200">
              <a:solidFill>
                <a:srgbClr val="111111"/>
              </a:solidFill>
              <a:latin typeface="Microsoft YaHei"/>
              <a:ea typeface="Microsoft YaHei"/>
              <a:cs typeface="Microsoft YaHei"/>
            </a:endParaRPr>
          </a:p>
          <a:p>
            <a:pPr>
              <a:lnSpc>
                <a:spcPct val="111000"/>
              </a:lnSpc>
              <a:defRPr sz="923" b="0">
                <a:solidFill>
                  <a:srgbClr val="111111"/>
                </a:solidFill>
                <a:latin typeface="Microsoft YaHei"/>
                <a:ea typeface="Microsoft YaHei"/>
                <a:cs typeface="Microsoft YaHei"/>
              </a:defRPr>
            </a:pPr>
            <a:r>
              <a:rPr lang="en-US" altLang="zh-CN" sz="1200" b="1">
                <a:solidFill>
                  <a:srgbClr val="111111"/>
                </a:solidFill>
                <a:latin typeface="Microsoft YaHei"/>
                <a:ea typeface="Microsoft YaHei"/>
                <a:cs typeface="Microsoft YaHei"/>
              </a:rPr>
              <a:t>· LLM</a:t>
            </a:r>
            <a:r>
              <a:rPr lang="zh-CN" altLang="en-US" sz="1200" b="1">
                <a:solidFill>
                  <a:srgbClr val="111111"/>
                </a:solidFill>
                <a:latin typeface="Microsoft YaHei"/>
                <a:ea typeface="Microsoft YaHei"/>
                <a:cs typeface="Microsoft YaHei"/>
              </a:rPr>
              <a:t>来进行打分？</a:t>
            </a:r>
            <a:endParaRPr lang="en-US" altLang="zh-CN" sz="1200" b="1">
              <a:solidFill>
                <a:srgbClr val="111111"/>
              </a:solidFill>
              <a:latin typeface="Microsoft YaHei"/>
              <a:ea typeface="Microsoft YaHei"/>
              <a:cs typeface="Microsoft YaHei"/>
            </a:endParaRPr>
          </a:p>
          <a:p>
            <a:pPr>
              <a:lnSpc>
                <a:spcPct val="111000"/>
              </a:lnSpc>
              <a:defRPr sz="923" b="0">
                <a:solidFill>
                  <a:srgbClr val="111111"/>
                </a:solidFill>
                <a:latin typeface="Microsoft YaHei"/>
                <a:ea typeface="Microsoft YaHei"/>
                <a:cs typeface="Microsoft YaHei"/>
              </a:defRPr>
            </a:pPr>
            <a:endParaRPr lang="en-US" altLang="zh-CN" sz="1200">
              <a:solidFill>
                <a:srgbClr val="111111"/>
              </a:solidFill>
              <a:latin typeface="Microsoft YaHei"/>
              <a:ea typeface="Microsoft YaHei"/>
              <a:cs typeface="Microsoft YaHei"/>
            </a:endParaRPr>
          </a:p>
        </p:txBody>
      </p:sp>
      <p:sp>
        <p:nvSpPr>
          <p:cNvPr id="81" name="llm-output-title">
            <a:extLst>
              <a:ext uri="{FF2B5EF4-FFF2-40B4-BE49-F238E27FC236}">
                <a16:creationId xmlns:a16="http://schemas.microsoft.com/office/drawing/2014/main" id="{AEF88427-42E9-4FAA-8DB2-5E4602FA0FD6}"/>
              </a:ext>
            </a:extLst>
          </p:cNvPr>
          <p:cNvSpPr>
            <a:spLocks noGrp="1"/>
          </p:cNvSpPr>
          <p:nvPr/>
        </p:nvSpPr>
        <p:spPr>
          <a:xfrm>
            <a:off x="6880675" y="3530262"/>
            <a:ext cx="819150" cy="209550"/>
          </a:xfrm>
          <a:prstGeom prst="rect">
            <a:avLst/>
          </a:prstGeom>
          <a:noFill/>
          <a:ln w="0">
            <a:noFill/>
            <a:prstDash val="solid"/>
          </a:ln>
        </p:spPr>
        <p:txBody>
          <a:bodyPr wrap="square" lIns="38100" tIns="19050" rIns="38100" bIns="19050" anchor="ctr">
            <a:noAutofit/>
          </a:bodyPr>
          <a:lstStyle/>
          <a:p>
            <a:pPr algn="ctr">
              <a:lnSpc>
                <a:spcPct val="100000"/>
              </a:lnSpc>
              <a:buNone/>
              <a:defRPr sz="1163" b="1">
                <a:solidFill>
                  <a:srgbClr val="E95500"/>
                </a:solidFill>
                <a:latin typeface="Microsoft YaHei"/>
                <a:ea typeface="Microsoft YaHei"/>
                <a:cs typeface="Microsoft YaHei"/>
              </a:defRPr>
            </a:pPr>
            <a:r>
              <a:rPr sz="1163" b="1" err="1">
                <a:solidFill>
                  <a:schemeClr val="tx1">
                    <a:lumMod val="95000"/>
                    <a:lumOff val="5000"/>
                  </a:schemeClr>
                </a:solidFill>
                <a:latin typeface="Microsoft YaHei"/>
                <a:ea typeface="Microsoft YaHei"/>
                <a:cs typeface="Microsoft YaHei"/>
              </a:rPr>
              <a:t>输出</a:t>
            </a:r>
            <a:endParaRPr sz="1163" b="1">
              <a:solidFill>
                <a:schemeClr val="tx1">
                  <a:lumMod val="95000"/>
                  <a:lumOff val="5000"/>
                </a:schemeClr>
              </a:solidFill>
              <a:latin typeface="Microsoft YaHei"/>
              <a:ea typeface="Microsoft YaHei"/>
              <a:cs typeface="Microsoft YaHei"/>
            </a:endParaRPr>
          </a:p>
        </p:txBody>
      </p:sp>
      <p:sp>
        <p:nvSpPr>
          <p:cNvPr id="82" name="llm-output-list">
            <a:extLst>
              <a:ext uri="{FF2B5EF4-FFF2-40B4-BE49-F238E27FC236}">
                <a16:creationId xmlns:a16="http://schemas.microsoft.com/office/drawing/2014/main" id="{4ACAB02E-B6A1-4097-8FB9-7A6B871ABB27}"/>
              </a:ext>
            </a:extLst>
          </p:cNvPr>
          <p:cNvSpPr>
            <a:spLocks noGrp="1"/>
          </p:cNvSpPr>
          <p:nvPr/>
        </p:nvSpPr>
        <p:spPr>
          <a:xfrm>
            <a:off x="6652075" y="3777912"/>
            <a:ext cx="1295400" cy="1057275"/>
          </a:xfrm>
          <a:prstGeom prst="rect">
            <a:avLst/>
          </a:prstGeom>
          <a:noFill/>
          <a:ln w="0">
            <a:noFill/>
            <a:prstDash val="solid"/>
          </a:ln>
        </p:spPr>
        <p:txBody>
          <a:bodyPr wrap="square" lIns="19050" tIns="0" rIns="9525" bIns="0" anchor="t">
            <a:noAutofit/>
          </a:bodyPr>
          <a:lstStyle/>
          <a:p>
            <a:pPr algn="l">
              <a:lnSpc>
                <a:spcPct val="116000"/>
              </a:lnSpc>
              <a:buNone/>
              <a:defRPr sz="960" b="0">
                <a:solidFill>
                  <a:srgbClr val="111111"/>
                </a:solidFill>
                <a:latin typeface="Microsoft YaHei"/>
                <a:ea typeface="Microsoft YaHei"/>
                <a:cs typeface="Microsoft YaHei"/>
              </a:defRPr>
            </a:pPr>
            <a:r>
              <a:rPr sz="1200" b="1">
                <a:solidFill>
                  <a:srgbClr val="111111"/>
                </a:solidFill>
                <a:latin typeface="Microsoft YaHei"/>
                <a:ea typeface="Microsoft YaHei"/>
                <a:cs typeface="Microsoft YaHei"/>
              </a:rPr>
              <a:t>· </a:t>
            </a:r>
            <a:r>
              <a:rPr lang="en-US" altLang="zh-CN" sz="1200" b="1">
                <a:solidFill>
                  <a:srgbClr val="111111"/>
                </a:solidFill>
                <a:latin typeface="Microsoft YaHei"/>
                <a:ea typeface="Microsoft YaHei"/>
                <a:cs typeface="Microsoft YaHei"/>
              </a:rPr>
              <a:t>Agent 1</a:t>
            </a:r>
            <a:r>
              <a:rPr lang="zh-CN" altLang="en-US" sz="1200" b="1">
                <a:solidFill>
                  <a:srgbClr val="111111"/>
                </a:solidFill>
                <a:latin typeface="Microsoft YaHei"/>
                <a:ea typeface="Microsoft YaHei"/>
                <a:cs typeface="Microsoft YaHei"/>
              </a:rPr>
              <a:t>：可行市场规则组合</a:t>
            </a:r>
            <a:endParaRPr lang="en-US" altLang="zh-CN" sz="1200" b="1">
              <a:solidFill>
                <a:srgbClr val="111111"/>
              </a:solidFill>
              <a:latin typeface="Microsoft YaHei"/>
              <a:ea typeface="Microsoft YaHei"/>
              <a:cs typeface="Microsoft YaHei"/>
            </a:endParaRPr>
          </a:p>
          <a:p>
            <a:pPr>
              <a:lnSpc>
                <a:spcPct val="116000"/>
              </a:lnSpc>
              <a:defRPr sz="960" b="0">
                <a:solidFill>
                  <a:srgbClr val="111111"/>
                </a:solidFill>
                <a:latin typeface="Microsoft YaHei"/>
                <a:ea typeface="Microsoft YaHei"/>
                <a:cs typeface="Microsoft YaHei"/>
              </a:defRPr>
            </a:pPr>
            <a:r>
              <a:rPr lang="en-US" altLang="zh-CN" sz="1200" b="1">
                <a:solidFill>
                  <a:srgbClr val="C00000"/>
                </a:solidFill>
                <a:latin typeface="Microsoft YaHei"/>
                <a:ea typeface="Microsoft YaHei"/>
                <a:cs typeface="Microsoft YaHei"/>
              </a:rPr>
              <a:t>· Agent 2</a:t>
            </a:r>
            <a:r>
              <a:rPr lang="zh-CN" altLang="en-US" sz="1200" b="1">
                <a:solidFill>
                  <a:srgbClr val="C00000"/>
                </a:solidFill>
                <a:latin typeface="Microsoft YaHei"/>
                <a:ea typeface="Microsoft YaHei"/>
                <a:cs typeface="Microsoft YaHei"/>
              </a:rPr>
              <a:t>：最终交付市场设计文件</a:t>
            </a:r>
          </a:p>
        </p:txBody>
      </p:sp>
      <p:sp>
        <p:nvSpPr>
          <p:cNvPr id="87" name="矩形: 圆角 86">
            <a:extLst>
              <a:ext uri="{FF2B5EF4-FFF2-40B4-BE49-F238E27FC236}">
                <a16:creationId xmlns:a16="http://schemas.microsoft.com/office/drawing/2014/main" id="{775A10A7-31AB-41A4-9FA8-E45BC77B8C6C}"/>
              </a:ext>
            </a:extLst>
          </p:cNvPr>
          <p:cNvSpPr/>
          <p:nvPr/>
        </p:nvSpPr>
        <p:spPr>
          <a:xfrm>
            <a:off x="511848" y="2590800"/>
            <a:ext cx="1787302" cy="1808799"/>
          </a:xfrm>
          <a:prstGeom prst="roundRect">
            <a:avLst>
              <a:gd name="adj" fmla="val 12461"/>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89" name="文本框 88">
            <a:extLst>
              <a:ext uri="{FF2B5EF4-FFF2-40B4-BE49-F238E27FC236}">
                <a16:creationId xmlns:a16="http://schemas.microsoft.com/office/drawing/2014/main" id="{61498C67-C4B3-4B0D-A9D3-B5EA6F395D44}"/>
              </a:ext>
            </a:extLst>
          </p:cNvPr>
          <p:cNvSpPr txBox="1"/>
          <p:nvPr/>
        </p:nvSpPr>
        <p:spPr>
          <a:xfrm>
            <a:off x="483188" y="2603427"/>
            <a:ext cx="1877967" cy="323373"/>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square" rtlCol="0">
            <a:noAutofit/>
          </a:bodyPr>
          <a:lstStyle/>
          <a:p>
            <a:pPr algn="ctr"/>
            <a:r>
              <a:rPr lang="zh-CN" altLang="en-US" sz="1400" b="1">
                <a:latin typeface="微软雅黑" panose="020B0503020204020204" pitchFamily="34" charset="-122"/>
                <a:ea typeface="微软雅黑" panose="020B0503020204020204" pitchFamily="34" charset="-122"/>
              </a:rPr>
              <a:t>第二步 规则生成评估</a:t>
            </a:r>
          </a:p>
        </p:txBody>
      </p:sp>
      <p:sp>
        <p:nvSpPr>
          <p:cNvPr id="96" name="physical-frame">
            <a:extLst>
              <a:ext uri="{FF2B5EF4-FFF2-40B4-BE49-F238E27FC236}">
                <a16:creationId xmlns:a16="http://schemas.microsoft.com/office/drawing/2014/main" id="{7E1C0D9A-A8D4-4E04-AF0E-3EBA3A52254A}"/>
              </a:ext>
            </a:extLst>
          </p:cNvPr>
          <p:cNvSpPr>
            <a:spLocks noGrp="1"/>
          </p:cNvSpPr>
          <p:nvPr/>
        </p:nvSpPr>
        <p:spPr>
          <a:xfrm>
            <a:off x="8294361" y="3140550"/>
            <a:ext cx="1512949" cy="1794396"/>
          </a:xfrm>
          <a:prstGeom prst="roundRect">
            <a:avLst>
              <a:gd name="adj" fmla="val 3653"/>
            </a:avLst>
          </a:prstGeom>
          <a:solidFill>
            <a:srgbClr val="FFFFFF"/>
          </a:solidFill>
          <a:ln w="14288">
            <a:solidFill>
              <a:srgbClr val="0A3F9E"/>
            </a:solidFill>
            <a:prstDash val="solid"/>
          </a:ln>
        </p:spPr>
        <p:txBody>
          <a:bodyPr>
            <a:noAutofit/>
          </a:bodyPr>
          <a:lstStyle/>
          <a:p>
            <a:endParaRPr lang="zh-CN" altLang="en-US"/>
          </a:p>
        </p:txBody>
      </p:sp>
      <p:sp>
        <p:nvSpPr>
          <p:cNvPr id="97" name="physical-title">
            <a:extLst>
              <a:ext uri="{FF2B5EF4-FFF2-40B4-BE49-F238E27FC236}">
                <a16:creationId xmlns:a16="http://schemas.microsoft.com/office/drawing/2014/main" id="{1C25FFAD-CE4A-41A6-BC1D-E4F3A3D975C9}"/>
              </a:ext>
            </a:extLst>
          </p:cNvPr>
          <p:cNvSpPr>
            <a:spLocks noGrp="1"/>
          </p:cNvSpPr>
          <p:nvPr/>
        </p:nvSpPr>
        <p:spPr>
          <a:xfrm>
            <a:off x="8376043" y="3284446"/>
            <a:ext cx="1431267" cy="247650"/>
          </a:xfrm>
          <a:prstGeom prst="rect">
            <a:avLst/>
          </a:prstGeom>
          <a:noFill/>
          <a:ln w="0">
            <a:noFill/>
            <a:prstDash val="solid"/>
          </a:ln>
        </p:spPr>
        <p:txBody>
          <a:bodyPr wrap="square" lIns="38100" tIns="19050" rIns="38100" bIns="19050" anchor="ctr">
            <a:noAutofit/>
          </a:bodyPr>
          <a:lstStyle/>
          <a:p>
            <a:pPr algn="ctr">
              <a:lnSpc>
                <a:spcPct val="100000"/>
              </a:lnSpc>
              <a:buNone/>
              <a:defRPr sz="1425" b="1">
                <a:solidFill>
                  <a:srgbClr val="0A3F9E"/>
                </a:solidFill>
                <a:latin typeface="Microsoft YaHei"/>
                <a:ea typeface="Microsoft YaHei"/>
                <a:cs typeface="Microsoft YaHei"/>
              </a:defRPr>
            </a:pPr>
            <a:r>
              <a:rPr lang="zh-CN" altLang="en-US" sz="1425" b="1">
                <a:solidFill>
                  <a:srgbClr val="0A3F9E"/>
                </a:solidFill>
                <a:latin typeface="Microsoft YaHei"/>
                <a:ea typeface="Microsoft YaHei"/>
                <a:cs typeface="Microsoft YaHei"/>
              </a:rPr>
              <a:t>第二层 市场设计规则知识库</a:t>
            </a:r>
            <a:endParaRPr sz="1425" b="1">
              <a:solidFill>
                <a:srgbClr val="0A3F9E"/>
              </a:solidFill>
              <a:latin typeface="Microsoft YaHei"/>
              <a:ea typeface="Microsoft YaHei"/>
              <a:cs typeface="Microsoft YaHei"/>
            </a:endParaRPr>
          </a:p>
        </p:txBody>
      </p:sp>
      <p:sp>
        <p:nvSpPr>
          <p:cNvPr id="98" name="physical-list">
            <a:extLst>
              <a:ext uri="{FF2B5EF4-FFF2-40B4-BE49-F238E27FC236}">
                <a16:creationId xmlns:a16="http://schemas.microsoft.com/office/drawing/2014/main" id="{A9ABFCA0-F484-4223-9481-0B803C7B6E97}"/>
              </a:ext>
            </a:extLst>
          </p:cNvPr>
          <p:cNvSpPr>
            <a:spLocks noGrp="1"/>
          </p:cNvSpPr>
          <p:nvPr/>
        </p:nvSpPr>
        <p:spPr>
          <a:xfrm>
            <a:off x="8358394" y="3741407"/>
            <a:ext cx="1448917" cy="1238250"/>
          </a:xfrm>
          <a:prstGeom prst="rect">
            <a:avLst/>
          </a:prstGeom>
          <a:noFill/>
          <a:ln w="0">
            <a:noFill/>
            <a:prstDash val="solid"/>
          </a:ln>
        </p:spPr>
        <p:txBody>
          <a:bodyPr wrap="square" lIns="47625" tIns="19050" rIns="28575" bIns="19050" anchor="t">
            <a:noAutofit/>
          </a:bodyPr>
          <a:lstStyle/>
          <a:p>
            <a:pPr algn="l">
              <a:buNone/>
              <a:defRPr sz="1140" b="0">
                <a:solidFill>
                  <a:srgbClr val="111111"/>
                </a:solidFill>
                <a:latin typeface="Microsoft YaHei"/>
                <a:ea typeface="Microsoft YaHei"/>
                <a:cs typeface="Microsoft YaHei"/>
              </a:defRPr>
            </a:pPr>
            <a:r>
              <a:rPr sz="1140" b="1">
                <a:solidFill>
                  <a:srgbClr val="C00000"/>
                </a:solidFill>
                <a:latin typeface="Microsoft YaHei"/>
                <a:ea typeface="Microsoft YaHei"/>
                <a:cs typeface="Microsoft YaHei"/>
              </a:rPr>
              <a:t>• </a:t>
            </a:r>
            <a:r>
              <a:rPr lang="zh-CN" altLang="en-US" sz="1140" b="1">
                <a:solidFill>
                  <a:srgbClr val="C00000"/>
                </a:solidFill>
                <a:latin typeface="Microsoft YaHei"/>
                <a:ea typeface="Microsoft YaHei"/>
                <a:cs typeface="Microsoft YaHei"/>
              </a:rPr>
              <a:t>市场分层设计节点特性有向图</a:t>
            </a:r>
            <a:endParaRPr lang="en-US" altLang="zh-CN" sz="1140" b="1">
              <a:solidFill>
                <a:srgbClr val="C00000"/>
              </a:solidFill>
              <a:latin typeface="Microsoft YaHei"/>
              <a:ea typeface="Microsoft YaHei"/>
              <a:cs typeface="Microsoft YaHei"/>
            </a:endParaRPr>
          </a:p>
          <a:p>
            <a:pPr algn="l">
              <a:buNone/>
              <a:defRPr sz="1140" b="0">
                <a:solidFill>
                  <a:srgbClr val="111111"/>
                </a:solidFill>
                <a:latin typeface="Microsoft YaHei"/>
                <a:ea typeface="Microsoft YaHei"/>
                <a:cs typeface="Microsoft YaHei"/>
              </a:defRPr>
            </a:pPr>
            <a:r>
              <a:rPr sz="1140" b="0">
                <a:solidFill>
                  <a:srgbClr val="111111"/>
                </a:solidFill>
                <a:latin typeface="Microsoft YaHei"/>
                <a:ea typeface="Microsoft YaHei"/>
                <a:cs typeface="Microsoft YaHei"/>
              </a:rPr>
              <a:t>• </a:t>
            </a:r>
            <a:r>
              <a:rPr lang="zh-CN" altLang="en-US" sz="1140" b="0">
                <a:solidFill>
                  <a:srgbClr val="111111"/>
                </a:solidFill>
                <a:latin typeface="Microsoft YaHei"/>
                <a:ea typeface="Microsoft YaHei"/>
                <a:cs typeface="Microsoft YaHei"/>
              </a:rPr>
              <a:t>典型市场模板</a:t>
            </a:r>
            <a:endParaRPr lang="en-US" altLang="zh-CN" sz="1140" b="0">
              <a:solidFill>
                <a:srgbClr val="111111"/>
              </a:solidFill>
              <a:latin typeface="Microsoft YaHei"/>
              <a:ea typeface="Microsoft YaHei"/>
              <a:cs typeface="Microsoft YaHei"/>
            </a:endParaRPr>
          </a:p>
          <a:p>
            <a:pPr algn="l">
              <a:buNone/>
              <a:defRPr sz="1140" b="0">
                <a:solidFill>
                  <a:srgbClr val="111111"/>
                </a:solidFill>
                <a:latin typeface="Microsoft YaHei"/>
                <a:ea typeface="Microsoft YaHei"/>
                <a:cs typeface="Microsoft YaHei"/>
              </a:defRPr>
            </a:pPr>
            <a:r>
              <a:rPr sz="1140" b="0">
                <a:solidFill>
                  <a:srgbClr val="111111"/>
                </a:solidFill>
                <a:latin typeface="Microsoft YaHei"/>
                <a:ea typeface="Microsoft YaHei"/>
                <a:cs typeface="Microsoft YaHei"/>
              </a:rPr>
              <a:t>• </a:t>
            </a:r>
            <a:r>
              <a:rPr lang="zh-CN" altLang="en-US" sz="1140" b="0">
                <a:solidFill>
                  <a:srgbClr val="111111"/>
                </a:solidFill>
                <a:latin typeface="Microsoft YaHei"/>
                <a:ea typeface="Microsoft YaHei"/>
                <a:cs typeface="Microsoft YaHei"/>
              </a:rPr>
              <a:t>特性冲突</a:t>
            </a:r>
            <a:endParaRPr lang="en-US" altLang="zh-CN" sz="1140" b="0">
              <a:solidFill>
                <a:srgbClr val="111111"/>
              </a:solidFill>
              <a:latin typeface="Microsoft YaHei"/>
              <a:ea typeface="Microsoft YaHei"/>
              <a:cs typeface="Microsoft YaHei"/>
            </a:endParaRPr>
          </a:p>
          <a:p>
            <a:pPr algn="l">
              <a:buNone/>
              <a:defRPr sz="1140" b="0">
                <a:solidFill>
                  <a:srgbClr val="111111"/>
                </a:solidFill>
                <a:latin typeface="Microsoft YaHei"/>
                <a:ea typeface="Microsoft YaHei"/>
                <a:cs typeface="Microsoft YaHei"/>
              </a:defRPr>
            </a:pPr>
            <a:r>
              <a:rPr sz="1140" b="0">
                <a:solidFill>
                  <a:srgbClr val="111111"/>
                </a:solidFill>
                <a:latin typeface="Microsoft YaHei"/>
                <a:ea typeface="Microsoft YaHei"/>
                <a:cs typeface="Microsoft YaHei"/>
              </a:rPr>
              <a:t>• </a:t>
            </a:r>
            <a:r>
              <a:rPr lang="zh-CN" altLang="en-US" sz="1140" b="0">
                <a:solidFill>
                  <a:srgbClr val="111111"/>
                </a:solidFill>
                <a:latin typeface="Microsoft YaHei"/>
                <a:ea typeface="Microsoft YaHei"/>
                <a:cs typeface="Microsoft YaHei"/>
              </a:rPr>
              <a:t>每个特性的数学公式</a:t>
            </a:r>
            <a:r>
              <a:rPr lang="en-US" altLang="zh-CN" sz="1140" b="0">
                <a:solidFill>
                  <a:srgbClr val="111111"/>
                </a:solidFill>
                <a:latin typeface="Microsoft YaHei"/>
                <a:ea typeface="Microsoft YaHei"/>
                <a:cs typeface="Microsoft YaHei"/>
              </a:rPr>
              <a:t>+</a:t>
            </a:r>
            <a:r>
              <a:rPr lang="zh-CN" altLang="en-US" sz="1140" b="0">
                <a:solidFill>
                  <a:srgbClr val="111111"/>
                </a:solidFill>
                <a:latin typeface="Microsoft YaHei"/>
                <a:ea typeface="Microsoft YaHei"/>
                <a:cs typeface="Microsoft YaHei"/>
              </a:rPr>
              <a:t>解释文本</a:t>
            </a:r>
            <a:endParaRPr sz="1140" b="0">
              <a:solidFill>
                <a:srgbClr val="111111"/>
              </a:solidFill>
              <a:latin typeface="Microsoft YaHei"/>
              <a:ea typeface="Microsoft YaHei"/>
              <a:cs typeface="Microsoft YaHei"/>
            </a:endParaRPr>
          </a:p>
        </p:txBody>
      </p:sp>
      <p:cxnSp>
        <p:nvCxnSpPr>
          <p:cNvPr id="99" name="连接符: 肘形 98">
            <a:extLst>
              <a:ext uri="{FF2B5EF4-FFF2-40B4-BE49-F238E27FC236}">
                <a16:creationId xmlns:a16="http://schemas.microsoft.com/office/drawing/2014/main" id="{9C3AC1BE-33C0-4FD3-B529-ECEB89FF2F03}"/>
              </a:ext>
            </a:extLst>
          </p:cNvPr>
          <p:cNvCxnSpPr>
            <a:cxnSpLocks/>
            <a:stCxn id="65" idx="3"/>
            <a:endCxn id="72" idx="1"/>
          </p:cNvCxnSpPr>
          <p:nvPr/>
        </p:nvCxnSpPr>
        <p:spPr>
          <a:xfrm flipV="1">
            <a:off x="2108650" y="4046461"/>
            <a:ext cx="523875" cy="1404993"/>
          </a:xfrm>
          <a:prstGeom prst="bentConnector3">
            <a:avLst>
              <a:gd name="adj1" fmla="val 50000"/>
            </a:avLst>
          </a:prstGeom>
          <a:ln w="34925">
            <a:solidFill>
              <a:srgbClr val="00206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3" name="连接符: 肘形 102">
            <a:extLst>
              <a:ext uri="{FF2B5EF4-FFF2-40B4-BE49-F238E27FC236}">
                <a16:creationId xmlns:a16="http://schemas.microsoft.com/office/drawing/2014/main" id="{96289EAE-FB25-4B42-A449-6DD60F3AB5E8}"/>
              </a:ext>
            </a:extLst>
          </p:cNvPr>
          <p:cNvCxnSpPr>
            <a:cxnSpLocks/>
            <a:stCxn id="66" idx="3"/>
            <a:endCxn id="72" idx="1"/>
          </p:cNvCxnSpPr>
          <p:nvPr/>
        </p:nvCxnSpPr>
        <p:spPr>
          <a:xfrm flipV="1">
            <a:off x="2109428" y="4046461"/>
            <a:ext cx="523097" cy="1863839"/>
          </a:xfrm>
          <a:prstGeom prst="bentConnector3">
            <a:avLst>
              <a:gd name="adj1" fmla="val 50000"/>
            </a:avLst>
          </a:prstGeom>
          <a:ln w="34925">
            <a:solidFill>
              <a:srgbClr val="002060"/>
            </a:solidFill>
            <a:tailEnd type="triangle" w="lg" len="lg"/>
          </a:ln>
        </p:spPr>
        <p:style>
          <a:lnRef idx="1">
            <a:schemeClr val="accent1"/>
          </a:lnRef>
          <a:fillRef idx="0">
            <a:schemeClr val="accent1"/>
          </a:fillRef>
          <a:effectRef idx="0">
            <a:schemeClr val="accent1"/>
          </a:effectRef>
          <a:fontRef idx="minor">
            <a:schemeClr val="tx1"/>
          </a:fontRef>
        </p:style>
      </p:cxnSp>
      <p:sp>
        <p:nvSpPr>
          <p:cNvPr id="107" name="矩形: 圆角 106">
            <a:extLst>
              <a:ext uri="{FF2B5EF4-FFF2-40B4-BE49-F238E27FC236}">
                <a16:creationId xmlns:a16="http://schemas.microsoft.com/office/drawing/2014/main" id="{4B110872-1AE5-4912-9B6A-91677DBC8CB2}"/>
              </a:ext>
            </a:extLst>
          </p:cNvPr>
          <p:cNvSpPr/>
          <p:nvPr/>
        </p:nvSpPr>
        <p:spPr>
          <a:xfrm>
            <a:off x="532027" y="1241342"/>
            <a:ext cx="1787302" cy="1150154"/>
          </a:xfrm>
          <a:prstGeom prst="roundRect">
            <a:avLst>
              <a:gd name="adj" fmla="val 12461"/>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08" name="文本框 107">
            <a:extLst>
              <a:ext uri="{FF2B5EF4-FFF2-40B4-BE49-F238E27FC236}">
                <a16:creationId xmlns:a16="http://schemas.microsoft.com/office/drawing/2014/main" id="{9D7D58B0-AD68-47EE-B309-6558B1EA54AC}"/>
              </a:ext>
            </a:extLst>
          </p:cNvPr>
          <p:cNvSpPr txBox="1"/>
          <p:nvPr/>
        </p:nvSpPr>
        <p:spPr>
          <a:xfrm>
            <a:off x="505357" y="1264149"/>
            <a:ext cx="1877967" cy="323373"/>
          </a:xfrm>
          <a:prstGeom prst="rect">
            <a:avLst/>
          </a:prstGeom>
          <a:noFill/>
          <a:ln>
            <a:noFill/>
          </a:ln>
        </p:spPr>
        <p:style>
          <a:lnRef idx="0">
            <a:scrgbClr r="0" g="0" b="0"/>
          </a:lnRef>
          <a:fillRef idx="0">
            <a:scrgbClr r="0" g="0" b="0"/>
          </a:fillRef>
          <a:effectRef idx="0">
            <a:scrgbClr r="0" g="0" b="0"/>
          </a:effectRef>
          <a:fontRef idx="minor">
            <a:schemeClr val="accent1"/>
          </a:fontRef>
        </p:style>
        <p:txBody>
          <a:bodyPr wrap="square" rtlCol="0">
            <a:noAutofit/>
          </a:bodyPr>
          <a:lstStyle/>
          <a:p>
            <a:pPr algn="ctr"/>
            <a:r>
              <a:rPr lang="zh-CN" altLang="en-US" sz="1400" b="1">
                <a:latin typeface="微软雅黑" panose="020B0503020204020204" pitchFamily="34" charset="-122"/>
                <a:ea typeface="微软雅黑" panose="020B0503020204020204" pitchFamily="34" charset="-122"/>
              </a:rPr>
              <a:t>第三步 生成规则设计</a:t>
            </a:r>
          </a:p>
        </p:txBody>
      </p:sp>
      <p:sp>
        <p:nvSpPr>
          <p:cNvPr id="109" name="units-left-heading">
            <a:extLst>
              <a:ext uri="{FF2B5EF4-FFF2-40B4-BE49-F238E27FC236}">
                <a16:creationId xmlns:a16="http://schemas.microsoft.com/office/drawing/2014/main" id="{7828D739-68C9-412E-9C12-77909C67B26B}"/>
              </a:ext>
            </a:extLst>
          </p:cNvPr>
          <p:cNvSpPr>
            <a:spLocks noGrp="1"/>
          </p:cNvSpPr>
          <p:nvPr/>
        </p:nvSpPr>
        <p:spPr>
          <a:xfrm>
            <a:off x="834071" y="2954404"/>
            <a:ext cx="1105500" cy="317677"/>
          </a:xfrm>
          <a:prstGeom prst="rect">
            <a:avLst/>
          </a:prstGeom>
          <a:solidFill>
            <a:srgbClr val="FFFFFF"/>
          </a:solidFill>
          <a:ln w="7620">
            <a:solidFill>
              <a:srgbClr val="777777"/>
            </a:solidFill>
            <a:prstDash val="solid"/>
          </a:ln>
        </p:spPr>
        <p:txBody>
          <a:bodyPr wrap="square" lIns="38100" tIns="28575" rIns="38100" bIns="28575" anchor="ctr">
            <a:noAutofit/>
          </a:bodyPr>
          <a:lstStyle/>
          <a:p>
            <a:pPr algn="ctr">
              <a:lnSpc>
                <a:spcPct val="100000"/>
              </a:lnSpc>
              <a:buNone/>
              <a:defRPr sz="1065" b="1">
                <a:solidFill>
                  <a:srgbClr val="111111"/>
                </a:solidFill>
                <a:latin typeface="Microsoft YaHei"/>
                <a:ea typeface="Microsoft YaHei"/>
                <a:cs typeface="Microsoft YaHei"/>
              </a:defRPr>
            </a:pPr>
            <a:r>
              <a:rPr lang="zh-CN" altLang="en-US" sz="1200">
                <a:latin typeface="Microsoft YaHei"/>
                <a:ea typeface="Microsoft YaHei"/>
                <a:cs typeface="Microsoft YaHei"/>
              </a:rPr>
              <a:t>生成规则组合</a:t>
            </a:r>
            <a:endParaRPr sz="1200">
              <a:latin typeface="Microsoft YaHei"/>
              <a:ea typeface="Microsoft YaHei"/>
              <a:cs typeface="Microsoft YaHei"/>
            </a:endParaRPr>
          </a:p>
        </p:txBody>
      </p:sp>
      <p:sp>
        <p:nvSpPr>
          <p:cNvPr id="110" name="units-left-heading">
            <a:extLst>
              <a:ext uri="{FF2B5EF4-FFF2-40B4-BE49-F238E27FC236}">
                <a16:creationId xmlns:a16="http://schemas.microsoft.com/office/drawing/2014/main" id="{73671514-B9B4-4236-89E6-FF0BE796979B}"/>
              </a:ext>
            </a:extLst>
          </p:cNvPr>
          <p:cNvSpPr>
            <a:spLocks noGrp="1"/>
          </p:cNvSpPr>
          <p:nvPr/>
        </p:nvSpPr>
        <p:spPr>
          <a:xfrm>
            <a:off x="826824" y="3409914"/>
            <a:ext cx="1105500" cy="366088"/>
          </a:xfrm>
          <a:prstGeom prst="rect">
            <a:avLst/>
          </a:prstGeom>
          <a:solidFill>
            <a:srgbClr val="FFFFFF"/>
          </a:solidFill>
          <a:ln w="7620">
            <a:solidFill>
              <a:srgbClr val="777777"/>
            </a:solidFill>
            <a:prstDash val="solid"/>
          </a:ln>
        </p:spPr>
        <p:txBody>
          <a:bodyPr wrap="square" lIns="38100" tIns="28575" rIns="38100" bIns="28575" anchor="ctr">
            <a:noAutofit/>
          </a:bodyPr>
          <a:lstStyle/>
          <a:p>
            <a:pPr algn="ctr">
              <a:lnSpc>
                <a:spcPct val="100000"/>
              </a:lnSpc>
              <a:buNone/>
              <a:defRPr sz="1065" b="1">
                <a:solidFill>
                  <a:srgbClr val="111111"/>
                </a:solidFill>
                <a:latin typeface="Microsoft YaHei"/>
                <a:ea typeface="Microsoft YaHei"/>
                <a:cs typeface="Microsoft YaHei"/>
              </a:defRPr>
            </a:pPr>
            <a:r>
              <a:rPr lang="zh-CN" altLang="en-US" sz="1200">
                <a:latin typeface="Microsoft YaHei"/>
                <a:ea typeface="Microsoft YaHei"/>
                <a:cs typeface="Microsoft YaHei"/>
              </a:rPr>
              <a:t>生成规则仿真文本</a:t>
            </a:r>
            <a:endParaRPr sz="1200">
              <a:latin typeface="Microsoft YaHei"/>
              <a:ea typeface="Microsoft YaHei"/>
              <a:cs typeface="Microsoft YaHei"/>
            </a:endParaRPr>
          </a:p>
        </p:txBody>
      </p:sp>
      <p:sp>
        <p:nvSpPr>
          <p:cNvPr id="111" name="units-left-heading">
            <a:extLst>
              <a:ext uri="{FF2B5EF4-FFF2-40B4-BE49-F238E27FC236}">
                <a16:creationId xmlns:a16="http://schemas.microsoft.com/office/drawing/2014/main" id="{41E84E19-FDC7-42E1-A14D-9477F69EF6A5}"/>
              </a:ext>
            </a:extLst>
          </p:cNvPr>
          <p:cNvSpPr>
            <a:spLocks noGrp="1"/>
          </p:cNvSpPr>
          <p:nvPr/>
        </p:nvSpPr>
        <p:spPr>
          <a:xfrm>
            <a:off x="812299" y="3877307"/>
            <a:ext cx="1105500" cy="366088"/>
          </a:xfrm>
          <a:prstGeom prst="rect">
            <a:avLst/>
          </a:prstGeom>
          <a:solidFill>
            <a:srgbClr val="FFFFFF"/>
          </a:solidFill>
          <a:ln w="7620">
            <a:solidFill>
              <a:srgbClr val="777777"/>
            </a:solidFill>
            <a:prstDash val="solid"/>
          </a:ln>
        </p:spPr>
        <p:txBody>
          <a:bodyPr wrap="square" lIns="38100" tIns="28575" rIns="38100" bIns="28575" anchor="ctr">
            <a:noAutofit/>
          </a:bodyPr>
          <a:lstStyle/>
          <a:p>
            <a:pPr algn="ctr">
              <a:lnSpc>
                <a:spcPct val="100000"/>
              </a:lnSpc>
              <a:buNone/>
              <a:defRPr sz="1065" b="1">
                <a:solidFill>
                  <a:srgbClr val="111111"/>
                </a:solidFill>
                <a:latin typeface="Microsoft YaHei"/>
                <a:ea typeface="Microsoft YaHei"/>
                <a:cs typeface="Microsoft YaHei"/>
              </a:defRPr>
            </a:pPr>
            <a:r>
              <a:rPr lang="zh-CN" altLang="en-US" sz="1200">
                <a:latin typeface="Microsoft YaHei"/>
                <a:ea typeface="Microsoft YaHei"/>
                <a:cs typeface="Microsoft YaHei"/>
              </a:rPr>
              <a:t>生成仿真文件</a:t>
            </a:r>
            <a:endParaRPr sz="1200">
              <a:latin typeface="Microsoft YaHei"/>
              <a:ea typeface="Microsoft YaHei"/>
              <a:cs typeface="Microsoft YaHei"/>
            </a:endParaRPr>
          </a:p>
        </p:txBody>
      </p:sp>
      <p:sp>
        <p:nvSpPr>
          <p:cNvPr id="22" name="箭头: 上弧形 21">
            <a:extLst>
              <a:ext uri="{FF2B5EF4-FFF2-40B4-BE49-F238E27FC236}">
                <a16:creationId xmlns:a16="http://schemas.microsoft.com/office/drawing/2014/main" id="{EF9E34E7-4D7E-4172-A953-51325F4BDA83}"/>
              </a:ext>
            </a:extLst>
          </p:cNvPr>
          <p:cNvSpPr/>
          <p:nvPr/>
        </p:nvSpPr>
        <p:spPr>
          <a:xfrm rot="16200000">
            <a:off x="-249846" y="4799866"/>
            <a:ext cx="1570872" cy="315688"/>
          </a:xfrm>
          <a:prstGeom prst="curvedDownArrow">
            <a:avLst>
              <a:gd name="adj1" fmla="val 26429"/>
              <a:gd name="adj2" fmla="val 80444"/>
              <a:gd name="adj3" fmla="val 26553"/>
            </a:avLst>
          </a:prstGeom>
          <a:ln/>
        </p:spPr>
        <p:style>
          <a:lnRef idx="0">
            <a:schemeClr val="accent1"/>
          </a:lnRef>
          <a:fillRef idx="3">
            <a:schemeClr val="accent1"/>
          </a:fillRef>
          <a:effectRef idx="3">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24" name="星形: 五角 23">
            <a:extLst>
              <a:ext uri="{FF2B5EF4-FFF2-40B4-BE49-F238E27FC236}">
                <a16:creationId xmlns:a16="http://schemas.microsoft.com/office/drawing/2014/main" id="{ADB03214-213E-4D0D-8D31-F07A177A61EE}"/>
              </a:ext>
            </a:extLst>
          </p:cNvPr>
          <p:cNvSpPr/>
          <p:nvPr/>
        </p:nvSpPr>
        <p:spPr>
          <a:xfrm>
            <a:off x="8397219" y="3434800"/>
            <a:ext cx="199492" cy="199492"/>
          </a:xfrm>
          <a:prstGeom prst="star5">
            <a:avLst/>
          </a:prstGeom>
          <a:gradFill>
            <a:gsLst>
              <a:gs pos="0">
                <a:srgbClr val="C00000"/>
              </a:gs>
              <a:gs pos="100000">
                <a:srgbClr val="FF0000"/>
              </a:gs>
            </a:gsLst>
            <a:lin ang="5400000" scaled="0"/>
          </a:gradFill>
          <a:ln>
            <a:noFill/>
          </a:ln>
          <a:effectLst>
            <a:outerShdw blurRad="63500" sx="102000" sy="102000" algn="ctr" rotWithShape="0">
              <a:prstClr val="black">
                <a:alpha val="40000"/>
              </a:prstClr>
            </a:outerShdw>
          </a:effectLst>
          <a:scene3d>
            <a:camera prst="perspectiveFront"/>
            <a:lightRig rig="threePt" dir="t"/>
          </a:scene3d>
          <a:sp3d prstMaterial="matte">
            <a:bevelT/>
          </a:sp3d>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16" name="physical-frame">
            <a:extLst>
              <a:ext uri="{FF2B5EF4-FFF2-40B4-BE49-F238E27FC236}">
                <a16:creationId xmlns:a16="http://schemas.microsoft.com/office/drawing/2014/main" id="{22556BC3-54FD-4B37-97EC-DD24D28D44D4}"/>
              </a:ext>
            </a:extLst>
          </p:cNvPr>
          <p:cNvSpPr>
            <a:spLocks noGrp="1"/>
          </p:cNvSpPr>
          <p:nvPr/>
        </p:nvSpPr>
        <p:spPr>
          <a:xfrm>
            <a:off x="10169235" y="3140550"/>
            <a:ext cx="1750165" cy="1794396"/>
          </a:xfrm>
          <a:prstGeom prst="roundRect">
            <a:avLst>
              <a:gd name="adj" fmla="val 3653"/>
            </a:avLst>
          </a:prstGeom>
          <a:solidFill>
            <a:srgbClr val="FFFFFF"/>
          </a:solidFill>
          <a:ln w="14288">
            <a:solidFill>
              <a:srgbClr val="0A3F9E"/>
            </a:solidFill>
            <a:prstDash val="solid"/>
          </a:ln>
        </p:spPr>
        <p:txBody>
          <a:bodyPr>
            <a:noAutofit/>
          </a:bodyPr>
          <a:lstStyle/>
          <a:p>
            <a:endParaRPr lang="zh-CN" altLang="en-US"/>
          </a:p>
        </p:txBody>
      </p:sp>
      <p:sp>
        <p:nvSpPr>
          <p:cNvPr id="118" name="physical-list">
            <a:extLst>
              <a:ext uri="{FF2B5EF4-FFF2-40B4-BE49-F238E27FC236}">
                <a16:creationId xmlns:a16="http://schemas.microsoft.com/office/drawing/2014/main" id="{11EBD4EA-ADA2-4C67-BCC5-7DC48F7AA20A}"/>
              </a:ext>
            </a:extLst>
          </p:cNvPr>
          <p:cNvSpPr>
            <a:spLocks noGrp="1"/>
          </p:cNvSpPr>
          <p:nvPr/>
        </p:nvSpPr>
        <p:spPr>
          <a:xfrm>
            <a:off x="10233268" y="3816765"/>
            <a:ext cx="1676093" cy="1162891"/>
          </a:xfrm>
          <a:prstGeom prst="rect">
            <a:avLst/>
          </a:prstGeom>
          <a:noFill/>
          <a:ln w="0">
            <a:noFill/>
            <a:prstDash val="solid"/>
          </a:ln>
        </p:spPr>
        <p:txBody>
          <a:bodyPr wrap="square" lIns="47625" tIns="19050" rIns="28575" bIns="19050" anchor="t">
            <a:noAutofit/>
          </a:bodyPr>
          <a:lstStyle/>
          <a:p>
            <a:pPr algn="l">
              <a:buNone/>
              <a:defRPr sz="1140" b="0">
                <a:solidFill>
                  <a:srgbClr val="111111"/>
                </a:solidFill>
                <a:latin typeface="Microsoft YaHei"/>
                <a:ea typeface="Microsoft YaHei"/>
                <a:cs typeface="Microsoft YaHei"/>
              </a:defRPr>
            </a:pPr>
            <a:r>
              <a:rPr sz="1140" b="1">
                <a:latin typeface="Microsoft YaHei"/>
                <a:ea typeface="Microsoft YaHei"/>
                <a:cs typeface="Microsoft YaHei"/>
              </a:rPr>
              <a:t>• </a:t>
            </a:r>
            <a:r>
              <a:rPr lang="zh-CN" altLang="en-US" sz="1140" b="1">
                <a:latin typeface="Microsoft YaHei"/>
                <a:ea typeface="Microsoft YaHei"/>
                <a:cs typeface="Microsoft YaHei"/>
              </a:rPr>
              <a:t>一是爬取网络文件，将文本转化为特性约束</a:t>
            </a:r>
            <a:endParaRPr lang="en-US" altLang="zh-CN" sz="1140" b="1">
              <a:latin typeface="Microsoft YaHei"/>
              <a:ea typeface="Microsoft YaHei"/>
              <a:cs typeface="Microsoft YaHei"/>
            </a:endParaRPr>
          </a:p>
          <a:p>
            <a:pPr>
              <a:defRPr sz="1140" b="0">
                <a:solidFill>
                  <a:srgbClr val="111111"/>
                </a:solidFill>
                <a:latin typeface="Microsoft YaHei"/>
                <a:ea typeface="Microsoft YaHei"/>
                <a:cs typeface="Microsoft YaHei"/>
              </a:defRPr>
            </a:pPr>
            <a:r>
              <a:rPr lang="en-US" altLang="zh-CN" sz="1140" b="1">
                <a:solidFill>
                  <a:srgbClr val="C00000"/>
                </a:solidFill>
                <a:latin typeface="Microsoft YaHei"/>
                <a:ea typeface="Microsoft YaHei"/>
                <a:cs typeface="Microsoft YaHei"/>
              </a:rPr>
              <a:t>• </a:t>
            </a:r>
            <a:r>
              <a:rPr lang="zh-CN" altLang="en-US" sz="1140" b="1">
                <a:solidFill>
                  <a:srgbClr val="C00000"/>
                </a:solidFill>
                <a:latin typeface="Microsoft YaHei"/>
                <a:ea typeface="Microsoft YaHei"/>
                <a:cs typeface="Microsoft YaHei"/>
              </a:rPr>
              <a:t>二是将规则组合（特性有向图）映射为市场数学模型文本</a:t>
            </a:r>
            <a:endParaRPr lang="en-US" altLang="zh-CN" sz="1140" b="1">
              <a:solidFill>
                <a:srgbClr val="C00000"/>
              </a:solidFill>
              <a:latin typeface="Microsoft YaHei"/>
              <a:ea typeface="Microsoft YaHei"/>
              <a:cs typeface="Microsoft YaHei"/>
            </a:endParaRPr>
          </a:p>
          <a:p>
            <a:pPr>
              <a:defRPr sz="1140" b="0">
                <a:solidFill>
                  <a:srgbClr val="111111"/>
                </a:solidFill>
                <a:latin typeface="Microsoft YaHei"/>
                <a:ea typeface="Microsoft YaHei"/>
                <a:cs typeface="Microsoft YaHei"/>
              </a:defRPr>
            </a:pPr>
            <a:r>
              <a:rPr lang="en-US" altLang="zh-CN" sz="1140" b="1">
                <a:latin typeface="Microsoft YaHei"/>
                <a:ea typeface="Microsoft YaHei"/>
                <a:cs typeface="Microsoft YaHei"/>
              </a:rPr>
              <a:t>• </a:t>
            </a:r>
            <a:r>
              <a:rPr lang="zh-CN" altLang="en-US" sz="1140" b="1">
                <a:latin typeface="Microsoft YaHei"/>
                <a:ea typeface="Microsoft YaHei"/>
                <a:cs typeface="Microsoft YaHei"/>
              </a:rPr>
              <a:t>三是生成设计文本</a:t>
            </a:r>
            <a:endParaRPr lang="en-US" altLang="zh-CN" sz="1140" b="1">
              <a:solidFill>
                <a:srgbClr val="C00000"/>
              </a:solidFill>
              <a:latin typeface="Microsoft YaHei"/>
              <a:ea typeface="Microsoft YaHei"/>
              <a:cs typeface="Microsoft YaHei"/>
            </a:endParaRPr>
          </a:p>
        </p:txBody>
      </p:sp>
      <p:sp>
        <p:nvSpPr>
          <p:cNvPr id="120" name="units-title">
            <a:extLst>
              <a:ext uri="{FF2B5EF4-FFF2-40B4-BE49-F238E27FC236}">
                <a16:creationId xmlns:a16="http://schemas.microsoft.com/office/drawing/2014/main" id="{283D6AB5-20C1-46A4-976C-7A6E1B1E74B6}"/>
              </a:ext>
            </a:extLst>
          </p:cNvPr>
          <p:cNvSpPr>
            <a:spLocks noGrp="1"/>
          </p:cNvSpPr>
          <p:nvPr/>
        </p:nvSpPr>
        <p:spPr>
          <a:xfrm>
            <a:off x="10169234" y="3364358"/>
            <a:ext cx="1750166" cy="228600"/>
          </a:xfrm>
          <a:prstGeom prst="rect">
            <a:avLst/>
          </a:prstGeom>
          <a:noFill/>
          <a:ln w="0">
            <a:noFill/>
            <a:prstDash val="solid"/>
          </a:ln>
        </p:spPr>
        <p:txBody>
          <a:bodyPr wrap="square" lIns="38100" tIns="19050" rIns="38100" bIns="19050" anchor="ctr">
            <a:noAutofit/>
          </a:bodyPr>
          <a:lstStyle/>
          <a:p>
            <a:pPr algn="ctr">
              <a:lnSpc>
                <a:spcPct val="100000"/>
              </a:lnSpc>
              <a:buNone/>
              <a:defRPr sz="1350" b="1">
                <a:solidFill>
                  <a:srgbClr val="111111"/>
                </a:solidFill>
                <a:latin typeface="Microsoft YaHei"/>
                <a:ea typeface="Microsoft YaHei"/>
                <a:cs typeface="Microsoft YaHei"/>
              </a:defRPr>
            </a:pPr>
            <a:r>
              <a:rPr lang="zh-CN" altLang="en-US" sz="1400" b="1">
                <a:solidFill>
                  <a:srgbClr val="C00000"/>
                </a:solidFill>
                <a:latin typeface="Microsoft YaHei"/>
                <a:ea typeface="Microsoft YaHei"/>
                <a:cs typeface="Microsoft YaHei"/>
              </a:rPr>
              <a:t>第二层：</a:t>
            </a:r>
            <a:r>
              <a:rPr lang="en-US" altLang="zh-CN" sz="1400" b="1">
                <a:solidFill>
                  <a:srgbClr val="C00000"/>
                </a:solidFill>
                <a:latin typeface="Microsoft YaHei"/>
                <a:ea typeface="Microsoft YaHei"/>
                <a:cs typeface="Microsoft YaHei"/>
              </a:rPr>
              <a:t>LLM</a:t>
            </a:r>
            <a:r>
              <a:rPr lang="zh-CN" altLang="en-US" sz="1400" b="1">
                <a:solidFill>
                  <a:srgbClr val="C00000"/>
                </a:solidFill>
                <a:latin typeface="Microsoft YaHei"/>
                <a:ea typeface="Microsoft YaHei"/>
                <a:cs typeface="Microsoft YaHei"/>
              </a:rPr>
              <a:t>异质化市场文本</a:t>
            </a:r>
            <a:r>
              <a:rPr lang="en-US" altLang="zh-CN" sz="1400" b="1">
                <a:solidFill>
                  <a:srgbClr val="C00000"/>
                </a:solidFill>
                <a:latin typeface="Microsoft YaHei"/>
                <a:ea typeface="Microsoft YaHei"/>
                <a:cs typeface="Microsoft YaHei"/>
              </a:rPr>
              <a:t>—</a:t>
            </a:r>
            <a:r>
              <a:rPr lang="zh-CN" altLang="en-US" sz="1400" b="1">
                <a:solidFill>
                  <a:srgbClr val="C00000"/>
                </a:solidFill>
                <a:latin typeface="Microsoft YaHei"/>
                <a:ea typeface="Microsoft YaHei"/>
                <a:cs typeface="Microsoft YaHei"/>
              </a:rPr>
              <a:t>规则化数学模型映射</a:t>
            </a:r>
            <a:r>
              <a:rPr lang="en-US" altLang="zh-CN" sz="1400" b="1">
                <a:solidFill>
                  <a:srgbClr val="C00000"/>
                </a:solidFill>
                <a:latin typeface="Microsoft YaHei"/>
                <a:ea typeface="Microsoft YaHei"/>
                <a:cs typeface="Microsoft YaHei"/>
              </a:rPr>
              <a:t>Agent</a:t>
            </a:r>
            <a:endParaRPr sz="1400" b="1">
              <a:solidFill>
                <a:srgbClr val="C00000"/>
              </a:solidFill>
              <a:latin typeface="Microsoft YaHei"/>
              <a:ea typeface="Microsoft YaHei"/>
              <a:cs typeface="Microsoft YaHei"/>
            </a:endParaRPr>
          </a:p>
        </p:txBody>
      </p:sp>
      <p:cxnSp>
        <p:nvCxnSpPr>
          <p:cNvPr id="121" name="连接符: 肘形 120">
            <a:extLst>
              <a:ext uri="{FF2B5EF4-FFF2-40B4-BE49-F238E27FC236}">
                <a16:creationId xmlns:a16="http://schemas.microsoft.com/office/drawing/2014/main" id="{767BE191-7E09-4F52-9857-4E91C7F0F6E6}"/>
              </a:ext>
            </a:extLst>
          </p:cNvPr>
          <p:cNvCxnSpPr>
            <a:cxnSpLocks/>
            <a:stCxn id="96" idx="2"/>
            <a:endCxn id="78" idx="2"/>
          </p:cNvCxnSpPr>
          <p:nvPr/>
        </p:nvCxnSpPr>
        <p:spPr>
          <a:xfrm rot="5400000" flipH="1">
            <a:off x="6189470" y="2073581"/>
            <a:ext cx="99759" cy="5622973"/>
          </a:xfrm>
          <a:prstGeom prst="bentConnector3">
            <a:avLst>
              <a:gd name="adj1" fmla="val -143886"/>
            </a:avLst>
          </a:prstGeom>
          <a:ln w="34925">
            <a:solidFill>
              <a:srgbClr val="FF0000"/>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125" name="连接符: 肘形 124">
            <a:extLst>
              <a:ext uri="{FF2B5EF4-FFF2-40B4-BE49-F238E27FC236}">
                <a16:creationId xmlns:a16="http://schemas.microsoft.com/office/drawing/2014/main" id="{09E46D70-B9D3-4FB3-9A38-BE089BEAEE45}"/>
              </a:ext>
            </a:extLst>
          </p:cNvPr>
          <p:cNvCxnSpPr>
            <a:cxnSpLocks/>
            <a:stCxn id="116" idx="2"/>
            <a:endCxn id="96" idx="3"/>
          </p:cNvCxnSpPr>
          <p:nvPr/>
        </p:nvCxnSpPr>
        <p:spPr>
          <a:xfrm rot="5400000" flipH="1">
            <a:off x="9977215" y="3867843"/>
            <a:ext cx="897198" cy="1237008"/>
          </a:xfrm>
          <a:prstGeom prst="bentConnector4">
            <a:avLst>
              <a:gd name="adj1" fmla="val -25479"/>
              <a:gd name="adj2" fmla="val 79641"/>
            </a:avLst>
          </a:prstGeom>
          <a:ln w="34925">
            <a:solidFill>
              <a:srgbClr val="FF0000"/>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129" name="连接符: 肘形 128">
            <a:extLst>
              <a:ext uri="{FF2B5EF4-FFF2-40B4-BE49-F238E27FC236}">
                <a16:creationId xmlns:a16="http://schemas.microsoft.com/office/drawing/2014/main" id="{65F28CD1-ABF9-478C-8184-235D6D4CB7AA}"/>
              </a:ext>
            </a:extLst>
          </p:cNvPr>
          <p:cNvCxnSpPr>
            <a:cxnSpLocks/>
            <a:stCxn id="185" idx="0"/>
            <a:endCxn id="78" idx="2"/>
          </p:cNvCxnSpPr>
          <p:nvPr/>
        </p:nvCxnSpPr>
        <p:spPr>
          <a:xfrm rot="16200000" flipV="1">
            <a:off x="5166943" y="3096107"/>
            <a:ext cx="542404" cy="4020563"/>
          </a:xfrm>
          <a:prstGeom prst="bentConnector3">
            <a:avLst>
              <a:gd name="adj1" fmla="val 23863"/>
            </a:avLst>
          </a:prstGeom>
          <a:ln w="34925">
            <a:solidFill>
              <a:srgbClr val="002060"/>
            </a:solidFill>
            <a:tailEnd type="triangle" w="lg" len="lg"/>
          </a:ln>
        </p:spPr>
        <p:style>
          <a:lnRef idx="1">
            <a:schemeClr val="accent1"/>
          </a:lnRef>
          <a:fillRef idx="0">
            <a:schemeClr val="accent1"/>
          </a:fillRef>
          <a:effectRef idx="0">
            <a:schemeClr val="accent1"/>
          </a:effectRef>
          <a:fontRef idx="minor">
            <a:schemeClr val="tx1"/>
          </a:fontRef>
        </p:style>
      </p:cxnSp>
      <p:sp>
        <p:nvSpPr>
          <p:cNvPr id="135" name="units-left-heading">
            <a:extLst>
              <a:ext uri="{FF2B5EF4-FFF2-40B4-BE49-F238E27FC236}">
                <a16:creationId xmlns:a16="http://schemas.microsoft.com/office/drawing/2014/main" id="{75CFF298-608D-4D70-8CED-F82A9DB9B567}"/>
              </a:ext>
            </a:extLst>
          </p:cNvPr>
          <p:cNvSpPr>
            <a:spLocks noGrp="1"/>
          </p:cNvSpPr>
          <p:nvPr/>
        </p:nvSpPr>
        <p:spPr>
          <a:xfrm>
            <a:off x="826824" y="1587522"/>
            <a:ext cx="1105500" cy="317677"/>
          </a:xfrm>
          <a:prstGeom prst="rect">
            <a:avLst/>
          </a:prstGeom>
          <a:solidFill>
            <a:srgbClr val="FFFFFF"/>
          </a:solidFill>
          <a:ln w="7620">
            <a:solidFill>
              <a:srgbClr val="777777"/>
            </a:solidFill>
            <a:prstDash val="solid"/>
          </a:ln>
        </p:spPr>
        <p:txBody>
          <a:bodyPr wrap="square" lIns="38100" tIns="28575" rIns="38100" bIns="28575" anchor="ctr">
            <a:noAutofit/>
          </a:bodyPr>
          <a:lstStyle/>
          <a:p>
            <a:pPr algn="ctr">
              <a:lnSpc>
                <a:spcPct val="100000"/>
              </a:lnSpc>
              <a:buNone/>
              <a:defRPr sz="1065" b="1">
                <a:solidFill>
                  <a:srgbClr val="111111"/>
                </a:solidFill>
                <a:latin typeface="Microsoft YaHei"/>
                <a:ea typeface="Microsoft YaHei"/>
                <a:cs typeface="Microsoft YaHei"/>
              </a:defRPr>
            </a:pPr>
            <a:r>
              <a:rPr lang="zh-CN" altLang="en-US" sz="1200">
                <a:latin typeface="Microsoft YaHei"/>
                <a:ea typeface="Microsoft YaHei"/>
                <a:cs typeface="Microsoft YaHei"/>
              </a:rPr>
              <a:t>市场设计文本</a:t>
            </a:r>
            <a:endParaRPr sz="1200">
              <a:latin typeface="Microsoft YaHei"/>
              <a:ea typeface="Microsoft YaHei"/>
              <a:cs typeface="Microsoft YaHei"/>
            </a:endParaRPr>
          </a:p>
        </p:txBody>
      </p:sp>
      <p:sp>
        <p:nvSpPr>
          <p:cNvPr id="136" name="units-left-heading">
            <a:extLst>
              <a:ext uri="{FF2B5EF4-FFF2-40B4-BE49-F238E27FC236}">
                <a16:creationId xmlns:a16="http://schemas.microsoft.com/office/drawing/2014/main" id="{24A4FC3F-2E8F-4EAC-B69C-676892A8BE80}"/>
              </a:ext>
            </a:extLst>
          </p:cNvPr>
          <p:cNvSpPr>
            <a:spLocks noGrp="1"/>
          </p:cNvSpPr>
          <p:nvPr/>
        </p:nvSpPr>
        <p:spPr>
          <a:xfrm>
            <a:off x="822546" y="1988031"/>
            <a:ext cx="1105500" cy="317677"/>
          </a:xfrm>
          <a:prstGeom prst="rect">
            <a:avLst/>
          </a:prstGeom>
          <a:solidFill>
            <a:srgbClr val="FFFFFF"/>
          </a:solidFill>
          <a:ln w="7620">
            <a:solidFill>
              <a:srgbClr val="777777"/>
            </a:solidFill>
            <a:prstDash val="solid"/>
          </a:ln>
        </p:spPr>
        <p:txBody>
          <a:bodyPr wrap="square" lIns="38100" tIns="28575" rIns="38100" bIns="28575" anchor="ctr">
            <a:noAutofit/>
          </a:bodyPr>
          <a:lstStyle/>
          <a:p>
            <a:pPr algn="ctr">
              <a:lnSpc>
                <a:spcPct val="100000"/>
              </a:lnSpc>
              <a:buNone/>
              <a:defRPr sz="1065" b="1">
                <a:solidFill>
                  <a:srgbClr val="111111"/>
                </a:solidFill>
                <a:latin typeface="Microsoft YaHei"/>
                <a:ea typeface="Microsoft YaHei"/>
                <a:cs typeface="Microsoft YaHei"/>
              </a:defRPr>
            </a:pPr>
            <a:r>
              <a:rPr lang="zh-CN" altLang="en-US" sz="1200">
                <a:latin typeface="Microsoft YaHei"/>
                <a:ea typeface="Microsoft YaHei"/>
                <a:cs typeface="Microsoft YaHei"/>
              </a:rPr>
              <a:t>市场设计结果</a:t>
            </a:r>
            <a:endParaRPr sz="1200">
              <a:latin typeface="Microsoft YaHei"/>
              <a:ea typeface="Microsoft YaHei"/>
              <a:cs typeface="Microsoft YaHei"/>
            </a:endParaRPr>
          </a:p>
        </p:txBody>
      </p:sp>
      <p:sp>
        <p:nvSpPr>
          <p:cNvPr id="137" name="箭头: 上弧形 136">
            <a:extLst>
              <a:ext uri="{FF2B5EF4-FFF2-40B4-BE49-F238E27FC236}">
                <a16:creationId xmlns:a16="http://schemas.microsoft.com/office/drawing/2014/main" id="{DA207649-B339-4FA6-A583-BED4B2581CFF}"/>
              </a:ext>
            </a:extLst>
          </p:cNvPr>
          <p:cNvSpPr/>
          <p:nvPr/>
        </p:nvSpPr>
        <p:spPr>
          <a:xfrm rot="16200000">
            <a:off x="-359368" y="2328800"/>
            <a:ext cx="1570872" cy="315687"/>
          </a:xfrm>
          <a:prstGeom prst="curvedDownArrow">
            <a:avLst>
              <a:gd name="adj1" fmla="val 26429"/>
              <a:gd name="adj2" fmla="val 80444"/>
              <a:gd name="adj3" fmla="val 26553"/>
            </a:avLst>
          </a:prstGeom>
          <a:ln/>
        </p:spPr>
        <p:style>
          <a:lnRef idx="0">
            <a:schemeClr val="accent1"/>
          </a:lnRef>
          <a:fillRef idx="3">
            <a:schemeClr val="accent1"/>
          </a:fillRef>
          <a:effectRef idx="3">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39" name="market-layer-frame">
            <a:extLst>
              <a:ext uri="{FF2B5EF4-FFF2-40B4-BE49-F238E27FC236}">
                <a16:creationId xmlns:a16="http://schemas.microsoft.com/office/drawing/2014/main" id="{B9A4B19B-F50C-4B94-A163-2B33A9D02084}"/>
              </a:ext>
            </a:extLst>
          </p:cNvPr>
          <p:cNvSpPr>
            <a:spLocks noGrp="1"/>
          </p:cNvSpPr>
          <p:nvPr/>
        </p:nvSpPr>
        <p:spPr>
          <a:xfrm>
            <a:off x="2634998" y="1250739"/>
            <a:ext cx="9286875" cy="1590675"/>
          </a:xfrm>
          <a:prstGeom prst="roundRect">
            <a:avLst>
              <a:gd name="adj" fmla="val 4790"/>
            </a:avLst>
          </a:prstGeom>
          <a:solidFill>
            <a:srgbClr val="FFFFFF"/>
          </a:solidFill>
          <a:ln w="15240">
            <a:solidFill>
              <a:srgbClr val="0A3F9E"/>
            </a:solidFill>
            <a:prstDash val="solid"/>
          </a:ln>
        </p:spPr>
        <p:txBody>
          <a:bodyPr>
            <a:noAutofit/>
          </a:bodyPr>
          <a:lstStyle/>
          <a:p>
            <a:endParaRPr lang="zh-CN" altLang="en-US"/>
          </a:p>
        </p:txBody>
      </p:sp>
      <p:sp>
        <p:nvSpPr>
          <p:cNvPr id="140" name="market-layer-title">
            <a:extLst>
              <a:ext uri="{FF2B5EF4-FFF2-40B4-BE49-F238E27FC236}">
                <a16:creationId xmlns:a16="http://schemas.microsoft.com/office/drawing/2014/main" id="{BA908901-8F97-482A-8542-24B4499C7012}"/>
              </a:ext>
            </a:extLst>
          </p:cNvPr>
          <p:cNvSpPr>
            <a:spLocks noGrp="1"/>
          </p:cNvSpPr>
          <p:nvPr/>
        </p:nvSpPr>
        <p:spPr>
          <a:xfrm>
            <a:off x="5368673" y="1317414"/>
            <a:ext cx="3905250" cy="266700"/>
          </a:xfrm>
          <a:prstGeom prst="rect">
            <a:avLst/>
          </a:prstGeom>
          <a:noFill/>
          <a:ln w="0">
            <a:noFill/>
            <a:prstDash val="solid"/>
          </a:ln>
        </p:spPr>
        <p:txBody>
          <a:bodyPr wrap="square" lIns="38100" tIns="19050" rIns="38100" bIns="19050" anchor="ctr">
            <a:noAutofit/>
          </a:bodyPr>
          <a:lstStyle/>
          <a:p>
            <a:pPr algn="ctr">
              <a:lnSpc>
                <a:spcPct val="100000"/>
              </a:lnSpc>
              <a:buNone/>
              <a:defRPr sz="1500" b="1">
                <a:solidFill>
                  <a:srgbClr val="0A3F9E"/>
                </a:solidFill>
                <a:latin typeface="Microsoft YaHei"/>
                <a:ea typeface="Microsoft YaHei"/>
                <a:cs typeface="Microsoft YaHei"/>
              </a:defRPr>
            </a:pPr>
            <a:r>
              <a:rPr lang="zh-CN" altLang="en-US" sz="1500" b="1">
                <a:solidFill>
                  <a:srgbClr val="0A3F9E"/>
                </a:solidFill>
                <a:latin typeface="Microsoft YaHei"/>
                <a:ea typeface="Microsoft YaHei"/>
                <a:cs typeface="Microsoft YaHei"/>
              </a:rPr>
              <a:t>第三层 市场仿真器</a:t>
            </a:r>
            <a:endParaRPr sz="1500" b="1">
              <a:solidFill>
                <a:srgbClr val="0A3F9E"/>
              </a:solidFill>
              <a:latin typeface="Microsoft YaHei"/>
              <a:ea typeface="Microsoft YaHei"/>
              <a:cs typeface="Microsoft YaHei"/>
            </a:endParaRPr>
          </a:p>
        </p:txBody>
      </p:sp>
      <p:sp>
        <p:nvSpPr>
          <p:cNvPr id="142" name="market-cell-1">
            <a:extLst>
              <a:ext uri="{FF2B5EF4-FFF2-40B4-BE49-F238E27FC236}">
                <a16:creationId xmlns:a16="http://schemas.microsoft.com/office/drawing/2014/main" id="{384EA550-7562-4628-9195-B266D63C60FF}"/>
              </a:ext>
            </a:extLst>
          </p:cNvPr>
          <p:cNvSpPr>
            <a:spLocks noGrp="1"/>
          </p:cNvSpPr>
          <p:nvPr/>
        </p:nvSpPr>
        <p:spPr>
          <a:xfrm>
            <a:off x="2825497" y="1622214"/>
            <a:ext cx="3362325" cy="800100"/>
          </a:xfrm>
          <a:prstGeom prst="rect">
            <a:avLst/>
          </a:prstGeom>
          <a:solidFill>
            <a:srgbClr val="FFFFFF"/>
          </a:solidFill>
          <a:ln w="8096">
            <a:solidFill>
              <a:srgbClr val="0A3F9E"/>
            </a:solidFill>
            <a:prstDash val="solid"/>
          </a:ln>
        </p:spPr>
        <p:txBody>
          <a:bodyPr wrap="square" lIns="38100" tIns="28575" rIns="38100" bIns="28575" anchor="ctr">
            <a:noAutofit/>
          </a:bodyPr>
          <a:lstStyle/>
          <a:p>
            <a:pPr algn="ctr">
              <a:lnSpc>
                <a:spcPct val="102000"/>
              </a:lnSpc>
              <a:buNone/>
              <a:defRPr sz="1140" b="0">
                <a:solidFill>
                  <a:srgbClr val="111111"/>
                </a:solidFill>
                <a:latin typeface="Microsoft YaHei"/>
                <a:ea typeface="Microsoft YaHei"/>
                <a:cs typeface="Microsoft YaHei"/>
              </a:defRPr>
            </a:pPr>
            <a:r>
              <a:rPr sz="1600" b="1">
                <a:solidFill>
                  <a:srgbClr val="111111"/>
                </a:solidFill>
                <a:latin typeface="Microsoft YaHei"/>
                <a:ea typeface="Microsoft YaHei"/>
                <a:cs typeface="Microsoft YaHei"/>
              </a:rPr>
              <a:t>① </a:t>
            </a:r>
            <a:r>
              <a:rPr lang="en-US" altLang="zh-CN" sz="1600" b="1">
                <a:solidFill>
                  <a:srgbClr val="111111"/>
                </a:solidFill>
                <a:latin typeface="Microsoft YaHei"/>
                <a:ea typeface="Microsoft YaHei"/>
                <a:cs typeface="Microsoft YaHei"/>
              </a:rPr>
              <a:t>Units</a:t>
            </a:r>
            <a:r>
              <a:rPr lang="zh-CN" altLang="en-US" sz="1600" b="1">
                <a:solidFill>
                  <a:srgbClr val="111111"/>
                </a:solidFill>
                <a:latin typeface="Microsoft YaHei"/>
                <a:ea typeface="Microsoft YaHei"/>
                <a:cs typeface="Microsoft YaHei"/>
              </a:rPr>
              <a:t>建模</a:t>
            </a:r>
            <a:endParaRPr lang="en-US" altLang="zh-CN" sz="1600" b="1">
              <a:solidFill>
                <a:srgbClr val="111111"/>
              </a:solidFill>
              <a:latin typeface="Microsoft YaHei"/>
              <a:ea typeface="Microsoft YaHei"/>
              <a:cs typeface="Microsoft YaHei"/>
            </a:endParaRPr>
          </a:p>
          <a:p>
            <a:pPr algn="ctr">
              <a:lnSpc>
                <a:spcPct val="102000"/>
              </a:lnSpc>
              <a:buNone/>
              <a:defRPr sz="1140" b="0">
                <a:solidFill>
                  <a:srgbClr val="111111"/>
                </a:solidFill>
                <a:latin typeface="Microsoft YaHei"/>
                <a:ea typeface="Microsoft YaHei"/>
                <a:cs typeface="Microsoft YaHei"/>
              </a:defRPr>
            </a:pPr>
            <a:r>
              <a:rPr lang="zh-CN" altLang="en-US" sz="1140" b="1">
                <a:solidFill>
                  <a:srgbClr val="111111"/>
                </a:solidFill>
                <a:latin typeface="Microsoft YaHei"/>
                <a:ea typeface="Microsoft YaHei"/>
                <a:cs typeface="Microsoft YaHei"/>
              </a:rPr>
              <a:t>基本</a:t>
            </a:r>
            <a:r>
              <a:rPr lang="en-US" altLang="zh-CN" sz="1140" b="1">
                <a:solidFill>
                  <a:srgbClr val="111111"/>
                </a:solidFill>
                <a:latin typeface="Microsoft YaHei"/>
                <a:ea typeface="Microsoft YaHei"/>
                <a:cs typeface="Microsoft YaHei"/>
              </a:rPr>
              <a:t>Schema</a:t>
            </a:r>
            <a:r>
              <a:rPr lang="zh-CN" altLang="en-US" sz="1140" b="1">
                <a:solidFill>
                  <a:srgbClr val="111111"/>
                </a:solidFill>
                <a:latin typeface="Microsoft YaHei"/>
                <a:ea typeface="Microsoft YaHei"/>
                <a:cs typeface="Microsoft YaHei"/>
              </a:rPr>
              <a:t>；物理模型（已有研究基础）</a:t>
            </a:r>
            <a:r>
              <a:rPr lang="zh-CN" altLang="en-US" sz="1140" b="0">
                <a:solidFill>
                  <a:srgbClr val="111111"/>
                </a:solidFill>
                <a:latin typeface="Microsoft YaHei"/>
                <a:ea typeface="Microsoft YaHei"/>
                <a:cs typeface="Microsoft YaHei"/>
              </a:rPr>
              <a:t>；</a:t>
            </a:r>
            <a:r>
              <a:rPr lang="zh-CN" altLang="en-US" sz="1140" b="1">
                <a:solidFill>
                  <a:srgbClr val="C00000"/>
                </a:solidFill>
                <a:latin typeface="Microsoft YaHei"/>
                <a:ea typeface="Microsoft YaHei"/>
                <a:cs typeface="Microsoft YaHei"/>
              </a:rPr>
              <a:t>决策模型（</a:t>
            </a:r>
            <a:r>
              <a:rPr lang="en-US" altLang="zh-CN" sz="1140" b="1">
                <a:solidFill>
                  <a:srgbClr val="C00000"/>
                </a:solidFill>
                <a:latin typeface="Microsoft YaHei"/>
                <a:ea typeface="Microsoft YaHei"/>
                <a:cs typeface="Microsoft YaHei"/>
              </a:rPr>
              <a:t>POMDP</a:t>
            </a:r>
            <a:r>
              <a:rPr lang="zh-CN" altLang="en-US" sz="1140" b="1">
                <a:solidFill>
                  <a:srgbClr val="C00000"/>
                </a:solidFill>
                <a:latin typeface="Microsoft YaHei"/>
                <a:ea typeface="Microsoft YaHei"/>
                <a:cs typeface="Microsoft YaHei"/>
              </a:rPr>
              <a:t>）</a:t>
            </a:r>
            <a:r>
              <a:rPr lang="zh-CN" altLang="en-US" sz="1140" b="0">
                <a:solidFill>
                  <a:srgbClr val="111111"/>
                </a:solidFill>
                <a:latin typeface="Microsoft YaHei"/>
                <a:ea typeface="Microsoft YaHei"/>
                <a:cs typeface="Microsoft YaHei"/>
              </a:rPr>
              <a:t>；行为模型（</a:t>
            </a:r>
            <a:r>
              <a:rPr lang="en-US" altLang="zh-CN" sz="1140" b="0">
                <a:solidFill>
                  <a:srgbClr val="111111"/>
                </a:solidFill>
                <a:latin typeface="Microsoft YaHei"/>
                <a:ea typeface="Microsoft YaHei"/>
                <a:cs typeface="Microsoft YaHei"/>
              </a:rPr>
              <a:t>TBD</a:t>
            </a:r>
            <a:r>
              <a:rPr lang="zh-CN" altLang="en-US" sz="1140" b="0">
                <a:solidFill>
                  <a:srgbClr val="111111"/>
                </a:solidFill>
                <a:latin typeface="Microsoft YaHei"/>
                <a:ea typeface="Microsoft YaHei"/>
                <a:cs typeface="Microsoft YaHei"/>
              </a:rPr>
              <a:t>）</a:t>
            </a:r>
            <a:endParaRPr sz="1140" b="0">
              <a:solidFill>
                <a:srgbClr val="111111"/>
              </a:solidFill>
              <a:latin typeface="Microsoft YaHei"/>
              <a:ea typeface="Microsoft YaHei"/>
              <a:cs typeface="Microsoft YaHei"/>
            </a:endParaRPr>
          </a:p>
        </p:txBody>
      </p:sp>
      <p:sp>
        <p:nvSpPr>
          <p:cNvPr id="145" name="market-cell-3">
            <a:extLst>
              <a:ext uri="{FF2B5EF4-FFF2-40B4-BE49-F238E27FC236}">
                <a16:creationId xmlns:a16="http://schemas.microsoft.com/office/drawing/2014/main" id="{A230BCFB-3B9C-44D5-B904-E1A5E0CC6130}"/>
              </a:ext>
            </a:extLst>
          </p:cNvPr>
          <p:cNvSpPr>
            <a:spLocks noGrp="1"/>
          </p:cNvSpPr>
          <p:nvPr/>
        </p:nvSpPr>
        <p:spPr>
          <a:xfrm>
            <a:off x="6187823" y="1622214"/>
            <a:ext cx="1905000" cy="800100"/>
          </a:xfrm>
          <a:prstGeom prst="rect">
            <a:avLst/>
          </a:prstGeom>
          <a:solidFill>
            <a:srgbClr val="FFFFFF"/>
          </a:solidFill>
          <a:ln w="8096">
            <a:solidFill>
              <a:srgbClr val="0A3F9E"/>
            </a:solidFill>
            <a:prstDash val="solid"/>
          </a:ln>
        </p:spPr>
        <p:txBody>
          <a:bodyPr wrap="square" lIns="38100" tIns="28575" rIns="38100" bIns="28575" anchor="ctr">
            <a:noAutofit/>
          </a:bodyPr>
          <a:lstStyle/>
          <a:p>
            <a:pPr algn="ctr">
              <a:lnSpc>
                <a:spcPct val="102000"/>
              </a:lnSpc>
              <a:buNone/>
              <a:defRPr sz="1140" b="0">
                <a:solidFill>
                  <a:srgbClr val="111111"/>
                </a:solidFill>
                <a:latin typeface="Microsoft YaHei"/>
                <a:ea typeface="Microsoft YaHei"/>
                <a:cs typeface="Microsoft YaHei"/>
              </a:defRPr>
            </a:pPr>
            <a:r>
              <a:rPr lang="zh-CN" altLang="en-US" sz="1600" b="1">
                <a:solidFill>
                  <a:srgbClr val="C00000"/>
                </a:solidFill>
                <a:latin typeface="Microsoft YaHei"/>
                <a:ea typeface="Microsoft YaHei"/>
                <a:cs typeface="Microsoft YaHei"/>
              </a:rPr>
              <a:t>②</a:t>
            </a:r>
            <a:r>
              <a:rPr sz="1600" b="1">
                <a:solidFill>
                  <a:srgbClr val="C00000"/>
                </a:solidFill>
                <a:latin typeface="Microsoft YaHei"/>
                <a:ea typeface="Microsoft YaHei"/>
                <a:cs typeface="Microsoft YaHei"/>
              </a:rPr>
              <a:t> </a:t>
            </a:r>
            <a:r>
              <a:rPr lang="zh-CN" altLang="en-US" sz="1600" b="1">
                <a:solidFill>
                  <a:srgbClr val="C00000"/>
                </a:solidFill>
                <a:latin typeface="Microsoft YaHei"/>
                <a:ea typeface="Microsoft YaHei"/>
                <a:cs typeface="Microsoft YaHei"/>
              </a:rPr>
              <a:t>外层市场模拟</a:t>
            </a:r>
            <a:endParaRPr sz="1600" b="1">
              <a:solidFill>
                <a:srgbClr val="C00000"/>
              </a:solidFill>
              <a:latin typeface="Microsoft YaHei"/>
              <a:ea typeface="Microsoft YaHei"/>
              <a:cs typeface="Microsoft YaHei"/>
            </a:endParaRPr>
          </a:p>
          <a:p>
            <a:pPr algn="ctr">
              <a:lnSpc>
                <a:spcPct val="102000"/>
              </a:lnSpc>
              <a:buNone/>
              <a:defRPr sz="1140" b="0">
                <a:solidFill>
                  <a:srgbClr val="111111"/>
                </a:solidFill>
                <a:latin typeface="Microsoft YaHei"/>
                <a:ea typeface="Microsoft YaHei"/>
                <a:cs typeface="Microsoft YaHei"/>
              </a:defRPr>
            </a:pPr>
            <a:r>
              <a:rPr lang="zh-CN" altLang="en-US" sz="1200" b="1">
                <a:solidFill>
                  <a:srgbClr val="C00000"/>
                </a:solidFill>
                <a:latin typeface="Microsoft YaHei"/>
                <a:ea typeface="Microsoft YaHei"/>
                <a:cs typeface="Microsoft YaHei"/>
              </a:rPr>
              <a:t>上一个</a:t>
            </a:r>
            <a:r>
              <a:rPr lang="en-US" altLang="zh-CN" sz="1200" b="1">
                <a:solidFill>
                  <a:srgbClr val="C00000"/>
                </a:solidFill>
                <a:latin typeface="Microsoft YaHei"/>
                <a:ea typeface="Microsoft YaHei"/>
                <a:cs typeface="Microsoft YaHei"/>
              </a:rPr>
              <a:t>MARL</a:t>
            </a:r>
            <a:r>
              <a:rPr lang="zh-CN" altLang="en-US" sz="1200" b="1">
                <a:solidFill>
                  <a:srgbClr val="C00000"/>
                </a:solidFill>
                <a:latin typeface="Microsoft YaHei"/>
                <a:ea typeface="Microsoft YaHei"/>
                <a:cs typeface="Microsoft YaHei"/>
              </a:rPr>
              <a:t>框架</a:t>
            </a:r>
            <a:r>
              <a:rPr lang="zh-CN" altLang="en-US" sz="1200" b="1">
                <a:solidFill>
                  <a:srgbClr val="111111"/>
                </a:solidFill>
                <a:latin typeface="Microsoft YaHei"/>
                <a:ea typeface="Microsoft YaHei"/>
                <a:cs typeface="Microsoft YaHei"/>
              </a:rPr>
              <a:t>（已有研究基础）</a:t>
            </a:r>
            <a:endParaRPr sz="1200" b="1">
              <a:solidFill>
                <a:srgbClr val="C00000"/>
              </a:solidFill>
              <a:latin typeface="Microsoft YaHei"/>
              <a:ea typeface="Microsoft YaHei"/>
              <a:cs typeface="Microsoft YaHei"/>
            </a:endParaRPr>
          </a:p>
        </p:txBody>
      </p:sp>
      <p:sp>
        <p:nvSpPr>
          <p:cNvPr id="170" name="market-cell-4">
            <a:extLst>
              <a:ext uri="{FF2B5EF4-FFF2-40B4-BE49-F238E27FC236}">
                <a16:creationId xmlns:a16="http://schemas.microsoft.com/office/drawing/2014/main" id="{FF8B3B08-C1AE-47E7-B231-F9B67E1CC7AE}"/>
              </a:ext>
            </a:extLst>
          </p:cNvPr>
          <p:cNvSpPr>
            <a:spLocks noGrp="1"/>
          </p:cNvSpPr>
          <p:nvPr/>
        </p:nvSpPr>
        <p:spPr>
          <a:xfrm>
            <a:off x="8092823" y="1622214"/>
            <a:ext cx="1828800" cy="800100"/>
          </a:xfrm>
          <a:prstGeom prst="rect">
            <a:avLst/>
          </a:prstGeom>
          <a:solidFill>
            <a:srgbClr val="FFFFFF"/>
          </a:solidFill>
          <a:ln w="8096">
            <a:solidFill>
              <a:srgbClr val="0A3F9E"/>
            </a:solidFill>
            <a:prstDash val="solid"/>
          </a:ln>
        </p:spPr>
        <p:txBody>
          <a:bodyPr wrap="square" lIns="38100" tIns="28575" rIns="38100" bIns="28575" anchor="ctr">
            <a:noAutofit/>
          </a:bodyPr>
          <a:lstStyle/>
          <a:p>
            <a:pPr algn="ctr">
              <a:lnSpc>
                <a:spcPct val="102000"/>
              </a:lnSpc>
              <a:buNone/>
              <a:defRPr sz="1140" b="0">
                <a:solidFill>
                  <a:srgbClr val="111111"/>
                </a:solidFill>
                <a:latin typeface="Microsoft YaHei"/>
                <a:ea typeface="Microsoft YaHei"/>
                <a:cs typeface="Microsoft YaHei"/>
              </a:defRPr>
            </a:pPr>
            <a:r>
              <a:rPr lang="zh-CN" altLang="en-US" sz="1600" b="1">
                <a:solidFill>
                  <a:srgbClr val="111111"/>
                </a:solidFill>
                <a:latin typeface="Microsoft YaHei"/>
                <a:ea typeface="Microsoft YaHei"/>
                <a:cs typeface="Microsoft YaHei"/>
              </a:rPr>
              <a:t>③ 内层配网仿真</a:t>
            </a:r>
            <a:endParaRPr lang="en-US" altLang="zh-CN" sz="1600" b="1">
              <a:solidFill>
                <a:srgbClr val="111111"/>
              </a:solidFill>
              <a:latin typeface="Microsoft YaHei"/>
              <a:ea typeface="Microsoft YaHei"/>
              <a:cs typeface="Microsoft YaHei"/>
            </a:endParaRPr>
          </a:p>
          <a:p>
            <a:pPr algn="ctr">
              <a:lnSpc>
                <a:spcPct val="102000"/>
              </a:lnSpc>
              <a:buNone/>
              <a:defRPr sz="1140" b="0">
                <a:solidFill>
                  <a:srgbClr val="111111"/>
                </a:solidFill>
                <a:latin typeface="Microsoft YaHei"/>
                <a:ea typeface="Microsoft YaHei"/>
                <a:cs typeface="Microsoft YaHei"/>
              </a:defRPr>
            </a:pPr>
            <a:r>
              <a:rPr lang="en-US" altLang="zh-CN" sz="1140">
                <a:solidFill>
                  <a:srgbClr val="111111"/>
                </a:solidFill>
                <a:latin typeface="Microsoft YaHei"/>
                <a:ea typeface="Microsoft YaHei"/>
                <a:cs typeface="Microsoft YaHei"/>
              </a:rPr>
              <a:t>Pyomo+GAMS </a:t>
            </a:r>
            <a:r>
              <a:rPr lang="zh-CN" altLang="en-US" sz="1140">
                <a:solidFill>
                  <a:srgbClr val="111111"/>
                </a:solidFill>
                <a:latin typeface="Microsoft YaHei"/>
                <a:ea typeface="Microsoft YaHei"/>
                <a:cs typeface="Microsoft YaHei"/>
              </a:rPr>
              <a:t>可拓展模块</a:t>
            </a:r>
            <a:r>
              <a:rPr lang="zh-CN" altLang="en-US" sz="1100" b="1">
                <a:solidFill>
                  <a:srgbClr val="111111"/>
                </a:solidFill>
                <a:latin typeface="Microsoft YaHei"/>
                <a:ea typeface="Microsoft YaHei"/>
                <a:cs typeface="Microsoft YaHei"/>
              </a:rPr>
              <a:t>（已有研究基础）</a:t>
            </a:r>
            <a:endParaRPr sz="1140" b="0">
              <a:solidFill>
                <a:srgbClr val="111111"/>
              </a:solidFill>
              <a:latin typeface="Microsoft YaHei"/>
              <a:ea typeface="Microsoft YaHei"/>
              <a:cs typeface="Microsoft YaHei"/>
            </a:endParaRPr>
          </a:p>
        </p:txBody>
      </p:sp>
      <p:sp>
        <p:nvSpPr>
          <p:cNvPr id="183" name="market-cell-5">
            <a:extLst>
              <a:ext uri="{FF2B5EF4-FFF2-40B4-BE49-F238E27FC236}">
                <a16:creationId xmlns:a16="http://schemas.microsoft.com/office/drawing/2014/main" id="{D1A8B2CA-E766-49EF-869E-A0D32DD9337E}"/>
              </a:ext>
            </a:extLst>
          </p:cNvPr>
          <p:cNvSpPr>
            <a:spLocks noGrp="1"/>
          </p:cNvSpPr>
          <p:nvPr/>
        </p:nvSpPr>
        <p:spPr>
          <a:xfrm>
            <a:off x="9921623" y="1622214"/>
            <a:ext cx="1819275" cy="800100"/>
          </a:xfrm>
          <a:prstGeom prst="rect">
            <a:avLst/>
          </a:prstGeom>
          <a:solidFill>
            <a:srgbClr val="FFFFFF"/>
          </a:solidFill>
          <a:ln w="8096">
            <a:solidFill>
              <a:srgbClr val="0A3F9E"/>
            </a:solidFill>
            <a:prstDash val="solid"/>
          </a:ln>
        </p:spPr>
        <p:txBody>
          <a:bodyPr wrap="square" lIns="38100" tIns="28575" rIns="38100" bIns="28575" anchor="ctr">
            <a:noAutofit/>
          </a:bodyPr>
          <a:lstStyle/>
          <a:p>
            <a:pPr algn="ctr">
              <a:lnSpc>
                <a:spcPct val="102000"/>
              </a:lnSpc>
              <a:buNone/>
              <a:defRPr sz="1050" b="0">
                <a:solidFill>
                  <a:srgbClr val="111111"/>
                </a:solidFill>
                <a:latin typeface="Microsoft YaHei"/>
                <a:ea typeface="Microsoft YaHei"/>
                <a:cs typeface="Microsoft YaHei"/>
              </a:defRPr>
            </a:pPr>
            <a:r>
              <a:rPr lang="zh-CN" altLang="en-US" sz="1600" b="1">
                <a:solidFill>
                  <a:srgbClr val="111111"/>
                </a:solidFill>
                <a:latin typeface="Microsoft YaHei"/>
                <a:ea typeface="Microsoft YaHei"/>
                <a:cs typeface="Microsoft YaHei"/>
              </a:rPr>
              <a:t>④</a:t>
            </a:r>
            <a:r>
              <a:rPr sz="1600" b="1">
                <a:solidFill>
                  <a:srgbClr val="111111"/>
                </a:solidFill>
                <a:latin typeface="Microsoft YaHei"/>
                <a:ea typeface="Microsoft YaHei"/>
                <a:cs typeface="Microsoft YaHei"/>
              </a:rPr>
              <a:t> 结果</a:t>
            </a:r>
            <a:r>
              <a:rPr lang="zh-CN" altLang="en-US" sz="1600" b="1">
                <a:solidFill>
                  <a:srgbClr val="111111"/>
                </a:solidFill>
                <a:latin typeface="Microsoft YaHei"/>
                <a:ea typeface="Microsoft YaHei"/>
                <a:cs typeface="Microsoft YaHei"/>
              </a:rPr>
              <a:t>分析</a:t>
            </a:r>
            <a:endParaRPr sz="1600" b="1">
              <a:solidFill>
                <a:srgbClr val="111111"/>
              </a:solidFill>
              <a:latin typeface="Microsoft YaHei"/>
              <a:ea typeface="Microsoft YaHei"/>
              <a:cs typeface="Microsoft YaHei"/>
            </a:endParaRPr>
          </a:p>
          <a:p>
            <a:pPr algn="ctr">
              <a:lnSpc>
                <a:spcPct val="102000"/>
              </a:lnSpc>
              <a:buNone/>
              <a:defRPr sz="1050" b="0">
                <a:solidFill>
                  <a:srgbClr val="111111"/>
                </a:solidFill>
                <a:latin typeface="Microsoft YaHei"/>
                <a:ea typeface="Microsoft YaHei"/>
                <a:cs typeface="Microsoft YaHei"/>
              </a:defRPr>
            </a:pPr>
            <a:r>
              <a:rPr lang="zh-CN" altLang="en-US" sz="1050" b="0">
                <a:solidFill>
                  <a:srgbClr val="111111"/>
                </a:solidFill>
                <a:latin typeface="Microsoft YaHei"/>
                <a:ea typeface="Microsoft YaHei"/>
                <a:cs typeface="Microsoft YaHei"/>
              </a:rPr>
              <a:t>绘图模块、数值分析模块、统计模块等、</a:t>
            </a:r>
            <a:r>
              <a:rPr lang="en-US" altLang="zh-CN" sz="1050" b="0">
                <a:solidFill>
                  <a:srgbClr val="111111"/>
                </a:solidFill>
                <a:latin typeface="Microsoft YaHei"/>
                <a:ea typeface="Microsoft YaHei"/>
                <a:cs typeface="Microsoft YaHei"/>
              </a:rPr>
              <a:t>GUI</a:t>
            </a:r>
            <a:endParaRPr sz="1050" b="0">
              <a:solidFill>
                <a:srgbClr val="111111"/>
              </a:solidFill>
              <a:latin typeface="Microsoft YaHei"/>
              <a:ea typeface="Microsoft YaHei"/>
              <a:cs typeface="Microsoft YaHei"/>
            </a:endParaRPr>
          </a:p>
        </p:txBody>
      </p:sp>
      <p:sp>
        <p:nvSpPr>
          <p:cNvPr id="200" name="market-unified-call">
            <a:extLst>
              <a:ext uri="{FF2B5EF4-FFF2-40B4-BE49-F238E27FC236}">
                <a16:creationId xmlns:a16="http://schemas.microsoft.com/office/drawing/2014/main" id="{62AF9232-2326-4915-86D7-DB03EE84C6A1}"/>
              </a:ext>
            </a:extLst>
          </p:cNvPr>
          <p:cNvSpPr>
            <a:spLocks noGrp="1"/>
          </p:cNvSpPr>
          <p:nvPr/>
        </p:nvSpPr>
        <p:spPr>
          <a:xfrm>
            <a:off x="2825498" y="2498514"/>
            <a:ext cx="8915400" cy="257175"/>
          </a:xfrm>
          <a:prstGeom prst="rect">
            <a:avLst/>
          </a:prstGeom>
          <a:solidFill>
            <a:srgbClr val="F0F5FC"/>
          </a:solidFill>
          <a:ln w="7620">
            <a:solidFill>
              <a:srgbClr val="7F9FD2"/>
            </a:solidFill>
            <a:prstDash val="solid"/>
          </a:ln>
        </p:spPr>
        <p:txBody>
          <a:bodyPr wrap="square" lIns="38100" tIns="28575" rIns="38100" bIns="28575" anchor="ctr">
            <a:noAutofit/>
          </a:bodyPr>
          <a:lstStyle/>
          <a:p>
            <a:pPr algn="ctr">
              <a:lnSpc>
                <a:spcPct val="100000"/>
              </a:lnSpc>
              <a:buNone/>
              <a:defRPr sz="1163" b="1">
                <a:solidFill>
                  <a:srgbClr val="111111"/>
                </a:solidFill>
                <a:latin typeface="Microsoft YaHei"/>
                <a:ea typeface="Microsoft YaHei"/>
                <a:cs typeface="Microsoft YaHei"/>
              </a:defRPr>
            </a:pPr>
            <a:r>
              <a:rPr sz="1163" b="1" err="1">
                <a:solidFill>
                  <a:srgbClr val="111111"/>
                </a:solidFill>
                <a:latin typeface="Microsoft YaHei"/>
                <a:ea typeface="Microsoft YaHei"/>
                <a:cs typeface="Microsoft YaHei"/>
              </a:rPr>
              <a:t>统一调用：资源模型</a:t>
            </a:r>
            <a:r>
              <a:rPr sz="1163" b="1">
                <a:solidFill>
                  <a:srgbClr val="111111"/>
                </a:solidFill>
                <a:latin typeface="Microsoft YaHei"/>
                <a:ea typeface="Microsoft YaHei"/>
                <a:cs typeface="Microsoft YaHei"/>
              </a:rPr>
              <a:t> + </a:t>
            </a:r>
            <a:r>
              <a:rPr sz="1163" b="1" err="1">
                <a:solidFill>
                  <a:srgbClr val="111111"/>
                </a:solidFill>
                <a:latin typeface="Microsoft YaHei"/>
                <a:ea typeface="Microsoft YaHei"/>
                <a:cs typeface="Microsoft YaHei"/>
              </a:rPr>
              <a:t>网络模型</a:t>
            </a:r>
            <a:r>
              <a:rPr sz="1163" b="1">
                <a:solidFill>
                  <a:srgbClr val="111111"/>
                </a:solidFill>
                <a:latin typeface="Microsoft YaHei"/>
                <a:ea typeface="Microsoft YaHei"/>
                <a:cs typeface="Microsoft YaHei"/>
              </a:rPr>
              <a:t> + </a:t>
            </a:r>
            <a:r>
              <a:rPr sz="1163" b="1" err="1">
                <a:solidFill>
                  <a:srgbClr val="111111"/>
                </a:solidFill>
                <a:latin typeface="Microsoft YaHei"/>
                <a:ea typeface="Microsoft YaHei"/>
                <a:cs typeface="Microsoft YaHei"/>
              </a:rPr>
              <a:t>LLM生成规则</a:t>
            </a:r>
            <a:r>
              <a:rPr sz="1163" b="1">
                <a:solidFill>
                  <a:srgbClr val="111111"/>
                </a:solidFill>
                <a:latin typeface="Microsoft YaHei"/>
                <a:ea typeface="Microsoft YaHei"/>
                <a:cs typeface="Microsoft YaHei"/>
              </a:rPr>
              <a:t>/</a:t>
            </a:r>
            <a:r>
              <a:rPr sz="1163" b="1" err="1">
                <a:solidFill>
                  <a:srgbClr val="111111"/>
                </a:solidFill>
                <a:latin typeface="Microsoft YaHei"/>
                <a:ea typeface="Microsoft YaHei"/>
                <a:cs typeface="Microsoft YaHei"/>
              </a:rPr>
              <a:t>约束模型</a:t>
            </a:r>
            <a:endParaRPr sz="1163" b="1">
              <a:solidFill>
                <a:srgbClr val="111111"/>
              </a:solidFill>
              <a:latin typeface="Microsoft YaHei"/>
              <a:ea typeface="Microsoft YaHei"/>
              <a:cs typeface="Microsoft YaHei"/>
            </a:endParaRPr>
          </a:p>
        </p:txBody>
      </p:sp>
      <p:sp>
        <p:nvSpPr>
          <p:cNvPr id="48" name="矩形 47">
            <a:extLst>
              <a:ext uri="{FF2B5EF4-FFF2-40B4-BE49-F238E27FC236}">
                <a16:creationId xmlns:a16="http://schemas.microsoft.com/office/drawing/2014/main" id="{4433F98E-6AAA-4E7D-A677-37793E8950A1}"/>
              </a:ext>
            </a:extLst>
          </p:cNvPr>
          <p:cNvSpPr/>
          <p:nvPr/>
        </p:nvSpPr>
        <p:spPr>
          <a:xfrm>
            <a:off x="141736" y="725699"/>
            <a:ext cx="13127223" cy="400110"/>
          </a:xfrm>
          <a:prstGeom prst="rect">
            <a:avLst/>
          </a:prstGeom>
        </p:spPr>
        <p:txBody>
          <a:bodyPr wrap="square">
            <a:spAutoFit/>
          </a:bodyPr>
          <a:lstStyle/>
          <a:p>
            <a:pPr marL="285750" indent="-285750">
              <a:buFont typeface="Wingdings" panose="05000000000000000000" pitchFamily="2" charset="2"/>
              <a:buChar char="p"/>
            </a:pPr>
            <a:r>
              <a:rPr lang="zh-CN" altLang="en-US" sz="2000" b="1">
                <a:latin typeface="微软雅黑" panose="020B0503020204020204" pitchFamily="34" charset="-122"/>
                <a:ea typeface="微软雅黑" panose="020B0503020204020204" pitchFamily="34" charset="-122"/>
              </a:rPr>
              <a:t>针对</a:t>
            </a:r>
            <a:r>
              <a:rPr lang="en-US" altLang="zh-CN" sz="2000" b="1">
                <a:solidFill>
                  <a:srgbClr val="C00000"/>
                </a:solidFill>
                <a:latin typeface="微软雅黑" panose="020B0503020204020204" pitchFamily="34" charset="-122"/>
                <a:ea typeface="微软雅黑" panose="020B0503020204020204" pitchFamily="34" charset="-122"/>
              </a:rPr>
              <a:t>DEM</a:t>
            </a:r>
            <a:r>
              <a:rPr lang="zh-CN" altLang="en-US" sz="2000" b="1">
                <a:solidFill>
                  <a:srgbClr val="C00000"/>
                </a:solidFill>
                <a:latin typeface="微软雅黑" panose="020B0503020204020204" pitchFamily="34" charset="-122"/>
                <a:ea typeface="微软雅黑" panose="020B0503020204020204" pitchFamily="34" charset="-122"/>
              </a:rPr>
              <a:t>高度异质</a:t>
            </a:r>
            <a:r>
              <a:rPr lang="zh-CN" altLang="en-US" sz="2000" b="1">
                <a:latin typeface="微软雅黑" panose="020B0503020204020204" pitchFamily="34" charset="-122"/>
                <a:ea typeface="微软雅黑" panose="020B0503020204020204" pitchFamily="34" charset="-122"/>
              </a:rPr>
              <a:t>，无法形成通用成熟的</a:t>
            </a:r>
            <a:r>
              <a:rPr lang="zh-CN" altLang="en-US" sz="2000" b="1">
                <a:solidFill>
                  <a:srgbClr val="C00000"/>
                </a:solidFill>
                <a:latin typeface="微软雅黑" panose="020B0503020204020204" pitchFamily="34" charset="-122"/>
                <a:ea typeface="微软雅黑" panose="020B0503020204020204" pitchFamily="34" charset="-122"/>
              </a:rPr>
              <a:t>专家设计方案</a:t>
            </a:r>
            <a:r>
              <a:rPr lang="zh-CN" altLang="en-US" sz="2000" b="1">
                <a:latin typeface="微软雅黑" panose="020B0503020204020204" pitchFamily="34" charset="-122"/>
                <a:ea typeface="微软雅黑" panose="020B0503020204020204" pitchFamily="34" charset="-122"/>
              </a:rPr>
              <a:t>，普遍存在适配难的研究挑战</a:t>
            </a:r>
          </a:p>
        </p:txBody>
      </p:sp>
      <p:sp>
        <p:nvSpPr>
          <p:cNvPr id="49" name="文本框 48">
            <a:extLst>
              <a:ext uri="{FF2B5EF4-FFF2-40B4-BE49-F238E27FC236}">
                <a16:creationId xmlns:a16="http://schemas.microsoft.com/office/drawing/2014/main" id="{D58B84E8-23CB-4FF8-9F4B-663233733BE7}"/>
              </a:ext>
            </a:extLst>
          </p:cNvPr>
          <p:cNvSpPr txBox="1"/>
          <p:nvPr/>
        </p:nvSpPr>
        <p:spPr>
          <a:xfrm>
            <a:off x="11084004" y="881407"/>
            <a:ext cx="1107996" cy="369332"/>
          </a:xfrm>
          <a:prstGeom prst="rect">
            <a:avLst/>
          </a:prstGeom>
          <a:noFill/>
        </p:spPr>
        <p:txBody>
          <a:bodyPr wrap="none" rtlCol="0">
            <a:spAutoFit/>
          </a:bodyPr>
          <a:lstStyle/>
          <a:p>
            <a:r>
              <a:rPr lang="zh-CN" altLang="en-US" b="1">
                <a:solidFill>
                  <a:schemeClr val="bg1">
                    <a:lumMod val="50000"/>
                  </a:schemeClr>
                </a:solidFill>
                <a:latin typeface="微软雅黑" panose="020B0503020204020204" pitchFamily="34" charset="-122"/>
                <a:ea typeface="微软雅黑" panose="020B0503020204020204" pitchFamily="34" charset="-122"/>
              </a:rPr>
              <a:t>研究框架</a:t>
            </a:r>
          </a:p>
        </p:txBody>
      </p:sp>
      <p:sp>
        <p:nvSpPr>
          <p:cNvPr id="203" name="文本框 202">
            <a:extLst>
              <a:ext uri="{FF2B5EF4-FFF2-40B4-BE49-F238E27FC236}">
                <a16:creationId xmlns:a16="http://schemas.microsoft.com/office/drawing/2014/main" id="{4F0CB70A-DAC5-492A-9E41-971899497E6C}"/>
              </a:ext>
            </a:extLst>
          </p:cNvPr>
          <p:cNvSpPr txBox="1"/>
          <p:nvPr/>
        </p:nvSpPr>
        <p:spPr>
          <a:xfrm>
            <a:off x="-23397" y="1114854"/>
            <a:ext cx="466071" cy="1200329"/>
          </a:xfrm>
          <a:prstGeom prst="rect">
            <a:avLst/>
          </a:prstGeom>
          <a:noFill/>
        </p:spPr>
        <p:txBody>
          <a:bodyPr wrap="square" rtlCol="0">
            <a:spAutoFit/>
          </a:bodyPr>
          <a:lstStyle/>
          <a:p>
            <a:r>
              <a:rPr lang="zh-CN" altLang="en-US" b="1">
                <a:solidFill>
                  <a:schemeClr val="bg1">
                    <a:lumMod val="50000"/>
                  </a:schemeClr>
                </a:solidFill>
                <a:latin typeface="微软雅黑" panose="020B0503020204020204" pitchFamily="34" charset="-122"/>
                <a:ea typeface="微软雅黑" panose="020B0503020204020204" pitchFamily="34" charset="-122"/>
              </a:rPr>
              <a:t>业务逻辑</a:t>
            </a:r>
          </a:p>
        </p:txBody>
      </p:sp>
    </p:spTree>
    <p:custDataLst>
      <p:tags r:id="rId1"/>
    </p:custDataLst>
    <p:extLst>
      <p:ext uri="{BB962C8B-B14F-4D97-AF65-F5344CB8AC3E}">
        <p14:creationId xmlns:p14="http://schemas.microsoft.com/office/powerpoint/2010/main" val="2304620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14885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1.1 </a:t>
            </a:r>
            <a:r>
              <a:rPr lang="zh-CN" altLang="en-US" sz="2800" spc="0">
                <a:solidFill>
                  <a:schemeClr val="tx1"/>
                </a:solidFill>
                <a:effectLst/>
                <a:sym typeface="微软雅黑" panose="020B0503020204020204" pitchFamily="34" charset="-122"/>
              </a:rPr>
              <a:t>本研究的框架、业务逻辑、以及形成的体系畅想</a:t>
            </a:r>
          </a:p>
        </p:txBody>
      </p:sp>
      <p:grpSp>
        <p:nvGrpSpPr>
          <p:cNvPr id="83" name="组合 82">
            <a:extLst>
              <a:ext uri="{FF2B5EF4-FFF2-40B4-BE49-F238E27FC236}">
                <a16:creationId xmlns:a16="http://schemas.microsoft.com/office/drawing/2014/main" id="{935A8463-3490-4A4C-9FBE-C504EB783A9E}"/>
              </a:ext>
            </a:extLst>
          </p:cNvPr>
          <p:cNvGrpSpPr/>
          <p:nvPr/>
        </p:nvGrpSpPr>
        <p:grpSpPr>
          <a:xfrm>
            <a:off x="308924" y="734752"/>
            <a:ext cx="11574151" cy="522605"/>
            <a:chOff x="308924" y="734752"/>
            <a:chExt cx="11574151" cy="522605"/>
          </a:xfrm>
        </p:grpSpPr>
        <p:sp>
          <p:nvSpPr>
            <p:cNvPr id="84" name="矩形 22">
              <a:extLst>
                <a:ext uri="{FF2B5EF4-FFF2-40B4-BE49-F238E27FC236}">
                  <a16:creationId xmlns:a16="http://schemas.microsoft.com/office/drawing/2014/main" id="{8ACE45B6-93A6-4AE3-8868-C769AFD68E32}"/>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85" name="文本框 84">
              <a:extLst>
                <a:ext uri="{FF2B5EF4-FFF2-40B4-BE49-F238E27FC236}">
                  <a16:creationId xmlns:a16="http://schemas.microsoft.com/office/drawing/2014/main" id="{3EE57984-FF8B-4D82-A0D1-4E149A2F6C71}"/>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最终形成的体系：</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市场设计知识库构建 </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市场设计软件平台设计</a:t>
              </a:r>
              <a:endParaRPr sz="22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grpSp>
        <p:nvGrpSpPr>
          <p:cNvPr id="11" name="组合 10">
            <a:extLst>
              <a:ext uri="{FF2B5EF4-FFF2-40B4-BE49-F238E27FC236}">
                <a16:creationId xmlns:a16="http://schemas.microsoft.com/office/drawing/2014/main" id="{91B1AAEE-336E-49FE-AD46-1149431EAB1E}"/>
              </a:ext>
            </a:extLst>
          </p:cNvPr>
          <p:cNvGrpSpPr/>
          <p:nvPr/>
        </p:nvGrpSpPr>
        <p:grpSpPr>
          <a:xfrm>
            <a:off x="3576620" y="5843901"/>
            <a:ext cx="4753844" cy="964935"/>
            <a:chOff x="3677687" y="4010083"/>
            <a:chExt cx="4753844" cy="1100633"/>
          </a:xfrm>
        </p:grpSpPr>
        <p:grpSp>
          <p:nvGrpSpPr>
            <p:cNvPr id="9" name="组合 8">
              <a:extLst>
                <a:ext uri="{FF2B5EF4-FFF2-40B4-BE49-F238E27FC236}">
                  <a16:creationId xmlns:a16="http://schemas.microsoft.com/office/drawing/2014/main" id="{AE208E2E-147C-4D47-A75E-7FCB12308979}"/>
                </a:ext>
              </a:extLst>
            </p:cNvPr>
            <p:cNvGrpSpPr/>
            <p:nvPr/>
          </p:nvGrpSpPr>
          <p:grpSpPr>
            <a:xfrm>
              <a:off x="3677687" y="4271386"/>
              <a:ext cx="4753844" cy="839330"/>
              <a:chOff x="3677686" y="4271386"/>
              <a:chExt cx="4303823" cy="839330"/>
            </a:xfrm>
          </p:grpSpPr>
          <p:sp>
            <p:nvSpPr>
              <p:cNvPr id="2" name="圆柱形 1">
                <a:extLst>
                  <a:ext uri="{FF2B5EF4-FFF2-40B4-BE49-F238E27FC236}">
                    <a16:creationId xmlns:a16="http://schemas.microsoft.com/office/drawing/2014/main" id="{EE099272-4A4E-47D2-91D8-C926AFD4EE85}"/>
                  </a:ext>
                </a:extLst>
              </p:cNvPr>
              <p:cNvSpPr/>
              <p:nvPr/>
            </p:nvSpPr>
            <p:spPr>
              <a:xfrm>
                <a:off x="3677686" y="4271386"/>
                <a:ext cx="4303823" cy="839330"/>
              </a:xfrm>
              <a:prstGeom prst="can">
                <a:avLst>
                  <a:gd name="adj" fmla="val 50000"/>
                </a:avLst>
              </a:prstGeom>
              <a:gradFill flip="none" rotWithShape="1">
                <a:gsLst>
                  <a:gs pos="0">
                    <a:srgbClr val="0070C0"/>
                  </a:gs>
                  <a:gs pos="48000">
                    <a:schemeClr val="accent5">
                      <a:lumMod val="75000"/>
                    </a:schemeClr>
                  </a:gs>
                  <a:gs pos="100000">
                    <a:schemeClr val="accent5">
                      <a:lumMod val="20000"/>
                      <a:lumOff val="80000"/>
                    </a:schemeClr>
                  </a:gs>
                </a:gsLst>
                <a:lin ang="1620000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 name="文本框 2">
                <a:extLst>
                  <a:ext uri="{FF2B5EF4-FFF2-40B4-BE49-F238E27FC236}">
                    <a16:creationId xmlns:a16="http://schemas.microsoft.com/office/drawing/2014/main" id="{C90E4AB9-BF87-4433-80A1-DF19F0AD4D68}"/>
                  </a:ext>
                </a:extLst>
              </p:cNvPr>
              <p:cNvSpPr txBox="1"/>
              <p:nvPr/>
            </p:nvSpPr>
            <p:spPr>
              <a:xfrm>
                <a:off x="4835727" y="4740564"/>
                <a:ext cx="2024792" cy="338554"/>
              </a:xfrm>
              <a:prstGeom prst="rect">
                <a:avLst/>
              </a:prstGeom>
              <a:noFill/>
            </p:spPr>
            <p:txBody>
              <a:bodyPr wrap="none" rtlCol="0">
                <a:spAutoFit/>
              </a:bodyPr>
              <a:lstStyle/>
              <a:p>
                <a:r>
                  <a:rPr lang="zh-CN" altLang="en-US" sz="1600" b="1">
                    <a:solidFill>
                      <a:schemeClr val="bg1"/>
                    </a:solidFill>
                    <a:latin typeface="微软雅黑" panose="020B0503020204020204" pitchFamily="34" charset="-122"/>
                    <a:ea typeface="微软雅黑" panose="020B0503020204020204" pitchFamily="34" charset="-122"/>
                  </a:rPr>
                  <a:t>市场设计软件平台软件</a:t>
                </a:r>
              </a:p>
            </p:txBody>
          </p:sp>
        </p:grpSp>
        <p:grpSp>
          <p:nvGrpSpPr>
            <p:cNvPr id="6" name="组合 5">
              <a:extLst>
                <a:ext uri="{FF2B5EF4-FFF2-40B4-BE49-F238E27FC236}">
                  <a16:creationId xmlns:a16="http://schemas.microsoft.com/office/drawing/2014/main" id="{3FC61B4F-DB6F-47E1-8160-9E1447307528}"/>
                </a:ext>
              </a:extLst>
            </p:cNvPr>
            <p:cNvGrpSpPr/>
            <p:nvPr/>
          </p:nvGrpSpPr>
          <p:grpSpPr>
            <a:xfrm>
              <a:off x="4004703" y="4010083"/>
              <a:ext cx="898767" cy="522605"/>
              <a:chOff x="4111383" y="4010083"/>
              <a:chExt cx="898767" cy="522605"/>
            </a:xfrm>
          </p:grpSpPr>
          <p:sp>
            <p:nvSpPr>
              <p:cNvPr id="86" name="立方体 85">
                <a:extLst>
                  <a:ext uri="{FF2B5EF4-FFF2-40B4-BE49-F238E27FC236}">
                    <a16:creationId xmlns:a16="http://schemas.microsoft.com/office/drawing/2014/main" id="{7560C335-B607-4FD5-A764-00C86647E172}"/>
                  </a:ext>
                </a:extLst>
              </p:cNvPr>
              <p:cNvSpPr/>
              <p:nvPr/>
            </p:nvSpPr>
            <p:spPr>
              <a:xfrm>
                <a:off x="4114800" y="4010083"/>
                <a:ext cx="895350" cy="522605"/>
              </a:xfrm>
              <a:prstGeom prst="cube">
                <a:avLst/>
              </a:prstGeom>
              <a:solidFill>
                <a:srgbClr val="DEEBF6"/>
              </a:solidFill>
              <a:ln>
                <a:solidFill>
                  <a:schemeClr val="accent5">
                    <a:lumMod val="50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88" name="文本框 87">
                <a:extLst>
                  <a:ext uri="{FF2B5EF4-FFF2-40B4-BE49-F238E27FC236}">
                    <a16:creationId xmlns:a16="http://schemas.microsoft.com/office/drawing/2014/main" id="{D1047D8C-3C48-4658-AFF4-49D536420405}"/>
                  </a:ext>
                </a:extLst>
              </p:cNvPr>
              <p:cNvSpPr txBox="1"/>
              <p:nvPr/>
            </p:nvSpPr>
            <p:spPr>
              <a:xfrm>
                <a:off x="4111383" y="4191694"/>
                <a:ext cx="857927" cy="307777"/>
              </a:xfrm>
              <a:prstGeom prst="rect">
                <a:avLst/>
              </a:prstGeom>
              <a:noFill/>
            </p:spPr>
            <p:txBody>
              <a:bodyPr wrap="none" rtlCol="0">
                <a:spAutoFit/>
              </a:bodyPr>
              <a:lstStyle/>
              <a:p>
                <a:r>
                  <a:rPr lang="en-US" altLang="zh-CN" sz="1400" b="1">
                    <a:latin typeface="微软雅黑" panose="020B0503020204020204" pitchFamily="34" charset="-122"/>
                    <a:ea typeface="微软雅黑" panose="020B0503020204020204" pitchFamily="34" charset="-122"/>
                  </a:rPr>
                  <a:t>API</a:t>
                </a:r>
                <a:r>
                  <a:rPr lang="zh-CN" altLang="en-US" sz="1400" b="1">
                    <a:latin typeface="微软雅黑" panose="020B0503020204020204" pitchFamily="34" charset="-122"/>
                    <a:ea typeface="微软雅黑" panose="020B0503020204020204" pitchFamily="34" charset="-122"/>
                  </a:rPr>
                  <a:t>接口</a:t>
                </a:r>
              </a:p>
            </p:txBody>
          </p:sp>
        </p:grpSp>
        <p:grpSp>
          <p:nvGrpSpPr>
            <p:cNvPr id="90" name="组合 89">
              <a:extLst>
                <a:ext uri="{FF2B5EF4-FFF2-40B4-BE49-F238E27FC236}">
                  <a16:creationId xmlns:a16="http://schemas.microsoft.com/office/drawing/2014/main" id="{D96C0887-997A-4A02-9F27-1A331AD65788}"/>
                </a:ext>
              </a:extLst>
            </p:cNvPr>
            <p:cNvGrpSpPr/>
            <p:nvPr/>
          </p:nvGrpSpPr>
          <p:grpSpPr>
            <a:xfrm>
              <a:off x="5037865" y="4149290"/>
              <a:ext cx="955240" cy="522605"/>
              <a:chOff x="4054910" y="4010083"/>
              <a:chExt cx="955240" cy="522605"/>
            </a:xfrm>
          </p:grpSpPr>
          <p:sp>
            <p:nvSpPr>
              <p:cNvPr id="91" name="立方体 90">
                <a:extLst>
                  <a:ext uri="{FF2B5EF4-FFF2-40B4-BE49-F238E27FC236}">
                    <a16:creationId xmlns:a16="http://schemas.microsoft.com/office/drawing/2014/main" id="{22A4C89E-BA1A-43FE-AF0A-61F2FB7EA33F}"/>
                  </a:ext>
                </a:extLst>
              </p:cNvPr>
              <p:cNvSpPr/>
              <p:nvPr/>
            </p:nvSpPr>
            <p:spPr>
              <a:xfrm>
                <a:off x="4114800" y="4010083"/>
                <a:ext cx="895350" cy="522605"/>
              </a:xfrm>
              <a:prstGeom prst="cube">
                <a:avLst/>
              </a:prstGeom>
              <a:solidFill>
                <a:srgbClr val="DEEBF6"/>
              </a:solidFill>
              <a:ln>
                <a:solidFill>
                  <a:schemeClr val="accent5">
                    <a:lumMod val="50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92" name="文本框 91">
                <a:extLst>
                  <a:ext uri="{FF2B5EF4-FFF2-40B4-BE49-F238E27FC236}">
                    <a16:creationId xmlns:a16="http://schemas.microsoft.com/office/drawing/2014/main" id="{A6CC1208-5A0F-45C3-91CE-4F813565A13E}"/>
                  </a:ext>
                </a:extLst>
              </p:cNvPr>
              <p:cNvSpPr txBox="1"/>
              <p:nvPr/>
            </p:nvSpPr>
            <p:spPr>
              <a:xfrm>
                <a:off x="4054910" y="4206375"/>
                <a:ext cx="902811" cy="307777"/>
              </a:xfrm>
              <a:prstGeom prst="rect">
                <a:avLst/>
              </a:prstGeom>
              <a:noFill/>
            </p:spPr>
            <p:txBody>
              <a:bodyPr wrap="none" rtlCol="0">
                <a:spAutoFit/>
              </a:bodyPr>
              <a:lstStyle/>
              <a:p>
                <a:r>
                  <a:rPr lang="zh-CN" altLang="en-US" sz="1400" b="1">
                    <a:latin typeface="微软雅黑" panose="020B0503020204020204" pitchFamily="34" charset="-122"/>
                    <a:ea typeface="微软雅黑" panose="020B0503020204020204" pitchFamily="34" charset="-122"/>
                  </a:rPr>
                  <a:t>任务编排</a:t>
                </a:r>
              </a:p>
            </p:txBody>
          </p:sp>
        </p:grpSp>
        <p:grpSp>
          <p:nvGrpSpPr>
            <p:cNvPr id="100" name="组合 99">
              <a:extLst>
                <a:ext uri="{FF2B5EF4-FFF2-40B4-BE49-F238E27FC236}">
                  <a16:creationId xmlns:a16="http://schemas.microsoft.com/office/drawing/2014/main" id="{7EEDE1D9-D4AF-4465-9C75-019C1AD677C3}"/>
                </a:ext>
              </a:extLst>
            </p:cNvPr>
            <p:cNvGrpSpPr/>
            <p:nvPr/>
          </p:nvGrpSpPr>
          <p:grpSpPr>
            <a:xfrm>
              <a:off x="6075071" y="4130754"/>
              <a:ext cx="955240" cy="522605"/>
              <a:chOff x="4054910" y="4010083"/>
              <a:chExt cx="955240" cy="522605"/>
            </a:xfrm>
          </p:grpSpPr>
          <p:sp>
            <p:nvSpPr>
              <p:cNvPr id="101" name="立方体 100">
                <a:extLst>
                  <a:ext uri="{FF2B5EF4-FFF2-40B4-BE49-F238E27FC236}">
                    <a16:creationId xmlns:a16="http://schemas.microsoft.com/office/drawing/2014/main" id="{D2B993D5-115C-4646-A31D-6E341BD1CB34}"/>
                  </a:ext>
                </a:extLst>
              </p:cNvPr>
              <p:cNvSpPr/>
              <p:nvPr/>
            </p:nvSpPr>
            <p:spPr>
              <a:xfrm>
                <a:off x="4114800" y="4010083"/>
                <a:ext cx="895350" cy="522605"/>
              </a:xfrm>
              <a:prstGeom prst="cube">
                <a:avLst/>
              </a:prstGeom>
              <a:solidFill>
                <a:srgbClr val="DEEBF6"/>
              </a:solidFill>
              <a:ln>
                <a:solidFill>
                  <a:schemeClr val="accent5">
                    <a:lumMod val="50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02" name="文本框 101">
                <a:extLst>
                  <a:ext uri="{FF2B5EF4-FFF2-40B4-BE49-F238E27FC236}">
                    <a16:creationId xmlns:a16="http://schemas.microsoft.com/office/drawing/2014/main" id="{4315D7D2-21C9-494F-9787-FB8317343FD6}"/>
                  </a:ext>
                </a:extLst>
              </p:cNvPr>
              <p:cNvSpPr txBox="1"/>
              <p:nvPr/>
            </p:nvSpPr>
            <p:spPr>
              <a:xfrm>
                <a:off x="4054910" y="4206375"/>
                <a:ext cx="902811" cy="307777"/>
              </a:xfrm>
              <a:prstGeom prst="rect">
                <a:avLst/>
              </a:prstGeom>
              <a:noFill/>
            </p:spPr>
            <p:txBody>
              <a:bodyPr wrap="none" rtlCol="0">
                <a:spAutoFit/>
              </a:bodyPr>
              <a:lstStyle/>
              <a:p>
                <a:r>
                  <a:rPr lang="zh-CN" altLang="en-US" sz="1400" b="1">
                    <a:latin typeface="微软雅黑" panose="020B0503020204020204" pitchFamily="34" charset="-122"/>
                    <a:ea typeface="微软雅黑" panose="020B0503020204020204" pitchFamily="34" charset="-122"/>
                  </a:rPr>
                  <a:t>模型算法</a:t>
                </a:r>
              </a:p>
            </p:txBody>
          </p:sp>
        </p:grpSp>
        <p:grpSp>
          <p:nvGrpSpPr>
            <p:cNvPr id="104" name="组合 103">
              <a:extLst>
                <a:ext uri="{FF2B5EF4-FFF2-40B4-BE49-F238E27FC236}">
                  <a16:creationId xmlns:a16="http://schemas.microsoft.com/office/drawing/2014/main" id="{8ABF3D3B-4C12-446A-B931-61642F69E8DB}"/>
                </a:ext>
              </a:extLst>
            </p:cNvPr>
            <p:cNvGrpSpPr/>
            <p:nvPr/>
          </p:nvGrpSpPr>
          <p:grpSpPr>
            <a:xfrm>
              <a:off x="7307568" y="4013301"/>
              <a:ext cx="955240" cy="522605"/>
              <a:chOff x="4054910" y="4010083"/>
              <a:chExt cx="955240" cy="522605"/>
            </a:xfrm>
          </p:grpSpPr>
          <p:sp>
            <p:nvSpPr>
              <p:cNvPr id="105" name="立方体 104">
                <a:extLst>
                  <a:ext uri="{FF2B5EF4-FFF2-40B4-BE49-F238E27FC236}">
                    <a16:creationId xmlns:a16="http://schemas.microsoft.com/office/drawing/2014/main" id="{B3C5FF0D-E30F-4792-B090-4D9BA8898114}"/>
                  </a:ext>
                </a:extLst>
              </p:cNvPr>
              <p:cNvSpPr/>
              <p:nvPr/>
            </p:nvSpPr>
            <p:spPr>
              <a:xfrm>
                <a:off x="4114800" y="4010083"/>
                <a:ext cx="895350" cy="522605"/>
              </a:xfrm>
              <a:prstGeom prst="cube">
                <a:avLst/>
              </a:prstGeom>
              <a:solidFill>
                <a:srgbClr val="DEEBF6"/>
              </a:solidFill>
              <a:ln>
                <a:solidFill>
                  <a:schemeClr val="accent5">
                    <a:lumMod val="50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06" name="文本框 105">
                <a:extLst>
                  <a:ext uri="{FF2B5EF4-FFF2-40B4-BE49-F238E27FC236}">
                    <a16:creationId xmlns:a16="http://schemas.microsoft.com/office/drawing/2014/main" id="{E00E3FA7-C67E-4086-B237-001266CF11F8}"/>
                  </a:ext>
                </a:extLst>
              </p:cNvPr>
              <p:cNvSpPr txBox="1"/>
              <p:nvPr/>
            </p:nvSpPr>
            <p:spPr>
              <a:xfrm>
                <a:off x="4054910" y="4206375"/>
                <a:ext cx="881973" cy="307777"/>
              </a:xfrm>
              <a:prstGeom prst="rect">
                <a:avLst/>
              </a:prstGeom>
              <a:noFill/>
            </p:spPr>
            <p:txBody>
              <a:bodyPr wrap="none" rtlCol="0">
                <a:spAutoFit/>
              </a:bodyPr>
              <a:lstStyle/>
              <a:p>
                <a:r>
                  <a:rPr lang="en-US" altLang="zh-CN" sz="1400" b="1">
                    <a:latin typeface="微软雅黑" panose="020B0503020204020204" pitchFamily="34" charset="-122"/>
                    <a:ea typeface="微软雅黑" panose="020B0503020204020204" pitchFamily="34" charset="-122"/>
                  </a:rPr>
                  <a:t>GUI</a:t>
                </a:r>
                <a:r>
                  <a:rPr lang="zh-CN" altLang="en-US" sz="1400" b="1">
                    <a:latin typeface="微软雅黑" panose="020B0503020204020204" pitchFamily="34" charset="-122"/>
                    <a:ea typeface="微软雅黑" panose="020B0503020204020204" pitchFamily="34" charset="-122"/>
                  </a:rPr>
                  <a:t>界面</a:t>
                </a:r>
              </a:p>
            </p:txBody>
          </p:sp>
        </p:grpSp>
      </p:grpSp>
      <p:grpSp>
        <p:nvGrpSpPr>
          <p:cNvPr id="69" name="组合 68">
            <a:extLst>
              <a:ext uri="{FF2B5EF4-FFF2-40B4-BE49-F238E27FC236}">
                <a16:creationId xmlns:a16="http://schemas.microsoft.com/office/drawing/2014/main" id="{37E9DD0A-77BA-459E-8C6F-A9D688F6F05C}"/>
              </a:ext>
            </a:extLst>
          </p:cNvPr>
          <p:cNvGrpSpPr/>
          <p:nvPr/>
        </p:nvGrpSpPr>
        <p:grpSpPr>
          <a:xfrm>
            <a:off x="3106308" y="2020713"/>
            <a:ext cx="5476240" cy="1610960"/>
            <a:chOff x="3287823" y="3257201"/>
            <a:chExt cx="5476240" cy="1610960"/>
          </a:xfrm>
        </p:grpSpPr>
        <p:pic>
          <p:nvPicPr>
            <p:cNvPr id="20" name="图形 19" descr="带齿轮的头部">
              <a:extLst>
                <a:ext uri="{FF2B5EF4-FFF2-40B4-BE49-F238E27FC236}">
                  <a16:creationId xmlns:a16="http://schemas.microsoft.com/office/drawing/2014/main" id="{7849988C-2C03-458E-8FBC-47D4D8C9089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77597" y="3331094"/>
              <a:ext cx="609306" cy="609306"/>
            </a:xfrm>
            <a:prstGeom prst="rect">
              <a:avLst/>
            </a:prstGeom>
          </p:spPr>
        </p:pic>
        <p:sp>
          <p:nvSpPr>
            <p:cNvPr id="27" name="矩形: 圆角 26">
              <a:extLst>
                <a:ext uri="{FF2B5EF4-FFF2-40B4-BE49-F238E27FC236}">
                  <a16:creationId xmlns:a16="http://schemas.microsoft.com/office/drawing/2014/main" id="{F2014103-3F2D-4268-A55F-E28213B5190B}"/>
                </a:ext>
              </a:extLst>
            </p:cNvPr>
            <p:cNvSpPr/>
            <p:nvPr/>
          </p:nvSpPr>
          <p:spPr>
            <a:xfrm>
              <a:off x="3287823" y="3301472"/>
              <a:ext cx="5476240" cy="1553022"/>
            </a:xfrm>
            <a:prstGeom prst="roundRect">
              <a:avLst/>
            </a:prstGeom>
            <a:solidFill>
              <a:schemeClr val="accent3">
                <a:lumMod val="20000"/>
                <a:lumOff val="80000"/>
                <a:alpha val="10000"/>
              </a:schemeClr>
            </a:solidFill>
            <a:ln w="25400">
              <a:solidFill>
                <a:schemeClr val="accent5">
                  <a:lumMod val="50000"/>
                </a:schemeClr>
              </a:solidFill>
              <a:prstDash val="sysDot"/>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30" name="组合 29">
              <a:extLst>
                <a:ext uri="{FF2B5EF4-FFF2-40B4-BE49-F238E27FC236}">
                  <a16:creationId xmlns:a16="http://schemas.microsoft.com/office/drawing/2014/main" id="{B6AC5A94-0733-48C2-BE61-685B5F5B5060}"/>
                </a:ext>
              </a:extLst>
            </p:cNvPr>
            <p:cNvGrpSpPr/>
            <p:nvPr/>
          </p:nvGrpSpPr>
          <p:grpSpPr>
            <a:xfrm>
              <a:off x="4823770" y="4031881"/>
              <a:ext cx="2201968" cy="836280"/>
              <a:chOff x="4671381" y="2548835"/>
              <a:chExt cx="2201968" cy="836280"/>
            </a:xfrm>
          </p:grpSpPr>
          <p:grpSp>
            <p:nvGrpSpPr>
              <p:cNvPr id="29" name="组合 28">
                <a:extLst>
                  <a:ext uri="{FF2B5EF4-FFF2-40B4-BE49-F238E27FC236}">
                    <a16:creationId xmlns:a16="http://schemas.microsoft.com/office/drawing/2014/main" id="{D2D1C83F-208A-4DAD-83AE-832BFBBB2E27}"/>
                  </a:ext>
                </a:extLst>
              </p:cNvPr>
              <p:cNvGrpSpPr/>
              <p:nvPr/>
            </p:nvGrpSpPr>
            <p:grpSpPr>
              <a:xfrm>
                <a:off x="4671381" y="2548835"/>
                <a:ext cx="2201968" cy="483144"/>
                <a:chOff x="740335" y="4717557"/>
                <a:chExt cx="2201968" cy="483144"/>
              </a:xfrm>
            </p:grpSpPr>
            <p:sp>
              <p:nvSpPr>
                <p:cNvPr id="132" name="立方体 131">
                  <a:extLst>
                    <a:ext uri="{FF2B5EF4-FFF2-40B4-BE49-F238E27FC236}">
                      <a16:creationId xmlns:a16="http://schemas.microsoft.com/office/drawing/2014/main" id="{08593D08-41C7-4DBA-8E52-9A4B94DFBB53}"/>
                    </a:ext>
                  </a:extLst>
                </p:cNvPr>
                <p:cNvSpPr/>
                <p:nvPr/>
              </p:nvSpPr>
              <p:spPr>
                <a:xfrm>
                  <a:off x="1791580" y="4717558"/>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33" name="立方体 132">
                  <a:extLst>
                    <a:ext uri="{FF2B5EF4-FFF2-40B4-BE49-F238E27FC236}">
                      <a16:creationId xmlns:a16="http://schemas.microsoft.com/office/drawing/2014/main" id="{20DE6F0F-C8DB-43FD-BB94-4ECEB9566112}"/>
                    </a:ext>
                  </a:extLst>
                </p:cNvPr>
                <p:cNvSpPr/>
                <p:nvPr/>
              </p:nvSpPr>
              <p:spPr>
                <a:xfrm>
                  <a:off x="2059829" y="4717558"/>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34" name="立方体 133">
                  <a:extLst>
                    <a:ext uri="{FF2B5EF4-FFF2-40B4-BE49-F238E27FC236}">
                      <a16:creationId xmlns:a16="http://schemas.microsoft.com/office/drawing/2014/main" id="{0A48130C-8ACF-4F60-B6CF-2D3E195496C0}"/>
                    </a:ext>
                  </a:extLst>
                </p:cNvPr>
                <p:cNvSpPr/>
                <p:nvPr/>
              </p:nvSpPr>
              <p:spPr>
                <a:xfrm>
                  <a:off x="2328078" y="4717557"/>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38" name="立方体 137">
                  <a:extLst>
                    <a:ext uri="{FF2B5EF4-FFF2-40B4-BE49-F238E27FC236}">
                      <a16:creationId xmlns:a16="http://schemas.microsoft.com/office/drawing/2014/main" id="{477FA131-4B45-4E36-897A-2CBD7F3D3D3D}"/>
                    </a:ext>
                  </a:extLst>
                </p:cNvPr>
                <p:cNvSpPr/>
                <p:nvPr/>
              </p:nvSpPr>
              <p:spPr>
                <a:xfrm>
                  <a:off x="2591476" y="4717557"/>
                  <a:ext cx="252787" cy="241093"/>
                </a:xfrm>
                <a:prstGeom prst="cube">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41" name="立方体 140">
                  <a:extLst>
                    <a:ext uri="{FF2B5EF4-FFF2-40B4-BE49-F238E27FC236}">
                      <a16:creationId xmlns:a16="http://schemas.microsoft.com/office/drawing/2014/main" id="{24A5C06E-CB00-4B18-BA2E-8C9956D6C1D0}"/>
                    </a:ext>
                  </a:extLst>
                </p:cNvPr>
                <p:cNvSpPr/>
                <p:nvPr/>
              </p:nvSpPr>
              <p:spPr>
                <a:xfrm>
                  <a:off x="1814518" y="4838104"/>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43" name="立方体 142">
                  <a:extLst>
                    <a:ext uri="{FF2B5EF4-FFF2-40B4-BE49-F238E27FC236}">
                      <a16:creationId xmlns:a16="http://schemas.microsoft.com/office/drawing/2014/main" id="{1DA76939-52B8-4F4A-8888-81B74974E933}"/>
                    </a:ext>
                  </a:extLst>
                </p:cNvPr>
                <p:cNvSpPr/>
                <p:nvPr/>
              </p:nvSpPr>
              <p:spPr>
                <a:xfrm>
                  <a:off x="2082767" y="4838104"/>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44" name="立方体 143">
                  <a:extLst>
                    <a:ext uri="{FF2B5EF4-FFF2-40B4-BE49-F238E27FC236}">
                      <a16:creationId xmlns:a16="http://schemas.microsoft.com/office/drawing/2014/main" id="{29CBAFE0-75EA-437F-A6FF-31B3B1A57144}"/>
                    </a:ext>
                  </a:extLst>
                </p:cNvPr>
                <p:cNvSpPr/>
                <p:nvPr/>
              </p:nvSpPr>
              <p:spPr>
                <a:xfrm>
                  <a:off x="2351016" y="4838103"/>
                  <a:ext cx="252787" cy="241093"/>
                </a:xfrm>
                <a:prstGeom prst="cube">
                  <a:avLst/>
                </a:prstGeom>
                <a:gradFill>
                  <a:gsLst>
                    <a:gs pos="0">
                      <a:srgbClr val="C00000"/>
                    </a:gs>
                    <a:gs pos="62000">
                      <a:srgbClr val="FF0000"/>
                    </a:gs>
                    <a:gs pos="100000">
                      <a:srgbClr val="FF0000"/>
                    </a:gs>
                  </a:gsLst>
                </a:gradFill>
                <a:ln>
                  <a:solidFill>
                    <a:srgbClr val="C00000"/>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46" name="立方体 145">
                  <a:extLst>
                    <a:ext uri="{FF2B5EF4-FFF2-40B4-BE49-F238E27FC236}">
                      <a16:creationId xmlns:a16="http://schemas.microsoft.com/office/drawing/2014/main" id="{65091A9D-1271-4700-8109-49D3764276DB}"/>
                    </a:ext>
                  </a:extLst>
                </p:cNvPr>
                <p:cNvSpPr/>
                <p:nvPr/>
              </p:nvSpPr>
              <p:spPr>
                <a:xfrm>
                  <a:off x="2614414" y="4838103"/>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47" name="立方体 146">
                  <a:extLst>
                    <a:ext uri="{FF2B5EF4-FFF2-40B4-BE49-F238E27FC236}">
                      <a16:creationId xmlns:a16="http://schemas.microsoft.com/office/drawing/2014/main" id="{D6416784-B826-4D64-A229-3A5706710DF7}"/>
                    </a:ext>
                  </a:extLst>
                </p:cNvPr>
                <p:cNvSpPr/>
                <p:nvPr/>
              </p:nvSpPr>
              <p:spPr>
                <a:xfrm>
                  <a:off x="1889620" y="4958651"/>
                  <a:ext cx="252787" cy="241093"/>
                </a:xfrm>
                <a:prstGeom prst="cube">
                  <a:avLst/>
                </a:prstGeom>
                <a:ln/>
              </p:spPr>
              <p:style>
                <a:lnRef idx="0">
                  <a:schemeClr val="accent2"/>
                </a:lnRef>
                <a:fillRef idx="3">
                  <a:schemeClr val="accent2"/>
                </a:fillRef>
                <a:effectRef idx="3">
                  <a:schemeClr val="accent2"/>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48" name="立方体 147">
                  <a:extLst>
                    <a:ext uri="{FF2B5EF4-FFF2-40B4-BE49-F238E27FC236}">
                      <a16:creationId xmlns:a16="http://schemas.microsoft.com/office/drawing/2014/main" id="{1B915AEE-61B5-4674-8235-E5A817F6ECC3}"/>
                    </a:ext>
                  </a:extLst>
                </p:cNvPr>
                <p:cNvSpPr/>
                <p:nvPr/>
              </p:nvSpPr>
              <p:spPr>
                <a:xfrm>
                  <a:off x="2157869" y="4958651"/>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49" name="立方体 148">
                  <a:extLst>
                    <a:ext uri="{FF2B5EF4-FFF2-40B4-BE49-F238E27FC236}">
                      <a16:creationId xmlns:a16="http://schemas.microsoft.com/office/drawing/2014/main" id="{2A5C5A83-9758-43E3-8856-C6FFB4A84947}"/>
                    </a:ext>
                  </a:extLst>
                </p:cNvPr>
                <p:cNvSpPr/>
                <p:nvPr/>
              </p:nvSpPr>
              <p:spPr>
                <a:xfrm>
                  <a:off x="2426118" y="4958650"/>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50" name="立方体 149">
                  <a:extLst>
                    <a:ext uri="{FF2B5EF4-FFF2-40B4-BE49-F238E27FC236}">
                      <a16:creationId xmlns:a16="http://schemas.microsoft.com/office/drawing/2014/main" id="{4D2C519F-D38E-4079-9244-C27B8E6FADD0}"/>
                    </a:ext>
                  </a:extLst>
                </p:cNvPr>
                <p:cNvSpPr/>
                <p:nvPr/>
              </p:nvSpPr>
              <p:spPr>
                <a:xfrm>
                  <a:off x="2689516" y="4958650"/>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13" name="立方体 112">
                  <a:extLst>
                    <a:ext uri="{FF2B5EF4-FFF2-40B4-BE49-F238E27FC236}">
                      <a16:creationId xmlns:a16="http://schemas.microsoft.com/office/drawing/2014/main" id="{646EAA2C-6F5A-4FFC-A601-CD6FE107D958}"/>
                    </a:ext>
                  </a:extLst>
                </p:cNvPr>
                <p:cNvSpPr/>
                <p:nvPr/>
              </p:nvSpPr>
              <p:spPr>
                <a:xfrm>
                  <a:off x="740335" y="4718515"/>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15" name="立方体 114">
                  <a:extLst>
                    <a:ext uri="{FF2B5EF4-FFF2-40B4-BE49-F238E27FC236}">
                      <a16:creationId xmlns:a16="http://schemas.microsoft.com/office/drawing/2014/main" id="{2EAFC92A-DD53-4471-90B7-93636EC6C8C6}"/>
                    </a:ext>
                  </a:extLst>
                </p:cNvPr>
                <p:cNvSpPr/>
                <p:nvPr/>
              </p:nvSpPr>
              <p:spPr>
                <a:xfrm>
                  <a:off x="1008584" y="4718515"/>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17" name="立方体 116">
                  <a:extLst>
                    <a:ext uri="{FF2B5EF4-FFF2-40B4-BE49-F238E27FC236}">
                      <a16:creationId xmlns:a16="http://schemas.microsoft.com/office/drawing/2014/main" id="{050BB1E9-6F41-4C54-91F0-AEF0752D8469}"/>
                    </a:ext>
                  </a:extLst>
                </p:cNvPr>
                <p:cNvSpPr/>
                <p:nvPr/>
              </p:nvSpPr>
              <p:spPr>
                <a:xfrm>
                  <a:off x="1276833" y="4718514"/>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19" name="立方体 118">
                  <a:extLst>
                    <a:ext uri="{FF2B5EF4-FFF2-40B4-BE49-F238E27FC236}">
                      <a16:creationId xmlns:a16="http://schemas.microsoft.com/office/drawing/2014/main" id="{EF1E93BF-F6C3-4833-AB33-D932913B40EC}"/>
                    </a:ext>
                  </a:extLst>
                </p:cNvPr>
                <p:cNvSpPr/>
                <p:nvPr/>
              </p:nvSpPr>
              <p:spPr>
                <a:xfrm>
                  <a:off x="1540231" y="4718514"/>
                  <a:ext cx="252787" cy="241093"/>
                </a:xfrm>
                <a:prstGeom prst="cube">
                  <a:avLst/>
                </a:prstGeom>
                <a:ln/>
              </p:spPr>
              <p:style>
                <a:lnRef idx="0">
                  <a:schemeClr val="accent2"/>
                </a:lnRef>
                <a:fillRef idx="3">
                  <a:schemeClr val="accent2"/>
                </a:fillRef>
                <a:effectRef idx="3">
                  <a:schemeClr val="accent2"/>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22" name="立方体 121">
                  <a:extLst>
                    <a:ext uri="{FF2B5EF4-FFF2-40B4-BE49-F238E27FC236}">
                      <a16:creationId xmlns:a16="http://schemas.microsoft.com/office/drawing/2014/main" id="{2DD22BD3-39F3-4413-A90A-FF28539FD4AA}"/>
                    </a:ext>
                  </a:extLst>
                </p:cNvPr>
                <p:cNvSpPr/>
                <p:nvPr/>
              </p:nvSpPr>
              <p:spPr>
                <a:xfrm>
                  <a:off x="763273" y="4839061"/>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23" name="立方体 122">
                  <a:extLst>
                    <a:ext uri="{FF2B5EF4-FFF2-40B4-BE49-F238E27FC236}">
                      <a16:creationId xmlns:a16="http://schemas.microsoft.com/office/drawing/2014/main" id="{E96B3114-2796-4D1E-8503-3E2F107422C1}"/>
                    </a:ext>
                  </a:extLst>
                </p:cNvPr>
                <p:cNvSpPr/>
                <p:nvPr/>
              </p:nvSpPr>
              <p:spPr>
                <a:xfrm>
                  <a:off x="1031522" y="4839061"/>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24" name="立方体 123">
                  <a:extLst>
                    <a:ext uri="{FF2B5EF4-FFF2-40B4-BE49-F238E27FC236}">
                      <a16:creationId xmlns:a16="http://schemas.microsoft.com/office/drawing/2014/main" id="{17CC4D18-20E2-4C8E-9265-809416E84078}"/>
                    </a:ext>
                  </a:extLst>
                </p:cNvPr>
                <p:cNvSpPr/>
                <p:nvPr/>
              </p:nvSpPr>
              <p:spPr>
                <a:xfrm>
                  <a:off x="1299771" y="4839060"/>
                  <a:ext cx="252787" cy="241093"/>
                </a:xfrm>
                <a:prstGeom prst="cube">
                  <a:avLst/>
                </a:prstGeom>
                <a:ln/>
              </p:spPr>
              <p:style>
                <a:lnRef idx="0">
                  <a:schemeClr val="accent2"/>
                </a:lnRef>
                <a:fillRef idx="3">
                  <a:schemeClr val="accent2"/>
                </a:fillRef>
                <a:effectRef idx="3">
                  <a:schemeClr val="accent2"/>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26" name="立方体 125">
                  <a:extLst>
                    <a:ext uri="{FF2B5EF4-FFF2-40B4-BE49-F238E27FC236}">
                      <a16:creationId xmlns:a16="http://schemas.microsoft.com/office/drawing/2014/main" id="{3F43A50F-0DDF-470F-9BCD-8469EE33F08F}"/>
                    </a:ext>
                  </a:extLst>
                </p:cNvPr>
                <p:cNvSpPr/>
                <p:nvPr/>
              </p:nvSpPr>
              <p:spPr>
                <a:xfrm>
                  <a:off x="1563169" y="4839060"/>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27" name="立方体 126">
                  <a:extLst>
                    <a:ext uri="{FF2B5EF4-FFF2-40B4-BE49-F238E27FC236}">
                      <a16:creationId xmlns:a16="http://schemas.microsoft.com/office/drawing/2014/main" id="{02C8D89E-94A9-4294-A851-0269E164CCEB}"/>
                    </a:ext>
                  </a:extLst>
                </p:cNvPr>
                <p:cNvSpPr/>
                <p:nvPr/>
              </p:nvSpPr>
              <p:spPr>
                <a:xfrm>
                  <a:off x="838375" y="4959608"/>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28" name="立方体 127">
                  <a:extLst>
                    <a:ext uri="{FF2B5EF4-FFF2-40B4-BE49-F238E27FC236}">
                      <a16:creationId xmlns:a16="http://schemas.microsoft.com/office/drawing/2014/main" id="{C177B458-3C95-4236-8A7B-F566FFEE5B46}"/>
                    </a:ext>
                  </a:extLst>
                </p:cNvPr>
                <p:cNvSpPr/>
                <p:nvPr/>
              </p:nvSpPr>
              <p:spPr>
                <a:xfrm>
                  <a:off x="1106624" y="4959608"/>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30" name="立方体 129">
                  <a:extLst>
                    <a:ext uri="{FF2B5EF4-FFF2-40B4-BE49-F238E27FC236}">
                      <a16:creationId xmlns:a16="http://schemas.microsoft.com/office/drawing/2014/main" id="{721916FF-EA84-4877-A151-8069C002B8ED}"/>
                    </a:ext>
                  </a:extLst>
                </p:cNvPr>
                <p:cNvSpPr/>
                <p:nvPr/>
              </p:nvSpPr>
              <p:spPr>
                <a:xfrm>
                  <a:off x="1374873" y="4959607"/>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131" name="立方体 130">
                  <a:extLst>
                    <a:ext uri="{FF2B5EF4-FFF2-40B4-BE49-F238E27FC236}">
                      <a16:creationId xmlns:a16="http://schemas.microsoft.com/office/drawing/2014/main" id="{9E48A603-2948-4DA9-898A-E7395F072FAE}"/>
                    </a:ext>
                  </a:extLst>
                </p:cNvPr>
                <p:cNvSpPr/>
                <p:nvPr/>
              </p:nvSpPr>
              <p:spPr>
                <a:xfrm>
                  <a:off x="1638271" y="4959607"/>
                  <a:ext cx="252787" cy="241093"/>
                </a:xfrm>
                <a:prstGeom prst="cube">
                  <a:avLst/>
                </a:prstGeom>
                <a:ln>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51" name="文本框 150">
                <a:extLst>
                  <a:ext uri="{FF2B5EF4-FFF2-40B4-BE49-F238E27FC236}">
                    <a16:creationId xmlns:a16="http://schemas.microsoft.com/office/drawing/2014/main" id="{24381657-5E66-41C2-804C-665320178163}"/>
                  </a:ext>
                </a:extLst>
              </p:cNvPr>
              <p:cNvSpPr txBox="1"/>
              <p:nvPr/>
            </p:nvSpPr>
            <p:spPr>
              <a:xfrm>
                <a:off x="4888580" y="3077338"/>
                <a:ext cx="1800493" cy="307777"/>
              </a:xfrm>
              <a:prstGeom prst="rect">
                <a:avLst/>
              </a:prstGeom>
              <a:noFill/>
            </p:spPr>
            <p:txBody>
              <a:bodyPr wrap="none" rtlCol="0">
                <a:spAutoFit/>
              </a:bodyPr>
              <a:lstStyle/>
              <a:p>
                <a:r>
                  <a:rPr lang="zh-CN" altLang="en-US" sz="1400" b="1">
                    <a:gradFill>
                      <a:gsLst>
                        <a:gs pos="0">
                          <a:schemeClr val="accent6">
                            <a:satMod val="103000"/>
                            <a:lumMod val="102000"/>
                            <a:tint val="94000"/>
                          </a:schemeClr>
                        </a:gs>
                        <a:gs pos="100000">
                          <a:schemeClr val="accent6">
                            <a:satMod val="120000"/>
                            <a:shade val="78000"/>
                            <a:lumMod val="73000"/>
                          </a:schemeClr>
                        </a:gs>
                      </a:gsLst>
                      <a:lin ang="5400000" scaled="0"/>
                    </a:gradFill>
                    <a:latin typeface="微软雅黑" panose="020B0503020204020204" pitchFamily="34" charset="-122"/>
                    <a:ea typeface="微软雅黑" panose="020B0503020204020204" pitchFamily="34" charset="-122"/>
                  </a:rPr>
                  <a:t>分层设计节点有向图</a:t>
                </a:r>
              </a:p>
            </p:txBody>
          </p:sp>
        </p:grpSp>
        <p:sp>
          <p:nvSpPr>
            <p:cNvPr id="152" name="文本框 151">
              <a:extLst>
                <a:ext uri="{FF2B5EF4-FFF2-40B4-BE49-F238E27FC236}">
                  <a16:creationId xmlns:a16="http://schemas.microsoft.com/office/drawing/2014/main" id="{8C7A943D-1487-4F35-9392-8E37D0843EB7}"/>
                </a:ext>
              </a:extLst>
            </p:cNvPr>
            <p:cNvSpPr txBox="1"/>
            <p:nvPr/>
          </p:nvSpPr>
          <p:spPr>
            <a:xfrm>
              <a:off x="3382411" y="4204870"/>
              <a:ext cx="614655" cy="523220"/>
            </a:xfrm>
            <a:prstGeom prst="rect">
              <a:avLst/>
            </a:prstGeom>
            <a:noFill/>
          </p:spPr>
          <p:txBody>
            <a:bodyPr wrap="square" rtlCol="0">
              <a:spAutoFit/>
            </a:bodyPr>
            <a:lstStyle/>
            <a:p>
              <a:pPr algn="ctr"/>
              <a:r>
                <a:rPr lang="zh-CN" altLang="en-US" sz="1400" b="1">
                  <a:solidFill>
                    <a:schemeClr val="accent5">
                      <a:lumMod val="50000"/>
                    </a:schemeClr>
                  </a:solidFill>
                  <a:latin typeface="微软雅黑" panose="020B0503020204020204" pitchFamily="34" charset="-122"/>
                  <a:ea typeface="微软雅黑" panose="020B0503020204020204" pitchFamily="34" charset="-122"/>
                </a:rPr>
                <a:t>知识</a:t>
              </a:r>
              <a:endParaRPr lang="en-US" altLang="zh-CN" sz="1400" b="1">
                <a:solidFill>
                  <a:schemeClr val="accent5">
                    <a:lumMod val="50000"/>
                  </a:schemeClr>
                </a:solidFill>
                <a:latin typeface="微软雅黑" panose="020B0503020204020204" pitchFamily="34" charset="-122"/>
                <a:ea typeface="微软雅黑" panose="020B0503020204020204" pitchFamily="34" charset="-122"/>
              </a:endParaRPr>
            </a:p>
            <a:p>
              <a:pPr algn="ctr"/>
              <a:r>
                <a:rPr lang="zh-CN" altLang="en-US" sz="1400" b="1">
                  <a:solidFill>
                    <a:schemeClr val="accent5">
                      <a:lumMod val="50000"/>
                    </a:schemeClr>
                  </a:solidFill>
                  <a:latin typeface="微软雅黑" panose="020B0503020204020204" pitchFamily="34" charset="-122"/>
                  <a:ea typeface="微软雅黑" panose="020B0503020204020204" pitchFamily="34" charset="-122"/>
                </a:rPr>
                <a:t>文本</a:t>
              </a:r>
            </a:p>
          </p:txBody>
        </p:sp>
        <p:cxnSp>
          <p:nvCxnSpPr>
            <p:cNvPr id="33" name="直接箭头连接符 32">
              <a:extLst>
                <a:ext uri="{FF2B5EF4-FFF2-40B4-BE49-F238E27FC236}">
                  <a16:creationId xmlns:a16="http://schemas.microsoft.com/office/drawing/2014/main" id="{4AA8E3DC-A741-47FF-A6A9-8EED1F68E768}"/>
                </a:ext>
              </a:extLst>
            </p:cNvPr>
            <p:cNvCxnSpPr>
              <a:cxnSpLocks/>
              <a:stCxn id="163" idx="3"/>
              <a:endCxn id="127" idx="1"/>
            </p:cNvCxnSpPr>
            <p:nvPr/>
          </p:nvCxnSpPr>
          <p:spPr>
            <a:xfrm flipV="1">
              <a:off x="4547372" y="4334205"/>
              <a:ext cx="470695" cy="100339"/>
            </a:xfrm>
            <a:prstGeom prst="straightConnector1">
              <a:avLst/>
            </a:prstGeom>
            <a:ln w="12700">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grpSp>
          <p:nvGrpSpPr>
            <p:cNvPr id="37" name="组合 36">
              <a:extLst>
                <a:ext uri="{FF2B5EF4-FFF2-40B4-BE49-F238E27FC236}">
                  <a16:creationId xmlns:a16="http://schemas.microsoft.com/office/drawing/2014/main" id="{945F0DDB-3A78-4204-9347-306A77795874}"/>
                </a:ext>
              </a:extLst>
            </p:cNvPr>
            <p:cNvGrpSpPr/>
            <p:nvPr/>
          </p:nvGrpSpPr>
          <p:grpSpPr>
            <a:xfrm>
              <a:off x="3921870" y="4027593"/>
              <a:ext cx="373083" cy="692778"/>
              <a:chOff x="2084070" y="3074670"/>
              <a:chExt cx="373083" cy="692778"/>
            </a:xfrm>
          </p:grpSpPr>
          <p:sp>
            <p:nvSpPr>
              <p:cNvPr id="35" name="矩形 34">
                <a:extLst>
                  <a:ext uri="{FF2B5EF4-FFF2-40B4-BE49-F238E27FC236}">
                    <a16:creationId xmlns:a16="http://schemas.microsoft.com/office/drawing/2014/main" id="{35A5E904-F411-496E-9550-248089107C71}"/>
                  </a:ext>
                </a:extLst>
              </p:cNvPr>
              <p:cNvSpPr/>
              <p:nvPr/>
            </p:nvSpPr>
            <p:spPr>
              <a:xfrm>
                <a:off x="2084070" y="3074670"/>
                <a:ext cx="168726" cy="168726"/>
              </a:xfrm>
              <a:prstGeom prst="rect">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3" name="矩形 152">
                <a:extLst>
                  <a:ext uri="{FF2B5EF4-FFF2-40B4-BE49-F238E27FC236}">
                    <a16:creationId xmlns:a16="http://schemas.microsoft.com/office/drawing/2014/main" id="{B187DD6D-8EDB-4F00-A806-5A0C4A77341D}"/>
                  </a:ext>
                </a:extLst>
              </p:cNvPr>
              <p:cNvSpPr/>
              <p:nvPr/>
            </p:nvSpPr>
            <p:spPr>
              <a:xfrm>
                <a:off x="2125381" y="3150870"/>
                <a:ext cx="168726" cy="168726"/>
              </a:xfrm>
              <a:prstGeom prst="rect">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4" name="矩形 153">
                <a:extLst>
                  <a:ext uri="{FF2B5EF4-FFF2-40B4-BE49-F238E27FC236}">
                    <a16:creationId xmlns:a16="http://schemas.microsoft.com/office/drawing/2014/main" id="{9B5A9BA6-0AD5-4909-8880-BA5E4E470288}"/>
                  </a:ext>
                </a:extLst>
              </p:cNvPr>
              <p:cNvSpPr/>
              <p:nvPr/>
            </p:nvSpPr>
            <p:spPr>
              <a:xfrm>
                <a:off x="2162954" y="3235233"/>
                <a:ext cx="168726" cy="168726"/>
              </a:xfrm>
              <a:prstGeom prst="rect">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5" name="矩形 154">
                <a:extLst>
                  <a:ext uri="{FF2B5EF4-FFF2-40B4-BE49-F238E27FC236}">
                    <a16:creationId xmlns:a16="http://schemas.microsoft.com/office/drawing/2014/main" id="{1B3A8BF1-554F-443A-BFF9-B5DCD96AA64C}"/>
                  </a:ext>
                </a:extLst>
              </p:cNvPr>
              <p:cNvSpPr/>
              <p:nvPr/>
            </p:nvSpPr>
            <p:spPr>
              <a:xfrm>
                <a:off x="2209744" y="3308607"/>
                <a:ext cx="168726" cy="168726"/>
              </a:xfrm>
              <a:prstGeom prst="rect">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6" name="矩形 155">
                <a:extLst>
                  <a:ext uri="{FF2B5EF4-FFF2-40B4-BE49-F238E27FC236}">
                    <a16:creationId xmlns:a16="http://schemas.microsoft.com/office/drawing/2014/main" id="{1F358FEF-9682-4CDC-B023-F6DBEC4C39BF}"/>
                  </a:ext>
                </a:extLst>
              </p:cNvPr>
              <p:cNvSpPr/>
              <p:nvPr/>
            </p:nvSpPr>
            <p:spPr>
              <a:xfrm>
                <a:off x="2212897" y="3598722"/>
                <a:ext cx="168726" cy="168726"/>
              </a:xfrm>
              <a:prstGeom prst="rect">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6" name="文本框 35">
                <a:extLst>
                  <a:ext uri="{FF2B5EF4-FFF2-40B4-BE49-F238E27FC236}">
                    <a16:creationId xmlns:a16="http://schemas.microsoft.com/office/drawing/2014/main" id="{B7593827-B81B-4846-B206-59A80C873AB1}"/>
                  </a:ext>
                </a:extLst>
              </p:cNvPr>
              <p:cNvSpPr txBox="1"/>
              <p:nvPr/>
            </p:nvSpPr>
            <p:spPr>
              <a:xfrm>
                <a:off x="2131423" y="3346528"/>
                <a:ext cx="325730" cy="261610"/>
              </a:xfrm>
              <a:prstGeom prst="rect">
                <a:avLst/>
              </a:prstGeom>
              <a:noFill/>
              <a:ln>
                <a:noFill/>
              </a:ln>
            </p:spPr>
            <p:txBody>
              <a:bodyPr wrap="none" rtlCol="0">
                <a:spAutoFit/>
              </a:bodyPr>
              <a:lstStyle/>
              <a:p>
                <a:r>
                  <a:rPr lang="en-US" altLang="zh-CN" sz="1100">
                    <a:solidFill>
                      <a:schemeClr val="accent6">
                        <a:lumMod val="50000"/>
                      </a:schemeClr>
                    </a:solidFill>
                    <a:latin typeface="Times New Roman" panose="02020603050405020304" pitchFamily="18" charset="0"/>
                    <a:cs typeface="Times New Roman" panose="02020603050405020304" pitchFamily="18" charset="0"/>
                  </a:rPr>
                  <a:t>…</a:t>
                </a:r>
                <a:endParaRPr lang="zh-CN" altLang="en-US" sz="1100">
                  <a:solidFill>
                    <a:schemeClr val="accent6">
                      <a:lumMod val="50000"/>
                    </a:schemeClr>
                  </a:solidFill>
                  <a:latin typeface="Times New Roman" panose="02020603050405020304" pitchFamily="18" charset="0"/>
                  <a:cs typeface="Times New Roman" panose="02020603050405020304" pitchFamily="18" charset="0"/>
                </a:endParaRPr>
              </a:p>
            </p:txBody>
          </p:sp>
        </p:grpSp>
        <p:grpSp>
          <p:nvGrpSpPr>
            <p:cNvPr id="157" name="组合 156">
              <a:extLst>
                <a:ext uri="{FF2B5EF4-FFF2-40B4-BE49-F238E27FC236}">
                  <a16:creationId xmlns:a16="http://schemas.microsoft.com/office/drawing/2014/main" id="{413C4C2B-C7A8-411E-A331-840B67491E01}"/>
                </a:ext>
              </a:extLst>
            </p:cNvPr>
            <p:cNvGrpSpPr/>
            <p:nvPr/>
          </p:nvGrpSpPr>
          <p:grpSpPr>
            <a:xfrm>
              <a:off x="4174289" y="4031881"/>
              <a:ext cx="373083" cy="692778"/>
              <a:chOff x="2084070" y="3074670"/>
              <a:chExt cx="373083" cy="692778"/>
            </a:xfrm>
          </p:grpSpPr>
          <p:sp>
            <p:nvSpPr>
              <p:cNvPr id="158" name="矩形 157">
                <a:extLst>
                  <a:ext uri="{FF2B5EF4-FFF2-40B4-BE49-F238E27FC236}">
                    <a16:creationId xmlns:a16="http://schemas.microsoft.com/office/drawing/2014/main" id="{E049E770-0238-4723-A67B-C4E60A9F87A4}"/>
                  </a:ext>
                </a:extLst>
              </p:cNvPr>
              <p:cNvSpPr/>
              <p:nvPr/>
            </p:nvSpPr>
            <p:spPr>
              <a:xfrm>
                <a:off x="2084070" y="3074670"/>
                <a:ext cx="168726" cy="168726"/>
              </a:xfrm>
              <a:prstGeom prst="rect">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9" name="矩形 158">
                <a:extLst>
                  <a:ext uri="{FF2B5EF4-FFF2-40B4-BE49-F238E27FC236}">
                    <a16:creationId xmlns:a16="http://schemas.microsoft.com/office/drawing/2014/main" id="{9E224728-6CC3-4169-9C3A-2072BD8A8C54}"/>
                  </a:ext>
                </a:extLst>
              </p:cNvPr>
              <p:cNvSpPr/>
              <p:nvPr/>
            </p:nvSpPr>
            <p:spPr>
              <a:xfrm>
                <a:off x="2125381" y="3150870"/>
                <a:ext cx="168726" cy="168726"/>
              </a:xfrm>
              <a:prstGeom prst="rect">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0" name="矩形 159">
                <a:extLst>
                  <a:ext uri="{FF2B5EF4-FFF2-40B4-BE49-F238E27FC236}">
                    <a16:creationId xmlns:a16="http://schemas.microsoft.com/office/drawing/2014/main" id="{B3D0E5AA-99BE-448B-A47A-CD3AECE87B4F}"/>
                  </a:ext>
                </a:extLst>
              </p:cNvPr>
              <p:cNvSpPr/>
              <p:nvPr/>
            </p:nvSpPr>
            <p:spPr>
              <a:xfrm>
                <a:off x="2162954" y="3235233"/>
                <a:ext cx="168726" cy="168726"/>
              </a:xfrm>
              <a:prstGeom prst="rect">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1" name="矩形 160">
                <a:extLst>
                  <a:ext uri="{FF2B5EF4-FFF2-40B4-BE49-F238E27FC236}">
                    <a16:creationId xmlns:a16="http://schemas.microsoft.com/office/drawing/2014/main" id="{F803AE21-7696-4C5A-9DE2-E965717DBB71}"/>
                  </a:ext>
                </a:extLst>
              </p:cNvPr>
              <p:cNvSpPr/>
              <p:nvPr/>
            </p:nvSpPr>
            <p:spPr>
              <a:xfrm>
                <a:off x="2209744" y="3308607"/>
                <a:ext cx="168726" cy="168726"/>
              </a:xfrm>
              <a:prstGeom prst="rect">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2" name="矩形 161">
                <a:extLst>
                  <a:ext uri="{FF2B5EF4-FFF2-40B4-BE49-F238E27FC236}">
                    <a16:creationId xmlns:a16="http://schemas.microsoft.com/office/drawing/2014/main" id="{5643D95B-665C-4C6E-A0BD-5989E3E128A5}"/>
                  </a:ext>
                </a:extLst>
              </p:cNvPr>
              <p:cNvSpPr/>
              <p:nvPr/>
            </p:nvSpPr>
            <p:spPr>
              <a:xfrm>
                <a:off x="2212897" y="3598722"/>
                <a:ext cx="168726" cy="168726"/>
              </a:xfrm>
              <a:prstGeom prst="rect">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3" name="文本框 162">
                <a:extLst>
                  <a:ext uri="{FF2B5EF4-FFF2-40B4-BE49-F238E27FC236}">
                    <a16:creationId xmlns:a16="http://schemas.microsoft.com/office/drawing/2014/main" id="{FD61CE28-7F14-40C3-8AF5-F2D02D7062C4}"/>
                  </a:ext>
                </a:extLst>
              </p:cNvPr>
              <p:cNvSpPr txBox="1"/>
              <p:nvPr/>
            </p:nvSpPr>
            <p:spPr>
              <a:xfrm>
                <a:off x="2131423" y="3346528"/>
                <a:ext cx="325730" cy="261610"/>
              </a:xfrm>
              <a:prstGeom prst="rect">
                <a:avLst/>
              </a:prstGeom>
              <a:noFill/>
              <a:ln>
                <a:noFill/>
              </a:ln>
            </p:spPr>
            <p:txBody>
              <a:bodyPr wrap="none" rtlCol="0">
                <a:spAutoFit/>
              </a:bodyPr>
              <a:lstStyle/>
              <a:p>
                <a:r>
                  <a:rPr lang="en-US" altLang="zh-CN" sz="1100">
                    <a:solidFill>
                      <a:schemeClr val="accent6">
                        <a:lumMod val="50000"/>
                      </a:schemeClr>
                    </a:solidFill>
                    <a:latin typeface="Times New Roman" panose="02020603050405020304" pitchFamily="18" charset="0"/>
                    <a:cs typeface="Times New Roman" panose="02020603050405020304" pitchFamily="18" charset="0"/>
                  </a:rPr>
                  <a:t>…</a:t>
                </a:r>
                <a:endParaRPr lang="zh-CN" altLang="en-US" sz="1100">
                  <a:solidFill>
                    <a:schemeClr val="accent6">
                      <a:lumMod val="50000"/>
                    </a:schemeClr>
                  </a:solidFill>
                  <a:latin typeface="Times New Roman" panose="02020603050405020304" pitchFamily="18" charset="0"/>
                  <a:cs typeface="Times New Roman" panose="02020603050405020304" pitchFamily="18" charset="0"/>
                </a:endParaRPr>
              </a:p>
            </p:txBody>
          </p:sp>
        </p:grpSp>
        <p:sp>
          <p:nvSpPr>
            <p:cNvPr id="173" name="文本框 172">
              <a:extLst>
                <a:ext uri="{FF2B5EF4-FFF2-40B4-BE49-F238E27FC236}">
                  <a16:creationId xmlns:a16="http://schemas.microsoft.com/office/drawing/2014/main" id="{55014C86-FC4B-4B3E-9B16-1BE5473CB1E0}"/>
                </a:ext>
              </a:extLst>
            </p:cNvPr>
            <p:cNvSpPr txBox="1"/>
            <p:nvPr/>
          </p:nvSpPr>
          <p:spPr>
            <a:xfrm>
              <a:off x="4727984" y="3562432"/>
              <a:ext cx="1320940" cy="307777"/>
            </a:xfrm>
            <a:prstGeom prst="rect">
              <a:avLst/>
            </a:prstGeom>
            <a:noFill/>
          </p:spPr>
          <p:txBody>
            <a:bodyPr wrap="square" rtlCol="0">
              <a:spAutoFit/>
            </a:bodyPr>
            <a:lstStyle/>
            <a:p>
              <a:pPr algn="ctr"/>
              <a:r>
                <a:rPr lang="zh-CN" altLang="en-US" sz="1400" b="1">
                  <a:solidFill>
                    <a:schemeClr val="accent5">
                      <a:lumMod val="50000"/>
                    </a:schemeClr>
                  </a:solidFill>
                  <a:latin typeface="微软雅黑" panose="020B0503020204020204" pitchFamily="34" charset="-122"/>
                  <a:ea typeface="微软雅黑" panose="020B0503020204020204" pitchFamily="34" charset="-122"/>
                </a:rPr>
                <a:t>典型设计模板</a:t>
              </a:r>
            </a:p>
          </p:txBody>
        </p:sp>
        <p:cxnSp>
          <p:nvCxnSpPr>
            <p:cNvPr id="174" name="直接箭头连接符 173">
              <a:extLst>
                <a:ext uri="{FF2B5EF4-FFF2-40B4-BE49-F238E27FC236}">
                  <a16:creationId xmlns:a16="http://schemas.microsoft.com/office/drawing/2014/main" id="{30371824-DD0A-434C-B97A-A8D319A60F99}"/>
                </a:ext>
              </a:extLst>
            </p:cNvPr>
            <p:cNvCxnSpPr>
              <a:cxnSpLocks/>
              <a:endCxn id="47" idx="0"/>
            </p:cNvCxnSpPr>
            <p:nvPr/>
          </p:nvCxnSpPr>
          <p:spPr>
            <a:xfrm>
              <a:off x="5766060" y="3829782"/>
              <a:ext cx="60196" cy="131011"/>
            </a:xfrm>
            <a:prstGeom prst="straightConnector1">
              <a:avLst/>
            </a:prstGeom>
            <a:ln w="12700">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sp>
          <p:nvSpPr>
            <p:cNvPr id="47" name="矩形: 圆角 46">
              <a:extLst>
                <a:ext uri="{FF2B5EF4-FFF2-40B4-BE49-F238E27FC236}">
                  <a16:creationId xmlns:a16="http://schemas.microsoft.com/office/drawing/2014/main" id="{D5984EB0-EF9C-4AAE-BB4B-B9B6FECF2B0F}"/>
                </a:ext>
              </a:extLst>
            </p:cNvPr>
            <p:cNvSpPr/>
            <p:nvPr/>
          </p:nvSpPr>
          <p:spPr>
            <a:xfrm>
              <a:off x="5367744" y="3960793"/>
              <a:ext cx="917024" cy="590851"/>
            </a:xfrm>
            <a:prstGeom prst="round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53" name="组合 52">
              <a:extLst>
                <a:ext uri="{FF2B5EF4-FFF2-40B4-BE49-F238E27FC236}">
                  <a16:creationId xmlns:a16="http://schemas.microsoft.com/office/drawing/2014/main" id="{F6991B49-7CCB-421A-9A9C-BDAB19A33090}"/>
                </a:ext>
              </a:extLst>
            </p:cNvPr>
            <p:cNvGrpSpPr/>
            <p:nvPr/>
          </p:nvGrpSpPr>
          <p:grpSpPr>
            <a:xfrm>
              <a:off x="7241556" y="3967886"/>
              <a:ext cx="857511" cy="797930"/>
              <a:chOff x="7216865" y="3196924"/>
              <a:chExt cx="857511" cy="797930"/>
            </a:xfrm>
          </p:grpSpPr>
          <p:grpSp>
            <p:nvGrpSpPr>
              <p:cNvPr id="177" name="组合 176">
                <a:extLst>
                  <a:ext uri="{FF2B5EF4-FFF2-40B4-BE49-F238E27FC236}">
                    <a16:creationId xmlns:a16="http://schemas.microsoft.com/office/drawing/2014/main" id="{EA7DC98A-38D5-4F06-9E83-C8B6FA7ADCC9}"/>
                  </a:ext>
                </a:extLst>
              </p:cNvPr>
              <p:cNvGrpSpPr/>
              <p:nvPr/>
            </p:nvGrpSpPr>
            <p:grpSpPr>
              <a:xfrm>
                <a:off x="7216865" y="3199331"/>
                <a:ext cx="373083" cy="692778"/>
                <a:chOff x="2084070" y="3074670"/>
                <a:chExt cx="373083" cy="692778"/>
              </a:xfrm>
            </p:grpSpPr>
            <p:sp>
              <p:nvSpPr>
                <p:cNvPr id="178" name="矩形 177">
                  <a:extLst>
                    <a:ext uri="{FF2B5EF4-FFF2-40B4-BE49-F238E27FC236}">
                      <a16:creationId xmlns:a16="http://schemas.microsoft.com/office/drawing/2014/main" id="{6CEFF6A7-04DE-4FCF-A0F7-45A619727F49}"/>
                    </a:ext>
                  </a:extLst>
                </p:cNvPr>
                <p:cNvSpPr/>
                <p:nvPr/>
              </p:nvSpPr>
              <p:spPr>
                <a:xfrm>
                  <a:off x="2084070" y="3074670"/>
                  <a:ext cx="168726" cy="168726"/>
                </a:xfrm>
                <a:prstGeom prst="rect">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9" name="矩形 178">
                  <a:extLst>
                    <a:ext uri="{FF2B5EF4-FFF2-40B4-BE49-F238E27FC236}">
                      <a16:creationId xmlns:a16="http://schemas.microsoft.com/office/drawing/2014/main" id="{2DCA7C2C-D740-4394-BA57-F4A8BA76E07B}"/>
                    </a:ext>
                  </a:extLst>
                </p:cNvPr>
                <p:cNvSpPr/>
                <p:nvPr/>
              </p:nvSpPr>
              <p:spPr>
                <a:xfrm>
                  <a:off x="2125381" y="3150870"/>
                  <a:ext cx="168726" cy="168726"/>
                </a:xfrm>
                <a:prstGeom prst="rect">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0" name="矩形 179">
                  <a:extLst>
                    <a:ext uri="{FF2B5EF4-FFF2-40B4-BE49-F238E27FC236}">
                      <a16:creationId xmlns:a16="http://schemas.microsoft.com/office/drawing/2014/main" id="{219A336D-8BDD-4387-A40D-999D36A7866B}"/>
                    </a:ext>
                  </a:extLst>
                </p:cNvPr>
                <p:cNvSpPr/>
                <p:nvPr/>
              </p:nvSpPr>
              <p:spPr>
                <a:xfrm>
                  <a:off x="2162954" y="3235233"/>
                  <a:ext cx="168726" cy="168726"/>
                </a:xfrm>
                <a:prstGeom prst="rect">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1" name="矩形 180">
                  <a:extLst>
                    <a:ext uri="{FF2B5EF4-FFF2-40B4-BE49-F238E27FC236}">
                      <a16:creationId xmlns:a16="http://schemas.microsoft.com/office/drawing/2014/main" id="{D7E1CD57-6EED-4064-9104-D90254A6772F}"/>
                    </a:ext>
                  </a:extLst>
                </p:cNvPr>
                <p:cNvSpPr/>
                <p:nvPr/>
              </p:nvSpPr>
              <p:spPr>
                <a:xfrm>
                  <a:off x="2209744" y="3308607"/>
                  <a:ext cx="168726" cy="168726"/>
                </a:xfrm>
                <a:prstGeom prst="rect">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2" name="矩形 181">
                  <a:extLst>
                    <a:ext uri="{FF2B5EF4-FFF2-40B4-BE49-F238E27FC236}">
                      <a16:creationId xmlns:a16="http://schemas.microsoft.com/office/drawing/2014/main" id="{1595ED94-FF8E-4DEB-BEA2-76BD200EA144}"/>
                    </a:ext>
                  </a:extLst>
                </p:cNvPr>
                <p:cNvSpPr/>
                <p:nvPr/>
              </p:nvSpPr>
              <p:spPr>
                <a:xfrm>
                  <a:off x="2212897" y="3598722"/>
                  <a:ext cx="168726" cy="168726"/>
                </a:xfrm>
                <a:prstGeom prst="rect">
                  <a:avLst/>
                </a:prstGeom>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4" name="文本框 203">
                  <a:extLst>
                    <a:ext uri="{FF2B5EF4-FFF2-40B4-BE49-F238E27FC236}">
                      <a16:creationId xmlns:a16="http://schemas.microsoft.com/office/drawing/2014/main" id="{E68CB10D-9794-492F-87A3-CBCDB796B45F}"/>
                    </a:ext>
                  </a:extLst>
                </p:cNvPr>
                <p:cNvSpPr txBox="1"/>
                <p:nvPr/>
              </p:nvSpPr>
              <p:spPr>
                <a:xfrm>
                  <a:off x="2131423" y="3346528"/>
                  <a:ext cx="325730" cy="261610"/>
                </a:xfrm>
                <a:prstGeom prst="rect">
                  <a:avLst/>
                </a:prstGeom>
                <a:noFill/>
                <a:ln>
                  <a:noFill/>
                </a:ln>
              </p:spPr>
              <p:txBody>
                <a:bodyPr wrap="none" rtlCol="0">
                  <a:spAutoFit/>
                </a:bodyPr>
                <a:lstStyle/>
                <a:p>
                  <a:r>
                    <a:rPr lang="en-US" altLang="zh-CN" sz="1100">
                      <a:solidFill>
                        <a:schemeClr val="accent6">
                          <a:lumMod val="50000"/>
                        </a:schemeClr>
                      </a:solidFill>
                      <a:latin typeface="Times New Roman" panose="02020603050405020304" pitchFamily="18" charset="0"/>
                      <a:cs typeface="Times New Roman" panose="02020603050405020304" pitchFamily="18" charset="0"/>
                    </a:rPr>
                    <a:t>…</a:t>
                  </a:r>
                  <a:endParaRPr lang="zh-CN" altLang="en-US" sz="1100">
                    <a:solidFill>
                      <a:schemeClr val="accent6">
                        <a:lumMod val="50000"/>
                      </a:schemeClr>
                    </a:solidFill>
                    <a:latin typeface="Times New Roman" panose="02020603050405020304" pitchFamily="18" charset="0"/>
                    <a:cs typeface="Times New Roman" panose="02020603050405020304" pitchFamily="18" charset="0"/>
                  </a:endParaRPr>
                </a:p>
              </p:txBody>
            </p:sp>
          </p:grpSp>
          <p:grpSp>
            <p:nvGrpSpPr>
              <p:cNvPr id="51" name="组合 50">
                <a:extLst>
                  <a:ext uri="{FF2B5EF4-FFF2-40B4-BE49-F238E27FC236}">
                    <a16:creationId xmlns:a16="http://schemas.microsoft.com/office/drawing/2014/main" id="{1163C4A6-FF59-40CE-AEC6-38D00C892615}"/>
                  </a:ext>
                </a:extLst>
              </p:cNvPr>
              <p:cNvGrpSpPr/>
              <p:nvPr/>
            </p:nvGrpSpPr>
            <p:grpSpPr>
              <a:xfrm>
                <a:off x="7700424" y="3196924"/>
                <a:ext cx="373952" cy="797930"/>
                <a:chOff x="7885862" y="3203473"/>
                <a:chExt cx="373952" cy="797930"/>
              </a:xfrm>
            </p:grpSpPr>
            <p:sp>
              <p:nvSpPr>
                <p:cNvPr id="206" name="矩形 205">
                  <a:extLst>
                    <a:ext uri="{FF2B5EF4-FFF2-40B4-BE49-F238E27FC236}">
                      <a16:creationId xmlns:a16="http://schemas.microsoft.com/office/drawing/2014/main" id="{4CAE10C7-08D9-419C-AFEC-187BAE8A930B}"/>
                    </a:ext>
                  </a:extLst>
                </p:cNvPr>
                <p:cNvSpPr/>
                <p:nvPr/>
              </p:nvSpPr>
              <p:spPr>
                <a:xfrm>
                  <a:off x="7900775" y="3203473"/>
                  <a:ext cx="168726" cy="168726"/>
                </a:xfrm>
                <a:prstGeom prst="rect">
                  <a:avLst/>
                </a:prstGeom>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2" name="矩形 211">
                  <a:extLst>
                    <a:ext uri="{FF2B5EF4-FFF2-40B4-BE49-F238E27FC236}">
                      <a16:creationId xmlns:a16="http://schemas.microsoft.com/office/drawing/2014/main" id="{AC1DB01A-12E5-4F93-8A16-93CE1611FCBA}"/>
                    </a:ext>
                  </a:extLst>
                </p:cNvPr>
                <p:cNvSpPr/>
                <p:nvPr/>
              </p:nvSpPr>
              <p:spPr>
                <a:xfrm>
                  <a:off x="7994246" y="3289409"/>
                  <a:ext cx="168726" cy="168726"/>
                </a:xfrm>
                <a:prstGeom prst="rect">
                  <a:avLst/>
                </a:prstGeom>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3" name="矩形 212">
                  <a:extLst>
                    <a:ext uri="{FF2B5EF4-FFF2-40B4-BE49-F238E27FC236}">
                      <a16:creationId xmlns:a16="http://schemas.microsoft.com/office/drawing/2014/main" id="{AC49D21D-BCC5-4A85-9765-E14514AC1379}"/>
                    </a:ext>
                  </a:extLst>
                </p:cNvPr>
                <p:cNvSpPr/>
                <p:nvPr/>
              </p:nvSpPr>
              <p:spPr>
                <a:xfrm>
                  <a:off x="8091088" y="3376994"/>
                  <a:ext cx="168726" cy="168726"/>
                </a:xfrm>
                <a:prstGeom prst="rect">
                  <a:avLst/>
                </a:prstGeom>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7" name="矩形 216">
                  <a:extLst>
                    <a:ext uri="{FF2B5EF4-FFF2-40B4-BE49-F238E27FC236}">
                      <a16:creationId xmlns:a16="http://schemas.microsoft.com/office/drawing/2014/main" id="{3E7A1706-2E62-4EB1-82AC-6471B8A1DDA5}"/>
                    </a:ext>
                  </a:extLst>
                </p:cNvPr>
                <p:cNvSpPr/>
                <p:nvPr/>
              </p:nvSpPr>
              <p:spPr>
                <a:xfrm>
                  <a:off x="7888727" y="3422334"/>
                  <a:ext cx="168726" cy="168726"/>
                </a:xfrm>
                <a:prstGeom prst="rect">
                  <a:avLst/>
                </a:prstGeom>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8" name="矩形 217">
                  <a:extLst>
                    <a:ext uri="{FF2B5EF4-FFF2-40B4-BE49-F238E27FC236}">
                      <a16:creationId xmlns:a16="http://schemas.microsoft.com/office/drawing/2014/main" id="{9241972E-72B7-4869-8BB7-C42C09B107DB}"/>
                    </a:ext>
                  </a:extLst>
                </p:cNvPr>
                <p:cNvSpPr/>
                <p:nvPr/>
              </p:nvSpPr>
              <p:spPr>
                <a:xfrm>
                  <a:off x="7982198" y="3508270"/>
                  <a:ext cx="168726" cy="168726"/>
                </a:xfrm>
                <a:prstGeom prst="rect">
                  <a:avLst/>
                </a:prstGeom>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9" name="矩形 218">
                  <a:extLst>
                    <a:ext uri="{FF2B5EF4-FFF2-40B4-BE49-F238E27FC236}">
                      <a16:creationId xmlns:a16="http://schemas.microsoft.com/office/drawing/2014/main" id="{D512D492-DA35-4D80-BAF6-A50F1DB39E83}"/>
                    </a:ext>
                  </a:extLst>
                </p:cNvPr>
                <p:cNvSpPr/>
                <p:nvPr/>
              </p:nvSpPr>
              <p:spPr>
                <a:xfrm>
                  <a:off x="8079040" y="3595855"/>
                  <a:ext cx="168726" cy="168726"/>
                </a:xfrm>
                <a:prstGeom prst="rect">
                  <a:avLst/>
                </a:prstGeom>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0" name="矩形 219">
                  <a:extLst>
                    <a:ext uri="{FF2B5EF4-FFF2-40B4-BE49-F238E27FC236}">
                      <a16:creationId xmlns:a16="http://schemas.microsoft.com/office/drawing/2014/main" id="{CB0A9D0E-9A5F-4AE5-BB5C-1E85928F9CB0}"/>
                    </a:ext>
                  </a:extLst>
                </p:cNvPr>
                <p:cNvSpPr/>
                <p:nvPr/>
              </p:nvSpPr>
              <p:spPr>
                <a:xfrm>
                  <a:off x="7885862" y="3659156"/>
                  <a:ext cx="168726" cy="168726"/>
                </a:xfrm>
                <a:prstGeom prst="rect">
                  <a:avLst/>
                </a:prstGeom>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1" name="矩形 220">
                  <a:extLst>
                    <a:ext uri="{FF2B5EF4-FFF2-40B4-BE49-F238E27FC236}">
                      <a16:creationId xmlns:a16="http://schemas.microsoft.com/office/drawing/2014/main" id="{8FFBDD67-D4D4-4435-819C-55C65B24F6D3}"/>
                    </a:ext>
                  </a:extLst>
                </p:cNvPr>
                <p:cNvSpPr/>
                <p:nvPr/>
              </p:nvSpPr>
              <p:spPr>
                <a:xfrm>
                  <a:off x="7979333" y="3745092"/>
                  <a:ext cx="168726" cy="168726"/>
                </a:xfrm>
                <a:prstGeom prst="rect">
                  <a:avLst/>
                </a:prstGeom>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2" name="矩形 221">
                  <a:extLst>
                    <a:ext uri="{FF2B5EF4-FFF2-40B4-BE49-F238E27FC236}">
                      <a16:creationId xmlns:a16="http://schemas.microsoft.com/office/drawing/2014/main" id="{88C33C2F-F770-4F2E-9645-679207D86104}"/>
                    </a:ext>
                  </a:extLst>
                </p:cNvPr>
                <p:cNvSpPr/>
                <p:nvPr/>
              </p:nvSpPr>
              <p:spPr>
                <a:xfrm>
                  <a:off x="8076175" y="3832677"/>
                  <a:ext cx="168726" cy="168726"/>
                </a:xfrm>
                <a:prstGeom prst="rect">
                  <a:avLst/>
                </a:prstGeom>
                <a:ln>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52" name="箭头: 右 51">
                <a:extLst>
                  <a:ext uri="{FF2B5EF4-FFF2-40B4-BE49-F238E27FC236}">
                    <a16:creationId xmlns:a16="http://schemas.microsoft.com/office/drawing/2014/main" id="{176B5B19-1B84-4EF6-9ECE-B48AA7B4DE21}"/>
                  </a:ext>
                </a:extLst>
              </p:cNvPr>
              <p:cNvSpPr/>
              <p:nvPr/>
            </p:nvSpPr>
            <p:spPr>
              <a:xfrm>
                <a:off x="7556675" y="3415785"/>
                <a:ext cx="120118" cy="66800"/>
              </a:xfrm>
              <a:prstGeom prst="rightArrow">
                <a:avLst/>
              </a:prstGeom>
              <a:ln/>
            </p:spPr>
            <p:style>
              <a:lnRef idx="1">
                <a:schemeClr val="accent1"/>
              </a:lnRef>
              <a:fillRef idx="3">
                <a:schemeClr val="accent1"/>
              </a:fillRef>
              <a:effectRef idx="2">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223" name="箭头: 右 222">
                <a:extLst>
                  <a:ext uri="{FF2B5EF4-FFF2-40B4-BE49-F238E27FC236}">
                    <a16:creationId xmlns:a16="http://schemas.microsoft.com/office/drawing/2014/main" id="{5253362C-2C4C-4B6F-8BC7-D4457AC73CAF}"/>
                  </a:ext>
                </a:extLst>
              </p:cNvPr>
              <p:cNvSpPr/>
              <p:nvPr/>
            </p:nvSpPr>
            <p:spPr>
              <a:xfrm>
                <a:off x="7555085" y="3256671"/>
                <a:ext cx="120118" cy="66800"/>
              </a:xfrm>
              <a:prstGeom prst="rightArrow">
                <a:avLst/>
              </a:prstGeom>
              <a:ln/>
            </p:spPr>
            <p:style>
              <a:lnRef idx="1">
                <a:schemeClr val="accent1"/>
              </a:lnRef>
              <a:fillRef idx="3">
                <a:schemeClr val="accent1"/>
              </a:fillRef>
              <a:effectRef idx="2">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224" name="箭头: 右 223">
                <a:extLst>
                  <a:ext uri="{FF2B5EF4-FFF2-40B4-BE49-F238E27FC236}">
                    <a16:creationId xmlns:a16="http://schemas.microsoft.com/office/drawing/2014/main" id="{8905E4C4-4B0F-4299-85EC-7EE32633082C}"/>
                  </a:ext>
                </a:extLst>
              </p:cNvPr>
              <p:cNvSpPr/>
              <p:nvPr/>
            </p:nvSpPr>
            <p:spPr>
              <a:xfrm>
                <a:off x="7555085" y="3578864"/>
                <a:ext cx="120118" cy="66800"/>
              </a:xfrm>
              <a:prstGeom prst="rightArrow">
                <a:avLst/>
              </a:prstGeom>
              <a:ln/>
            </p:spPr>
            <p:style>
              <a:lnRef idx="1">
                <a:schemeClr val="accent1"/>
              </a:lnRef>
              <a:fillRef idx="3">
                <a:schemeClr val="accent1"/>
              </a:fillRef>
              <a:effectRef idx="2">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225" name="箭头: 右 224">
                <a:extLst>
                  <a:ext uri="{FF2B5EF4-FFF2-40B4-BE49-F238E27FC236}">
                    <a16:creationId xmlns:a16="http://schemas.microsoft.com/office/drawing/2014/main" id="{99022E21-4809-4ECC-988C-1B7AACC0E155}"/>
                  </a:ext>
                </a:extLst>
              </p:cNvPr>
              <p:cNvSpPr/>
              <p:nvPr/>
            </p:nvSpPr>
            <p:spPr>
              <a:xfrm>
                <a:off x="7557215" y="3730143"/>
                <a:ext cx="120118" cy="66800"/>
              </a:xfrm>
              <a:prstGeom prst="rightArrow">
                <a:avLst/>
              </a:prstGeom>
              <a:ln/>
            </p:spPr>
            <p:style>
              <a:lnRef idx="1">
                <a:schemeClr val="accent1"/>
              </a:lnRef>
              <a:fillRef idx="3">
                <a:schemeClr val="accent1"/>
              </a:fillRef>
              <a:effectRef idx="2">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226" name="文本框 225">
              <a:extLst>
                <a:ext uri="{FF2B5EF4-FFF2-40B4-BE49-F238E27FC236}">
                  <a16:creationId xmlns:a16="http://schemas.microsoft.com/office/drawing/2014/main" id="{5527E3FA-9B82-4B6D-9448-CC6BFFBDB995}"/>
                </a:ext>
              </a:extLst>
            </p:cNvPr>
            <p:cNvSpPr txBox="1"/>
            <p:nvPr/>
          </p:nvSpPr>
          <p:spPr>
            <a:xfrm>
              <a:off x="8052625" y="4027152"/>
              <a:ext cx="614655" cy="738664"/>
            </a:xfrm>
            <a:prstGeom prst="rect">
              <a:avLst/>
            </a:prstGeom>
            <a:noFill/>
          </p:spPr>
          <p:txBody>
            <a:bodyPr wrap="square" rtlCol="0">
              <a:spAutoFit/>
            </a:bodyPr>
            <a:lstStyle/>
            <a:p>
              <a:pPr algn="ctr"/>
              <a:r>
                <a:rPr lang="zh-CN" altLang="en-US" sz="1400" b="1">
                  <a:solidFill>
                    <a:schemeClr val="accent5">
                      <a:lumMod val="50000"/>
                    </a:schemeClr>
                  </a:solidFill>
                  <a:latin typeface="微软雅黑" panose="020B0503020204020204" pitchFamily="34" charset="-122"/>
                  <a:ea typeface="微软雅黑" panose="020B0503020204020204" pitchFamily="34" charset="-122"/>
                </a:rPr>
                <a:t>数学规则映射</a:t>
              </a:r>
            </a:p>
          </p:txBody>
        </p:sp>
        <p:cxnSp>
          <p:nvCxnSpPr>
            <p:cNvPr id="227" name="直接箭头连接符 226">
              <a:extLst>
                <a:ext uri="{FF2B5EF4-FFF2-40B4-BE49-F238E27FC236}">
                  <a16:creationId xmlns:a16="http://schemas.microsoft.com/office/drawing/2014/main" id="{F533052D-26B6-4FC6-9DC5-6F2F4F2725DF}"/>
                </a:ext>
              </a:extLst>
            </p:cNvPr>
            <p:cNvCxnSpPr>
              <a:cxnSpLocks/>
              <a:endCxn id="150" idx="4"/>
            </p:cNvCxnSpPr>
            <p:nvPr/>
          </p:nvCxnSpPr>
          <p:spPr>
            <a:xfrm flipH="1" flipV="1">
              <a:off x="6965465" y="4423657"/>
              <a:ext cx="372568" cy="114648"/>
            </a:xfrm>
            <a:prstGeom prst="straightConnector1">
              <a:avLst/>
            </a:prstGeom>
            <a:ln w="12700">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sp>
          <p:nvSpPr>
            <p:cNvPr id="55" name="乘号 54">
              <a:extLst>
                <a:ext uri="{FF2B5EF4-FFF2-40B4-BE49-F238E27FC236}">
                  <a16:creationId xmlns:a16="http://schemas.microsoft.com/office/drawing/2014/main" id="{E9949F89-AA45-4FB5-B29A-5E852D78D80C}"/>
                </a:ext>
              </a:extLst>
            </p:cNvPr>
            <p:cNvSpPr/>
            <p:nvPr/>
          </p:nvSpPr>
          <p:spPr>
            <a:xfrm>
              <a:off x="6521441" y="3913871"/>
              <a:ext cx="272548" cy="270081"/>
            </a:xfrm>
            <a:prstGeom prst="mathMultiply">
              <a:avLst>
                <a:gd name="adj1" fmla="val 20321"/>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228" name="直接箭头连接符 227">
              <a:extLst>
                <a:ext uri="{FF2B5EF4-FFF2-40B4-BE49-F238E27FC236}">
                  <a16:creationId xmlns:a16="http://schemas.microsoft.com/office/drawing/2014/main" id="{95AF1B37-294A-4393-BA16-DBB48A68AA07}"/>
                </a:ext>
              </a:extLst>
            </p:cNvPr>
            <p:cNvCxnSpPr>
              <a:cxnSpLocks/>
            </p:cNvCxnSpPr>
            <p:nvPr/>
          </p:nvCxnSpPr>
          <p:spPr>
            <a:xfrm flipH="1">
              <a:off x="6776074" y="3829782"/>
              <a:ext cx="97582" cy="131011"/>
            </a:xfrm>
            <a:prstGeom prst="straightConnector1">
              <a:avLst/>
            </a:prstGeom>
            <a:ln w="12700">
              <a:solidFill>
                <a:srgbClr val="FF0000"/>
              </a:solidFill>
              <a:tailEnd type="triangle" w="med" len="med"/>
            </a:ln>
          </p:spPr>
          <p:style>
            <a:lnRef idx="1">
              <a:schemeClr val="accent1"/>
            </a:lnRef>
            <a:fillRef idx="0">
              <a:schemeClr val="accent1"/>
            </a:fillRef>
            <a:effectRef idx="0">
              <a:schemeClr val="accent1"/>
            </a:effectRef>
            <a:fontRef idx="minor">
              <a:schemeClr val="tx1"/>
            </a:fontRef>
          </p:style>
        </p:cxnSp>
        <p:sp>
          <p:nvSpPr>
            <p:cNvPr id="229" name="矩形: 圆角 228">
              <a:extLst>
                <a:ext uri="{FF2B5EF4-FFF2-40B4-BE49-F238E27FC236}">
                  <a16:creationId xmlns:a16="http://schemas.microsoft.com/office/drawing/2014/main" id="{79FF81F7-9C88-4A4D-9505-5F178E8C3018}"/>
                </a:ext>
              </a:extLst>
            </p:cNvPr>
            <p:cNvSpPr/>
            <p:nvPr/>
          </p:nvSpPr>
          <p:spPr>
            <a:xfrm>
              <a:off x="6393589" y="3960793"/>
              <a:ext cx="550987" cy="426630"/>
            </a:xfrm>
            <a:prstGeom prst="round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230" name="文本框 229">
              <a:extLst>
                <a:ext uri="{FF2B5EF4-FFF2-40B4-BE49-F238E27FC236}">
                  <a16:creationId xmlns:a16="http://schemas.microsoft.com/office/drawing/2014/main" id="{0B043DAF-4EA5-469E-A80C-9BD9D42335FA}"/>
                </a:ext>
              </a:extLst>
            </p:cNvPr>
            <p:cNvSpPr txBox="1"/>
            <p:nvPr/>
          </p:nvSpPr>
          <p:spPr>
            <a:xfrm>
              <a:off x="6260426" y="3563427"/>
              <a:ext cx="1320940" cy="307777"/>
            </a:xfrm>
            <a:prstGeom prst="rect">
              <a:avLst/>
            </a:prstGeom>
            <a:noFill/>
          </p:spPr>
          <p:txBody>
            <a:bodyPr wrap="square" rtlCol="0">
              <a:spAutoFit/>
            </a:bodyPr>
            <a:lstStyle/>
            <a:p>
              <a:pPr algn="ctr"/>
              <a:r>
                <a:rPr lang="zh-CN" altLang="en-US" sz="1400" b="1">
                  <a:solidFill>
                    <a:schemeClr val="accent5">
                      <a:lumMod val="50000"/>
                    </a:schemeClr>
                  </a:solidFill>
                  <a:latin typeface="微软雅黑" panose="020B0503020204020204" pitchFamily="34" charset="-122"/>
                  <a:ea typeface="微软雅黑" panose="020B0503020204020204" pitchFamily="34" charset="-122"/>
                </a:rPr>
                <a:t>设计节点约束</a:t>
              </a:r>
            </a:p>
          </p:txBody>
        </p:sp>
        <p:sp>
          <p:nvSpPr>
            <p:cNvPr id="231" name="文本框 230">
              <a:extLst>
                <a:ext uri="{FF2B5EF4-FFF2-40B4-BE49-F238E27FC236}">
                  <a16:creationId xmlns:a16="http://schemas.microsoft.com/office/drawing/2014/main" id="{E3B6CA02-AA92-4011-9BE9-DF441E42F394}"/>
                </a:ext>
              </a:extLst>
            </p:cNvPr>
            <p:cNvSpPr txBox="1"/>
            <p:nvPr/>
          </p:nvSpPr>
          <p:spPr>
            <a:xfrm>
              <a:off x="4384326" y="3257201"/>
              <a:ext cx="3565400" cy="338554"/>
            </a:xfrm>
            <a:prstGeom prst="rect">
              <a:avLst/>
            </a:prstGeom>
            <a:noFill/>
          </p:spPr>
          <p:txBody>
            <a:bodyPr wrap="none" rtlCol="0">
              <a:spAutoFit/>
            </a:bodyPr>
            <a:lstStyle/>
            <a:p>
              <a:r>
                <a:rPr lang="zh-CN" altLang="en-US" sz="1600" b="1">
                  <a:gradFill>
                    <a:gsLst>
                      <a:gs pos="0">
                        <a:schemeClr val="accent5">
                          <a:lumMod val="50000"/>
                        </a:schemeClr>
                      </a:gs>
                      <a:gs pos="100000">
                        <a:schemeClr val="accent6">
                          <a:satMod val="120000"/>
                          <a:shade val="78000"/>
                          <a:lumMod val="73000"/>
                        </a:schemeClr>
                      </a:gs>
                    </a:gsLst>
                    <a:lin ang="5400000" scaled="0"/>
                  </a:gradFill>
                  <a:latin typeface="微软雅黑" panose="020B0503020204020204" pitchFamily="34" charset="-122"/>
                  <a:ea typeface="微软雅黑" panose="020B0503020204020204" pitchFamily="34" charset="-122"/>
                </a:rPr>
                <a:t>市场设计知识库（专家库</a:t>
              </a:r>
              <a:r>
                <a:rPr lang="en-US" altLang="zh-CN" sz="1600" b="1">
                  <a:gradFill>
                    <a:gsLst>
                      <a:gs pos="0">
                        <a:schemeClr val="accent5">
                          <a:lumMod val="50000"/>
                        </a:schemeClr>
                      </a:gs>
                      <a:gs pos="100000">
                        <a:schemeClr val="accent6">
                          <a:satMod val="120000"/>
                          <a:shade val="78000"/>
                          <a:lumMod val="73000"/>
                        </a:schemeClr>
                      </a:gs>
                    </a:gsLst>
                    <a:lin ang="5400000" scaled="0"/>
                  </a:gradFill>
                  <a:latin typeface="微软雅黑" panose="020B0503020204020204" pitchFamily="34" charset="-122"/>
                  <a:ea typeface="微软雅黑" panose="020B0503020204020204" pitchFamily="34" charset="-122"/>
                </a:rPr>
                <a:t>/</a:t>
              </a:r>
              <a:r>
                <a:rPr lang="zh-CN" altLang="en-US" sz="1600" b="1">
                  <a:gradFill>
                    <a:gsLst>
                      <a:gs pos="0">
                        <a:schemeClr val="accent5">
                          <a:lumMod val="50000"/>
                        </a:schemeClr>
                      </a:gs>
                      <a:gs pos="100000">
                        <a:schemeClr val="accent6">
                          <a:satMod val="120000"/>
                          <a:shade val="78000"/>
                          <a:lumMod val="73000"/>
                        </a:schemeClr>
                      </a:gs>
                    </a:gsLst>
                    <a:lin ang="5400000" scaled="0"/>
                  </a:gradFill>
                  <a:latin typeface="微软雅黑" panose="020B0503020204020204" pitchFamily="34" charset="-122"/>
                  <a:ea typeface="微软雅黑" panose="020B0503020204020204" pitchFamily="34" charset="-122"/>
                </a:rPr>
                <a:t>知识图谱）</a:t>
              </a:r>
            </a:p>
          </p:txBody>
        </p:sp>
      </p:grpSp>
      <p:grpSp>
        <p:nvGrpSpPr>
          <p:cNvPr id="64" name="组合 63">
            <a:extLst>
              <a:ext uri="{FF2B5EF4-FFF2-40B4-BE49-F238E27FC236}">
                <a16:creationId xmlns:a16="http://schemas.microsoft.com/office/drawing/2014/main" id="{4800561D-FA32-428F-AF0A-E989F9D7DE26}"/>
              </a:ext>
            </a:extLst>
          </p:cNvPr>
          <p:cNvGrpSpPr/>
          <p:nvPr/>
        </p:nvGrpSpPr>
        <p:grpSpPr>
          <a:xfrm>
            <a:off x="3980899" y="1357533"/>
            <a:ext cx="3788232" cy="418900"/>
            <a:chOff x="3872038" y="1358159"/>
            <a:chExt cx="3788232" cy="418900"/>
          </a:xfrm>
        </p:grpSpPr>
        <p:sp>
          <p:nvSpPr>
            <p:cNvPr id="57" name="圆柱形 56">
              <a:extLst>
                <a:ext uri="{FF2B5EF4-FFF2-40B4-BE49-F238E27FC236}">
                  <a16:creationId xmlns:a16="http://schemas.microsoft.com/office/drawing/2014/main" id="{F31BD7E9-5A9E-4161-8BB9-116437340C76}"/>
                </a:ext>
              </a:extLst>
            </p:cNvPr>
            <p:cNvSpPr/>
            <p:nvPr/>
          </p:nvSpPr>
          <p:spPr>
            <a:xfrm>
              <a:off x="3872038" y="1358159"/>
              <a:ext cx="3788232" cy="418900"/>
            </a:xfrm>
            <a:prstGeom prst="can">
              <a:avLst>
                <a:gd name="adj" fmla="val 50000"/>
              </a:avLst>
            </a:prstGeom>
            <a:ln>
              <a:solidFill>
                <a:schemeClr val="bg2">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232" name="文本框 231">
              <a:extLst>
                <a:ext uri="{FF2B5EF4-FFF2-40B4-BE49-F238E27FC236}">
                  <a16:creationId xmlns:a16="http://schemas.microsoft.com/office/drawing/2014/main" id="{90B64904-1DD4-462D-9D83-2435F3A3110F}"/>
                </a:ext>
              </a:extLst>
            </p:cNvPr>
            <p:cNvSpPr txBox="1"/>
            <p:nvPr/>
          </p:nvSpPr>
          <p:spPr>
            <a:xfrm>
              <a:off x="4818083" y="1400791"/>
              <a:ext cx="1826141" cy="338554"/>
            </a:xfrm>
            <a:prstGeom prst="rect">
              <a:avLst/>
            </a:prstGeom>
            <a:noFill/>
          </p:spPr>
          <p:txBody>
            <a:bodyPr wrap="none" rtlCol="0">
              <a:spAutoFit/>
            </a:bodyPr>
            <a:lstStyle/>
            <a:p>
              <a:r>
                <a:rPr lang="zh-CN" altLang="en-US" sz="1600" b="1">
                  <a:solidFill>
                    <a:schemeClr val="tx1">
                      <a:lumMod val="75000"/>
                      <a:lumOff val="25000"/>
                    </a:schemeClr>
                  </a:solidFill>
                  <a:latin typeface="微软雅黑" panose="020B0503020204020204" pitchFamily="34" charset="-122"/>
                  <a:ea typeface="微软雅黑" panose="020B0503020204020204" pitchFamily="34" charset="-122"/>
                </a:rPr>
                <a:t>海量市场知识文本</a:t>
              </a:r>
            </a:p>
          </p:txBody>
        </p:sp>
      </p:grpSp>
      <p:grpSp>
        <p:nvGrpSpPr>
          <p:cNvPr id="63" name="组合 62">
            <a:extLst>
              <a:ext uri="{FF2B5EF4-FFF2-40B4-BE49-F238E27FC236}">
                <a16:creationId xmlns:a16="http://schemas.microsoft.com/office/drawing/2014/main" id="{E37FF6FB-BDA2-48FB-B96D-DB33226A428D}"/>
              </a:ext>
            </a:extLst>
          </p:cNvPr>
          <p:cNvGrpSpPr/>
          <p:nvPr/>
        </p:nvGrpSpPr>
        <p:grpSpPr>
          <a:xfrm>
            <a:off x="642402" y="4055332"/>
            <a:ext cx="1410964" cy="1397239"/>
            <a:chOff x="519436" y="2263264"/>
            <a:chExt cx="1192602" cy="1252905"/>
          </a:xfrm>
        </p:grpSpPr>
        <p:sp>
          <p:nvSpPr>
            <p:cNvPr id="61" name="箭头: 上弧形 60">
              <a:extLst>
                <a:ext uri="{FF2B5EF4-FFF2-40B4-BE49-F238E27FC236}">
                  <a16:creationId xmlns:a16="http://schemas.microsoft.com/office/drawing/2014/main" id="{4682BF7F-67CE-4B25-A39F-2E0313E64375}"/>
                </a:ext>
              </a:extLst>
            </p:cNvPr>
            <p:cNvSpPr/>
            <p:nvPr/>
          </p:nvSpPr>
          <p:spPr>
            <a:xfrm>
              <a:off x="681990" y="2434070"/>
              <a:ext cx="843915" cy="231056"/>
            </a:xfrm>
            <a:prstGeom prst="curvedDownArrow">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pic>
          <p:nvPicPr>
            <p:cNvPr id="16" name="图形 15" descr="用户">
              <a:extLst>
                <a:ext uri="{FF2B5EF4-FFF2-40B4-BE49-F238E27FC236}">
                  <a16:creationId xmlns:a16="http://schemas.microsoft.com/office/drawing/2014/main" id="{632B021C-0FCB-48BF-8823-ED722C72C9B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7145" y="2365238"/>
              <a:ext cx="811541" cy="811541"/>
            </a:xfrm>
            <a:prstGeom prst="rect">
              <a:avLst/>
            </a:prstGeom>
          </p:spPr>
        </p:pic>
        <p:sp>
          <p:nvSpPr>
            <p:cNvPr id="112" name="文本框 111">
              <a:extLst>
                <a:ext uri="{FF2B5EF4-FFF2-40B4-BE49-F238E27FC236}">
                  <a16:creationId xmlns:a16="http://schemas.microsoft.com/office/drawing/2014/main" id="{DE59A0EC-7B50-4102-AD2C-E0B8C1787AF2}"/>
                </a:ext>
              </a:extLst>
            </p:cNvPr>
            <p:cNvSpPr txBox="1"/>
            <p:nvPr/>
          </p:nvSpPr>
          <p:spPr>
            <a:xfrm>
              <a:off x="519436" y="3046997"/>
              <a:ext cx="1192602" cy="469172"/>
            </a:xfrm>
            <a:prstGeom prst="rect">
              <a:avLst/>
            </a:prstGeom>
            <a:noFill/>
          </p:spPr>
          <p:txBody>
            <a:bodyPr wrap="none" rtlCol="0">
              <a:spAutoFit/>
            </a:bodyPr>
            <a:lstStyle/>
            <a:p>
              <a:pPr algn="ctr"/>
              <a:r>
                <a:rPr lang="en-US" altLang="zh-CN" sz="1400" b="1">
                  <a:solidFill>
                    <a:srgbClr val="0C66BB"/>
                  </a:solidFill>
                  <a:latin typeface="微软雅黑" panose="020B0503020204020204" pitchFamily="34" charset="-122"/>
                  <a:ea typeface="微软雅黑" panose="020B0503020204020204" pitchFamily="34" charset="-122"/>
                </a:rPr>
                <a:t>1 Units </a:t>
              </a:r>
              <a:r>
                <a:rPr lang="zh-CN" altLang="en-US" sz="1400" b="1">
                  <a:solidFill>
                    <a:srgbClr val="0C66BB"/>
                  </a:solidFill>
                  <a:latin typeface="微软雅黑" panose="020B0503020204020204" pitchFamily="34" charset="-122"/>
                  <a:ea typeface="微软雅黑" panose="020B0503020204020204" pitchFamily="34" charset="-122"/>
                </a:rPr>
                <a:t>规则化</a:t>
              </a:r>
              <a:endParaRPr lang="en-US" altLang="zh-CN" sz="1400" b="1">
                <a:solidFill>
                  <a:srgbClr val="0C66BB"/>
                </a:solidFill>
                <a:latin typeface="微软雅黑" panose="020B0503020204020204" pitchFamily="34" charset="-122"/>
                <a:ea typeface="微软雅黑" panose="020B0503020204020204" pitchFamily="34" charset="-122"/>
              </a:endParaRPr>
            </a:p>
            <a:p>
              <a:pPr algn="ctr"/>
              <a:r>
                <a:rPr lang="en-US" altLang="zh-CN" sz="1400" b="1">
                  <a:solidFill>
                    <a:srgbClr val="0C66BB"/>
                  </a:solidFill>
                  <a:latin typeface="微软雅黑" panose="020B0503020204020204" pitchFamily="34" charset="-122"/>
                  <a:ea typeface="微软雅黑" panose="020B0503020204020204" pitchFamily="34" charset="-122"/>
                </a:rPr>
                <a:t>LLM-Agent</a:t>
              </a:r>
              <a:endParaRPr lang="zh-CN" altLang="en-US" sz="1400" b="1">
                <a:solidFill>
                  <a:srgbClr val="0C66BB"/>
                </a:solidFill>
                <a:latin typeface="微软雅黑" panose="020B0503020204020204" pitchFamily="34" charset="-122"/>
                <a:ea typeface="微软雅黑" panose="020B0503020204020204" pitchFamily="34" charset="-122"/>
              </a:endParaRPr>
            </a:p>
          </p:txBody>
        </p:sp>
        <p:grpSp>
          <p:nvGrpSpPr>
            <p:cNvPr id="58" name="组合 57">
              <a:extLst>
                <a:ext uri="{FF2B5EF4-FFF2-40B4-BE49-F238E27FC236}">
                  <a16:creationId xmlns:a16="http://schemas.microsoft.com/office/drawing/2014/main" id="{6ABF704C-B528-4B37-9DDC-EB49313F0CBE}"/>
                </a:ext>
              </a:extLst>
            </p:cNvPr>
            <p:cNvGrpSpPr/>
            <p:nvPr/>
          </p:nvGrpSpPr>
          <p:grpSpPr>
            <a:xfrm>
              <a:off x="561950" y="2515121"/>
              <a:ext cx="170607" cy="536925"/>
              <a:chOff x="561950" y="2515121"/>
              <a:chExt cx="170607" cy="536925"/>
            </a:xfrm>
          </p:grpSpPr>
          <p:sp>
            <p:nvSpPr>
              <p:cNvPr id="240" name="矩形 239">
                <a:extLst>
                  <a:ext uri="{FF2B5EF4-FFF2-40B4-BE49-F238E27FC236}">
                    <a16:creationId xmlns:a16="http://schemas.microsoft.com/office/drawing/2014/main" id="{F22BDBDC-C6C2-4373-8EDA-649C0AC308B5}"/>
                  </a:ext>
                </a:extLst>
              </p:cNvPr>
              <p:cNvSpPr/>
              <p:nvPr/>
            </p:nvSpPr>
            <p:spPr>
              <a:xfrm>
                <a:off x="563831" y="2515121"/>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1" name="矩形 240">
                <a:extLst>
                  <a:ext uri="{FF2B5EF4-FFF2-40B4-BE49-F238E27FC236}">
                    <a16:creationId xmlns:a16="http://schemas.microsoft.com/office/drawing/2014/main" id="{B50B13B5-BFA7-407B-803B-C13075A4DA85}"/>
                  </a:ext>
                </a:extLst>
              </p:cNvPr>
              <p:cNvSpPr/>
              <p:nvPr/>
            </p:nvSpPr>
            <p:spPr>
              <a:xfrm>
                <a:off x="563831" y="2604949"/>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2" name="矩形 241">
                <a:extLst>
                  <a:ext uri="{FF2B5EF4-FFF2-40B4-BE49-F238E27FC236}">
                    <a16:creationId xmlns:a16="http://schemas.microsoft.com/office/drawing/2014/main" id="{289EE470-A340-44FB-86F3-AE8E005B1A4B}"/>
                  </a:ext>
                </a:extLst>
              </p:cNvPr>
              <p:cNvSpPr/>
              <p:nvPr/>
            </p:nvSpPr>
            <p:spPr>
              <a:xfrm>
                <a:off x="563831" y="2689312"/>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3" name="矩形 242">
                <a:extLst>
                  <a:ext uri="{FF2B5EF4-FFF2-40B4-BE49-F238E27FC236}">
                    <a16:creationId xmlns:a16="http://schemas.microsoft.com/office/drawing/2014/main" id="{0E1CBF0A-2A21-4FA5-87D6-90EA13F125FD}"/>
                  </a:ext>
                </a:extLst>
              </p:cNvPr>
              <p:cNvSpPr/>
              <p:nvPr/>
            </p:nvSpPr>
            <p:spPr>
              <a:xfrm>
                <a:off x="561950" y="2783791"/>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4" name="矩形 243">
                <a:extLst>
                  <a:ext uri="{FF2B5EF4-FFF2-40B4-BE49-F238E27FC236}">
                    <a16:creationId xmlns:a16="http://schemas.microsoft.com/office/drawing/2014/main" id="{5AD00F88-C1CB-48FC-9C4F-8C5717F28C12}"/>
                  </a:ext>
                </a:extLst>
              </p:cNvPr>
              <p:cNvSpPr/>
              <p:nvPr/>
            </p:nvSpPr>
            <p:spPr>
              <a:xfrm>
                <a:off x="561950" y="2883320"/>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245" name="组合 244">
              <a:extLst>
                <a:ext uri="{FF2B5EF4-FFF2-40B4-BE49-F238E27FC236}">
                  <a16:creationId xmlns:a16="http://schemas.microsoft.com/office/drawing/2014/main" id="{12E01195-1345-4A20-85FA-75359955C7BC}"/>
                </a:ext>
              </a:extLst>
            </p:cNvPr>
            <p:cNvGrpSpPr/>
            <p:nvPr/>
          </p:nvGrpSpPr>
          <p:grpSpPr>
            <a:xfrm>
              <a:off x="1497035" y="2512455"/>
              <a:ext cx="170607" cy="536925"/>
              <a:chOff x="561950" y="2515121"/>
              <a:chExt cx="170607" cy="536925"/>
            </a:xfrm>
          </p:grpSpPr>
          <p:sp>
            <p:nvSpPr>
              <p:cNvPr id="246" name="矩形 245">
                <a:extLst>
                  <a:ext uri="{FF2B5EF4-FFF2-40B4-BE49-F238E27FC236}">
                    <a16:creationId xmlns:a16="http://schemas.microsoft.com/office/drawing/2014/main" id="{E3013955-AEE3-4D56-A452-A8625818E6F4}"/>
                  </a:ext>
                </a:extLst>
              </p:cNvPr>
              <p:cNvSpPr/>
              <p:nvPr/>
            </p:nvSpPr>
            <p:spPr>
              <a:xfrm>
                <a:off x="563831" y="2515121"/>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S</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7" name="矩形 246">
                <a:extLst>
                  <a:ext uri="{FF2B5EF4-FFF2-40B4-BE49-F238E27FC236}">
                    <a16:creationId xmlns:a16="http://schemas.microsoft.com/office/drawing/2014/main" id="{2B7153D5-63B5-4CA0-B794-F0D58BBE1A0F}"/>
                  </a:ext>
                </a:extLst>
              </p:cNvPr>
              <p:cNvSpPr/>
              <p:nvPr/>
            </p:nvSpPr>
            <p:spPr>
              <a:xfrm>
                <a:off x="563831" y="2604949"/>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S</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8" name="矩形 247">
                <a:extLst>
                  <a:ext uri="{FF2B5EF4-FFF2-40B4-BE49-F238E27FC236}">
                    <a16:creationId xmlns:a16="http://schemas.microsoft.com/office/drawing/2014/main" id="{D8DEA515-917C-4CCF-84FB-A9F97FF45437}"/>
                  </a:ext>
                </a:extLst>
              </p:cNvPr>
              <p:cNvSpPr/>
              <p:nvPr/>
            </p:nvSpPr>
            <p:spPr>
              <a:xfrm>
                <a:off x="563831" y="2689312"/>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S</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9" name="矩形 248">
                <a:extLst>
                  <a:ext uri="{FF2B5EF4-FFF2-40B4-BE49-F238E27FC236}">
                    <a16:creationId xmlns:a16="http://schemas.microsoft.com/office/drawing/2014/main" id="{25164853-9AF7-41F0-8021-657561B2D9C3}"/>
                  </a:ext>
                </a:extLst>
              </p:cNvPr>
              <p:cNvSpPr/>
              <p:nvPr/>
            </p:nvSpPr>
            <p:spPr>
              <a:xfrm>
                <a:off x="561950" y="2783791"/>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S</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0" name="矩形 249">
                <a:extLst>
                  <a:ext uri="{FF2B5EF4-FFF2-40B4-BE49-F238E27FC236}">
                    <a16:creationId xmlns:a16="http://schemas.microsoft.com/office/drawing/2014/main" id="{EEE2E6D7-CC65-4E42-835E-F0E2F3EC1F41}"/>
                  </a:ext>
                </a:extLst>
              </p:cNvPr>
              <p:cNvSpPr/>
              <p:nvPr/>
            </p:nvSpPr>
            <p:spPr>
              <a:xfrm>
                <a:off x="561950" y="2883320"/>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S</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51" name="文本框 250">
              <a:extLst>
                <a:ext uri="{FF2B5EF4-FFF2-40B4-BE49-F238E27FC236}">
                  <a16:creationId xmlns:a16="http://schemas.microsoft.com/office/drawing/2014/main" id="{7FECB237-AA03-425A-9ABB-67D6FD497A82}"/>
                </a:ext>
              </a:extLst>
            </p:cNvPr>
            <p:cNvSpPr txBox="1"/>
            <p:nvPr/>
          </p:nvSpPr>
          <p:spPr>
            <a:xfrm>
              <a:off x="683998" y="2263264"/>
              <a:ext cx="946006" cy="227687"/>
            </a:xfrm>
            <a:prstGeom prst="rect">
              <a:avLst/>
            </a:prstGeom>
            <a:noFill/>
          </p:spPr>
          <p:txBody>
            <a:bodyPr wrap="none" rtlCol="0">
              <a:spAutoFit/>
            </a:bodyPr>
            <a:lstStyle/>
            <a:p>
              <a:r>
                <a:rPr lang="en-US" altLang="zh-CN" sz="1050" b="1">
                  <a:solidFill>
                    <a:srgbClr val="C00000"/>
                  </a:solidFill>
                  <a:latin typeface="微软雅黑" panose="020B0503020204020204" pitchFamily="34" charset="-122"/>
                  <a:ea typeface="微软雅黑" panose="020B0503020204020204" pitchFamily="34" charset="-122"/>
                </a:rPr>
                <a:t>T</a:t>
              </a:r>
              <a:r>
                <a:rPr lang="en-US" altLang="zh-CN" sz="1050" b="1">
                  <a:solidFill>
                    <a:srgbClr val="C00000"/>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1050" b="1">
                  <a:solidFill>
                    <a:srgbClr val="C00000"/>
                  </a:solidFill>
                  <a:latin typeface="微软雅黑" panose="020B0503020204020204" pitchFamily="34" charset="-122"/>
                  <a:ea typeface="微软雅黑" panose="020B0503020204020204" pitchFamily="34" charset="-122"/>
                </a:rPr>
                <a:t>Prompt</a:t>
              </a:r>
              <a:r>
                <a:rPr lang="en-US" altLang="zh-CN" sz="1050" b="1">
                  <a:solidFill>
                    <a:srgbClr val="C00000"/>
                  </a:solidFill>
                  <a:latin typeface="微软雅黑" panose="020B0503020204020204" pitchFamily="34" charset="-122"/>
                  <a:ea typeface="微软雅黑" panose="020B0503020204020204" pitchFamily="34" charset="-122"/>
                  <a:sym typeface="Wingdings" panose="05000000000000000000" pitchFamily="2" charset="2"/>
                </a:rPr>
                <a:t>S</a:t>
              </a:r>
              <a:endParaRPr lang="zh-CN" altLang="en-US" sz="1050" b="1">
                <a:solidFill>
                  <a:srgbClr val="C00000"/>
                </a:solidFill>
                <a:latin typeface="微软雅黑" panose="020B0503020204020204" pitchFamily="34" charset="-122"/>
                <a:ea typeface="微软雅黑" panose="020B0503020204020204" pitchFamily="34" charset="-122"/>
              </a:endParaRPr>
            </a:p>
          </p:txBody>
        </p:sp>
      </p:grpSp>
      <p:grpSp>
        <p:nvGrpSpPr>
          <p:cNvPr id="252" name="组合 251">
            <a:extLst>
              <a:ext uri="{FF2B5EF4-FFF2-40B4-BE49-F238E27FC236}">
                <a16:creationId xmlns:a16="http://schemas.microsoft.com/office/drawing/2014/main" id="{DC71062E-969B-4A2F-A517-5A46EFC86E17}"/>
              </a:ext>
            </a:extLst>
          </p:cNvPr>
          <p:cNvGrpSpPr/>
          <p:nvPr/>
        </p:nvGrpSpPr>
        <p:grpSpPr>
          <a:xfrm>
            <a:off x="1089197" y="1493310"/>
            <a:ext cx="1739580" cy="1421857"/>
            <a:chOff x="380559" y="2241189"/>
            <a:chExt cx="1470361" cy="1274979"/>
          </a:xfrm>
        </p:grpSpPr>
        <p:sp>
          <p:nvSpPr>
            <p:cNvPr id="253" name="箭头: 上弧形 252">
              <a:extLst>
                <a:ext uri="{FF2B5EF4-FFF2-40B4-BE49-F238E27FC236}">
                  <a16:creationId xmlns:a16="http://schemas.microsoft.com/office/drawing/2014/main" id="{4DA80D77-41BF-4766-B818-48582974229C}"/>
                </a:ext>
              </a:extLst>
            </p:cNvPr>
            <p:cNvSpPr/>
            <p:nvPr/>
          </p:nvSpPr>
          <p:spPr>
            <a:xfrm>
              <a:off x="681990" y="2434070"/>
              <a:ext cx="843915" cy="231056"/>
            </a:xfrm>
            <a:prstGeom prst="curvedDownArrow">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pic>
          <p:nvPicPr>
            <p:cNvPr id="254" name="图形 253" descr="用户">
              <a:extLst>
                <a:ext uri="{FF2B5EF4-FFF2-40B4-BE49-F238E27FC236}">
                  <a16:creationId xmlns:a16="http://schemas.microsoft.com/office/drawing/2014/main" id="{A891B029-9E3B-4381-8E94-1F59B1365C6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7145" y="2365238"/>
              <a:ext cx="811541" cy="811541"/>
            </a:xfrm>
            <a:prstGeom prst="rect">
              <a:avLst/>
            </a:prstGeom>
          </p:spPr>
        </p:pic>
        <p:sp>
          <p:nvSpPr>
            <p:cNvPr id="255" name="文本框 254">
              <a:extLst>
                <a:ext uri="{FF2B5EF4-FFF2-40B4-BE49-F238E27FC236}">
                  <a16:creationId xmlns:a16="http://schemas.microsoft.com/office/drawing/2014/main" id="{37B12B3B-EB62-4AF7-BD7C-5CFB106F2848}"/>
                </a:ext>
              </a:extLst>
            </p:cNvPr>
            <p:cNvSpPr txBox="1"/>
            <p:nvPr/>
          </p:nvSpPr>
          <p:spPr>
            <a:xfrm>
              <a:off x="380559" y="3046997"/>
              <a:ext cx="1470361" cy="469171"/>
            </a:xfrm>
            <a:prstGeom prst="rect">
              <a:avLst/>
            </a:prstGeom>
            <a:noFill/>
          </p:spPr>
          <p:txBody>
            <a:bodyPr wrap="none" rtlCol="0">
              <a:spAutoFit/>
            </a:bodyPr>
            <a:lstStyle/>
            <a:p>
              <a:pPr algn="ctr"/>
              <a:r>
                <a:rPr lang="en-US" altLang="zh-CN" sz="1400" b="1">
                  <a:solidFill>
                    <a:srgbClr val="0C66BB"/>
                  </a:solidFill>
                  <a:latin typeface="微软雅黑" panose="020B0503020204020204" pitchFamily="34" charset="-122"/>
                  <a:ea typeface="微软雅黑" panose="020B0503020204020204" pitchFamily="34" charset="-122"/>
                </a:rPr>
                <a:t>2 </a:t>
              </a:r>
              <a:r>
                <a:rPr lang="zh-CN" altLang="en-US" sz="1400" b="1">
                  <a:solidFill>
                    <a:srgbClr val="0C66BB"/>
                  </a:solidFill>
                  <a:latin typeface="微软雅黑" panose="020B0503020204020204" pitchFamily="34" charset="-122"/>
                  <a:ea typeface="微软雅黑" panose="020B0503020204020204" pitchFamily="34" charset="-122"/>
                </a:rPr>
                <a:t>市场约束规则化</a:t>
              </a:r>
              <a:r>
                <a:rPr lang="en-US" altLang="zh-CN" sz="1400" b="1">
                  <a:solidFill>
                    <a:srgbClr val="0C66BB"/>
                  </a:solidFill>
                  <a:latin typeface="微软雅黑" panose="020B0503020204020204" pitchFamily="34" charset="-122"/>
                  <a:ea typeface="微软雅黑" panose="020B0503020204020204" pitchFamily="34" charset="-122"/>
                </a:rPr>
                <a:t>A</a:t>
              </a:r>
            </a:p>
            <a:p>
              <a:pPr algn="ctr"/>
              <a:r>
                <a:rPr lang="en-US" altLang="zh-CN" sz="1400" b="1">
                  <a:solidFill>
                    <a:srgbClr val="0C66BB"/>
                  </a:solidFill>
                  <a:latin typeface="微软雅黑" panose="020B0503020204020204" pitchFamily="34" charset="-122"/>
                  <a:ea typeface="微软雅黑" panose="020B0503020204020204" pitchFamily="34" charset="-122"/>
                </a:rPr>
                <a:t>LLM-Agent</a:t>
              </a:r>
              <a:endParaRPr lang="zh-CN" altLang="en-US" sz="1400" b="1">
                <a:solidFill>
                  <a:srgbClr val="0C66BB"/>
                </a:solidFill>
                <a:latin typeface="微软雅黑" panose="020B0503020204020204" pitchFamily="34" charset="-122"/>
                <a:ea typeface="微软雅黑" panose="020B0503020204020204" pitchFamily="34" charset="-122"/>
              </a:endParaRPr>
            </a:p>
          </p:txBody>
        </p:sp>
        <p:grpSp>
          <p:nvGrpSpPr>
            <p:cNvPr id="256" name="组合 255">
              <a:extLst>
                <a:ext uri="{FF2B5EF4-FFF2-40B4-BE49-F238E27FC236}">
                  <a16:creationId xmlns:a16="http://schemas.microsoft.com/office/drawing/2014/main" id="{854F4081-4E8B-4757-B235-6A4C43059080}"/>
                </a:ext>
              </a:extLst>
            </p:cNvPr>
            <p:cNvGrpSpPr/>
            <p:nvPr/>
          </p:nvGrpSpPr>
          <p:grpSpPr>
            <a:xfrm>
              <a:off x="561950" y="2515121"/>
              <a:ext cx="170607" cy="536925"/>
              <a:chOff x="561950" y="2515121"/>
              <a:chExt cx="170607" cy="536925"/>
            </a:xfrm>
          </p:grpSpPr>
          <p:sp>
            <p:nvSpPr>
              <p:cNvPr id="264" name="矩形 263">
                <a:extLst>
                  <a:ext uri="{FF2B5EF4-FFF2-40B4-BE49-F238E27FC236}">
                    <a16:creationId xmlns:a16="http://schemas.microsoft.com/office/drawing/2014/main" id="{322446B3-D00E-4406-B9E6-EC8D4DB04348}"/>
                  </a:ext>
                </a:extLst>
              </p:cNvPr>
              <p:cNvSpPr/>
              <p:nvPr/>
            </p:nvSpPr>
            <p:spPr>
              <a:xfrm>
                <a:off x="563831" y="2515121"/>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5" name="矩形 264">
                <a:extLst>
                  <a:ext uri="{FF2B5EF4-FFF2-40B4-BE49-F238E27FC236}">
                    <a16:creationId xmlns:a16="http://schemas.microsoft.com/office/drawing/2014/main" id="{3F5F05CA-B09A-4310-A52B-5C552348BF32}"/>
                  </a:ext>
                </a:extLst>
              </p:cNvPr>
              <p:cNvSpPr/>
              <p:nvPr/>
            </p:nvSpPr>
            <p:spPr>
              <a:xfrm>
                <a:off x="563831" y="2604949"/>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6" name="矩形 265">
                <a:extLst>
                  <a:ext uri="{FF2B5EF4-FFF2-40B4-BE49-F238E27FC236}">
                    <a16:creationId xmlns:a16="http://schemas.microsoft.com/office/drawing/2014/main" id="{9EBA5C3A-0295-48B6-8346-4018A108D2BF}"/>
                  </a:ext>
                </a:extLst>
              </p:cNvPr>
              <p:cNvSpPr/>
              <p:nvPr/>
            </p:nvSpPr>
            <p:spPr>
              <a:xfrm>
                <a:off x="563831" y="2689312"/>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7" name="矩形 266">
                <a:extLst>
                  <a:ext uri="{FF2B5EF4-FFF2-40B4-BE49-F238E27FC236}">
                    <a16:creationId xmlns:a16="http://schemas.microsoft.com/office/drawing/2014/main" id="{47F8F757-5328-4A97-B26A-26B47062E469}"/>
                  </a:ext>
                </a:extLst>
              </p:cNvPr>
              <p:cNvSpPr/>
              <p:nvPr/>
            </p:nvSpPr>
            <p:spPr>
              <a:xfrm>
                <a:off x="561950" y="2783791"/>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8" name="矩形 267">
                <a:extLst>
                  <a:ext uri="{FF2B5EF4-FFF2-40B4-BE49-F238E27FC236}">
                    <a16:creationId xmlns:a16="http://schemas.microsoft.com/office/drawing/2014/main" id="{648F1B09-D72F-4913-ADA3-7B61B8FF9B85}"/>
                  </a:ext>
                </a:extLst>
              </p:cNvPr>
              <p:cNvSpPr/>
              <p:nvPr/>
            </p:nvSpPr>
            <p:spPr>
              <a:xfrm>
                <a:off x="561950" y="2883320"/>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257" name="组合 256">
              <a:extLst>
                <a:ext uri="{FF2B5EF4-FFF2-40B4-BE49-F238E27FC236}">
                  <a16:creationId xmlns:a16="http://schemas.microsoft.com/office/drawing/2014/main" id="{B2AB8646-39DC-483A-A149-178A2F73ECE5}"/>
                </a:ext>
              </a:extLst>
            </p:cNvPr>
            <p:cNvGrpSpPr/>
            <p:nvPr/>
          </p:nvGrpSpPr>
          <p:grpSpPr>
            <a:xfrm>
              <a:off x="1497035" y="2512455"/>
              <a:ext cx="170607" cy="536925"/>
              <a:chOff x="561950" y="2515121"/>
              <a:chExt cx="170607" cy="536925"/>
            </a:xfrm>
          </p:grpSpPr>
          <p:sp>
            <p:nvSpPr>
              <p:cNvPr id="259" name="矩形 258">
                <a:extLst>
                  <a:ext uri="{FF2B5EF4-FFF2-40B4-BE49-F238E27FC236}">
                    <a16:creationId xmlns:a16="http://schemas.microsoft.com/office/drawing/2014/main" id="{0841A6A7-D7FD-4341-959B-18C0C4B31477}"/>
                  </a:ext>
                </a:extLst>
              </p:cNvPr>
              <p:cNvSpPr/>
              <p:nvPr/>
            </p:nvSpPr>
            <p:spPr>
              <a:xfrm>
                <a:off x="563831" y="2515121"/>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0" name="矩形 259">
                <a:extLst>
                  <a:ext uri="{FF2B5EF4-FFF2-40B4-BE49-F238E27FC236}">
                    <a16:creationId xmlns:a16="http://schemas.microsoft.com/office/drawing/2014/main" id="{A10BFD1D-6DC6-412C-BB31-2C4D18FDFB9C}"/>
                  </a:ext>
                </a:extLst>
              </p:cNvPr>
              <p:cNvSpPr/>
              <p:nvPr/>
            </p:nvSpPr>
            <p:spPr>
              <a:xfrm>
                <a:off x="563831" y="2604949"/>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1" name="矩形 260">
                <a:extLst>
                  <a:ext uri="{FF2B5EF4-FFF2-40B4-BE49-F238E27FC236}">
                    <a16:creationId xmlns:a16="http://schemas.microsoft.com/office/drawing/2014/main" id="{24BEB753-CF0C-4595-92DD-E9F030AF0C1E}"/>
                  </a:ext>
                </a:extLst>
              </p:cNvPr>
              <p:cNvSpPr/>
              <p:nvPr/>
            </p:nvSpPr>
            <p:spPr>
              <a:xfrm>
                <a:off x="563831" y="2689312"/>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2" name="矩形 261">
                <a:extLst>
                  <a:ext uri="{FF2B5EF4-FFF2-40B4-BE49-F238E27FC236}">
                    <a16:creationId xmlns:a16="http://schemas.microsoft.com/office/drawing/2014/main" id="{B7496E3D-D8A7-491D-A4E7-A553ECA5174F}"/>
                  </a:ext>
                </a:extLst>
              </p:cNvPr>
              <p:cNvSpPr/>
              <p:nvPr/>
            </p:nvSpPr>
            <p:spPr>
              <a:xfrm>
                <a:off x="561950" y="2783791"/>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3" name="矩形 262">
                <a:extLst>
                  <a:ext uri="{FF2B5EF4-FFF2-40B4-BE49-F238E27FC236}">
                    <a16:creationId xmlns:a16="http://schemas.microsoft.com/office/drawing/2014/main" id="{D47DC1B9-EBEC-458F-92CF-593302EB647F}"/>
                  </a:ext>
                </a:extLst>
              </p:cNvPr>
              <p:cNvSpPr/>
              <p:nvPr/>
            </p:nvSpPr>
            <p:spPr>
              <a:xfrm>
                <a:off x="561950" y="2883320"/>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58" name="文本框 257">
              <a:extLst>
                <a:ext uri="{FF2B5EF4-FFF2-40B4-BE49-F238E27FC236}">
                  <a16:creationId xmlns:a16="http://schemas.microsoft.com/office/drawing/2014/main" id="{51AFBC58-E3A6-4568-A930-4BA01FB0F41E}"/>
                </a:ext>
              </a:extLst>
            </p:cNvPr>
            <p:cNvSpPr txBox="1"/>
            <p:nvPr/>
          </p:nvSpPr>
          <p:spPr>
            <a:xfrm>
              <a:off x="639660" y="2241189"/>
              <a:ext cx="946006" cy="227686"/>
            </a:xfrm>
            <a:prstGeom prst="rect">
              <a:avLst/>
            </a:prstGeom>
            <a:noFill/>
          </p:spPr>
          <p:txBody>
            <a:bodyPr wrap="none" rtlCol="0">
              <a:spAutoFit/>
            </a:bodyPr>
            <a:lstStyle/>
            <a:p>
              <a:r>
                <a:rPr lang="en-US" altLang="zh-CN" sz="1050" b="1">
                  <a:solidFill>
                    <a:srgbClr val="C00000"/>
                  </a:solidFill>
                  <a:latin typeface="微软雅黑" panose="020B0503020204020204" pitchFamily="34" charset="-122"/>
                  <a:ea typeface="微软雅黑" panose="020B0503020204020204" pitchFamily="34" charset="-122"/>
                </a:rPr>
                <a:t>T</a:t>
              </a:r>
              <a:r>
                <a:rPr lang="en-US" altLang="zh-CN" sz="1050" b="1">
                  <a:solidFill>
                    <a:srgbClr val="C00000"/>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1050" b="1">
                  <a:solidFill>
                    <a:srgbClr val="C00000"/>
                  </a:solidFill>
                  <a:latin typeface="微软雅黑" panose="020B0503020204020204" pitchFamily="34" charset="-122"/>
                  <a:ea typeface="微软雅黑" panose="020B0503020204020204" pitchFamily="34" charset="-122"/>
                </a:rPr>
                <a:t>Prompt</a:t>
              </a:r>
              <a:r>
                <a:rPr lang="en-US" altLang="zh-CN" sz="1050" b="1">
                  <a:solidFill>
                    <a:srgbClr val="C00000"/>
                  </a:solidFill>
                  <a:latin typeface="微软雅黑" panose="020B0503020204020204" pitchFamily="34" charset="-122"/>
                  <a:ea typeface="微软雅黑" panose="020B0503020204020204" pitchFamily="34" charset="-122"/>
                  <a:sym typeface="Wingdings" panose="05000000000000000000" pitchFamily="2" charset="2"/>
                </a:rPr>
                <a:t>F</a:t>
              </a:r>
              <a:endParaRPr lang="zh-CN" altLang="en-US" sz="1050" b="1">
                <a:solidFill>
                  <a:srgbClr val="C00000"/>
                </a:solidFill>
                <a:latin typeface="微软雅黑" panose="020B0503020204020204" pitchFamily="34" charset="-122"/>
                <a:ea typeface="微软雅黑" panose="020B0503020204020204" pitchFamily="34" charset="-122"/>
              </a:endParaRPr>
            </a:p>
          </p:txBody>
        </p:sp>
      </p:grpSp>
      <p:cxnSp>
        <p:nvCxnSpPr>
          <p:cNvPr id="68" name="连接符: 肘形 67">
            <a:extLst>
              <a:ext uri="{FF2B5EF4-FFF2-40B4-BE49-F238E27FC236}">
                <a16:creationId xmlns:a16="http://schemas.microsoft.com/office/drawing/2014/main" id="{131ADC1B-544C-424A-9049-607880A39749}"/>
              </a:ext>
            </a:extLst>
          </p:cNvPr>
          <p:cNvCxnSpPr>
            <a:stCxn id="57" idx="2"/>
            <a:endCxn id="27" idx="1"/>
          </p:cNvCxnSpPr>
          <p:nvPr/>
        </p:nvCxnSpPr>
        <p:spPr>
          <a:xfrm rot="10800000" flipV="1">
            <a:off x="3106309" y="1566983"/>
            <a:ext cx="874591" cy="1274512"/>
          </a:xfrm>
          <a:prstGeom prst="bentConnector3">
            <a:avLst>
              <a:gd name="adj1" fmla="val 126138"/>
            </a:avLst>
          </a:prstGeom>
          <a:ln w="22225">
            <a:solidFill>
              <a:schemeClr val="accent5">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86" name="文本框 285">
            <a:extLst>
              <a:ext uri="{FF2B5EF4-FFF2-40B4-BE49-F238E27FC236}">
                <a16:creationId xmlns:a16="http://schemas.microsoft.com/office/drawing/2014/main" id="{F9DB8581-F483-4243-BEED-AB003E346E70}"/>
              </a:ext>
            </a:extLst>
          </p:cNvPr>
          <p:cNvSpPr txBox="1"/>
          <p:nvPr/>
        </p:nvSpPr>
        <p:spPr>
          <a:xfrm>
            <a:off x="2739072" y="1779434"/>
            <a:ext cx="2132561" cy="276999"/>
          </a:xfrm>
          <a:prstGeom prst="rect">
            <a:avLst/>
          </a:prstGeom>
          <a:noFill/>
        </p:spPr>
        <p:txBody>
          <a:bodyPr wrap="square" rtlCol="0">
            <a:spAutoFit/>
          </a:bodyPr>
          <a:lstStyle/>
          <a:p>
            <a:pPr algn="ctr"/>
            <a:r>
              <a:rPr lang="en-US" altLang="zh-CN" sz="1200" b="1">
                <a:solidFill>
                  <a:schemeClr val="bg1">
                    <a:lumMod val="50000"/>
                  </a:schemeClr>
                </a:solidFill>
                <a:latin typeface="微软雅黑" panose="020B0503020204020204" pitchFamily="34" charset="-122"/>
                <a:ea typeface="微软雅黑" panose="020B0503020204020204" pitchFamily="34" charset="-122"/>
              </a:rPr>
              <a:t>Agent</a:t>
            </a:r>
            <a:r>
              <a:rPr lang="zh-CN" altLang="en-US" sz="1200" b="1">
                <a:solidFill>
                  <a:schemeClr val="bg1">
                    <a:lumMod val="50000"/>
                  </a:schemeClr>
                </a:solidFill>
                <a:latin typeface="微软雅黑" panose="020B0503020204020204" pitchFamily="34" charset="-122"/>
                <a:ea typeface="微软雅黑" panose="020B0503020204020204" pitchFamily="34" charset="-122"/>
              </a:rPr>
              <a:t>爬取生成</a:t>
            </a:r>
            <a:r>
              <a:rPr lang="en-US" altLang="zh-CN" sz="1200" b="1">
                <a:solidFill>
                  <a:schemeClr val="bg1">
                    <a:lumMod val="50000"/>
                  </a:schemeClr>
                </a:solidFill>
                <a:latin typeface="微软雅黑" panose="020B0503020204020204" pitchFamily="34" charset="-122"/>
                <a:ea typeface="微软雅黑" panose="020B0503020204020204" pitchFamily="34" charset="-122"/>
              </a:rPr>
              <a:t>+</a:t>
            </a:r>
            <a:r>
              <a:rPr lang="zh-CN" altLang="en-US" sz="1200" b="1">
                <a:solidFill>
                  <a:srgbClr val="C00000"/>
                </a:solidFill>
                <a:latin typeface="微软雅黑" panose="020B0503020204020204" pitchFamily="34" charset="-122"/>
                <a:ea typeface="微软雅黑" panose="020B0503020204020204" pitchFamily="34" charset="-122"/>
              </a:rPr>
              <a:t>人工校验</a:t>
            </a:r>
          </a:p>
        </p:txBody>
      </p:sp>
      <p:grpSp>
        <p:nvGrpSpPr>
          <p:cNvPr id="71" name="组合 70">
            <a:extLst>
              <a:ext uri="{FF2B5EF4-FFF2-40B4-BE49-F238E27FC236}">
                <a16:creationId xmlns:a16="http://schemas.microsoft.com/office/drawing/2014/main" id="{EE4F061B-7542-4DB2-B082-EFBB7B52BD85}"/>
              </a:ext>
            </a:extLst>
          </p:cNvPr>
          <p:cNvGrpSpPr/>
          <p:nvPr/>
        </p:nvGrpSpPr>
        <p:grpSpPr>
          <a:xfrm>
            <a:off x="2236424" y="4048908"/>
            <a:ext cx="1041492" cy="194128"/>
            <a:chOff x="2329271" y="3828343"/>
            <a:chExt cx="1041492" cy="194128"/>
          </a:xfrm>
        </p:grpSpPr>
        <p:sp>
          <p:nvSpPr>
            <p:cNvPr id="70" name="立方体 69">
              <a:extLst>
                <a:ext uri="{FF2B5EF4-FFF2-40B4-BE49-F238E27FC236}">
                  <a16:creationId xmlns:a16="http://schemas.microsoft.com/office/drawing/2014/main" id="{DD3F224D-8046-4768-B58E-693020E9666D}"/>
                </a:ext>
              </a:extLst>
            </p:cNvPr>
            <p:cNvSpPr/>
            <p:nvPr/>
          </p:nvSpPr>
          <p:spPr>
            <a:xfrm>
              <a:off x="2329271" y="3834308"/>
              <a:ext cx="199620" cy="188163"/>
            </a:xfrm>
            <a:prstGeom prst="cube">
              <a:avLst/>
            </a:prstGeom>
            <a:solidFill>
              <a:schemeClr val="bg2">
                <a:lumMod val="90000"/>
              </a:schemeClr>
            </a:solidFill>
            <a:ln w="3175">
              <a:solidFill>
                <a:schemeClr val="bg2">
                  <a:lumMod val="50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287" name="立方体 286">
              <a:extLst>
                <a:ext uri="{FF2B5EF4-FFF2-40B4-BE49-F238E27FC236}">
                  <a16:creationId xmlns:a16="http://schemas.microsoft.com/office/drawing/2014/main" id="{13FBAE39-99CF-4E00-A051-39AC2AA5D69B}"/>
                </a:ext>
              </a:extLst>
            </p:cNvPr>
            <p:cNvSpPr/>
            <p:nvPr/>
          </p:nvSpPr>
          <p:spPr>
            <a:xfrm>
              <a:off x="2540906" y="3831055"/>
              <a:ext cx="199620" cy="188163"/>
            </a:xfrm>
            <a:prstGeom prst="cube">
              <a:avLst/>
            </a:prstGeom>
            <a:solidFill>
              <a:schemeClr val="bg2">
                <a:lumMod val="90000"/>
              </a:schemeClr>
            </a:solidFill>
            <a:ln w="3175">
              <a:solidFill>
                <a:schemeClr val="bg2">
                  <a:lumMod val="50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288" name="立方体 287">
              <a:extLst>
                <a:ext uri="{FF2B5EF4-FFF2-40B4-BE49-F238E27FC236}">
                  <a16:creationId xmlns:a16="http://schemas.microsoft.com/office/drawing/2014/main" id="{7A264984-3BC9-4161-91D4-5F67E7D42C0B}"/>
                </a:ext>
              </a:extLst>
            </p:cNvPr>
            <p:cNvSpPr/>
            <p:nvPr/>
          </p:nvSpPr>
          <p:spPr>
            <a:xfrm>
              <a:off x="2752541" y="3831054"/>
              <a:ext cx="199620" cy="188163"/>
            </a:xfrm>
            <a:prstGeom prst="cube">
              <a:avLst/>
            </a:prstGeom>
            <a:solidFill>
              <a:schemeClr val="bg2">
                <a:lumMod val="90000"/>
              </a:schemeClr>
            </a:solidFill>
            <a:ln w="3175">
              <a:solidFill>
                <a:schemeClr val="bg2">
                  <a:lumMod val="50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289" name="立方体 288">
              <a:extLst>
                <a:ext uri="{FF2B5EF4-FFF2-40B4-BE49-F238E27FC236}">
                  <a16:creationId xmlns:a16="http://schemas.microsoft.com/office/drawing/2014/main" id="{A7033BAE-CCE2-45A7-ADD8-150A71C259A8}"/>
                </a:ext>
              </a:extLst>
            </p:cNvPr>
            <p:cNvSpPr/>
            <p:nvPr/>
          </p:nvSpPr>
          <p:spPr>
            <a:xfrm>
              <a:off x="2959508" y="3831596"/>
              <a:ext cx="199620" cy="188163"/>
            </a:xfrm>
            <a:prstGeom prst="cube">
              <a:avLst/>
            </a:prstGeom>
            <a:solidFill>
              <a:schemeClr val="bg2">
                <a:lumMod val="90000"/>
              </a:schemeClr>
            </a:solidFill>
            <a:ln w="3175">
              <a:solidFill>
                <a:schemeClr val="bg2">
                  <a:lumMod val="50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290" name="立方体 289">
              <a:extLst>
                <a:ext uri="{FF2B5EF4-FFF2-40B4-BE49-F238E27FC236}">
                  <a16:creationId xmlns:a16="http://schemas.microsoft.com/office/drawing/2014/main" id="{EA8FC9F7-A7AD-41D8-8E14-ED108EF9EABB}"/>
                </a:ext>
              </a:extLst>
            </p:cNvPr>
            <p:cNvSpPr/>
            <p:nvPr/>
          </p:nvSpPr>
          <p:spPr>
            <a:xfrm>
              <a:off x="3171143" y="3828343"/>
              <a:ext cx="199620" cy="188163"/>
            </a:xfrm>
            <a:prstGeom prst="cube">
              <a:avLst/>
            </a:prstGeom>
            <a:solidFill>
              <a:schemeClr val="bg2">
                <a:lumMod val="90000"/>
              </a:schemeClr>
            </a:solidFill>
            <a:ln w="3175">
              <a:solidFill>
                <a:schemeClr val="bg2">
                  <a:lumMod val="50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292" name="文本框 291">
            <a:extLst>
              <a:ext uri="{FF2B5EF4-FFF2-40B4-BE49-F238E27FC236}">
                <a16:creationId xmlns:a16="http://schemas.microsoft.com/office/drawing/2014/main" id="{27EEF17F-D288-4995-B602-93B475C86064}"/>
              </a:ext>
            </a:extLst>
          </p:cNvPr>
          <p:cNvSpPr txBox="1"/>
          <p:nvPr/>
        </p:nvSpPr>
        <p:spPr>
          <a:xfrm>
            <a:off x="130026" y="4037407"/>
            <a:ext cx="287960" cy="1384995"/>
          </a:xfrm>
          <a:prstGeom prst="rect">
            <a:avLst/>
          </a:prstGeom>
          <a:solidFill>
            <a:schemeClr val="bg1">
              <a:lumMod val="75000"/>
            </a:schemeClr>
          </a:solidFill>
          <a:ln>
            <a:solidFill>
              <a:schemeClr val="bg2">
                <a:lumMod val="10000"/>
              </a:schemeClr>
            </a:solidFill>
            <a:prstDash val="dash"/>
          </a:ln>
        </p:spPr>
        <p:txBody>
          <a:bodyPr wrap="square" rtlCol="0">
            <a:spAutoFit/>
          </a:bodyPr>
          <a:lstStyle/>
          <a:p>
            <a:pPr algn="ctr"/>
            <a:r>
              <a:rPr lang="zh-CN" altLang="en-US" sz="1400" b="1">
                <a:solidFill>
                  <a:schemeClr val="bg1"/>
                </a:solidFill>
                <a:latin typeface="微软雅黑" panose="020B0503020204020204" pitchFamily="34" charset="-122"/>
                <a:ea typeface="微软雅黑" panose="020B0503020204020204" pitchFamily="34" charset="-122"/>
              </a:rPr>
              <a:t>异质市场信息</a:t>
            </a:r>
          </a:p>
        </p:txBody>
      </p:sp>
      <p:cxnSp>
        <p:nvCxnSpPr>
          <p:cNvPr id="175" name="直接箭头连接符 174">
            <a:extLst>
              <a:ext uri="{FF2B5EF4-FFF2-40B4-BE49-F238E27FC236}">
                <a16:creationId xmlns:a16="http://schemas.microsoft.com/office/drawing/2014/main" id="{DFC770E2-52BB-40FB-8C87-C790F805046D}"/>
              </a:ext>
            </a:extLst>
          </p:cNvPr>
          <p:cNvCxnSpPr>
            <a:stCxn id="292" idx="3"/>
            <a:endCxn id="243" idx="1"/>
          </p:cNvCxnSpPr>
          <p:nvPr/>
        </p:nvCxnSpPr>
        <p:spPr>
          <a:xfrm>
            <a:off x="417986" y="4729905"/>
            <a:ext cx="274714" cy="0"/>
          </a:xfrm>
          <a:prstGeom prst="straightConnector1">
            <a:avLst/>
          </a:prstGeom>
          <a:ln w="22225">
            <a:solidFill>
              <a:schemeClr val="accent5">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00" name="直接箭头连接符 299">
            <a:extLst>
              <a:ext uri="{FF2B5EF4-FFF2-40B4-BE49-F238E27FC236}">
                <a16:creationId xmlns:a16="http://schemas.microsoft.com/office/drawing/2014/main" id="{14FFC06D-DF28-40AD-8721-119897B57034}"/>
              </a:ext>
            </a:extLst>
          </p:cNvPr>
          <p:cNvCxnSpPr>
            <a:cxnSpLocks/>
            <a:stCxn id="248" idx="3"/>
            <a:endCxn id="70" idx="2"/>
          </p:cNvCxnSpPr>
          <p:nvPr/>
        </p:nvCxnSpPr>
        <p:spPr>
          <a:xfrm flipV="1">
            <a:off x="2000842" y="4172475"/>
            <a:ext cx="235582" cy="449095"/>
          </a:xfrm>
          <a:prstGeom prst="straightConnector1">
            <a:avLst/>
          </a:prstGeom>
          <a:ln w="22225">
            <a:solidFill>
              <a:schemeClr val="accent5">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302" name="组合 301">
            <a:extLst>
              <a:ext uri="{FF2B5EF4-FFF2-40B4-BE49-F238E27FC236}">
                <a16:creationId xmlns:a16="http://schemas.microsoft.com/office/drawing/2014/main" id="{76CBD1B9-8342-4C70-BC49-0B2FFF77E035}"/>
              </a:ext>
            </a:extLst>
          </p:cNvPr>
          <p:cNvGrpSpPr/>
          <p:nvPr/>
        </p:nvGrpSpPr>
        <p:grpSpPr>
          <a:xfrm>
            <a:off x="2220177" y="4498885"/>
            <a:ext cx="1041492" cy="194128"/>
            <a:chOff x="2329271" y="3828343"/>
            <a:chExt cx="1041492" cy="194128"/>
          </a:xfrm>
        </p:grpSpPr>
        <p:sp>
          <p:nvSpPr>
            <p:cNvPr id="303" name="立方体 302">
              <a:extLst>
                <a:ext uri="{FF2B5EF4-FFF2-40B4-BE49-F238E27FC236}">
                  <a16:creationId xmlns:a16="http://schemas.microsoft.com/office/drawing/2014/main" id="{9B5AB38C-EE5C-4D97-A638-64D986168F25}"/>
                </a:ext>
              </a:extLst>
            </p:cNvPr>
            <p:cNvSpPr/>
            <p:nvPr/>
          </p:nvSpPr>
          <p:spPr>
            <a:xfrm>
              <a:off x="2329271" y="3834308"/>
              <a:ext cx="199620" cy="188163"/>
            </a:xfrm>
            <a:prstGeom prst="cube">
              <a:avLst/>
            </a:prstGeom>
            <a:solidFill>
              <a:schemeClr val="bg2">
                <a:lumMod val="90000"/>
              </a:schemeClr>
            </a:solidFill>
            <a:ln w="3175">
              <a:solidFill>
                <a:schemeClr val="bg2">
                  <a:lumMod val="50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04" name="立方体 303">
              <a:extLst>
                <a:ext uri="{FF2B5EF4-FFF2-40B4-BE49-F238E27FC236}">
                  <a16:creationId xmlns:a16="http://schemas.microsoft.com/office/drawing/2014/main" id="{26DD31B8-B998-4C07-9F99-59B9825113EB}"/>
                </a:ext>
              </a:extLst>
            </p:cNvPr>
            <p:cNvSpPr/>
            <p:nvPr/>
          </p:nvSpPr>
          <p:spPr>
            <a:xfrm>
              <a:off x="2540906" y="3831055"/>
              <a:ext cx="199620" cy="188163"/>
            </a:xfrm>
            <a:prstGeom prst="cube">
              <a:avLst/>
            </a:prstGeom>
            <a:solidFill>
              <a:schemeClr val="bg2">
                <a:lumMod val="90000"/>
              </a:schemeClr>
            </a:solidFill>
            <a:ln w="3175">
              <a:solidFill>
                <a:schemeClr val="bg2">
                  <a:lumMod val="50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05" name="立方体 304">
              <a:extLst>
                <a:ext uri="{FF2B5EF4-FFF2-40B4-BE49-F238E27FC236}">
                  <a16:creationId xmlns:a16="http://schemas.microsoft.com/office/drawing/2014/main" id="{EA005EE9-69E9-4E90-84CF-904B29B6A299}"/>
                </a:ext>
              </a:extLst>
            </p:cNvPr>
            <p:cNvSpPr/>
            <p:nvPr/>
          </p:nvSpPr>
          <p:spPr>
            <a:xfrm>
              <a:off x="2752541" y="3831054"/>
              <a:ext cx="199620" cy="188163"/>
            </a:xfrm>
            <a:prstGeom prst="cube">
              <a:avLst/>
            </a:prstGeom>
            <a:solidFill>
              <a:schemeClr val="bg2">
                <a:lumMod val="90000"/>
              </a:schemeClr>
            </a:solidFill>
            <a:ln w="3175">
              <a:solidFill>
                <a:schemeClr val="bg2">
                  <a:lumMod val="50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06" name="立方体 305">
              <a:extLst>
                <a:ext uri="{FF2B5EF4-FFF2-40B4-BE49-F238E27FC236}">
                  <a16:creationId xmlns:a16="http://schemas.microsoft.com/office/drawing/2014/main" id="{55ABBDF9-F963-41FB-BE96-4AD79CE8163B}"/>
                </a:ext>
              </a:extLst>
            </p:cNvPr>
            <p:cNvSpPr/>
            <p:nvPr/>
          </p:nvSpPr>
          <p:spPr>
            <a:xfrm>
              <a:off x="2959508" y="3831596"/>
              <a:ext cx="199620" cy="188163"/>
            </a:xfrm>
            <a:prstGeom prst="cube">
              <a:avLst/>
            </a:prstGeom>
            <a:solidFill>
              <a:schemeClr val="bg2">
                <a:lumMod val="90000"/>
              </a:schemeClr>
            </a:solidFill>
            <a:ln w="3175">
              <a:solidFill>
                <a:schemeClr val="bg2">
                  <a:lumMod val="50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07" name="立方体 306">
              <a:extLst>
                <a:ext uri="{FF2B5EF4-FFF2-40B4-BE49-F238E27FC236}">
                  <a16:creationId xmlns:a16="http://schemas.microsoft.com/office/drawing/2014/main" id="{2786DE23-A623-4FFB-ABBA-4ACF6D38A4E7}"/>
                </a:ext>
              </a:extLst>
            </p:cNvPr>
            <p:cNvSpPr/>
            <p:nvPr/>
          </p:nvSpPr>
          <p:spPr>
            <a:xfrm>
              <a:off x="3171143" y="3828343"/>
              <a:ext cx="199620" cy="188163"/>
            </a:xfrm>
            <a:prstGeom prst="cube">
              <a:avLst/>
            </a:prstGeom>
            <a:solidFill>
              <a:schemeClr val="bg2">
                <a:lumMod val="90000"/>
              </a:schemeClr>
            </a:solidFill>
            <a:ln w="3175">
              <a:solidFill>
                <a:schemeClr val="bg2">
                  <a:lumMod val="50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309" name="组合 308">
            <a:extLst>
              <a:ext uri="{FF2B5EF4-FFF2-40B4-BE49-F238E27FC236}">
                <a16:creationId xmlns:a16="http://schemas.microsoft.com/office/drawing/2014/main" id="{72A0A77D-6F9E-4643-86D5-9CA69A30743A}"/>
              </a:ext>
            </a:extLst>
          </p:cNvPr>
          <p:cNvGrpSpPr/>
          <p:nvPr/>
        </p:nvGrpSpPr>
        <p:grpSpPr>
          <a:xfrm>
            <a:off x="2216504" y="4984368"/>
            <a:ext cx="1041492" cy="194128"/>
            <a:chOff x="2329271" y="3828343"/>
            <a:chExt cx="1041492" cy="194128"/>
          </a:xfrm>
        </p:grpSpPr>
        <p:sp>
          <p:nvSpPr>
            <p:cNvPr id="310" name="立方体 309">
              <a:extLst>
                <a:ext uri="{FF2B5EF4-FFF2-40B4-BE49-F238E27FC236}">
                  <a16:creationId xmlns:a16="http://schemas.microsoft.com/office/drawing/2014/main" id="{D3D086E2-9174-418D-8218-ACBBACC15E57}"/>
                </a:ext>
              </a:extLst>
            </p:cNvPr>
            <p:cNvSpPr/>
            <p:nvPr/>
          </p:nvSpPr>
          <p:spPr>
            <a:xfrm>
              <a:off x="2329271" y="3834308"/>
              <a:ext cx="199620" cy="188163"/>
            </a:xfrm>
            <a:prstGeom prst="cube">
              <a:avLst/>
            </a:prstGeom>
            <a:solidFill>
              <a:schemeClr val="accent5">
                <a:alpha val="50000"/>
              </a:schemeClr>
            </a:solidFill>
            <a:ln w="12700">
              <a:solidFill>
                <a:schemeClr val="accent5">
                  <a:lumMod val="75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11" name="立方体 310">
              <a:extLst>
                <a:ext uri="{FF2B5EF4-FFF2-40B4-BE49-F238E27FC236}">
                  <a16:creationId xmlns:a16="http://schemas.microsoft.com/office/drawing/2014/main" id="{9732E586-366E-4B9F-A8F1-C5E951E7B0C8}"/>
                </a:ext>
              </a:extLst>
            </p:cNvPr>
            <p:cNvSpPr/>
            <p:nvPr/>
          </p:nvSpPr>
          <p:spPr>
            <a:xfrm>
              <a:off x="2540906" y="3831055"/>
              <a:ext cx="199620" cy="188163"/>
            </a:xfrm>
            <a:prstGeom prst="cube">
              <a:avLst/>
            </a:prstGeom>
            <a:solidFill>
              <a:schemeClr val="accent5">
                <a:alpha val="50000"/>
              </a:schemeClr>
            </a:solidFill>
            <a:ln w="12700">
              <a:solidFill>
                <a:schemeClr val="accent5">
                  <a:lumMod val="75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12" name="立方体 311">
              <a:extLst>
                <a:ext uri="{FF2B5EF4-FFF2-40B4-BE49-F238E27FC236}">
                  <a16:creationId xmlns:a16="http://schemas.microsoft.com/office/drawing/2014/main" id="{3EA6E985-BF75-4CEE-8E3D-0710D309ED8A}"/>
                </a:ext>
              </a:extLst>
            </p:cNvPr>
            <p:cNvSpPr/>
            <p:nvPr/>
          </p:nvSpPr>
          <p:spPr>
            <a:xfrm>
              <a:off x="2752541" y="3831054"/>
              <a:ext cx="199620" cy="188163"/>
            </a:xfrm>
            <a:prstGeom prst="cube">
              <a:avLst/>
            </a:prstGeom>
            <a:solidFill>
              <a:schemeClr val="accent5">
                <a:alpha val="50000"/>
              </a:schemeClr>
            </a:solidFill>
            <a:ln w="12700">
              <a:solidFill>
                <a:schemeClr val="accent5">
                  <a:lumMod val="75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13" name="立方体 312">
              <a:extLst>
                <a:ext uri="{FF2B5EF4-FFF2-40B4-BE49-F238E27FC236}">
                  <a16:creationId xmlns:a16="http://schemas.microsoft.com/office/drawing/2014/main" id="{982D9B58-4860-453C-958A-72B143F164FB}"/>
                </a:ext>
              </a:extLst>
            </p:cNvPr>
            <p:cNvSpPr/>
            <p:nvPr/>
          </p:nvSpPr>
          <p:spPr>
            <a:xfrm>
              <a:off x="2959508" y="3831596"/>
              <a:ext cx="199620" cy="188163"/>
            </a:xfrm>
            <a:prstGeom prst="cube">
              <a:avLst/>
            </a:prstGeom>
            <a:solidFill>
              <a:schemeClr val="accent5">
                <a:alpha val="50000"/>
              </a:schemeClr>
            </a:solidFill>
            <a:ln w="12700">
              <a:solidFill>
                <a:schemeClr val="accent5">
                  <a:lumMod val="75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14" name="立方体 313">
              <a:extLst>
                <a:ext uri="{FF2B5EF4-FFF2-40B4-BE49-F238E27FC236}">
                  <a16:creationId xmlns:a16="http://schemas.microsoft.com/office/drawing/2014/main" id="{07671B7C-12AA-443A-8DA9-6FD402ECC75B}"/>
                </a:ext>
              </a:extLst>
            </p:cNvPr>
            <p:cNvSpPr/>
            <p:nvPr/>
          </p:nvSpPr>
          <p:spPr>
            <a:xfrm>
              <a:off x="3171143" y="3828343"/>
              <a:ext cx="199620" cy="188163"/>
            </a:xfrm>
            <a:prstGeom prst="cube">
              <a:avLst/>
            </a:prstGeom>
            <a:solidFill>
              <a:schemeClr val="accent5">
                <a:alpha val="50000"/>
              </a:schemeClr>
            </a:solidFill>
            <a:ln w="12700">
              <a:solidFill>
                <a:schemeClr val="accent5">
                  <a:lumMod val="75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316" name="组合 315">
            <a:extLst>
              <a:ext uri="{FF2B5EF4-FFF2-40B4-BE49-F238E27FC236}">
                <a16:creationId xmlns:a16="http://schemas.microsoft.com/office/drawing/2014/main" id="{C1B8867F-DC3F-4CF7-906E-67E26FBABED1}"/>
              </a:ext>
            </a:extLst>
          </p:cNvPr>
          <p:cNvGrpSpPr/>
          <p:nvPr/>
        </p:nvGrpSpPr>
        <p:grpSpPr>
          <a:xfrm>
            <a:off x="2463453" y="6045146"/>
            <a:ext cx="737443" cy="697217"/>
            <a:chOff x="3872038" y="1358160"/>
            <a:chExt cx="3788232" cy="418900"/>
          </a:xfrm>
        </p:grpSpPr>
        <p:sp>
          <p:nvSpPr>
            <p:cNvPr id="317" name="圆柱形 316">
              <a:extLst>
                <a:ext uri="{FF2B5EF4-FFF2-40B4-BE49-F238E27FC236}">
                  <a16:creationId xmlns:a16="http://schemas.microsoft.com/office/drawing/2014/main" id="{B403B74A-F0FA-44EA-8BDB-DAFF4C2EE8CA}"/>
                </a:ext>
              </a:extLst>
            </p:cNvPr>
            <p:cNvSpPr/>
            <p:nvPr/>
          </p:nvSpPr>
          <p:spPr>
            <a:xfrm>
              <a:off x="3872038" y="1358160"/>
              <a:ext cx="3788232" cy="418900"/>
            </a:xfrm>
            <a:prstGeom prst="can">
              <a:avLst>
                <a:gd name="adj" fmla="val 36223"/>
              </a:avLst>
            </a:prstGeom>
            <a:ln/>
          </p:spPr>
          <p:style>
            <a:lnRef idx="1">
              <a:schemeClr val="dk1"/>
            </a:lnRef>
            <a:fillRef idx="3">
              <a:schemeClr val="dk1"/>
            </a:fillRef>
            <a:effectRef idx="2">
              <a:schemeClr val="dk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18" name="文本框 317">
              <a:extLst>
                <a:ext uri="{FF2B5EF4-FFF2-40B4-BE49-F238E27FC236}">
                  <a16:creationId xmlns:a16="http://schemas.microsoft.com/office/drawing/2014/main" id="{BF0BD82F-1DF8-4E03-92A4-C361AAA6BB20}"/>
                </a:ext>
              </a:extLst>
            </p:cNvPr>
            <p:cNvSpPr txBox="1"/>
            <p:nvPr/>
          </p:nvSpPr>
          <p:spPr>
            <a:xfrm>
              <a:off x="4275769" y="1412226"/>
              <a:ext cx="3056685" cy="226619"/>
            </a:xfrm>
            <a:prstGeom prst="rect">
              <a:avLst/>
            </a:prstGeom>
            <a:noFill/>
          </p:spPr>
          <p:txBody>
            <a:bodyPr wrap="none" rtlCol="0">
              <a:spAutoFit/>
            </a:bodyPr>
            <a:lstStyle/>
            <a:p>
              <a:r>
                <a:rPr lang="zh-CN" altLang="en-US" sz="1600" b="1">
                  <a:solidFill>
                    <a:schemeClr val="bg1"/>
                  </a:solidFill>
                  <a:latin typeface="微软雅黑" panose="020B0503020204020204" pitchFamily="34" charset="-122"/>
                  <a:ea typeface="微软雅黑" panose="020B0503020204020204" pitchFamily="34" charset="-122"/>
                </a:rPr>
                <a:t>数据</a:t>
              </a:r>
              <a:endParaRPr lang="en-US" altLang="zh-CN" sz="1600" b="1">
                <a:solidFill>
                  <a:schemeClr val="bg1"/>
                </a:solidFill>
                <a:latin typeface="微软雅黑" panose="020B0503020204020204" pitchFamily="34" charset="-122"/>
                <a:ea typeface="微软雅黑" panose="020B0503020204020204" pitchFamily="34" charset="-122"/>
              </a:endParaRPr>
            </a:p>
            <a:p>
              <a:pPr algn="ctr"/>
              <a:r>
                <a:rPr lang="zh-CN" altLang="en-US" sz="1600" b="1">
                  <a:solidFill>
                    <a:schemeClr val="bg1"/>
                  </a:solidFill>
                  <a:latin typeface="微软雅黑" panose="020B0503020204020204" pitchFamily="34" charset="-122"/>
                  <a:ea typeface="微软雅黑" panose="020B0503020204020204" pitchFamily="34" charset="-122"/>
                </a:rPr>
                <a:t>库</a:t>
              </a:r>
            </a:p>
          </p:txBody>
        </p:sp>
      </p:grpSp>
      <p:cxnSp>
        <p:nvCxnSpPr>
          <p:cNvPr id="319" name="直接箭头连接符 318">
            <a:extLst>
              <a:ext uri="{FF2B5EF4-FFF2-40B4-BE49-F238E27FC236}">
                <a16:creationId xmlns:a16="http://schemas.microsoft.com/office/drawing/2014/main" id="{89EAF461-4653-4941-9CCB-4F96B08FD6ED}"/>
              </a:ext>
            </a:extLst>
          </p:cNvPr>
          <p:cNvCxnSpPr>
            <a:cxnSpLocks/>
            <a:stCxn id="248" idx="3"/>
            <a:endCxn id="303" idx="2"/>
          </p:cNvCxnSpPr>
          <p:nvPr/>
        </p:nvCxnSpPr>
        <p:spPr>
          <a:xfrm>
            <a:off x="2000842" y="4621570"/>
            <a:ext cx="219335" cy="882"/>
          </a:xfrm>
          <a:prstGeom prst="straightConnector1">
            <a:avLst/>
          </a:prstGeom>
          <a:ln w="22225">
            <a:solidFill>
              <a:schemeClr val="accent5">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5" name="直接箭头连接符 324">
            <a:extLst>
              <a:ext uri="{FF2B5EF4-FFF2-40B4-BE49-F238E27FC236}">
                <a16:creationId xmlns:a16="http://schemas.microsoft.com/office/drawing/2014/main" id="{66D6C341-EC16-424E-90E1-A45D5352FA77}"/>
              </a:ext>
            </a:extLst>
          </p:cNvPr>
          <p:cNvCxnSpPr>
            <a:cxnSpLocks/>
            <a:stCxn id="248" idx="3"/>
            <a:endCxn id="310" idx="2"/>
          </p:cNvCxnSpPr>
          <p:nvPr/>
        </p:nvCxnSpPr>
        <p:spPr>
          <a:xfrm>
            <a:off x="2000842" y="4621570"/>
            <a:ext cx="215662" cy="486365"/>
          </a:xfrm>
          <a:prstGeom prst="straightConnector1">
            <a:avLst/>
          </a:prstGeom>
          <a:ln w="22225">
            <a:solidFill>
              <a:schemeClr val="accent5">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328" name="文本框 327">
            <a:extLst>
              <a:ext uri="{FF2B5EF4-FFF2-40B4-BE49-F238E27FC236}">
                <a16:creationId xmlns:a16="http://schemas.microsoft.com/office/drawing/2014/main" id="{0A046ABC-2E63-49B2-9DF6-A788F07F87F0}"/>
              </a:ext>
            </a:extLst>
          </p:cNvPr>
          <p:cNvSpPr txBox="1"/>
          <p:nvPr/>
        </p:nvSpPr>
        <p:spPr>
          <a:xfrm>
            <a:off x="2101153" y="4121730"/>
            <a:ext cx="1340401" cy="523220"/>
          </a:xfrm>
          <a:prstGeom prst="rect">
            <a:avLst/>
          </a:prstGeom>
          <a:noFill/>
        </p:spPr>
        <p:txBody>
          <a:bodyPr wrap="square" rtlCol="0">
            <a:spAutoFit/>
          </a:bodyPr>
          <a:lstStyle/>
          <a:p>
            <a:pPr algn="ctr"/>
            <a:r>
              <a:rPr lang="zh-CN" altLang="en-US" sz="1400" b="1">
                <a:solidFill>
                  <a:schemeClr val="bg2">
                    <a:lumMod val="25000"/>
                  </a:schemeClr>
                </a:solidFill>
                <a:latin typeface="微软雅黑" panose="020B0503020204020204" pitchFamily="34" charset="-122"/>
                <a:ea typeface="微软雅黑" panose="020B0503020204020204" pitchFamily="34" charset="-122"/>
              </a:rPr>
              <a:t>每个</a:t>
            </a:r>
            <a:r>
              <a:rPr lang="en-US" altLang="zh-CN" sz="1400" b="1">
                <a:solidFill>
                  <a:schemeClr val="bg2">
                    <a:lumMod val="25000"/>
                  </a:schemeClr>
                </a:solidFill>
                <a:latin typeface="微软雅黑" panose="020B0503020204020204" pitchFamily="34" charset="-122"/>
                <a:ea typeface="微软雅黑" panose="020B0503020204020204" pitchFamily="34" charset="-122"/>
              </a:rPr>
              <a:t>Units</a:t>
            </a:r>
            <a:r>
              <a:rPr lang="zh-CN" altLang="en-US" sz="1400" b="1">
                <a:solidFill>
                  <a:schemeClr val="bg2">
                    <a:lumMod val="25000"/>
                  </a:schemeClr>
                </a:solidFill>
                <a:latin typeface="微软雅黑" panose="020B0503020204020204" pitchFamily="34" charset="-122"/>
                <a:ea typeface="微软雅黑" panose="020B0503020204020204" pitchFamily="34" charset="-122"/>
              </a:rPr>
              <a:t>的</a:t>
            </a:r>
            <a:r>
              <a:rPr lang="en-US" altLang="zh-CN" sz="1400" b="1">
                <a:solidFill>
                  <a:schemeClr val="bg2">
                    <a:lumMod val="25000"/>
                  </a:schemeClr>
                </a:solidFill>
                <a:latin typeface="微软雅黑" panose="020B0503020204020204" pitchFamily="34" charset="-122"/>
                <a:ea typeface="微软雅黑" panose="020B0503020204020204" pitchFamily="34" charset="-122"/>
              </a:rPr>
              <a:t>Schema</a:t>
            </a:r>
            <a:endParaRPr lang="zh-CN" altLang="en-US" sz="1400" b="1">
              <a:solidFill>
                <a:schemeClr val="bg2">
                  <a:lumMod val="25000"/>
                </a:schemeClr>
              </a:solidFill>
              <a:latin typeface="微软雅黑" panose="020B0503020204020204" pitchFamily="34" charset="-122"/>
              <a:ea typeface="微软雅黑" panose="020B0503020204020204" pitchFamily="34" charset="-122"/>
            </a:endParaRPr>
          </a:p>
        </p:txBody>
      </p:sp>
      <p:sp>
        <p:nvSpPr>
          <p:cNvPr id="346" name="矩形: 圆角 345">
            <a:extLst>
              <a:ext uri="{FF2B5EF4-FFF2-40B4-BE49-F238E27FC236}">
                <a16:creationId xmlns:a16="http://schemas.microsoft.com/office/drawing/2014/main" id="{1CBC6993-ED5D-4F34-A8D7-4BE70602F26A}"/>
              </a:ext>
            </a:extLst>
          </p:cNvPr>
          <p:cNvSpPr/>
          <p:nvPr/>
        </p:nvSpPr>
        <p:spPr>
          <a:xfrm>
            <a:off x="3594865" y="3864363"/>
            <a:ext cx="4276246" cy="1725672"/>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347" name="直接箭头连接符 346">
            <a:extLst>
              <a:ext uri="{FF2B5EF4-FFF2-40B4-BE49-F238E27FC236}">
                <a16:creationId xmlns:a16="http://schemas.microsoft.com/office/drawing/2014/main" id="{670D3521-96C0-441D-8EA6-BFDC21B869CC}"/>
              </a:ext>
            </a:extLst>
          </p:cNvPr>
          <p:cNvCxnSpPr/>
          <p:nvPr/>
        </p:nvCxnSpPr>
        <p:spPr>
          <a:xfrm>
            <a:off x="3284313" y="4621568"/>
            <a:ext cx="274714" cy="0"/>
          </a:xfrm>
          <a:prstGeom prst="straightConnector1">
            <a:avLst/>
          </a:prstGeom>
          <a:ln w="22225">
            <a:solidFill>
              <a:schemeClr val="accent5">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pic>
        <p:nvPicPr>
          <p:cNvPr id="18" name="图形 17" descr="条形图">
            <a:extLst>
              <a:ext uri="{FF2B5EF4-FFF2-40B4-BE49-F238E27FC236}">
                <a16:creationId xmlns:a16="http://schemas.microsoft.com/office/drawing/2014/main" id="{0456A75F-FCE7-480A-8E58-6A728FCA2D9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956584" y="3856138"/>
            <a:ext cx="387897" cy="387897"/>
          </a:xfrm>
          <a:prstGeom prst="rect">
            <a:avLst/>
          </a:prstGeom>
        </p:spPr>
      </p:pic>
      <p:sp>
        <p:nvSpPr>
          <p:cNvPr id="348" name="文本框 347">
            <a:extLst>
              <a:ext uri="{FF2B5EF4-FFF2-40B4-BE49-F238E27FC236}">
                <a16:creationId xmlns:a16="http://schemas.microsoft.com/office/drawing/2014/main" id="{1FB5BAD8-734E-45F0-81AA-A60E97393613}"/>
              </a:ext>
            </a:extLst>
          </p:cNvPr>
          <p:cNvSpPr txBox="1"/>
          <p:nvPr/>
        </p:nvSpPr>
        <p:spPr>
          <a:xfrm>
            <a:off x="5067114" y="3845670"/>
            <a:ext cx="1633781" cy="338554"/>
          </a:xfrm>
          <a:prstGeom prst="rect">
            <a:avLst/>
          </a:prstGeom>
          <a:noFill/>
        </p:spPr>
        <p:txBody>
          <a:bodyPr wrap="none" rtlCol="0">
            <a:spAutoFit/>
          </a:bodyPr>
          <a:lstStyle/>
          <a:p>
            <a:r>
              <a:rPr lang="zh-CN" altLang="en-US" sz="1600" b="1">
                <a:gradFill>
                  <a:gsLst>
                    <a:gs pos="0">
                      <a:srgbClr val="C00000"/>
                    </a:gs>
                    <a:gs pos="100000">
                      <a:srgbClr val="FF0000"/>
                    </a:gs>
                  </a:gsLst>
                  <a:lin ang="5400000" scaled="0"/>
                </a:gradFill>
                <a:latin typeface="微软雅黑" panose="020B0503020204020204" pitchFamily="34" charset="-122"/>
                <a:ea typeface="微软雅黑" panose="020B0503020204020204" pitchFamily="34" charset="-122"/>
              </a:rPr>
              <a:t>市场设计</a:t>
            </a:r>
            <a:r>
              <a:rPr lang="en-US" altLang="zh-CN" sz="1600" b="1">
                <a:gradFill>
                  <a:gsLst>
                    <a:gs pos="0">
                      <a:srgbClr val="C00000"/>
                    </a:gs>
                    <a:gs pos="100000">
                      <a:srgbClr val="FF0000"/>
                    </a:gs>
                  </a:gsLst>
                  <a:lin ang="5400000" scaled="0"/>
                </a:gradFill>
                <a:latin typeface="微软雅黑" panose="020B0503020204020204" pitchFamily="34" charset="-122"/>
                <a:ea typeface="微软雅黑" panose="020B0503020204020204" pitchFamily="34" charset="-122"/>
              </a:rPr>
              <a:t>Agent</a:t>
            </a:r>
            <a:endParaRPr lang="zh-CN" altLang="en-US" sz="1600" b="1">
              <a:gradFill>
                <a:gsLst>
                  <a:gs pos="0">
                    <a:srgbClr val="C00000"/>
                  </a:gs>
                  <a:gs pos="100000">
                    <a:srgbClr val="FF0000"/>
                  </a:gs>
                </a:gsLst>
                <a:lin ang="5400000" scaled="0"/>
              </a:gradFill>
              <a:latin typeface="微软雅黑" panose="020B0503020204020204" pitchFamily="34" charset="-122"/>
              <a:ea typeface="微软雅黑" panose="020B0503020204020204" pitchFamily="34" charset="-122"/>
            </a:endParaRPr>
          </a:p>
        </p:txBody>
      </p:sp>
      <p:cxnSp>
        <p:nvCxnSpPr>
          <p:cNvPr id="350" name="直接连接符 349">
            <a:extLst>
              <a:ext uri="{FF2B5EF4-FFF2-40B4-BE49-F238E27FC236}">
                <a16:creationId xmlns:a16="http://schemas.microsoft.com/office/drawing/2014/main" id="{415C3386-E10F-44BB-90CB-A4DDBE5982DB}"/>
              </a:ext>
            </a:extLst>
          </p:cNvPr>
          <p:cNvCxnSpPr/>
          <p:nvPr/>
        </p:nvCxnSpPr>
        <p:spPr>
          <a:xfrm>
            <a:off x="0" y="3752176"/>
            <a:ext cx="12192000" cy="0"/>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69" name="组合 268">
            <a:extLst>
              <a:ext uri="{FF2B5EF4-FFF2-40B4-BE49-F238E27FC236}">
                <a16:creationId xmlns:a16="http://schemas.microsoft.com/office/drawing/2014/main" id="{32133602-0D2F-405F-97DC-56C9F5EC34DB}"/>
              </a:ext>
            </a:extLst>
          </p:cNvPr>
          <p:cNvGrpSpPr/>
          <p:nvPr/>
        </p:nvGrpSpPr>
        <p:grpSpPr>
          <a:xfrm>
            <a:off x="3565416" y="4175045"/>
            <a:ext cx="1308370" cy="1279388"/>
            <a:chOff x="411575" y="2199377"/>
            <a:chExt cx="1382442" cy="1434119"/>
          </a:xfrm>
        </p:grpSpPr>
        <p:sp>
          <p:nvSpPr>
            <p:cNvPr id="270" name="箭头: 上弧形 269">
              <a:extLst>
                <a:ext uri="{FF2B5EF4-FFF2-40B4-BE49-F238E27FC236}">
                  <a16:creationId xmlns:a16="http://schemas.microsoft.com/office/drawing/2014/main" id="{C3859ECF-B7F2-43DC-85DD-CB75221E8A86}"/>
                </a:ext>
              </a:extLst>
            </p:cNvPr>
            <p:cNvSpPr/>
            <p:nvPr/>
          </p:nvSpPr>
          <p:spPr>
            <a:xfrm>
              <a:off x="681990" y="2434070"/>
              <a:ext cx="843915" cy="231056"/>
            </a:xfrm>
            <a:prstGeom prst="curvedDownArrow">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pic>
          <p:nvPicPr>
            <p:cNvPr id="271" name="图形 270" descr="用户">
              <a:extLst>
                <a:ext uri="{FF2B5EF4-FFF2-40B4-BE49-F238E27FC236}">
                  <a16:creationId xmlns:a16="http://schemas.microsoft.com/office/drawing/2014/main" id="{6DFBE28F-6C70-4895-A1CF-2D1ACAD0F70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07144" y="2365238"/>
              <a:ext cx="811541" cy="811541"/>
            </a:xfrm>
            <a:prstGeom prst="rect">
              <a:avLst/>
            </a:prstGeom>
          </p:spPr>
        </p:pic>
        <p:sp>
          <p:nvSpPr>
            <p:cNvPr id="272" name="文本框 271">
              <a:extLst>
                <a:ext uri="{FF2B5EF4-FFF2-40B4-BE49-F238E27FC236}">
                  <a16:creationId xmlns:a16="http://schemas.microsoft.com/office/drawing/2014/main" id="{A27C9651-9D3F-4497-A902-18B77EDA6FA5}"/>
                </a:ext>
              </a:extLst>
            </p:cNvPr>
            <p:cNvSpPr txBox="1"/>
            <p:nvPr/>
          </p:nvSpPr>
          <p:spPr>
            <a:xfrm>
              <a:off x="538849" y="3046997"/>
              <a:ext cx="1153787" cy="586499"/>
            </a:xfrm>
            <a:prstGeom prst="rect">
              <a:avLst/>
            </a:prstGeom>
            <a:noFill/>
          </p:spPr>
          <p:txBody>
            <a:bodyPr wrap="none" rtlCol="0">
              <a:spAutoFit/>
            </a:bodyPr>
            <a:lstStyle/>
            <a:p>
              <a:pPr algn="ctr"/>
              <a:r>
                <a:rPr lang="en-US" altLang="zh-CN" sz="1400" b="1">
                  <a:solidFill>
                    <a:srgbClr val="C00000"/>
                  </a:solidFill>
                  <a:latin typeface="微软雅黑" panose="020B0503020204020204" pitchFamily="34" charset="-122"/>
                  <a:ea typeface="微软雅黑" panose="020B0503020204020204" pitchFamily="34" charset="-122"/>
                </a:rPr>
                <a:t>2 Units</a:t>
              </a:r>
            </a:p>
            <a:p>
              <a:pPr algn="ctr"/>
              <a:r>
                <a:rPr lang="zh-CN" altLang="en-US" sz="1400" b="1">
                  <a:solidFill>
                    <a:srgbClr val="C00000"/>
                  </a:solidFill>
                  <a:latin typeface="微软雅黑" panose="020B0503020204020204" pitchFamily="34" charset="-122"/>
                  <a:ea typeface="微软雅黑" panose="020B0503020204020204" pitchFamily="34" charset="-122"/>
                </a:rPr>
                <a:t>评估</a:t>
              </a:r>
              <a:r>
                <a:rPr lang="en-US" altLang="zh-CN" sz="1400" b="1">
                  <a:solidFill>
                    <a:srgbClr val="C00000"/>
                  </a:solidFill>
                  <a:latin typeface="微软雅黑" panose="020B0503020204020204" pitchFamily="34" charset="-122"/>
                  <a:ea typeface="微软雅黑" panose="020B0503020204020204" pitchFamily="34" charset="-122"/>
                </a:rPr>
                <a:t>Agent</a:t>
              </a:r>
              <a:endParaRPr lang="zh-CN" altLang="en-US" sz="1400" b="1">
                <a:solidFill>
                  <a:srgbClr val="C00000"/>
                </a:solidFill>
                <a:latin typeface="微软雅黑" panose="020B0503020204020204" pitchFamily="34" charset="-122"/>
                <a:ea typeface="微软雅黑" panose="020B0503020204020204" pitchFamily="34" charset="-122"/>
              </a:endParaRPr>
            </a:p>
          </p:txBody>
        </p:sp>
        <p:grpSp>
          <p:nvGrpSpPr>
            <p:cNvPr id="273" name="组合 272">
              <a:extLst>
                <a:ext uri="{FF2B5EF4-FFF2-40B4-BE49-F238E27FC236}">
                  <a16:creationId xmlns:a16="http://schemas.microsoft.com/office/drawing/2014/main" id="{7BF80933-89B6-41FA-863B-7BAA988766E1}"/>
                </a:ext>
              </a:extLst>
            </p:cNvPr>
            <p:cNvGrpSpPr/>
            <p:nvPr/>
          </p:nvGrpSpPr>
          <p:grpSpPr>
            <a:xfrm>
              <a:off x="561950" y="2515121"/>
              <a:ext cx="170607" cy="536925"/>
              <a:chOff x="561950" y="2515121"/>
              <a:chExt cx="170607" cy="536925"/>
            </a:xfrm>
          </p:grpSpPr>
          <p:sp>
            <p:nvSpPr>
              <p:cNvPr id="281" name="矩形 280">
                <a:extLst>
                  <a:ext uri="{FF2B5EF4-FFF2-40B4-BE49-F238E27FC236}">
                    <a16:creationId xmlns:a16="http://schemas.microsoft.com/office/drawing/2014/main" id="{262C79B3-C7B9-4C58-A99E-23447E299F22}"/>
                  </a:ext>
                </a:extLst>
              </p:cNvPr>
              <p:cNvSpPr/>
              <p:nvPr/>
            </p:nvSpPr>
            <p:spPr>
              <a:xfrm>
                <a:off x="563831" y="2515121"/>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2" name="矩形 281">
                <a:extLst>
                  <a:ext uri="{FF2B5EF4-FFF2-40B4-BE49-F238E27FC236}">
                    <a16:creationId xmlns:a16="http://schemas.microsoft.com/office/drawing/2014/main" id="{B6605662-ECE6-466D-B5C9-E26EE0258C09}"/>
                  </a:ext>
                </a:extLst>
              </p:cNvPr>
              <p:cNvSpPr/>
              <p:nvPr/>
            </p:nvSpPr>
            <p:spPr>
              <a:xfrm>
                <a:off x="563831" y="2604949"/>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3" name="矩形 282">
                <a:extLst>
                  <a:ext uri="{FF2B5EF4-FFF2-40B4-BE49-F238E27FC236}">
                    <a16:creationId xmlns:a16="http://schemas.microsoft.com/office/drawing/2014/main" id="{BD7D02BC-8CE2-40EC-8728-0BFFCFF6DDA5}"/>
                  </a:ext>
                </a:extLst>
              </p:cNvPr>
              <p:cNvSpPr/>
              <p:nvPr/>
            </p:nvSpPr>
            <p:spPr>
              <a:xfrm>
                <a:off x="563831" y="2689312"/>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4" name="矩形 283">
                <a:extLst>
                  <a:ext uri="{FF2B5EF4-FFF2-40B4-BE49-F238E27FC236}">
                    <a16:creationId xmlns:a16="http://schemas.microsoft.com/office/drawing/2014/main" id="{4FAC6273-868B-4623-BCBA-09CCE74CBCA6}"/>
                  </a:ext>
                </a:extLst>
              </p:cNvPr>
              <p:cNvSpPr/>
              <p:nvPr/>
            </p:nvSpPr>
            <p:spPr>
              <a:xfrm>
                <a:off x="561950" y="2783791"/>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5" name="矩形 284">
                <a:extLst>
                  <a:ext uri="{FF2B5EF4-FFF2-40B4-BE49-F238E27FC236}">
                    <a16:creationId xmlns:a16="http://schemas.microsoft.com/office/drawing/2014/main" id="{68AC3DF6-64E5-4675-8FC6-17729E159B62}"/>
                  </a:ext>
                </a:extLst>
              </p:cNvPr>
              <p:cNvSpPr/>
              <p:nvPr/>
            </p:nvSpPr>
            <p:spPr>
              <a:xfrm>
                <a:off x="561950" y="2883320"/>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80" name="矩形 279">
              <a:extLst>
                <a:ext uri="{FF2B5EF4-FFF2-40B4-BE49-F238E27FC236}">
                  <a16:creationId xmlns:a16="http://schemas.microsoft.com/office/drawing/2014/main" id="{1F247C1D-B8C6-4B7E-82E8-748993B484AD}"/>
                </a:ext>
              </a:extLst>
            </p:cNvPr>
            <p:cNvSpPr/>
            <p:nvPr/>
          </p:nvSpPr>
          <p:spPr>
            <a:xfrm>
              <a:off x="1494845" y="2519419"/>
              <a:ext cx="168726" cy="537627"/>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vert="eaVert" lIns="0" tIns="0" rIns="0" bIns="0" rtlCol="0" anchor="ctr"/>
            <a:lstStyle/>
            <a:p>
              <a:pPr algn="ctr" defTabSz="457200"/>
              <a:r>
                <a:rPr lang="en-US" altLang="zh-CN" sz="800"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Evaluation</a:t>
              </a:r>
              <a:endParaRPr lang="zh-CN" altLang="en-US" sz="8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75" name="文本框 274">
              <a:extLst>
                <a:ext uri="{FF2B5EF4-FFF2-40B4-BE49-F238E27FC236}">
                  <a16:creationId xmlns:a16="http://schemas.microsoft.com/office/drawing/2014/main" id="{1C732F5D-3E77-4CA9-A0B2-B84ACE4F0C78}"/>
                </a:ext>
              </a:extLst>
            </p:cNvPr>
            <p:cNvSpPr txBox="1"/>
            <p:nvPr/>
          </p:nvSpPr>
          <p:spPr>
            <a:xfrm>
              <a:off x="411575" y="2199377"/>
              <a:ext cx="1382442" cy="284625"/>
            </a:xfrm>
            <a:prstGeom prst="rect">
              <a:avLst/>
            </a:prstGeom>
            <a:noFill/>
          </p:spPr>
          <p:txBody>
            <a:bodyPr wrap="none" rtlCol="0">
              <a:spAutoFit/>
            </a:bodyPr>
            <a:lstStyle/>
            <a:p>
              <a:r>
                <a:rPr lang="en-US" altLang="zh-CN" sz="1050" b="1">
                  <a:solidFill>
                    <a:srgbClr val="C00000"/>
                  </a:solidFill>
                  <a:latin typeface="微软雅黑" panose="020B0503020204020204" pitchFamily="34" charset="-122"/>
                  <a:ea typeface="微软雅黑" panose="020B0503020204020204" pitchFamily="34" charset="-122"/>
                  <a:sym typeface="Wingdings" panose="05000000000000000000" pitchFamily="2" charset="2"/>
                </a:rPr>
                <a:t>S[n]</a:t>
              </a:r>
              <a:r>
                <a:rPr lang="en-US" altLang="zh-CN" sz="1050" b="1">
                  <a:solidFill>
                    <a:srgbClr val="C00000"/>
                  </a:solidFill>
                  <a:latin typeface="微软雅黑" panose="020B0503020204020204" pitchFamily="34" charset="-122"/>
                  <a:ea typeface="微软雅黑" panose="020B0503020204020204" pitchFamily="34" charset="-122"/>
                </a:rPr>
                <a:t>Prompt</a:t>
              </a:r>
              <a:r>
                <a:rPr lang="en-US" altLang="zh-CN" sz="1050" b="1">
                  <a:solidFill>
                    <a:srgbClr val="C00000"/>
                  </a:solidFill>
                  <a:latin typeface="微软雅黑" panose="020B0503020204020204" pitchFamily="34" charset="-122"/>
                  <a:ea typeface="微软雅黑" panose="020B0503020204020204" pitchFamily="34" charset="-122"/>
                  <a:sym typeface="Wingdings" panose="05000000000000000000" pitchFamily="2" charset="2"/>
                </a:rPr>
                <a:t>E</a:t>
              </a:r>
              <a:endParaRPr lang="zh-CN" altLang="en-US" sz="1050" b="1">
                <a:solidFill>
                  <a:srgbClr val="C00000"/>
                </a:solidFill>
                <a:latin typeface="微软雅黑" panose="020B0503020204020204" pitchFamily="34" charset="-122"/>
                <a:ea typeface="微软雅黑" panose="020B0503020204020204" pitchFamily="34" charset="-122"/>
              </a:endParaRPr>
            </a:p>
          </p:txBody>
        </p:sp>
      </p:grpSp>
      <p:sp>
        <p:nvSpPr>
          <p:cNvPr id="351" name="文本框 350">
            <a:extLst>
              <a:ext uri="{FF2B5EF4-FFF2-40B4-BE49-F238E27FC236}">
                <a16:creationId xmlns:a16="http://schemas.microsoft.com/office/drawing/2014/main" id="{F77ED4EB-80DA-41D9-AF0F-8D94558D789D}"/>
              </a:ext>
            </a:extLst>
          </p:cNvPr>
          <p:cNvSpPr txBox="1"/>
          <p:nvPr/>
        </p:nvSpPr>
        <p:spPr>
          <a:xfrm>
            <a:off x="5030016" y="4166642"/>
            <a:ext cx="287960" cy="1384995"/>
          </a:xfrm>
          <a:prstGeom prst="rect">
            <a:avLst/>
          </a:prstGeom>
          <a:solidFill>
            <a:srgbClr val="C00000"/>
          </a:solidFill>
          <a:ln>
            <a:solidFill>
              <a:schemeClr val="bg2">
                <a:lumMod val="10000"/>
              </a:schemeClr>
            </a:solidFill>
            <a:prstDash val="dash"/>
          </a:ln>
        </p:spPr>
        <p:txBody>
          <a:bodyPr wrap="square" rtlCol="0">
            <a:spAutoFit/>
          </a:bodyPr>
          <a:lstStyle/>
          <a:p>
            <a:pPr algn="ctr"/>
            <a:r>
              <a:rPr lang="zh-CN" altLang="en-US" sz="1400" b="1">
                <a:solidFill>
                  <a:schemeClr val="bg1"/>
                </a:solidFill>
                <a:latin typeface="微软雅黑" panose="020B0503020204020204" pitchFamily="34" charset="-122"/>
                <a:ea typeface="微软雅黑" panose="020B0503020204020204" pitchFamily="34" charset="-122"/>
              </a:rPr>
              <a:t>优势设计模板</a:t>
            </a:r>
          </a:p>
        </p:txBody>
      </p:sp>
      <p:pic>
        <p:nvPicPr>
          <p:cNvPr id="353" name="图形 352" descr="条形图">
            <a:extLst>
              <a:ext uri="{FF2B5EF4-FFF2-40B4-BE49-F238E27FC236}">
                <a16:creationId xmlns:a16="http://schemas.microsoft.com/office/drawing/2014/main" id="{6BB3F257-B3A9-4D4D-8EF4-2C458A35138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97361" y="4640698"/>
            <a:ext cx="633088" cy="633088"/>
          </a:xfrm>
          <a:prstGeom prst="rect">
            <a:avLst/>
          </a:prstGeom>
        </p:spPr>
      </p:pic>
      <p:sp>
        <p:nvSpPr>
          <p:cNvPr id="355" name="箭头: 右 354">
            <a:extLst>
              <a:ext uri="{FF2B5EF4-FFF2-40B4-BE49-F238E27FC236}">
                <a16:creationId xmlns:a16="http://schemas.microsoft.com/office/drawing/2014/main" id="{DE36A3B4-43DE-4796-8A98-0E914C9EAC8D}"/>
              </a:ext>
            </a:extLst>
          </p:cNvPr>
          <p:cNvSpPr/>
          <p:nvPr/>
        </p:nvSpPr>
        <p:spPr>
          <a:xfrm>
            <a:off x="4802763" y="4792822"/>
            <a:ext cx="204365" cy="168201"/>
          </a:xfrm>
          <a:prstGeom prst="rightArrow">
            <a:avLst>
              <a:gd name="adj1" fmla="val 50000"/>
              <a:gd name="adj2" fmla="val 57928"/>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56" name="箭头: 右 355">
            <a:extLst>
              <a:ext uri="{FF2B5EF4-FFF2-40B4-BE49-F238E27FC236}">
                <a16:creationId xmlns:a16="http://schemas.microsoft.com/office/drawing/2014/main" id="{4196BEA4-717C-4C6D-AE7A-17A44FDEF86C}"/>
              </a:ext>
            </a:extLst>
          </p:cNvPr>
          <p:cNvSpPr/>
          <p:nvPr/>
        </p:nvSpPr>
        <p:spPr>
          <a:xfrm>
            <a:off x="5407622" y="4811569"/>
            <a:ext cx="204365" cy="168201"/>
          </a:xfrm>
          <a:prstGeom prst="rightArrow">
            <a:avLst>
              <a:gd name="adj1" fmla="val 50000"/>
              <a:gd name="adj2" fmla="val 57928"/>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57" name="文本框 356">
            <a:extLst>
              <a:ext uri="{FF2B5EF4-FFF2-40B4-BE49-F238E27FC236}">
                <a16:creationId xmlns:a16="http://schemas.microsoft.com/office/drawing/2014/main" id="{2C3A2A86-7C7B-4B6E-8009-CC2859CB0FD7}"/>
              </a:ext>
            </a:extLst>
          </p:cNvPr>
          <p:cNvSpPr txBox="1"/>
          <p:nvPr/>
        </p:nvSpPr>
        <p:spPr>
          <a:xfrm>
            <a:off x="5317799" y="5184252"/>
            <a:ext cx="1261884" cy="307777"/>
          </a:xfrm>
          <a:prstGeom prst="rect">
            <a:avLst/>
          </a:prstGeom>
          <a:noFill/>
        </p:spPr>
        <p:txBody>
          <a:bodyPr wrap="none" rtlCol="0">
            <a:spAutoFit/>
          </a:bodyPr>
          <a:lstStyle/>
          <a:p>
            <a:pPr algn="ctr"/>
            <a:r>
              <a:rPr lang="zh-CN" altLang="en-US" sz="1400" b="1">
                <a:solidFill>
                  <a:srgbClr val="C00000"/>
                </a:solidFill>
                <a:latin typeface="微软雅黑" panose="020B0503020204020204" pitchFamily="34" charset="-122"/>
                <a:ea typeface="微软雅黑" panose="020B0503020204020204" pitchFamily="34" charset="-122"/>
              </a:rPr>
              <a:t>分支搜索算法</a:t>
            </a:r>
          </a:p>
        </p:txBody>
      </p:sp>
      <p:sp>
        <p:nvSpPr>
          <p:cNvPr id="360" name="文本框 359">
            <a:extLst>
              <a:ext uri="{FF2B5EF4-FFF2-40B4-BE49-F238E27FC236}">
                <a16:creationId xmlns:a16="http://schemas.microsoft.com/office/drawing/2014/main" id="{7D794638-4B07-4366-9A00-07567C5C5D0F}"/>
              </a:ext>
            </a:extLst>
          </p:cNvPr>
          <p:cNvSpPr txBox="1"/>
          <p:nvPr/>
        </p:nvSpPr>
        <p:spPr>
          <a:xfrm>
            <a:off x="5735436" y="4158598"/>
            <a:ext cx="902811" cy="307777"/>
          </a:xfrm>
          <a:prstGeom prst="rect">
            <a:avLst/>
          </a:prstGeom>
          <a:noFill/>
        </p:spPr>
        <p:txBody>
          <a:bodyPr wrap="none" rtlCol="0">
            <a:spAutoFit/>
          </a:bodyPr>
          <a:lstStyle/>
          <a:p>
            <a:pPr algn="ctr"/>
            <a:r>
              <a:rPr lang="zh-CN" altLang="en-US" sz="1400" b="1">
                <a:solidFill>
                  <a:schemeClr val="bg2">
                    <a:lumMod val="25000"/>
                  </a:schemeClr>
                </a:solidFill>
                <a:latin typeface="微软雅黑" panose="020B0503020204020204" pitchFamily="34" charset="-122"/>
                <a:ea typeface="微软雅黑" panose="020B0503020204020204" pitchFamily="34" charset="-122"/>
              </a:rPr>
              <a:t>节点约束</a:t>
            </a:r>
          </a:p>
        </p:txBody>
      </p:sp>
      <p:sp>
        <p:nvSpPr>
          <p:cNvPr id="361" name="箭头: 右 360">
            <a:extLst>
              <a:ext uri="{FF2B5EF4-FFF2-40B4-BE49-F238E27FC236}">
                <a16:creationId xmlns:a16="http://schemas.microsoft.com/office/drawing/2014/main" id="{D312C579-EF4B-46AA-AD29-D8FEBB611F6C}"/>
              </a:ext>
            </a:extLst>
          </p:cNvPr>
          <p:cNvSpPr/>
          <p:nvPr/>
        </p:nvSpPr>
        <p:spPr>
          <a:xfrm rot="5400000">
            <a:off x="5845922" y="4503727"/>
            <a:ext cx="204365" cy="168201"/>
          </a:xfrm>
          <a:prstGeom prst="rightArrow">
            <a:avLst>
              <a:gd name="adj1" fmla="val 50000"/>
              <a:gd name="adj2" fmla="val 57928"/>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62" name="立方体 361">
            <a:extLst>
              <a:ext uri="{FF2B5EF4-FFF2-40B4-BE49-F238E27FC236}">
                <a16:creationId xmlns:a16="http://schemas.microsoft.com/office/drawing/2014/main" id="{3FE0B1FB-3CAD-48D2-93A9-0140A80B021F}"/>
              </a:ext>
            </a:extLst>
          </p:cNvPr>
          <p:cNvSpPr/>
          <p:nvPr/>
        </p:nvSpPr>
        <p:spPr>
          <a:xfrm>
            <a:off x="5352813" y="4205575"/>
            <a:ext cx="199620" cy="188163"/>
          </a:xfrm>
          <a:prstGeom prst="cube">
            <a:avLst/>
          </a:prstGeom>
          <a:solidFill>
            <a:schemeClr val="bg2">
              <a:lumMod val="90000"/>
            </a:schemeClr>
          </a:solidFill>
          <a:ln w="3175">
            <a:solidFill>
              <a:schemeClr val="bg2">
                <a:lumMod val="50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63" name="立方体 362">
            <a:extLst>
              <a:ext uri="{FF2B5EF4-FFF2-40B4-BE49-F238E27FC236}">
                <a16:creationId xmlns:a16="http://schemas.microsoft.com/office/drawing/2014/main" id="{3AE1BADC-5819-4295-ADD5-C2D1ABC8B337}"/>
              </a:ext>
            </a:extLst>
          </p:cNvPr>
          <p:cNvSpPr/>
          <p:nvPr/>
        </p:nvSpPr>
        <p:spPr>
          <a:xfrm>
            <a:off x="5564448" y="4205574"/>
            <a:ext cx="199620" cy="188163"/>
          </a:xfrm>
          <a:prstGeom prst="cube">
            <a:avLst/>
          </a:prstGeom>
          <a:solidFill>
            <a:schemeClr val="bg2">
              <a:lumMod val="90000"/>
            </a:schemeClr>
          </a:solidFill>
          <a:ln w="3175">
            <a:solidFill>
              <a:schemeClr val="bg2">
                <a:lumMod val="50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64" name="箭头: 右 363">
            <a:extLst>
              <a:ext uri="{FF2B5EF4-FFF2-40B4-BE49-F238E27FC236}">
                <a16:creationId xmlns:a16="http://schemas.microsoft.com/office/drawing/2014/main" id="{87775C3B-ED6E-4F4C-9829-A56D6726A260}"/>
              </a:ext>
            </a:extLst>
          </p:cNvPr>
          <p:cNvSpPr/>
          <p:nvPr/>
        </p:nvSpPr>
        <p:spPr>
          <a:xfrm>
            <a:off x="6277508" y="4814768"/>
            <a:ext cx="204365" cy="168201"/>
          </a:xfrm>
          <a:prstGeom prst="rightArrow">
            <a:avLst>
              <a:gd name="adj1" fmla="val 50000"/>
              <a:gd name="adj2" fmla="val 57928"/>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388" name="组合 387">
            <a:extLst>
              <a:ext uri="{FF2B5EF4-FFF2-40B4-BE49-F238E27FC236}">
                <a16:creationId xmlns:a16="http://schemas.microsoft.com/office/drawing/2014/main" id="{99FE2653-1B51-460A-8395-BA278F9D8343}"/>
              </a:ext>
            </a:extLst>
          </p:cNvPr>
          <p:cNvGrpSpPr/>
          <p:nvPr/>
        </p:nvGrpSpPr>
        <p:grpSpPr>
          <a:xfrm>
            <a:off x="6702226" y="4741938"/>
            <a:ext cx="1025013" cy="731994"/>
            <a:chOff x="8529106" y="4801588"/>
            <a:chExt cx="816153" cy="610800"/>
          </a:xfrm>
        </p:grpSpPr>
        <p:sp>
          <p:nvSpPr>
            <p:cNvPr id="366" name="立方体 365">
              <a:extLst>
                <a:ext uri="{FF2B5EF4-FFF2-40B4-BE49-F238E27FC236}">
                  <a16:creationId xmlns:a16="http://schemas.microsoft.com/office/drawing/2014/main" id="{7C8B4C76-D963-4997-AFF3-A91293F424D3}"/>
                </a:ext>
              </a:extLst>
            </p:cNvPr>
            <p:cNvSpPr/>
            <p:nvPr/>
          </p:nvSpPr>
          <p:spPr>
            <a:xfrm>
              <a:off x="8529106" y="4803931"/>
              <a:ext cx="199620" cy="188163"/>
            </a:xfrm>
            <a:prstGeom prst="cub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ctr" defTabSz="457200"/>
              <a:r>
                <a:rPr lang="en-US" altLang="zh-CN" sz="800" b="1">
                  <a:solidFill>
                    <a:schemeClr val="bg1"/>
                  </a:solidFill>
                  <a:latin typeface="Arial" panose="020B0604020202020204" pitchFamily="34" charset="0"/>
                  <a:ea typeface="微软雅黑" panose="020B0503020204020204" pitchFamily="34" charset="-122"/>
                  <a:cs typeface="Arial" panose="020B0604020202020204" pitchFamily="34" charset="0"/>
                </a:rPr>
                <a:t>P2</a:t>
              </a:r>
              <a:endParaRPr lang="zh-CN" altLang="en-US" sz="8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367" name="立方体 366">
              <a:extLst>
                <a:ext uri="{FF2B5EF4-FFF2-40B4-BE49-F238E27FC236}">
                  <a16:creationId xmlns:a16="http://schemas.microsoft.com/office/drawing/2014/main" id="{D9A41AEA-948F-41A2-94E3-8D816E8547E8}"/>
                </a:ext>
              </a:extLst>
            </p:cNvPr>
            <p:cNvSpPr/>
            <p:nvPr/>
          </p:nvSpPr>
          <p:spPr>
            <a:xfrm>
              <a:off x="8831699" y="4801588"/>
              <a:ext cx="199620" cy="188163"/>
            </a:xfrm>
            <a:prstGeom prst="cub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ctr" defTabSz="457200"/>
              <a:r>
                <a:rPr lang="en-US" altLang="zh-CN" sz="800" b="1">
                  <a:solidFill>
                    <a:schemeClr val="bg1"/>
                  </a:solidFill>
                  <a:latin typeface="Arial" panose="020B0604020202020204" pitchFamily="34" charset="0"/>
                  <a:ea typeface="微软雅黑" panose="020B0503020204020204" pitchFamily="34" charset="-122"/>
                  <a:cs typeface="Arial" panose="020B0604020202020204" pitchFamily="34" charset="0"/>
                </a:rPr>
                <a:t>B3</a:t>
              </a:r>
              <a:endParaRPr lang="zh-CN" altLang="en-US" sz="8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368" name="立方体 367">
              <a:extLst>
                <a:ext uri="{FF2B5EF4-FFF2-40B4-BE49-F238E27FC236}">
                  <a16:creationId xmlns:a16="http://schemas.microsoft.com/office/drawing/2014/main" id="{37230EC7-9739-4EAB-B28A-54E752A88533}"/>
                </a:ext>
              </a:extLst>
            </p:cNvPr>
            <p:cNvSpPr/>
            <p:nvPr/>
          </p:nvSpPr>
          <p:spPr>
            <a:xfrm>
              <a:off x="9145639" y="4803443"/>
              <a:ext cx="199620" cy="188163"/>
            </a:xfrm>
            <a:prstGeom prst="cub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ctr" defTabSz="457200"/>
              <a:r>
                <a:rPr lang="en-US" altLang="zh-CN" sz="800" b="1">
                  <a:solidFill>
                    <a:schemeClr val="bg1"/>
                  </a:solidFill>
                  <a:latin typeface="Arial" panose="020B0604020202020204" pitchFamily="34" charset="0"/>
                  <a:ea typeface="微软雅黑" panose="020B0503020204020204" pitchFamily="34" charset="-122"/>
                  <a:cs typeface="Arial" panose="020B0604020202020204" pitchFamily="34" charset="0"/>
                </a:rPr>
                <a:t>M2</a:t>
              </a:r>
              <a:endParaRPr lang="zh-CN" altLang="en-US" sz="8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371" name="箭头: 右 370">
              <a:extLst>
                <a:ext uri="{FF2B5EF4-FFF2-40B4-BE49-F238E27FC236}">
                  <a16:creationId xmlns:a16="http://schemas.microsoft.com/office/drawing/2014/main" id="{1675CFBE-02F6-4740-97E1-20C84181C27F}"/>
                </a:ext>
              </a:extLst>
            </p:cNvPr>
            <p:cNvSpPr/>
            <p:nvPr/>
          </p:nvSpPr>
          <p:spPr>
            <a:xfrm>
              <a:off x="8736331" y="4874174"/>
              <a:ext cx="87762" cy="55785"/>
            </a:xfrm>
            <a:prstGeom prst="rightArrow">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ctr"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72" name="箭头: 右 371">
              <a:extLst>
                <a:ext uri="{FF2B5EF4-FFF2-40B4-BE49-F238E27FC236}">
                  <a16:creationId xmlns:a16="http://schemas.microsoft.com/office/drawing/2014/main" id="{E7C8E8F2-96E1-4F98-A5E1-CB2B184D1426}"/>
                </a:ext>
              </a:extLst>
            </p:cNvPr>
            <p:cNvSpPr/>
            <p:nvPr/>
          </p:nvSpPr>
          <p:spPr>
            <a:xfrm>
              <a:off x="9038925" y="4879933"/>
              <a:ext cx="87762" cy="55785"/>
            </a:xfrm>
            <a:prstGeom prst="rightArrow">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ctr"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78" name="立方体 377">
              <a:extLst>
                <a:ext uri="{FF2B5EF4-FFF2-40B4-BE49-F238E27FC236}">
                  <a16:creationId xmlns:a16="http://schemas.microsoft.com/office/drawing/2014/main" id="{97EB5722-56B5-4F73-B274-4D9A12203AF1}"/>
                </a:ext>
              </a:extLst>
            </p:cNvPr>
            <p:cNvSpPr/>
            <p:nvPr/>
          </p:nvSpPr>
          <p:spPr>
            <a:xfrm>
              <a:off x="8529106" y="5014341"/>
              <a:ext cx="199620" cy="188163"/>
            </a:xfrm>
            <a:prstGeom prst="cub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ctr" defTabSz="457200"/>
              <a:r>
                <a:rPr lang="en-US" altLang="zh-CN" sz="800" b="1">
                  <a:solidFill>
                    <a:schemeClr val="bg1"/>
                  </a:solidFill>
                  <a:latin typeface="Arial" panose="020B0604020202020204" pitchFamily="34" charset="0"/>
                  <a:ea typeface="微软雅黑" panose="020B0503020204020204" pitchFamily="34" charset="-122"/>
                  <a:cs typeface="Arial" panose="020B0604020202020204" pitchFamily="34" charset="0"/>
                </a:rPr>
                <a:t>P1</a:t>
              </a:r>
              <a:endParaRPr lang="zh-CN" altLang="en-US" sz="8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379" name="立方体 378">
              <a:extLst>
                <a:ext uri="{FF2B5EF4-FFF2-40B4-BE49-F238E27FC236}">
                  <a16:creationId xmlns:a16="http://schemas.microsoft.com/office/drawing/2014/main" id="{4CDE7127-752F-412F-A107-5812C20F6F75}"/>
                </a:ext>
              </a:extLst>
            </p:cNvPr>
            <p:cNvSpPr/>
            <p:nvPr/>
          </p:nvSpPr>
          <p:spPr>
            <a:xfrm>
              <a:off x="8831699" y="5011998"/>
              <a:ext cx="199620" cy="188163"/>
            </a:xfrm>
            <a:prstGeom prst="cub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ctr" defTabSz="457200"/>
              <a:r>
                <a:rPr lang="en-US" altLang="zh-CN" sz="800" b="1">
                  <a:solidFill>
                    <a:schemeClr val="bg1"/>
                  </a:solidFill>
                  <a:latin typeface="Arial" panose="020B0604020202020204" pitchFamily="34" charset="0"/>
                  <a:ea typeface="微软雅黑" panose="020B0503020204020204" pitchFamily="34" charset="-122"/>
                  <a:cs typeface="Arial" panose="020B0604020202020204" pitchFamily="34" charset="0"/>
                </a:rPr>
                <a:t>B3</a:t>
              </a:r>
              <a:endParaRPr lang="zh-CN" altLang="en-US" sz="8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380" name="立方体 379">
              <a:extLst>
                <a:ext uri="{FF2B5EF4-FFF2-40B4-BE49-F238E27FC236}">
                  <a16:creationId xmlns:a16="http://schemas.microsoft.com/office/drawing/2014/main" id="{8F80EDB8-F228-41C5-9276-0C6694FBC157}"/>
                </a:ext>
              </a:extLst>
            </p:cNvPr>
            <p:cNvSpPr/>
            <p:nvPr/>
          </p:nvSpPr>
          <p:spPr>
            <a:xfrm>
              <a:off x="9145639" y="5013853"/>
              <a:ext cx="199620" cy="188163"/>
            </a:xfrm>
            <a:prstGeom prst="cub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ctr" defTabSz="457200"/>
              <a:r>
                <a:rPr lang="en-US" altLang="zh-CN" sz="800" b="1">
                  <a:solidFill>
                    <a:schemeClr val="bg1"/>
                  </a:solidFill>
                  <a:latin typeface="Arial" panose="020B0604020202020204" pitchFamily="34" charset="0"/>
                  <a:ea typeface="微软雅黑" panose="020B0503020204020204" pitchFamily="34" charset="-122"/>
                  <a:cs typeface="Arial" panose="020B0604020202020204" pitchFamily="34" charset="0"/>
                </a:rPr>
                <a:t>M2</a:t>
              </a:r>
              <a:endParaRPr lang="zh-CN" altLang="en-US" sz="8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381" name="箭头: 右 380">
              <a:extLst>
                <a:ext uri="{FF2B5EF4-FFF2-40B4-BE49-F238E27FC236}">
                  <a16:creationId xmlns:a16="http://schemas.microsoft.com/office/drawing/2014/main" id="{BD758EAE-45C7-4391-9E0A-CF537BC368A1}"/>
                </a:ext>
              </a:extLst>
            </p:cNvPr>
            <p:cNvSpPr/>
            <p:nvPr/>
          </p:nvSpPr>
          <p:spPr>
            <a:xfrm>
              <a:off x="8736331" y="5084584"/>
              <a:ext cx="87762" cy="55785"/>
            </a:xfrm>
            <a:prstGeom prst="rightArrow">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ctr"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82" name="箭头: 右 381">
              <a:extLst>
                <a:ext uri="{FF2B5EF4-FFF2-40B4-BE49-F238E27FC236}">
                  <a16:creationId xmlns:a16="http://schemas.microsoft.com/office/drawing/2014/main" id="{DF794E1A-EDD8-4412-9B20-DB9AE9D0D511}"/>
                </a:ext>
              </a:extLst>
            </p:cNvPr>
            <p:cNvSpPr/>
            <p:nvPr/>
          </p:nvSpPr>
          <p:spPr>
            <a:xfrm>
              <a:off x="9038925" y="5090343"/>
              <a:ext cx="87762" cy="55785"/>
            </a:xfrm>
            <a:prstGeom prst="rightArrow">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ctr"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83" name="立方体 382">
              <a:extLst>
                <a:ext uri="{FF2B5EF4-FFF2-40B4-BE49-F238E27FC236}">
                  <a16:creationId xmlns:a16="http://schemas.microsoft.com/office/drawing/2014/main" id="{13ADB035-F306-4761-A1FC-4855A318DAE4}"/>
                </a:ext>
              </a:extLst>
            </p:cNvPr>
            <p:cNvSpPr/>
            <p:nvPr/>
          </p:nvSpPr>
          <p:spPr>
            <a:xfrm>
              <a:off x="8529106" y="5224225"/>
              <a:ext cx="199620" cy="188163"/>
            </a:xfrm>
            <a:prstGeom prst="cub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ctr" defTabSz="457200"/>
              <a:r>
                <a:rPr lang="en-US" altLang="zh-CN" sz="800" b="1">
                  <a:solidFill>
                    <a:schemeClr val="bg1"/>
                  </a:solidFill>
                  <a:latin typeface="Arial" panose="020B0604020202020204" pitchFamily="34" charset="0"/>
                  <a:ea typeface="微软雅黑" panose="020B0503020204020204" pitchFamily="34" charset="-122"/>
                  <a:cs typeface="Arial" panose="020B0604020202020204" pitchFamily="34" charset="0"/>
                </a:rPr>
                <a:t>P1</a:t>
              </a:r>
              <a:endParaRPr lang="zh-CN" altLang="en-US" sz="8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384" name="立方体 383">
              <a:extLst>
                <a:ext uri="{FF2B5EF4-FFF2-40B4-BE49-F238E27FC236}">
                  <a16:creationId xmlns:a16="http://schemas.microsoft.com/office/drawing/2014/main" id="{029CBBEE-2B2B-40E6-A1DF-B23CA74DDD8E}"/>
                </a:ext>
              </a:extLst>
            </p:cNvPr>
            <p:cNvSpPr/>
            <p:nvPr/>
          </p:nvSpPr>
          <p:spPr>
            <a:xfrm>
              <a:off x="8831699" y="5221882"/>
              <a:ext cx="199620" cy="188163"/>
            </a:xfrm>
            <a:prstGeom prst="cub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ctr" defTabSz="457200"/>
              <a:r>
                <a:rPr lang="en-US" altLang="zh-CN" sz="800" b="1">
                  <a:solidFill>
                    <a:schemeClr val="bg1"/>
                  </a:solidFill>
                  <a:latin typeface="Arial" panose="020B0604020202020204" pitchFamily="34" charset="0"/>
                  <a:ea typeface="微软雅黑" panose="020B0503020204020204" pitchFamily="34" charset="-122"/>
                  <a:cs typeface="Arial" panose="020B0604020202020204" pitchFamily="34" charset="0"/>
                </a:rPr>
                <a:t>B3</a:t>
              </a:r>
              <a:endParaRPr lang="zh-CN" altLang="en-US" sz="8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385" name="立方体 384">
              <a:extLst>
                <a:ext uri="{FF2B5EF4-FFF2-40B4-BE49-F238E27FC236}">
                  <a16:creationId xmlns:a16="http://schemas.microsoft.com/office/drawing/2014/main" id="{F4F67208-FD20-4B73-9F7C-89BB53E5CF2E}"/>
                </a:ext>
              </a:extLst>
            </p:cNvPr>
            <p:cNvSpPr/>
            <p:nvPr/>
          </p:nvSpPr>
          <p:spPr>
            <a:xfrm>
              <a:off x="9145639" y="5223737"/>
              <a:ext cx="199620" cy="188163"/>
            </a:xfrm>
            <a:prstGeom prst="cub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ctr" defTabSz="457200"/>
              <a:r>
                <a:rPr lang="en-US" altLang="zh-CN" sz="800" b="1">
                  <a:solidFill>
                    <a:schemeClr val="bg1"/>
                  </a:solidFill>
                  <a:latin typeface="Arial" panose="020B0604020202020204" pitchFamily="34" charset="0"/>
                  <a:ea typeface="微软雅黑" panose="020B0503020204020204" pitchFamily="34" charset="-122"/>
                  <a:cs typeface="Arial" panose="020B0604020202020204" pitchFamily="34" charset="0"/>
                </a:rPr>
                <a:t>M3</a:t>
              </a:r>
              <a:endParaRPr lang="zh-CN" altLang="en-US" sz="8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386" name="箭头: 右 385">
              <a:extLst>
                <a:ext uri="{FF2B5EF4-FFF2-40B4-BE49-F238E27FC236}">
                  <a16:creationId xmlns:a16="http://schemas.microsoft.com/office/drawing/2014/main" id="{9F7BA8E5-6751-49A7-A445-5952395D73B6}"/>
                </a:ext>
              </a:extLst>
            </p:cNvPr>
            <p:cNvSpPr/>
            <p:nvPr/>
          </p:nvSpPr>
          <p:spPr>
            <a:xfrm>
              <a:off x="8736331" y="5294468"/>
              <a:ext cx="87762" cy="55785"/>
            </a:xfrm>
            <a:prstGeom prst="rightArrow">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ctr"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87" name="箭头: 右 386">
              <a:extLst>
                <a:ext uri="{FF2B5EF4-FFF2-40B4-BE49-F238E27FC236}">
                  <a16:creationId xmlns:a16="http://schemas.microsoft.com/office/drawing/2014/main" id="{33CDB386-D1CE-4162-9970-541AF814154A}"/>
                </a:ext>
              </a:extLst>
            </p:cNvPr>
            <p:cNvSpPr/>
            <p:nvPr/>
          </p:nvSpPr>
          <p:spPr>
            <a:xfrm>
              <a:off x="9038925" y="5300227"/>
              <a:ext cx="87762" cy="55785"/>
            </a:xfrm>
            <a:prstGeom prst="rightArrow">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ctr"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389" name="文本框 388">
            <a:extLst>
              <a:ext uri="{FF2B5EF4-FFF2-40B4-BE49-F238E27FC236}">
                <a16:creationId xmlns:a16="http://schemas.microsoft.com/office/drawing/2014/main" id="{EB85BBC3-CDB1-4E11-839A-6B902A72151D}"/>
              </a:ext>
            </a:extLst>
          </p:cNvPr>
          <p:cNvSpPr txBox="1"/>
          <p:nvPr/>
        </p:nvSpPr>
        <p:spPr>
          <a:xfrm>
            <a:off x="6848281" y="4207030"/>
            <a:ext cx="902811" cy="523220"/>
          </a:xfrm>
          <a:prstGeom prst="rect">
            <a:avLst/>
          </a:prstGeom>
          <a:noFill/>
        </p:spPr>
        <p:txBody>
          <a:bodyPr wrap="none" rtlCol="0">
            <a:spAutoFit/>
          </a:bodyPr>
          <a:lstStyle/>
          <a:p>
            <a:pPr algn="ctr"/>
            <a:r>
              <a:rPr lang="zh-CN" altLang="en-US" sz="1400" b="1">
                <a:solidFill>
                  <a:srgbClr val="C00000"/>
                </a:solidFill>
                <a:latin typeface="微软雅黑" panose="020B0503020204020204" pitchFamily="34" charset="-122"/>
                <a:ea typeface="微软雅黑" panose="020B0503020204020204" pitchFamily="34" charset="-122"/>
              </a:rPr>
              <a:t>市场设计</a:t>
            </a:r>
            <a:endParaRPr lang="en-US" altLang="zh-CN" sz="1400" b="1">
              <a:solidFill>
                <a:srgbClr val="C00000"/>
              </a:solidFill>
              <a:latin typeface="微软雅黑" panose="020B0503020204020204" pitchFamily="34" charset="-122"/>
              <a:ea typeface="微软雅黑" panose="020B0503020204020204" pitchFamily="34" charset="-122"/>
            </a:endParaRPr>
          </a:p>
          <a:p>
            <a:pPr algn="ctr"/>
            <a:r>
              <a:rPr lang="zh-CN" altLang="en-US" sz="1400" b="1">
                <a:solidFill>
                  <a:srgbClr val="C00000"/>
                </a:solidFill>
                <a:latin typeface="微软雅黑" panose="020B0503020204020204" pitchFamily="34" charset="-122"/>
                <a:ea typeface="微软雅黑" panose="020B0503020204020204" pitchFamily="34" charset="-122"/>
              </a:rPr>
              <a:t>可行集合</a:t>
            </a:r>
          </a:p>
        </p:txBody>
      </p:sp>
      <p:sp>
        <p:nvSpPr>
          <p:cNvPr id="390" name="箭头: 右 389">
            <a:extLst>
              <a:ext uri="{FF2B5EF4-FFF2-40B4-BE49-F238E27FC236}">
                <a16:creationId xmlns:a16="http://schemas.microsoft.com/office/drawing/2014/main" id="{B4A3F05A-FD0D-4055-A983-247C4A3F48EB}"/>
              </a:ext>
            </a:extLst>
          </p:cNvPr>
          <p:cNvSpPr/>
          <p:nvPr/>
        </p:nvSpPr>
        <p:spPr>
          <a:xfrm rot="3039108">
            <a:off x="3605550" y="3643810"/>
            <a:ext cx="204365" cy="168201"/>
          </a:xfrm>
          <a:prstGeom prst="rightArrow">
            <a:avLst>
              <a:gd name="adj1" fmla="val 50000"/>
              <a:gd name="adj2" fmla="val 57928"/>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91" name="箭头: 右 390">
            <a:extLst>
              <a:ext uri="{FF2B5EF4-FFF2-40B4-BE49-F238E27FC236}">
                <a16:creationId xmlns:a16="http://schemas.microsoft.com/office/drawing/2014/main" id="{1354A9EF-87F1-4849-A441-A506FE14D034}"/>
              </a:ext>
            </a:extLst>
          </p:cNvPr>
          <p:cNvSpPr/>
          <p:nvPr/>
        </p:nvSpPr>
        <p:spPr>
          <a:xfrm rot="3427391">
            <a:off x="8230052" y="3730254"/>
            <a:ext cx="204365" cy="168201"/>
          </a:xfrm>
          <a:prstGeom prst="rightArrow">
            <a:avLst>
              <a:gd name="adj1" fmla="val 50000"/>
              <a:gd name="adj2" fmla="val 57928"/>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92" name="箭头: 右 391">
            <a:extLst>
              <a:ext uri="{FF2B5EF4-FFF2-40B4-BE49-F238E27FC236}">
                <a16:creationId xmlns:a16="http://schemas.microsoft.com/office/drawing/2014/main" id="{B3DA32C9-892A-45BA-B683-27094F16C516}"/>
              </a:ext>
            </a:extLst>
          </p:cNvPr>
          <p:cNvSpPr/>
          <p:nvPr/>
        </p:nvSpPr>
        <p:spPr>
          <a:xfrm rot="5400000">
            <a:off x="5798404" y="3649872"/>
            <a:ext cx="204365" cy="168201"/>
          </a:xfrm>
          <a:prstGeom prst="rightArrow">
            <a:avLst>
              <a:gd name="adj1" fmla="val 50000"/>
              <a:gd name="adj2" fmla="val 57928"/>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393" name="组合 392">
            <a:extLst>
              <a:ext uri="{FF2B5EF4-FFF2-40B4-BE49-F238E27FC236}">
                <a16:creationId xmlns:a16="http://schemas.microsoft.com/office/drawing/2014/main" id="{C0FE953E-1F92-4D54-A137-20564099CC05}"/>
              </a:ext>
            </a:extLst>
          </p:cNvPr>
          <p:cNvGrpSpPr/>
          <p:nvPr/>
        </p:nvGrpSpPr>
        <p:grpSpPr>
          <a:xfrm>
            <a:off x="7962615" y="3989438"/>
            <a:ext cx="1728358" cy="1421857"/>
            <a:chOff x="385305" y="2241189"/>
            <a:chExt cx="1460876" cy="1274979"/>
          </a:xfrm>
        </p:grpSpPr>
        <p:sp>
          <p:nvSpPr>
            <p:cNvPr id="394" name="箭头: 上弧形 393">
              <a:extLst>
                <a:ext uri="{FF2B5EF4-FFF2-40B4-BE49-F238E27FC236}">
                  <a16:creationId xmlns:a16="http://schemas.microsoft.com/office/drawing/2014/main" id="{539E397D-824B-4D70-9FC0-B1179A373130}"/>
                </a:ext>
              </a:extLst>
            </p:cNvPr>
            <p:cNvSpPr/>
            <p:nvPr/>
          </p:nvSpPr>
          <p:spPr>
            <a:xfrm>
              <a:off x="681990" y="2434070"/>
              <a:ext cx="843915" cy="231056"/>
            </a:xfrm>
            <a:prstGeom prst="curvedDownArrow">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pic>
          <p:nvPicPr>
            <p:cNvPr id="395" name="图形 394" descr="用户">
              <a:extLst>
                <a:ext uri="{FF2B5EF4-FFF2-40B4-BE49-F238E27FC236}">
                  <a16:creationId xmlns:a16="http://schemas.microsoft.com/office/drawing/2014/main" id="{6C559497-7CAC-4118-8A02-49265D9584D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7145" y="2365238"/>
              <a:ext cx="811541" cy="811541"/>
            </a:xfrm>
            <a:prstGeom prst="rect">
              <a:avLst/>
            </a:prstGeom>
          </p:spPr>
        </p:pic>
        <p:sp>
          <p:nvSpPr>
            <p:cNvPr id="396" name="文本框 395">
              <a:extLst>
                <a:ext uri="{FF2B5EF4-FFF2-40B4-BE49-F238E27FC236}">
                  <a16:creationId xmlns:a16="http://schemas.microsoft.com/office/drawing/2014/main" id="{DF614A8D-2E6C-45BA-B6E5-0E7E113F3D3C}"/>
                </a:ext>
              </a:extLst>
            </p:cNvPr>
            <p:cNvSpPr txBox="1"/>
            <p:nvPr/>
          </p:nvSpPr>
          <p:spPr>
            <a:xfrm>
              <a:off x="385305" y="3046997"/>
              <a:ext cx="1460876" cy="469171"/>
            </a:xfrm>
            <a:prstGeom prst="rect">
              <a:avLst/>
            </a:prstGeom>
            <a:noFill/>
          </p:spPr>
          <p:txBody>
            <a:bodyPr wrap="none" rtlCol="0">
              <a:spAutoFit/>
            </a:bodyPr>
            <a:lstStyle/>
            <a:p>
              <a:pPr algn="ctr"/>
              <a:r>
                <a:rPr lang="en-US" altLang="zh-CN" sz="1400" b="1">
                  <a:solidFill>
                    <a:srgbClr val="0C66BB"/>
                  </a:solidFill>
                  <a:latin typeface="微软雅黑" panose="020B0503020204020204" pitchFamily="34" charset="-122"/>
                  <a:ea typeface="微软雅黑" panose="020B0503020204020204" pitchFamily="34" charset="-122"/>
                </a:rPr>
                <a:t>2 </a:t>
              </a:r>
              <a:r>
                <a:rPr lang="zh-CN" altLang="en-US" sz="1400" b="1">
                  <a:solidFill>
                    <a:srgbClr val="0C66BB"/>
                  </a:solidFill>
                  <a:latin typeface="微软雅黑" panose="020B0503020204020204" pitchFamily="34" charset="-122"/>
                  <a:ea typeface="微软雅黑" panose="020B0503020204020204" pitchFamily="34" charset="-122"/>
                </a:rPr>
                <a:t>市场设计规则化</a:t>
              </a:r>
              <a:r>
                <a:rPr lang="en-US" altLang="zh-CN" sz="1400" b="1">
                  <a:solidFill>
                    <a:srgbClr val="0C66BB"/>
                  </a:solidFill>
                  <a:latin typeface="微软雅黑" panose="020B0503020204020204" pitchFamily="34" charset="-122"/>
                  <a:ea typeface="微软雅黑" panose="020B0503020204020204" pitchFamily="34" charset="-122"/>
                </a:rPr>
                <a:t>B</a:t>
              </a:r>
            </a:p>
            <a:p>
              <a:pPr algn="ctr"/>
              <a:r>
                <a:rPr lang="en-US" altLang="zh-CN" sz="1400" b="1">
                  <a:solidFill>
                    <a:srgbClr val="0C66BB"/>
                  </a:solidFill>
                  <a:latin typeface="微软雅黑" panose="020B0503020204020204" pitchFamily="34" charset="-122"/>
                  <a:ea typeface="微软雅黑" panose="020B0503020204020204" pitchFamily="34" charset="-122"/>
                </a:rPr>
                <a:t>LLM-Agent</a:t>
              </a:r>
              <a:endParaRPr lang="zh-CN" altLang="en-US" sz="1400" b="1">
                <a:solidFill>
                  <a:srgbClr val="0C66BB"/>
                </a:solidFill>
                <a:latin typeface="微软雅黑" panose="020B0503020204020204" pitchFamily="34" charset="-122"/>
                <a:ea typeface="微软雅黑" panose="020B0503020204020204" pitchFamily="34" charset="-122"/>
              </a:endParaRPr>
            </a:p>
          </p:txBody>
        </p:sp>
        <p:grpSp>
          <p:nvGrpSpPr>
            <p:cNvPr id="397" name="组合 396">
              <a:extLst>
                <a:ext uri="{FF2B5EF4-FFF2-40B4-BE49-F238E27FC236}">
                  <a16:creationId xmlns:a16="http://schemas.microsoft.com/office/drawing/2014/main" id="{5CC40A11-B83D-42F7-8CB7-EDE46B79E529}"/>
                </a:ext>
              </a:extLst>
            </p:cNvPr>
            <p:cNvGrpSpPr/>
            <p:nvPr/>
          </p:nvGrpSpPr>
          <p:grpSpPr>
            <a:xfrm>
              <a:off x="561950" y="2515121"/>
              <a:ext cx="170607" cy="536925"/>
              <a:chOff x="561950" y="2515121"/>
              <a:chExt cx="170607" cy="536925"/>
            </a:xfrm>
          </p:grpSpPr>
          <p:sp>
            <p:nvSpPr>
              <p:cNvPr id="405" name="矩形 404">
                <a:extLst>
                  <a:ext uri="{FF2B5EF4-FFF2-40B4-BE49-F238E27FC236}">
                    <a16:creationId xmlns:a16="http://schemas.microsoft.com/office/drawing/2014/main" id="{CDD9C6E2-C690-4F6F-8AB8-DD2E6F8AA0B5}"/>
                  </a:ext>
                </a:extLst>
              </p:cNvPr>
              <p:cNvSpPr/>
              <p:nvPr/>
            </p:nvSpPr>
            <p:spPr>
              <a:xfrm>
                <a:off x="563831" y="2515121"/>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06" name="矩形 405">
                <a:extLst>
                  <a:ext uri="{FF2B5EF4-FFF2-40B4-BE49-F238E27FC236}">
                    <a16:creationId xmlns:a16="http://schemas.microsoft.com/office/drawing/2014/main" id="{4E1A4B00-09EB-4547-878A-C1ABAE67E964}"/>
                  </a:ext>
                </a:extLst>
              </p:cNvPr>
              <p:cNvSpPr/>
              <p:nvPr/>
            </p:nvSpPr>
            <p:spPr>
              <a:xfrm>
                <a:off x="563831" y="2604949"/>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07" name="矩形 406">
                <a:extLst>
                  <a:ext uri="{FF2B5EF4-FFF2-40B4-BE49-F238E27FC236}">
                    <a16:creationId xmlns:a16="http://schemas.microsoft.com/office/drawing/2014/main" id="{5A9A98EC-E31A-45DE-9972-CAFD64F9285D}"/>
                  </a:ext>
                </a:extLst>
              </p:cNvPr>
              <p:cNvSpPr/>
              <p:nvPr/>
            </p:nvSpPr>
            <p:spPr>
              <a:xfrm>
                <a:off x="563831" y="2689312"/>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08" name="矩形 407">
                <a:extLst>
                  <a:ext uri="{FF2B5EF4-FFF2-40B4-BE49-F238E27FC236}">
                    <a16:creationId xmlns:a16="http://schemas.microsoft.com/office/drawing/2014/main" id="{6F4C6804-3845-4690-A56E-F7D6C161DD93}"/>
                  </a:ext>
                </a:extLst>
              </p:cNvPr>
              <p:cNvSpPr/>
              <p:nvPr/>
            </p:nvSpPr>
            <p:spPr>
              <a:xfrm>
                <a:off x="561950" y="2783791"/>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09" name="矩形 408">
                <a:extLst>
                  <a:ext uri="{FF2B5EF4-FFF2-40B4-BE49-F238E27FC236}">
                    <a16:creationId xmlns:a16="http://schemas.microsoft.com/office/drawing/2014/main" id="{6684B6C3-25AC-4DCC-A22C-2D9168CFF730}"/>
                  </a:ext>
                </a:extLst>
              </p:cNvPr>
              <p:cNvSpPr/>
              <p:nvPr/>
            </p:nvSpPr>
            <p:spPr>
              <a:xfrm>
                <a:off x="561950" y="2883320"/>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398" name="组合 397">
              <a:extLst>
                <a:ext uri="{FF2B5EF4-FFF2-40B4-BE49-F238E27FC236}">
                  <a16:creationId xmlns:a16="http://schemas.microsoft.com/office/drawing/2014/main" id="{19BC65A2-D060-4CCE-9BCD-B06F12C3D20C}"/>
                </a:ext>
              </a:extLst>
            </p:cNvPr>
            <p:cNvGrpSpPr/>
            <p:nvPr/>
          </p:nvGrpSpPr>
          <p:grpSpPr>
            <a:xfrm>
              <a:off x="1497035" y="2512455"/>
              <a:ext cx="170607" cy="536925"/>
              <a:chOff x="561950" y="2515121"/>
              <a:chExt cx="170607" cy="536925"/>
            </a:xfrm>
          </p:grpSpPr>
          <p:sp>
            <p:nvSpPr>
              <p:cNvPr id="400" name="矩形 399">
                <a:extLst>
                  <a:ext uri="{FF2B5EF4-FFF2-40B4-BE49-F238E27FC236}">
                    <a16:creationId xmlns:a16="http://schemas.microsoft.com/office/drawing/2014/main" id="{095EA949-D9FF-4B66-A1D8-637BB4771CEE}"/>
                  </a:ext>
                </a:extLst>
              </p:cNvPr>
              <p:cNvSpPr/>
              <p:nvPr/>
            </p:nvSpPr>
            <p:spPr>
              <a:xfrm>
                <a:off x="563831" y="2515121"/>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01" name="矩形 400">
                <a:extLst>
                  <a:ext uri="{FF2B5EF4-FFF2-40B4-BE49-F238E27FC236}">
                    <a16:creationId xmlns:a16="http://schemas.microsoft.com/office/drawing/2014/main" id="{E1CD600B-39F1-4151-9C45-FD775F88DCE3}"/>
                  </a:ext>
                </a:extLst>
              </p:cNvPr>
              <p:cNvSpPr/>
              <p:nvPr/>
            </p:nvSpPr>
            <p:spPr>
              <a:xfrm>
                <a:off x="563831" y="2604949"/>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02" name="矩形 401">
                <a:extLst>
                  <a:ext uri="{FF2B5EF4-FFF2-40B4-BE49-F238E27FC236}">
                    <a16:creationId xmlns:a16="http://schemas.microsoft.com/office/drawing/2014/main" id="{65C87751-AC3D-4356-A561-22982EA1F19E}"/>
                  </a:ext>
                </a:extLst>
              </p:cNvPr>
              <p:cNvSpPr/>
              <p:nvPr/>
            </p:nvSpPr>
            <p:spPr>
              <a:xfrm>
                <a:off x="563831" y="2689312"/>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03" name="矩形 402">
                <a:extLst>
                  <a:ext uri="{FF2B5EF4-FFF2-40B4-BE49-F238E27FC236}">
                    <a16:creationId xmlns:a16="http://schemas.microsoft.com/office/drawing/2014/main" id="{0A8410A0-7CA2-4BC8-B3BB-3D85D48156BC}"/>
                  </a:ext>
                </a:extLst>
              </p:cNvPr>
              <p:cNvSpPr/>
              <p:nvPr/>
            </p:nvSpPr>
            <p:spPr>
              <a:xfrm>
                <a:off x="561950" y="2783791"/>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04" name="矩形 403">
                <a:extLst>
                  <a:ext uri="{FF2B5EF4-FFF2-40B4-BE49-F238E27FC236}">
                    <a16:creationId xmlns:a16="http://schemas.microsoft.com/office/drawing/2014/main" id="{F28F2A36-3582-4422-AD05-FB97047D9648}"/>
                  </a:ext>
                </a:extLst>
              </p:cNvPr>
              <p:cNvSpPr/>
              <p:nvPr/>
            </p:nvSpPr>
            <p:spPr>
              <a:xfrm>
                <a:off x="561950" y="2883320"/>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399" name="文本框 398">
              <a:extLst>
                <a:ext uri="{FF2B5EF4-FFF2-40B4-BE49-F238E27FC236}">
                  <a16:creationId xmlns:a16="http://schemas.microsoft.com/office/drawing/2014/main" id="{BEE0DD69-CEA0-45BD-ABD3-1C3D2DDEA0BC}"/>
                </a:ext>
              </a:extLst>
            </p:cNvPr>
            <p:cNvSpPr txBox="1"/>
            <p:nvPr/>
          </p:nvSpPr>
          <p:spPr>
            <a:xfrm>
              <a:off x="639660" y="2241189"/>
              <a:ext cx="946006" cy="227686"/>
            </a:xfrm>
            <a:prstGeom prst="rect">
              <a:avLst/>
            </a:prstGeom>
            <a:noFill/>
          </p:spPr>
          <p:txBody>
            <a:bodyPr wrap="none" rtlCol="0">
              <a:spAutoFit/>
            </a:bodyPr>
            <a:lstStyle/>
            <a:p>
              <a:r>
                <a:rPr lang="en-US" altLang="zh-CN" sz="1050" b="1">
                  <a:solidFill>
                    <a:srgbClr val="C00000"/>
                  </a:solidFill>
                  <a:latin typeface="微软雅黑" panose="020B0503020204020204" pitchFamily="34" charset="-122"/>
                  <a:ea typeface="微软雅黑" panose="020B0503020204020204" pitchFamily="34" charset="-122"/>
                </a:rPr>
                <a:t>T</a:t>
              </a:r>
              <a:r>
                <a:rPr lang="en-US" altLang="zh-CN" sz="1050" b="1">
                  <a:solidFill>
                    <a:srgbClr val="C00000"/>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1050" b="1">
                  <a:solidFill>
                    <a:srgbClr val="C00000"/>
                  </a:solidFill>
                  <a:latin typeface="微软雅黑" panose="020B0503020204020204" pitchFamily="34" charset="-122"/>
                  <a:ea typeface="微软雅黑" panose="020B0503020204020204" pitchFamily="34" charset="-122"/>
                </a:rPr>
                <a:t>Prompt</a:t>
              </a:r>
              <a:r>
                <a:rPr lang="en-US" altLang="zh-CN" sz="1050" b="1">
                  <a:solidFill>
                    <a:srgbClr val="C00000"/>
                  </a:solidFill>
                  <a:latin typeface="微软雅黑" panose="020B0503020204020204" pitchFamily="34" charset="-122"/>
                  <a:ea typeface="微软雅黑" panose="020B0503020204020204" pitchFamily="34" charset="-122"/>
                  <a:sym typeface="Wingdings" panose="05000000000000000000" pitchFamily="2" charset="2"/>
                </a:rPr>
                <a:t>F</a:t>
              </a:r>
              <a:endParaRPr lang="zh-CN" altLang="en-US" sz="1050" b="1">
                <a:solidFill>
                  <a:srgbClr val="C00000"/>
                </a:solidFill>
                <a:latin typeface="微软雅黑" panose="020B0503020204020204" pitchFamily="34" charset="-122"/>
                <a:ea typeface="微软雅黑" panose="020B0503020204020204" pitchFamily="34" charset="-122"/>
              </a:endParaRPr>
            </a:p>
          </p:txBody>
        </p:sp>
      </p:grpSp>
      <p:cxnSp>
        <p:nvCxnSpPr>
          <p:cNvPr id="410" name="直接箭头连接符 409">
            <a:extLst>
              <a:ext uri="{FF2B5EF4-FFF2-40B4-BE49-F238E27FC236}">
                <a16:creationId xmlns:a16="http://schemas.microsoft.com/office/drawing/2014/main" id="{EB1C369E-8591-48E2-9F9C-81AE9E6FA9D8}"/>
              </a:ext>
            </a:extLst>
          </p:cNvPr>
          <p:cNvCxnSpPr/>
          <p:nvPr/>
        </p:nvCxnSpPr>
        <p:spPr>
          <a:xfrm>
            <a:off x="7871110" y="4632850"/>
            <a:ext cx="274714" cy="0"/>
          </a:xfrm>
          <a:prstGeom prst="straightConnector1">
            <a:avLst/>
          </a:prstGeom>
          <a:ln w="22225">
            <a:solidFill>
              <a:schemeClr val="accent5">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11" name="文本框 410">
            <a:extLst>
              <a:ext uri="{FF2B5EF4-FFF2-40B4-BE49-F238E27FC236}">
                <a16:creationId xmlns:a16="http://schemas.microsoft.com/office/drawing/2014/main" id="{2BEAAB89-EE1C-4F6C-AFEE-B561A4742322}"/>
              </a:ext>
            </a:extLst>
          </p:cNvPr>
          <p:cNvSpPr txBox="1"/>
          <p:nvPr/>
        </p:nvSpPr>
        <p:spPr>
          <a:xfrm>
            <a:off x="11756399" y="4067576"/>
            <a:ext cx="287960" cy="1384995"/>
          </a:xfrm>
          <a:prstGeom prst="rect">
            <a:avLst/>
          </a:prstGeom>
          <a:solidFill>
            <a:schemeClr val="bg1">
              <a:lumMod val="75000"/>
            </a:schemeClr>
          </a:solidFill>
          <a:ln>
            <a:solidFill>
              <a:schemeClr val="bg2">
                <a:lumMod val="10000"/>
              </a:schemeClr>
            </a:solidFill>
            <a:prstDash val="dash"/>
          </a:ln>
        </p:spPr>
        <p:txBody>
          <a:bodyPr wrap="square" rtlCol="0">
            <a:spAutoFit/>
          </a:bodyPr>
          <a:lstStyle/>
          <a:p>
            <a:pPr algn="ctr"/>
            <a:r>
              <a:rPr lang="zh-CN" altLang="en-US" sz="1400" b="1">
                <a:solidFill>
                  <a:schemeClr val="bg1"/>
                </a:solidFill>
                <a:latin typeface="微软雅黑" panose="020B0503020204020204" pitchFamily="34" charset="-122"/>
                <a:ea typeface="微软雅黑" panose="020B0503020204020204" pitchFamily="34" charset="-122"/>
              </a:rPr>
              <a:t>市场设计结果</a:t>
            </a:r>
          </a:p>
        </p:txBody>
      </p:sp>
      <p:cxnSp>
        <p:nvCxnSpPr>
          <p:cNvPr id="413" name="直接箭头连接符 412">
            <a:extLst>
              <a:ext uri="{FF2B5EF4-FFF2-40B4-BE49-F238E27FC236}">
                <a16:creationId xmlns:a16="http://schemas.microsoft.com/office/drawing/2014/main" id="{E360C038-DCB0-4233-94DF-444FB5E8C73E}"/>
              </a:ext>
            </a:extLst>
          </p:cNvPr>
          <p:cNvCxnSpPr/>
          <p:nvPr/>
        </p:nvCxnSpPr>
        <p:spPr>
          <a:xfrm>
            <a:off x="9513236" y="4634208"/>
            <a:ext cx="274714" cy="0"/>
          </a:xfrm>
          <a:prstGeom prst="straightConnector1">
            <a:avLst/>
          </a:prstGeom>
          <a:ln w="22225">
            <a:solidFill>
              <a:schemeClr val="accent5">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415" name="组合 414">
            <a:extLst>
              <a:ext uri="{FF2B5EF4-FFF2-40B4-BE49-F238E27FC236}">
                <a16:creationId xmlns:a16="http://schemas.microsoft.com/office/drawing/2014/main" id="{661CAB9A-D60D-4510-AFDB-42C3EF042513}"/>
              </a:ext>
            </a:extLst>
          </p:cNvPr>
          <p:cNvGrpSpPr/>
          <p:nvPr/>
        </p:nvGrpSpPr>
        <p:grpSpPr>
          <a:xfrm>
            <a:off x="8607721" y="6059258"/>
            <a:ext cx="737443" cy="697217"/>
            <a:chOff x="3872038" y="1358160"/>
            <a:chExt cx="3788232" cy="418900"/>
          </a:xfrm>
        </p:grpSpPr>
        <p:sp>
          <p:nvSpPr>
            <p:cNvPr id="416" name="圆柱形 415">
              <a:extLst>
                <a:ext uri="{FF2B5EF4-FFF2-40B4-BE49-F238E27FC236}">
                  <a16:creationId xmlns:a16="http://schemas.microsoft.com/office/drawing/2014/main" id="{6848535A-1235-4311-A601-CD25ED7218F2}"/>
                </a:ext>
              </a:extLst>
            </p:cNvPr>
            <p:cNvSpPr/>
            <p:nvPr/>
          </p:nvSpPr>
          <p:spPr>
            <a:xfrm>
              <a:off x="3872038" y="1358160"/>
              <a:ext cx="3788232" cy="418900"/>
            </a:xfrm>
            <a:prstGeom prst="can">
              <a:avLst>
                <a:gd name="adj" fmla="val 36223"/>
              </a:avLst>
            </a:prstGeom>
            <a:ln/>
          </p:spPr>
          <p:style>
            <a:lnRef idx="1">
              <a:schemeClr val="dk1"/>
            </a:lnRef>
            <a:fillRef idx="3">
              <a:schemeClr val="dk1"/>
            </a:fillRef>
            <a:effectRef idx="2">
              <a:schemeClr val="dk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17" name="文本框 416">
              <a:extLst>
                <a:ext uri="{FF2B5EF4-FFF2-40B4-BE49-F238E27FC236}">
                  <a16:creationId xmlns:a16="http://schemas.microsoft.com/office/drawing/2014/main" id="{96D87493-B6A1-4A50-B7F5-2018B44149E0}"/>
                </a:ext>
              </a:extLst>
            </p:cNvPr>
            <p:cNvSpPr txBox="1"/>
            <p:nvPr/>
          </p:nvSpPr>
          <p:spPr>
            <a:xfrm>
              <a:off x="4275769" y="1412226"/>
              <a:ext cx="3056685" cy="226619"/>
            </a:xfrm>
            <a:prstGeom prst="rect">
              <a:avLst/>
            </a:prstGeom>
            <a:noFill/>
          </p:spPr>
          <p:txBody>
            <a:bodyPr wrap="none" rtlCol="0">
              <a:spAutoFit/>
            </a:bodyPr>
            <a:lstStyle/>
            <a:p>
              <a:r>
                <a:rPr lang="zh-CN" altLang="en-US" sz="1600" b="1">
                  <a:solidFill>
                    <a:schemeClr val="bg1"/>
                  </a:solidFill>
                  <a:latin typeface="微软雅黑" panose="020B0503020204020204" pitchFamily="34" charset="-122"/>
                  <a:ea typeface="微软雅黑" panose="020B0503020204020204" pitchFamily="34" charset="-122"/>
                </a:rPr>
                <a:t>数据</a:t>
              </a:r>
              <a:endParaRPr lang="en-US" altLang="zh-CN" sz="1600" b="1">
                <a:solidFill>
                  <a:schemeClr val="bg1"/>
                </a:solidFill>
                <a:latin typeface="微软雅黑" panose="020B0503020204020204" pitchFamily="34" charset="-122"/>
                <a:ea typeface="微软雅黑" panose="020B0503020204020204" pitchFamily="34" charset="-122"/>
              </a:endParaRPr>
            </a:p>
            <a:p>
              <a:pPr algn="ctr"/>
              <a:r>
                <a:rPr lang="zh-CN" altLang="en-US" sz="1600" b="1">
                  <a:solidFill>
                    <a:schemeClr val="bg1"/>
                  </a:solidFill>
                  <a:latin typeface="微软雅黑" panose="020B0503020204020204" pitchFamily="34" charset="-122"/>
                  <a:ea typeface="微软雅黑" panose="020B0503020204020204" pitchFamily="34" charset="-122"/>
                </a:rPr>
                <a:t>库</a:t>
              </a:r>
            </a:p>
          </p:txBody>
        </p:sp>
      </p:grpSp>
      <p:sp>
        <p:nvSpPr>
          <p:cNvPr id="418" name="箭头: 右 417">
            <a:extLst>
              <a:ext uri="{FF2B5EF4-FFF2-40B4-BE49-F238E27FC236}">
                <a16:creationId xmlns:a16="http://schemas.microsoft.com/office/drawing/2014/main" id="{08D371BE-E0A8-43E5-8639-E31D93326BBC}"/>
              </a:ext>
            </a:extLst>
          </p:cNvPr>
          <p:cNvSpPr/>
          <p:nvPr/>
        </p:nvSpPr>
        <p:spPr>
          <a:xfrm rot="5400000">
            <a:off x="2720990" y="5684699"/>
            <a:ext cx="204365" cy="168201"/>
          </a:xfrm>
          <a:prstGeom prst="rightArrow">
            <a:avLst>
              <a:gd name="adj1" fmla="val 50000"/>
              <a:gd name="adj2" fmla="val 57928"/>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19" name="箭头: 右 418">
            <a:extLst>
              <a:ext uri="{FF2B5EF4-FFF2-40B4-BE49-F238E27FC236}">
                <a16:creationId xmlns:a16="http://schemas.microsoft.com/office/drawing/2014/main" id="{C7319825-FA82-4779-BE48-A329780A9FA7}"/>
              </a:ext>
            </a:extLst>
          </p:cNvPr>
          <p:cNvSpPr/>
          <p:nvPr/>
        </p:nvSpPr>
        <p:spPr>
          <a:xfrm>
            <a:off x="9543589" y="6408842"/>
            <a:ext cx="204365" cy="168201"/>
          </a:xfrm>
          <a:prstGeom prst="rightArrow">
            <a:avLst>
              <a:gd name="adj1" fmla="val 50000"/>
              <a:gd name="adj2" fmla="val 57928"/>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23" name="文本框 422">
            <a:extLst>
              <a:ext uri="{FF2B5EF4-FFF2-40B4-BE49-F238E27FC236}">
                <a16:creationId xmlns:a16="http://schemas.microsoft.com/office/drawing/2014/main" id="{C3888411-28C0-43B4-98A6-9C4A1CD0102C}"/>
              </a:ext>
            </a:extLst>
          </p:cNvPr>
          <p:cNvSpPr txBox="1"/>
          <p:nvPr/>
        </p:nvSpPr>
        <p:spPr>
          <a:xfrm>
            <a:off x="2083566" y="5119897"/>
            <a:ext cx="1340401" cy="307777"/>
          </a:xfrm>
          <a:prstGeom prst="rect">
            <a:avLst/>
          </a:prstGeom>
          <a:noFill/>
        </p:spPr>
        <p:txBody>
          <a:bodyPr wrap="square" rtlCol="0">
            <a:spAutoFit/>
          </a:bodyPr>
          <a:lstStyle/>
          <a:p>
            <a:pPr algn="ctr"/>
            <a:r>
              <a:rPr lang="zh-CN" altLang="en-US" sz="1400" b="1">
                <a:solidFill>
                  <a:schemeClr val="bg2">
                    <a:lumMod val="25000"/>
                  </a:schemeClr>
                </a:solidFill>
                <a:latin typeface="微软雅黑" panose="020B0503020204020204" pitchFamily="34" charset="-122"/>
                <a:ea typeface="微软雅黑" panose="020B0503020204020204" pitchFamily="34" charset="-122"/>
              </a:rPr>
              <a:t>市场目标</a:t>
            </a:r>
          </a:p>
        </p:txBody>
      </p:sp>
      <p:sp>
        <p:nvSpPr>
          <p:cNvPr id="451" name="箭头: 右 450">
            <a:extLst>
              <a:ext uri="{FF2B5EF4-FFF2-40B4-BE49-F238E27FC236}">
                <a16:creationId xmlns:a16="http://schemas.microsoft.com/office/drawing/2014/main" id="{6F07097C-DADB-4A4E-9338-10C25C1127E3}"/>
              </a:ext>
            </a:extLst>
          </p:cNvPr>
          <p:cNvSpPr/>
          <p:nvPr/>
        </p:nvSpPr>
        <p:spPr>
          <a:xfrm rot="1185854">
            <a:off x="9120413" y="3460294"/>
            <a:ext cx="204365" cy="168201"/>
          </a:xfrm>
          <a:prstGeom prst="rightArrow">
            <a:avLst>
              <a:gd name="adj1" fmla="val 50000"/>
              <a:gd name="adj2" fmla="val 57928"/>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501" name="组合 500">
            <a:extLst>
              <a:ext uri="{FF2B5EF4-FFF2-40B4-BE49-F238E27FC236}">
                <a16:creationId xmlns:a16="http://schemas.microsoft.com/office/drawing/2014/main" id="{0925E665-CB15-4934-A2B9-32DE10604F65}"/>
              </a:ext>
            </a:extLst>
          </p:cNvPr>
          <p:cNvGrpSpPr/>
          <p:nvPr/>
        </p:nvGrpSpPr>
        <p:grpSpPr>
          <a:xfrm>
            <a:off x="9897856" y="3187081"/>
            <a:ext cx="1608313" cy="3539738"/>
            <a:chOff x="9867867" y="1620268"/>
            <a:chExt cx="1608313" cy="3969762"/>
          </a:xfrm>
        </p:grpSpPr>
        <p:sp>
          <p:nvSpPr>
            <p:cNvPr id="412" name="立方体 411">
              <a:extLst>
                <a:ext uri="{FF2B5EF4-FFF2-40B4-BE49-F238E27FC236}">
                  <a16:creationId xmlns:a16="http://schemas.microsoft.com/office/drawing/2014/main" id="{3B158144-FD80-4BD6-A0CF-0E655F9704D0}"/>
                </a:ext>
              </a:extLst>
            </p:cNvPr>
            <p:cNvSpPr/>
            <p:nvPr/>
          </p:nvSpPr>
          <p:spPr>
            <a:xfrm>
              <a:off x="9867867" y="1620268"/>
              <a:ext cx="1608313" cy="3969762"/>
            </a:xfrm>
            <a:prstGeom prst="cube">
              <a:avLst>
                <a:gd name="adj" fmla="val 5253"/>
              </a:avLst>
            </a:prstGeom>
            <a:gradFill>
              <a:gsLst>
                <a:gs pos="100000">
                  <a:schemeClr val="accent1">
                    <a:lumMod val="40000"/>
                    <a:lumOff val="60000"/>
                  </a:schemeClr>
                </a:gs>
                <a:gs pos="48000">
                  <a:schemeClr val="accent1">
                    <a:lumMod val="20000"/>
                    <a:lumOff val="80000"/>
                  </a:schemeClr>
                </a:gs>
                <a:gs pos="0">
                  <a:schemeClr val="bg1">
                    <a:lumMod val="95000"/>
                  </a:schemeClr>
                </a:gs>
              </a:gsLst>
              <a:lin ang="16200000" scaled="1"/>
            </a:gradFill>
            <a:ln>
              <a:solidFill>
                <a:schemeClr val="bg2">
                  <a:lumMod val="10000"/>
                </a:schemeClr>
              </a:solid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14" name="文本框 413">
              <a:extLst>
                <a:ext uri="{FF2B5EF4-FFF2-40B4-BE49-F238E27FC236}">
                  <a16:creationId xmlns:a16="http://schemas.microsoft.com/office/drawing/2014/main" id="{0BDAA681-0275-4BD7-9765-5A97577D1164}"/>
                </a:ext>
              </a:extLst>
            </p:cNvPr>
            <p:cNvSpPr txBox="1"/>
            <p:nvPr/>
          </p:nvSpPr>
          <p:spPr>
            <a:xfrm>
              <a:off x="10030971" y="1690167"/>
              <a:ext cx="1210588" cy="338554"/>
            </a:xfrm>
            <a:prstGeom prst="rect">
              <a:avLst/>
            </a:prstGeom>
            <a:noFill/>
          </p:spPr>
          <p:txBody>
            <a:bodyPr wrap="none" rtlCol="0">
              <a:spAutoFit/>
            </a:bodyPr>
            <a:lstStyle/>
            <a:p>
              <a:r>
                <a:rPr lang="zh-CN" altLang="en-US" sz="1600" b="1">
                  <a:solidFill>
                    <a:schemeClr val="bg1"/>
                  </a:solidFill>
                  <a:latin typeface="微软雅黑" panose="020B0503020204020204" pitchFamily="34" charset="-122"/>
                  <a:ea typeface="微软雅黑" panose="020B0503020204020204" pitchFamily="34" charset="-122"/>
                </a:rPr>
                <a:t>市场仿真器</a:t>
              </a:r>
            </a:p>
          </p:txBody>
        </p:sp>
        <p:sp>
          <p:nvSpPr>
            <p:cNvPr id="422" name="矩形 421">
              <a:extLst>
                <a:ext uri="{FF2B5EF4-FFF2-40B4-BE49-F238E27FC236}">
                  <a16:creationId xmlns:a16="http://schemas.microsoft.com/office/drawing/2014/main" id="{6DB86D99-F07B-4810-88C5-AC735B2EE6DE}"/>
                </a:ext>
              </a:extLst>
            </p:cNvPr>
            <p:cNvSpPr/>
            <p:nvPr/>
          </p:nvSpPr>
          <p:spPr>
            <a:xfrm>
              <a:off x="10425780" y="5144196"/>
              <a:ext cx="354320" cy="405430"/>
            </a:xfrm>
            <a:prstGeom prst="rect">
              <a:avLst/>
            </a:prstGeom>
            <a:solidFill>
              <a:schemeClr val="bg1"/>
            </a:solidFill>
            <a:ln w="6350">
              <a:solidFill>
                <a:schemeClr val="accent5">
                  <a:lumMod val="7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457200"/>
              <a:r>
                <a:rPr lang="zh-CN" altLang="en-US" sz="1000" b="1">
                  <a:solidFill>
                    <a:schemeClr val="tx1"/>
                  </a:solidFill>
                  <a:latin typeface="Arial" panose="020B0604020202020204" pitchFamily="34" charset="0"/>
                  <a:ea typeface="微软雅黑" panose="020B0503020204020204" pitchFamily="34" charset="-122"/>
                  <a:cs typeface="Arial" panose="020B0604020202020204" pitchFamily="34" charset="0"/>
                </a:rPr>
                <a:t>物理</a:t>
              </a:r>
              <a:endParaRPr lang="en-US" altLang="zh-CN" sz="1000" b="1">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algn="ctr" defTabSz="457200"/>
              <a:r>
                <a:rPr lang="zh-CN" altLang="en-US" sz="1000" b="1">
                  <a:solidFill>
                    <a:schemeClr val="tx1"/>
                  </a:solidFill>
                  <a:latin typeface="Arial" panose="020B0604020202020204" pitchFamily="34" charset="0"/>
                  <a:ea typeface="微软雅黑" panose="020B0503020204020204" pitchFamily="34" charset="-122"/>
                  <a:cs typeface="Arial" panose="020B0604020202020204" pitchFamily="34" charset="0"/>
                </a:rPr>
                <a:t>模型</a:t>
              </a:r>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24" name="矩形 423">
              <a:extLst>
                <a:ext uri="{FF2B5EF4-FFF2-40B4-BE49-F238E27FC236}">
                  <a16:creationId xmlns:a16="http://schemas.microsoft.com/office/drawing/2014/main" id="{9BBF8169-D405-477A-8892-82BD66AE1F10}"/>
                </a:ext>
              </a:extLst>
            </p:cNvPr>
            <p:cNvSpPr/>
            <p:nvPr/>
          </p:nvSpPr>
          <p:spPr>
            <a:xfrm>
              <a:off x="10831369" y="5149211"/>
              <a:ext cx="504544" cy="405430"/>
            </a:xfrm>
            <a:prstGeom prst="rect">
              <a:avLst/>
            </a:prstGeom>
            <a:solidFill>
              <a:schemeClr val="bg1"/>
            </a:solidFill>
            <a:ln w="6350">
              <a:solidFill>
                <a:schemeClr val="accent5">
                  <a:lumMod val="7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457200"/>
              <a:r>
                <a:rPr lang="en-US" altLang="zh-CN" sz="1000" b="1">
                  <a:solidFill>
                    <a:schemeClr val="tx1"/>
                  </a:solidFill>
                  <a:latin typeface="Arial" panose="020B0604020202020204" pitchFamily="34" charset="0"/>
                  <a:ea typeface="微软雅黑" panose="020B0503020204020204" pitchFamily="34" charset="-122"/>
                  <a:cs typeface="Arial" panose="020B0604020202020204" pitchFamily="34" charset="0"/>
                </a:rPr>
                <a:t>MARL</a:t>
              </a:r>
              <a:r>
                <a:rPr lang="zh-CN" altLang="en-US" sz="1000" b="1">
                  <a:solidFill>
                    <a:schemeClr val="tx1"/>
                  </a:solidFill>
                  <a:latin typeface="Arial" panose="020B0604020202020204" pitchFamily="34" charset="0"/>
                  <a:ea typeface="微软雅黑" panose="020B0503020204020204" pitchFamily="34" charset="-122"/>
                  <a:cs typeface="Arial" panose="020B0604020202020204" pitchFamily="34" charset="0"/>
                </a:rPr>
                <a:t>决策模型</a:t>
              </a:r>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25" name="矩形 424">
              <a:extLst>
                <a:ext uri="{FF2B5EF4-FFF2-40B4-BE49-F238E27FC236}">
                  <a16:creationId xmlns:a16="http://schemas.microsoft.com/office/drawing/2014/main" id="{E9FA8834-CF42-4820-89E1-0445212915D9}"/>
                </a:ext>
              </a:extLst>
            </p:cNvPr>
            <p:cNvSpPr/>
            <p:nvPr/>
          </p:nvSpPr>
          <p:spPr>
            <a:xfrm>
              <a:off x="9893982" y="5144196"/>
              <a:ext cx="491840" cy="405430"/>
            </a:xfrm>
            <a:prstGeom prst="rect">
              <a:avLst/>
            </a:prstGeom>
            <a:solidFill>
              <a:schemeClr val="bg1"/>
            </a:solidFill>
            <a:ln w="6350">
              <a:solidFill>
                <a:schemeClr val="accent5">
                  <a:lumMod val="7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457200"/>
              <a:r>
                <a:rPr lang="zh-CN" altLang="en-US" sz="1000" b="1">
                  <a:solidFill>
                    <a:schemeClr val="tx1"/>
                  </a:solidFill>
                  <a:latin typeface="Arial" panose="020B0604020202020204" pitchFamily="34" charset="0"/>
                  <a:ea typeface="微软雅黑" panose="020B0503020204020204" pitchFamily="34" charset="-122"/>
                  <a:cs typeface="Arial" panose="020B0604020202020204" pitchFamily="34" charset="0"/>
                </a:rPr>
                <a:t>读取</a:t>
              </a:r>
              <a:r>
                <a:rPr lang="en-US" altLang="zh-CN" sz="1000" b="1">
                  <a:solidFill>
                    <a:schemeClr val="tx1"/>
                  </a:solidFill>
                  <a:latin typeface="Arial" panose="020B0604020202020204" pitchFamily="34" charset="0"/>
                  <a:ea typeface="微软雅黑" panose="020B0503020204020204" pitchFamily="34" charset="-122"/>
                  <a:cs typeface="Arial" panose="020B0604020202020204" pitchFamily="34" charset="0"/>
                </a:rPr>
                <a:t>Schema</a:t>
              </a:r>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pic>
          <p:nvPicPr>
            <p:cNvPr id="427" name="图形 426" descr="办公室职员">
              <a:extLst>
                <a:ext uri="{FF2B5EF4-FFF2-40B4-BE49-F238E27FC236}">
                  <a16:creationId xmlns:a16="http://schemas.microsoft.com/office/drawing/2014/main" id="{C57EFC55-A3B5-4EFF-AFE5-68C57E985CF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383235" y="4458236"/>
              <a:ext cx="445146" cy="445146"/>
            </a:xfrm>
            <a:prstGeom prst="rect">
              <a:avLst/>
            </a:prstGeom>
          </p:spPr>
        </p:pic>
        <p:cxnSp>
          <p:nvCxnSpPr>
            <p:cNvPr id="429" name="连接符: 肘形 428">
              <a:extLst>
                <a:ext uri="{FF2B5EF4-FFF2-40B4-BE49-F238E27FC236}">
                  <a16:creationId xmlns:a16="http://schemas.microsoft.com/office/drawing/2014/main" id="{9B5EA1C9-93A0-4900-AB21-A38894ADAD91}"/>
                </a:ext>
              </a:extLst>
            </p:cNvPr>
            <p:cNvCxnSpPr>
              <a:cxnSpLocks/>
              <a:stCxn id="425" idx="0"/>
              <a:endCxn id="427" idx="2"/>
            </p:cNvCxnSpPr>
            <p:nvPr/>
          </p:nvCxnSpPr>
          <p:spPr>
            <a:xfrm rot="5400000" flipH="1" flipV="1">
              <a:off x="10252448" y="4790836"/>
              <a:ext cx="240814" cy="465906"/>
            </a:xfrm>
            <a:prstGeom prst="bentConnector3">
              <a:avLst>
                <a:gd name="adj1" fmla="val 50000"/>
              </a:avLst>
            </a:prstGeom>
            <a:ln w="127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434" name="连接符: 肘形 433">
              <a:extLst>
                <a:ext uri="{FF2B5EF4-FFF2-40B4-BE49-F238E27FC236}">
                  <a16:creationId xmlns:a16="http://schemas.microsoft.com/office/drawing/2014/main" id="{1D9C1AD4-8459-43BE-A6B4-F2B6A405C561}"/>
                </a:ext>
              </a:extLst>
            </p:cNvPr>
            <p:cNvCxnSpPr>
              <a:cxnSpLocks/>
              <a:stCxn id="424" idx="0"/>
              <a:endCxn id="427" idx="2"/>
            </p:cNvCxnSpPr>
            <p:nvPr/>
          </p:nvCxnSpPr>
          <p:spPr>
            <a:xfrm rot="16200000" flipV="1">
              <a:off x="10721811" y="4787380"/>
              <a:ext cx="245829" cy="477833"/>
            </a:xfrm>
            <a:prstGeom prst="bentConnector3">
              <a:avLst>
                <a:gd name="adj1" fmla="val 50000"/>
              </a:avLst>
            </a:prstGeom>
            <a:ln w="127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440" name="连接符: 肘形 439">
              <a:extLst>
                <a:ext uri="{FF2B5EF4-FFF2-40B4-BE49-F238E27FC236}">
                  <a16:creationId xmlns:a16="http://schemas.microsoft.com/office/drawing/2014/main" id="{158174E2-F88D-4910-A346-15A5457D5F94}"/>
                </a:ext>
              </a:extLst>
            </p:cNvPr>
            <p:cNvCxnSpPr>
              <a:cxnSpLocks/>
              <a:stCxn id="422" idx="0"/>
              <a:endCxn id="427" idx="2"/>
            </p:cNvCxnSpPr>
            <p:nvPr/>
          </p:nvCxnSpPr>
          <p:spPr>
            <a:xfrm rot="5400000" flipH="1" flipV="1">
              <a:off x="10483967" y="5022355"/>
              <a:ext cx="240814" cy="2868"/>
            </a:xfrm>
            <a:prstGeom prst="bentConnector3">
              <a:avLst>
                <a:gd name="adj1" fmla="val 50000"/>
              </a:avLst>
            </a:prstGeom>
            <a:ln w="127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pic>
          <p:nvPicPr>
            <p:cNvPr id="443" name="图形 442" descr="办公室职员">
              <a:extLst>
                <a:ext uri="{FF2B5EF4-FFF2-40B4-BE49-F238E27FC236}">
                  <a16:creationId xmlns:a16="http://schemas.microsoft.com/office/drawing/2014/main" id="{38A31A6F-D451-4C68-9913-21D6507A4F2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814867" y="4451802"/>
              <a:ext cx="445146" cy="445146"/>
            </a:xfrm>
            <a:prstGeom prst="rect">
              <a:avLst/>
            </a:prstGeom>
          </p:spPr>
        </p:pic>
        <p:pic>
          <p:nvPicPr>
            <p:cNvPr id="450" name="图形 449" descr="办公室职员">
              <a:extLst>
                <a:ext uri="{FF2B5EF4-FFF2-40B4-BE49-F238E27FC236}">
                  <a16:creationId xmlns:a16="http://schemas.microsoft.com/office/drawing/2014/main" id="{CEEFB6A4-7C59-4A35-95BE-A8ADE7C62D0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957449" y="4460935"/>
              <a:ext cx="445146" cy="445146"/>
            </a:xfrm>
            <a:prstGeom prst="rect">
              <a:avLst/>
            </a:prstGeom>
          </p:spPr>
        </p:pic>
        <p:sp>
          <p:nvSpPr>
            <p:cNvPr id="453" name="椭圆 452">
              <a:extLst>
                <a:ext uri="{FF2B5EF4-FFF2-40B4-BE49-F238E27FC236}">
                  <a16:creationId xmlns:a16="http://schemas.microsoft.com/office/drawing/2014/main" id="{3BEEE449-C59F-4382-A2CD-6FA00EA5927E}"/>
                </a:ext>
              </a:extLst>
            </p:cNvPr>
            <p:cNvSpPr/>
            <p:nvPr/>
          </p:nvSpPr>
          <p:spPr>
            <a:xfrm>
              <a:off x="9957449" y="3913627"/>
              <a:ext cx="1376201" cy="470789"/>
            </a:xfrm>
            <a:prstGeom prst="ellipse">
              <a:avLst/>
            </a:prstGeom>
            <a:solidFill>
              <a:schemeClr val="bg1"/>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457200"/>
              <a:r>
                <a:rPr lang="zh-CN" altLang="en-US" sz="1100" b="1">
                  <a:solidFill>
                    <a:srgbClr val="002060"/>
                  </a:solidFill>
                  <a:latin typeface="Arial" panose="020B0604020202020204" pitchFamily="34" charset="0"/>
                  <a:ea typeface="微软雅黑" panose="020B0503020204020204" pitchFamily="34" charset="-122"/>
                  <a:cs typeface="Arial" panose="020B0604020202020204" pitchFamily="34" charset="0"/>
                </a:rPr>
                <a:t>上层</a:t>
              </a:r>
              <a:endParaRPr lang="en-US" altLang="zh-CN" sz="1100" b="1">
                <a:solidFill>
                  <a:srgbClr val="002060"/>
                </a:solidFill>
                <a:latin typeface="Arial" panose="020B0604020202020204" pitchFamily="34" charset="0"/>
                <a:ea typeface="微软雅黑" panose="020B0503020204020204" pitchFamily="34" charset="-122"/>
                <a:cs typeface="Arial" panose="020B0604020202020204" pitchFamily="34" charset="0"/>
              </a:endParaRPr>
            </a:p>
            <a:p>
              <a:pPr algn="ctr" defTabSz="457200"/>
              <a:r>
                <a:rPr lang="en-US" altLang="zh-CN" sz="1100" b="1">
                  <a:solidFill>
                    <a:srgbClr val="002060"/>
                  </a:solidFill>
                  <a:latin typeface="Arial" panose="020B0604020202020204" pitchFamily="34" charset="0"/>
                  <a:ea typeface="微软雅黑" panose="020B0503020204020204" pitchFamily="34" charset="-122"/>
                  <a:cs typeface="Arial" panose="020B0604020202020204" pitchFamily="34" charset="0"/>
                </a:rPr>
                <a:t>MARL</a:t>
              </a:r>
              <a:r>
                <a:rPr lang="zh-CN" altLang="en-US" sz="1100" b="1">
                  <a:solidFill>
                    <a:srgbClr val="002060"/>
                  </a:solidFill>
                  <a:latin typeface="Arial" panose="020B0604020202020204" pitchFamily="34" charset="0"/>
                  <a:ea typeface="微软雅黑" panose="020B0503020204020204" pitchFamily="34" charset="-122"/>
                  <a:cs typeface="Arial" panose="020B0604020202020204" pitchFamily="34" charset="0"/>
                </a:rPr>
                <a:t>市场模拟</a:t>
              </a:r>
              <a:endParaRPr lang="en-US" altLang="zh-CN" sz="1100" b="1">
                <a:solidFill>
                  <a:srgbClr val="002060"/>
                </a:solidFill>
                <a:latin typeface="Arial" panose="020B0604020202020204" pitchFamily="34" charset="0"/>
                <a:ea typeface="微软雅黑" panose="020B0503020204020204" pitchFamily="34" charset="-122"/>
                <a:cs typeface="Arial" panose="020B0604020202020204" pitchFamily="34" charset="0"/>
              </a:endParaRPr>
            </a:p>
          </p:txBody>
        </p:sp>
        <p:sp>
          <p:nvSpPr>
            <p:cNvPr id="454" name="椭圆 453">
              <a:extLst>
                <a:ext uri="{FF2B5EF4-FFF2-40B4-BE49-F238E27FC236}">
                  <a16:creationId xmlns:a16="http://schemas.microsoft.com/office/drawing/2014/main" id="{F4FD7D52-0DAB-4295-A8D9-043D8C5E9700}"/>
                </a:ext>
              </a:extLst>
            </p:cNvPr>
            <p:cNvSpPr/>
            <p:nvPr/>
          </p:nvSpPr>
          <p:spPr>
            <a:xfrm>
              <a:off x="9958310" y="3157225"/>
              <a:ext cx="1376201" cy="470789"/>
            </a:xfrm>
            <a:prstGeom prst="ellipse">
              <a:avLst/>
            </a:prstGeom>
            <a:solidFill>
              <a:schemeClr val="bg1"/>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457200"/>
              <a:r>
                <a:rPr lang="zh-CN" altLang="en-US" sz="1100" b="1">
                  <a:solidFill>
                    <a:srgbClr val="002060"/>
                  </a:solidFill>
                  <a:latin typeface="Arial" panose="020B0604020202020204" pitchFamily="34" charset="0"/>
                  <a:ea typeface="微软雅黑" panose="020B0503020204020204" pitchFamily="34" charset="-122"/>
                  <a:cs typeface="Arial" panose="020B0604020202020204" pitchFamily="34" charset="0"/>
                </a:rPr>
                <a:t>下层</a:t>
              </a:r>
              <a:endParaRPr lang="en-US" altLang="zh-CN" sz="1100" b="1">
                <a:solidFill>
                  <a:srgbClr val="002060"/>
                </a:solidFill>
                <a:latin typeface="Arial" panose="020B0604020202020204" pitchFamily="34" charset="0"/>
                <a:ea typeface="微软雅黑" panose="020B0503020204020204" pitchFamily="34" charset="-122"/>
                <a:cs typeface="Arial" panose="020B0604020202020204" pitchFamily="34" charset="0"/>
              </a:endParaRPr>
            </a:p>
            <a:p>
              <a:pPr algn="ctr" defTabSz="457200"/>
              <a:r>
                <a:rPr lang="en-US" altLang="zh-CN" sz="1100" b="1">
                  <a:solidFill>
                    <a:srgbClr val="002060"/>
                  </a:solidFill>
                  <a:latin typeface="Arial" panose="020B0604020202020204" pitchFamily="34" charset="0"/>
                  <a:ea typeface="微软雅黑" panose="020B0503020204020204" pitchFamily="34" charset="-122"/>
                  <a:cs typeface="Arial" panose="020B0604020202020204" pitchFamily="34" charset="0"/>
                </a:rPr>
                <a:t>DEM</a:t>
              </a:r>
              <a:r>
                <a:rPr lang="zh-CN" altLang="en-US" sz="1100" b="1">
                  <a:solidFill>
                    <a:srgbClr val="002060"/>
                  </a:solidFill>
                  <a:latin typeface="Arial" panose="020B0604020202020204" pitchFamily="34" charset="0"/>
                  <a:ea typeface="微软雅黑" panose="020B0503020204020204" pitchFamily="34" charset="-122"/>
                  <a:cs typeface="Arial" panose="020B0604020202020204" pitchFamily="34" charset="0"/>
                </a:rPr>
                <a:t>网络运行</a:t>
              </a:r>
              <a:endParaRPr lang="en-US" altLang="zh-CN" sz="1100" b="1">
                <a:solidFill>
                  <a:srgbClr val="002060"/>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458" name="直接箭头连接符 457">
              <a:extLst>
                <a:ext uri="{FF2B5EF4-FFF2-40B4-BE49-F238E27FC236}">
                  <a16:creationId xmlns:a16="http://schemas.microsoft.com/office/drawing/2014/main" id="{00A51E54-072B-4B0C-978C-C2C80AADD96C}"/>
                </a:ext>
              </a:extLst>
            </p:cNvPr>
            <p:cNvCxnSpPr>
              <a:cxnSpLocks/>
            </p:cNvCxnSpPr>
            <p:nvPr/>
          </p:nvCxnSpPr>
          <p:spPr>
            <a:xfrm flipH="1">
              <a:off x="10810282" y="3628014"/>
              <a:ext cx="861" cy="285613"/>
            </a:xfrm>
            <a:prstGeom prst="straightConnector1">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0" name="直接箭头连接符 459">
              <a:extLst>
                <a:ext uri="{FF2B5EF4-FFF2-40B4-BE49-F238E27FC236}">
                  <a16:creationId xmlns:a16="http://schemas.microsoft.com/office/drawing/2014/main" id="{843694B5-87AB-4618-94E0-7D87F6E26DC8}"/>
                </a:ext>
              </a:extLst>
            </p:cNvPr>
            <p:cNvCxnSpPr>
              <a:cxnSpLocks/>
            </p:cNvCxnSpPr>
            <p:nvPr/>
          </p:nvCxnSpPr>
          <p:spPr>
            <a:xfrm flipH="1">
              <a:off x="10503513" y="3622999"/>
              <a:ext cx="861" cy="285613"/>
            </a:xfrm>
            <a:prstGeom prst="straightConnector1">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矩形 463">
              <a:extLst>
                <a:ext uri="{FF2B5EF4-FFF2-40B4-BE49-F238E27FC236}">
                  <a16:creationId xmlns:a16="http://schemas.microsoft.com/office/drawing/2014/main" id="{24235C0B-561A-48CF-85A7-51FBE4233CA2}"/>
                </a:ext>
              </a:extLst>
            </p:cNvPr>
            <p:cNvSpPr/>
            <p:nvPr/>
          </p:nvSpPr>
          <p:spPr>
            <a:xfrm>
              <a:off x="9992081" y="2111974"/>
              <a:ext cx="615476" cy="405430"/>
            </a:xfrm>
            <a:prstGeom prst="rect">
              <a:avLst/>
            </a:prstGeom>
            <a:solidFill>
              <a:schemeClr val="bg1"/>
            </a:solidFill>
            <a:ln w="6350">
              <a:solidFill>
                <a:schemeClr val="accent5">
                  <a:lumMod val="7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457200"/>
              <a:r>
                <a:rPr lang="zh-CN" altLang="en-US" sz="1000" b="1">
                  <a:solidFill>
                    <a:schemeClr val="tx1"/>
                  </a:solidFill>
                  <a:latin typeface="Arial" panose="020B0604020202020204" pitchFamily="34" charset="0"/>
                  <a:ea typeface="微软雅黑" panose="020B0503020204020204" pitchFamily="34" charset="-122"/>
                  <a:cs typeface="Arial" panose="020B0604020202020204" pitchFamily="34" charset="0"/>
                </a:rPr>
                <a:t>市场出清约束</a:t>
              </a:r>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65" name="矩形 464">
              <a:extLst>
                <a:ext uri="{FF2B5EF4-FFF2-40B4-BE49-F238E27FC236}">
                  <a16:creationId xmlns:a16="http://schemas.microsoft.com/office/drawing/2014/main" id="{2A103BC5-7ECE-4433-A2EA-0E835D8E87FC}"/>
                </a:ext>
              </a:extLst>
            </p:cNvPr>
            <p:cNvSpPr/>
            <p:nvPr/>
          </p:nvSpPr>
          <p:spPr>
            <a:xfrm>
              <a:off x="10718174" y="2108869"/>
              <a:ext cx="615476" cy="405430"/>
            </a:xfrm>
            <a:prstGeom prst="rect">
              <a:avLst/>
            </a:prstGeom>
            <a:solidFill>
              <a:schemeClr val="bg1"/>
            </a:solidFill>
            <a:ln w="6350">
              <a:solidFill>
                <a:schemeClr val="accent5">
                  <a:lumMod val="7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457200"/>
              <a:r>
                <a:rPr lang="zh-CN" altLang="en-US" sz="1000" b="1">
                  <a:solidFill>
                    <a:schemeClr val="tx1"/>
                  </a:solidFill>
                  <a:latin typeface="Arial" panose="020B0604020202020204" pitchFamily="34" charset="0"/>
                  <a:ea typeface="微软雅黑" panose="020B0503020204020204" pitchFamily="34" charset="-122"/>
                  <a:cs typeface="Arial" panose="020B0604020202020204" pitchFamily="34" charset="0"/>
                </a:rPr>
                <a:t>物理运行约束</a:t>
              </a:r>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66" name="矩形 465">
              <a:extLst>
                <a:ext uri="{FF2B5EF4-FFF2-40B4-BE49-F238E27FC236}">
                  <a16:creationId xmlns:a16="http://schemas.microsoft.com/office/drawing/2014/main" id="{7C00B209-BA74-461D-98D9-AFFFB345FC19}"/>
                </a:ext>
              </a:extLst>
            </p:cNvPr>
            <p:cNvSpPr/>
            <p:nvPr/>
          </p:nvSpPr>
          <p:spPr>
            <a:xfrm>
              <a:off x="10171559" y="2634889"/>
              <a:ext cx="915302" cy="405430"/>
            </a:xfrm>
            <a:prstGeom prst="rect">
              <a:avLst/>
            </a:prstGeom>
            <a:solidFill>
              <a:schemeClr val="bg1"/>
            </a:solidFill>
            <a:ln w="6350">
              <a:solidFill>
                <a:schemeClr val="accent5">
                  <a:lumMod val="7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defTabSz="457200"/>
              <a:r>
                <a:rPr lang="en-US" altLang="zh-CN" sz="1000" b="1">
                  <a:solidFill>
                    <a:srgbClr val="C00000"/>
                  </a:solidFill>
                  <a:latin typeface="Arial" panose="020B0604020202020204" pitchFamily="34" charset="0"/>
                  <a:ea typeface="微软雅黑" panose="020B0503020204020204" pitchFamily="34" charset="-122"/>
                  <a:cs typeface="Arial" panose="020B0604020202020204" pitchFamily="34" charset="0"/>
                </a:rPr>
                <a:t>Pyomo+GAMS</a:t>
              </a:r>
              <a:r>
                <a:rPr lang="zh-CN" altLang="en-US" sz="1000" b="1">
                  <a:solidFill>
                    <a:srgbClr val="C00000"/>
                  </a:solidFill>
                  <a:latin typeface="Arial" panose="020B0604020202020204" pitchFamily="34" charset="0"/>
                  <a:ea typeface="微软雅黑" panose="020B0503020204020204" pitchFamily="34" charset="-122"/>
                  <a:cs typeface="Arial" panose="020B0604020202020204" pitchFamily="34" charset="0"/>
                </a:rPr>
                <a:t>构造优化模型</a:t>
              </a:r>
              <a:endParaRPr lang="zh-CN" altLang="en-US" sz="10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467" name="连接符: 肘形 466">
              <a:extLst>
                <a:ext uri="{FF2B5EF4-FFF2-40B4-BE49-F238E27FC236}">
                  <a16:creationId xmlns:a16="http://schemas.microsoft.com/office/drawing/2014/main" id="{9F541702-1001-4E8C-A53A-884B4BA70989}"/>
                </a:ext>
              </a:extLst>
            </p:cNvPr>
            <p:cNvCxnSpPr>
              <a:cxnSpLocks/>
              <a:stCxn id="465" idx="3"/>
              <a:endCxn id="466" idx="3"/>
            </p:cNvCxnSpPr>
            <p:nvPr/>
          </p:nvCxnSpPr>
          <p:spPr>
            <a:xfrm flipH="1">
              <a:off x="11086861" y="2311584"/>
              <a:ext cx="246789" cy="526020"/>
            </a:xfrm>
            <a:prstGeom prst="bentConnector3">
              <a:avLst>
                <a:gd name="adj1" fmla="val -10293"/>
              </a:avLst>
            </a:prstGeom>
            <a:ln w="127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476" name="连接符: 肘形 475">
              <a:extLst>
                <a:ext uri="{FF2B5EF4-FFF2-40B4-BE49-F238E27FC236}">
                  <a16:creationId xmlns:a16="http://schemas.microsoft.com/office/drawing/2014/main" id="{AEAB64B1-98EC-416A-B16B-5B4B3A041309}"/>
                </a:ext>
              </a:extLst>
            </p:cNvPr>
            <p:cNvCxnSpPr>
              <a:cxnSpLocks/>
              <a:stCxn id="464" idx="1"/>
              <a:endCxn id="466" idx="1"/>
            </p:cNvCxnSpPr>
            <p:nvPr/>
          </p:nvCxnSpPr>
          <p:spPr>
            <a:xfrm rot="10800000" flipH="1" flipV="1">
              <a:off x="9992081" y="2314688"/>
              <a:ext cx="179478" cy="522915"/>
            </a:xfrm>
            <a:prstGeom prst="bentConnector3">
              <a:avLst>
                <a:gd name="adj1" fmla="val -46702"/>
              </a:avLst>
            </a:prstGeom>
            <a:ln w="127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84" name="组合 483">
            <a:extLst>
              <a:ext uri="{FF2B5EF4-FFF2-40B4-BE49-F238E27FC236}">
                <a16:creationId xmlns:a16="http://schemas.microsoft.com/office/drawing/2014/main" id="{D8D4E3B8-1F62-4D35-B4F7-8DF5F6699423}"/>
              </a:ext>
            </a:extLst>
          </p:cNvPr>
          <p:cNvGrpSpPr/>
          <p:nvPr/>
        </p:nvGrpSpPr>
        <p:grpSpPr>
          <a:xfrm>
            <a:off x="9868265" y="1622724"/>
            <a:ext cx="1614545" cy="1421857"/>
            <a:chOff x="433407" y="2241189"/>
            <a:chExt cx="1364677" cy="1274979"/>
          </a:xfrm>
        </p:grpSpPr>
        <p:sp>
          <p:nvSpPr>
            <p:cNvPr id="485" name="箭头: 上弧形 484">
              <a:extLst>
                <a:ext uri="{FF2B5EF4-FFF2-40B4-BE49-F238E27FC236}">
                  <a16:creationId xmlns:a16="http://schemas.microsoft.com/office/drawing/2014/main" id="{EBE9C1CD-FAA1-48FC-A1CB-BA73F3068C4D}"/>
                </a:ext>
              </a:extLst>
            </p:cNvPr>
            <p:cNvSpPr/>
            <p:nvPr/>
          </p:nvSpPr>
          <p:spPr>
            <a:xfrm>
              <a:off x="681990" y="2434070"/>
              <a:ext cx="843915" cy="231056"/>
            </a:xfrm>
            <a:prstGeom prst="curvedDownArrow">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pic>
          <p:nvPicPr>
            <p:cNvPr id="486" name="图形 485" descr="用户">
              <a:extLst>
                <a:ext uri="{FF2B5EF4-FFF2-40B4-BE49-F238E27FC236}">
                  <a16:creationId xmlns:a16="http://schemas.microsoft.com/office/drawing/2014/main" id="{D4042CF9-19F1-4228-A99A-8A7AE1F81AB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7145" y="2365238"/>
              <a:ext cx="811541" cy="811541"/>
            </a:xfrm>
            <a:prstGeom prst="rect">
              <a:avLst/>
            </a:prstGeom>
          </p:spPr>
        </p:pic>
        <p:sp>
          <p:nvSpPr>
            <p:cNvPr id="487" name="文本框 486">
              <a:extLst>
                <a:ext uri="{FF2B5EF4-FFF2-40B4-BE49-F238E27FC236}">
                  <a16:creationId xmlns:a16="http://schemas.microsoft.com/office/drawing/2014/main" id="{1761386A-768D-4256-9A90-70DB3CF06EE4}"/>
                </a:ext>
              </a:extLst>
            </p:cNvPr>
            <p:cNvSpPr txBox="1"/>
            <p:nvPr/>
          </p:nvSpPr>
          <p:spPr>
            <a:xfrm>
              <a:off x="433407" y="3046997"/>
              <a:ext cx="1364677" cy="469171"/>
            </a:xfrm>
            <a:prstGeom prst="rect">
              <a:avLst/>
            </a:prstGeom>
            <a:noFill/>
          </p:spPr>
          <p:txBody>
            <a:bodyPr wrap="none" rtlCol="0">
              <a:spAutoFit/>
            </a:bodyPr>
            <a:lstStyle/>
            <a:p>
              <a:pPr algn="ctr"/>
              <a:r>
                <a:rPr lang="en-US" altLang="zh-CN" sz="1400" b="1">
                  <a:solidFill>
                    <a:srgbClr val="0C66BB"/>
                  </a:solidFill>
                  <a:latin typeface="微软雅黑" panose="020B0503020204020204" pitchFamily="34" charset="-122"/>
                  <a:ea typeface="微软雅黑" panose="020B0503020204020204" pitchFamily="34" charset="-122"/>
                </a:rPr>
                <a:t>3 </a:t>
              </a:r>
              <a:r>
                <a:rPr lang="zh-CN" altLang="en-US" sz="1400" b="1">
                  <a:solidFill>
                    <a:srgbClr val="0C66BB"/>
                  </a:solidFill>
                  <a:latin typeface="微软雅黑" panose="020B0503020204020204" pitchFamily="34" charset="-122"/>
                  <a:ea typeface="微软雅黑" panose="020B0503020204020204" pitchFamily="34" charset="-122"/>
                </a:rPr>
                <a:t>市场交付</a:t>
              </a:r>
              <a:r>
                <a:rPr lang="en-US" altLang="zh-CN" sz="1400" b="1">
                  <a:solidFill>
                    <a:srgbClr val="0C66BB"/>
                  </a:solidFill>
                  <a:latin typeface="微软雅黑" panose="020B0503020204020204" pitchFamily="34" charset="-122"/>
                  <a:ea typeface="微软雅黑" panose="020B0503020204020204" pitchFamily="34" charset="-122"/>
                </a:rPr>
                <a:t>Agent</a:t>
              </a:r>
            </a:p>
            <a:p>
              <a:pPr algn="ctr"/>
              <a:r>
                <a:rPr lang="en-US" altLang="zh-CN" sz="1400" b="1">
                  <a:solidFill>
                    <a:srgbClr val="0C66BB"/>
                  </a:solidFill>
                  <a:latin typeface="微软雅黑" panose="020B0503020204020204" pitchFamily="34" charset="-122"/>
                  <a:ea typeface="微软雅黑" panose="020B0503020204020204" pitchFamily="34" charset="-122"/>
                </a:rPr>
                <a:t>LLM-Agent</a:t>
              </a:r>
              <a:endParaRPr lang="zh-CN" altLang="en-US" sz="1400" b="1">
                <a:solidFill>
                  <a:srgbClr val="0C66BB"/>
                </a:solidFill>
                <a:latin typeface="微软雅黑" panose="020B0503020204020204" pitchFamily="34" charset="-122"/>
                <a:ea typeface="微软雅黑" panose="020B0503020204020204" pitchFamily="34" charset="-122"/>
              </a:endParaRPr>
            </a:p>
          </p:txBody>
        </p:sp>
        <p:grpSp>
          <p:nvGrpSpPr>
            <p:cNvPr id="488" name="组合 487">
              <a:extLst>
                <a:ext uri="{FF2B5EF4-FFF2-40B4-BE49-F238E27FC236}">
                  <a16:creationId xmlns:a16="http://schemas.microsoft.com/office/drawing/2014/main" id="{32DCD469-5A36-4675-91F1-C47472A725E0}"/>
                </a:ext>
              </a:extLst>
            </p:cNvPr>
            <p:cNvGrpSpPr/>
            <p:nvPr/>
          </p:nvGrpSpPr>
          <p:grpSpPr>
            <a:xfrm>
              <a:off x="561950" y="2515121"/>
              <a:ext cx="170607" cy="536925"/>
              <a:chOff x="561950" y="2515121"/>
              <a:chExt cx="170607" cy="536925"/>
            </a:xfrm>
          </p:grpSpPr>
          <p:sp>
            <p:nvSpPr>
              <p:cNvPr id="496" name="矩形 495">
                <a:extLst>
                  <a:ext uri="{FF2B5EF4-FFF2-40B4-BE49-F238E27FC236}">
                    <a16:creationId xmlns:a16="http://schemas.microsoft.com/office/drawing/2014/main" id="{2CDD58F8-AED5-472E-9E5D-881D97BE1D74}"/>
                  </a:ext>
                </a:extLst>
              </p:cNvPr>
              <p:cNvSpPr/>
              <p:nvPr/>
            </p:nvSpPr>
            <p:spPr>
              <a:xfrm>
                <a:off x="563831" y="2515121"/>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97" name="矩形 496">
                <a:extLst>
                  <a:ext uri="{FF2B5EF4-FFF2-40B4-BE49-F238E27FC236}">
                    <a16:creationId xmlns:a16="http://schemas.microsoft.com/office/drawing/2014/main" id="{4D71B3A8-89B1-4D1B-BC46-AF5480ABE383}"/>
                  </a:ext>
                </a:extLst>
              </p:cNvPr>
              <p:cNvSpPr/>
              <p:nvPr/>
            </p:nvSpPr>
            <p:spPr>
              <a:xfrm>
                <a:off x="563831" y="2604949"/>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98" name="矩形 497">
                <a:extLst>
                  <a:ext uri="{FF2B5EF4-FFF2-40B4-BE49-F238E27FC236}">
                    <a16:creationId xmlns:a16="http://schemas.microsoft.com/office/drawing/2014/main" id="{52A98498-846A-48C3-AD13-8C0CDF79F861}"/>
                  </a:ext>
                </a:extLst>
              </p:cNvPr>
              <p:cNvSpPr/>
              <p:nvPr/>
            </p:nvSpPr>
            <p:spPr>
              <a:xfrm>
                <a:off x="563831" y="2689312"/>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99" name="矩形 498">
                <a:extLst>
                  <a:ext uri="{FF2B5EF4-FFF2-40B4-BE49-F238E27FC236}">
                    <a16:creationId xmlns:a16="http://schemas.microsoft.com/office/drawing/2014/main" id="{22AC4110-6F58-462B-B0F5-700D25660EB1}"/>
                  </a:ext>
                </a:extLst>
              </p:cNvPr>
              <p:cNvSpPr/>
              <p:nvPr/>
            </p:nvSpPr>
            <p:spPr>
              <a:xfrm>
                <a:off x="561950" y="2783791"/>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00" name="矩形 499">
                <a:extLst>
                  <a:ext uri="{FF2B5EF4-FFF2-40B4-BE49-F238E27FC236}">
                    <a16:creationId xmlns:a16="http://schemas.microsoft.com/office/drawing/2014/main" id="{5C0A7D61-5A05-4921-A2B3-883C3A9A8FAB}"/>
                  </a:ext>
                </a:extLst>
              </p:cNvPr>
              <p:cNvSpPr/>
              <p:nvPr/>
            </p:nvSpPr>
            <p:spPr>
              <a:xfrm>
                <a:off x="561950" y="2883320"/>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T</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489" name="组合 488">
              <a:extLst>
                <a:ext uri="{FF2B5EF4-FFF2-40B4-BE49-F238E27FC236}">
                  <a16:creationId xmlns:a16="http://schemas.microsoft.com/office/drawing/2014/main" id="{194C69AE-211A-40F8-96E1-2CE52DBA0D3E}"/>
                </a:ext>
              </a:extLst>
            </p:cNvPr>
            <p:cNvGrpSpPr/>
            <p:nvPr/>
          </p:nvGrpSpPr>
          <p:grpSpPr>
            <a:xfrm>
              <a:off x="1497035" y="2512455"/>
              <a:ext cx="170607" cy="536925"/>
              <a:chOff x="561950" y="2515121"/>
              <a:chExt cx="170607" cy="536925"/>
            </a:xfrm>
          </p:grpSpPr>
          <p:sp>
            <p:nvSpPr>
              <p:cNvPr id="491" name="矩形 490">
                <a:extLst>
                  <a:ext uri="{FF2B5EF4-FFF2-40B4-BE49-F238E27FC236}">
                    <a16:creationId xmlns:a16="http://schemas.microsoft.com/office/drawing/2014/main" id="{0A249504-AB74-48BE-85D8-9A039722E8C9}"/>
                  </a:ext>
                </a:extLst>
              </p:cNvPr>
              <p:cNvSpPr/>
              <p:nvPr/>
            </p:nvSpPr>
            <p:spPr>
              <a:xfrm>
                <a:off x="563831" y="2515121"/>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92" name="矩形 491">
                <a:extLst>
                  <a:ext uri="{FF2B5EF4-FFF2-40B4-BE49-F238E27FC236}">
                    <a16:creationId xmlns:a16="http://schemas.microsoft.com/office/drawing/2014/main" id="{7B0F3A15-E22F-4CB3-AD3B-273E04EE83B3}"/>
                  </a:ext>
                </a:extLst>
              </p:cNvPr>
              <p:cNvSpPr/>
              <p:nvPr/>
            </p:nvSpPr>
            <p:spPr>
              <a:xfrm>
                <a:off x="563831" y="2604949"/>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93" name="矩形 492">
                <a:extLst>
                  <a:ext uri="{FF2B5EF4-FFF2-40B4-BE49-F238E27FC236}">
                    <a16:creationId xmlns:a16="http://schemas.microsoft.com/office/drawing/2014/main" id="{50D3E025-E42D-4363-9CED-C267D3DB09C1}"/>
                  </a:ext>
                </a:extLst>
              </p:cNvPr>
              <p:cNvSpPr/>
              <p:nvPr/>
            </p:nvSpPr>
            <p:spPr>
              <a:xfrm>
                <a:off x="563831" y="2689312"/>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94" name="矩形 493">
                <a:extLst>
                  <a:ext uri="{FF2B5EF4-FFF2-40B4-BE49-F238E27FC236}">
                    <a16:creationId xmlns:a16="http://schemas.microsoft.com/office/drawing/2014/main" id="{10669B37-30E5-46D2-8862-C6FE2596A494}"/>
                  </a:ext>
                </a:extLst>
              </p:cNvPr>
              <p:cNvSpPr/>
              <p:nvPr/>
            </p:nvSpPr>
            <p:spPr>
              <a:xfrm>
                <a:off x="561950" y="2783791"/>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95" name="矩形 494">
                <a:extLst>
                  <a:ext uri="{FF2B5EF4-FFF2-40B4-BE49-F238E27FC236}">
                    <a16:creationId xmlns:a16="http://schemas.microsoft.com/office/drawing/2014/main" id="{B20CADF8-1500-42C6-8E53-DEACC162F1DA}"/>
                  </a:ext>
                </a:extLst>
              </p:cNvPr>
              <p:cNvSpPr/>
              <p:nvPr/>
            </p:nvSpPr>
            <p:spPr>
              <a:xfrm>
                <a:off x="561950" y="2883320"/>
                <a:ext cx="168726" cy="168726"/>
              </a:xfrm>
              <a:prstGeom prst="rect">
                <a:avLst/>
              </a:prstGeom>
              <a:ln w="6350">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lIns="0" rIns="0" rtlCol="0" anchor="ctr"/>
              <a:lstStyle/>
              <a:p>
                <a:pPr algn="ctr" defTabSz="457200"/>
                <a:r>
                  <a:rPr lang="en-US" altLang="zh-CN" sz="800"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rPr>
                  <a:t>F</a:t>
                </a:r>
                <a:endParaRPr lang="zh-CN" altLang="en-US" sz="800" b="1" dirty="0">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490" name="文本框 489">
              <a:extLst>
                <a:ext uri="{FF2B5EF4-FFF2-40B4-BE49-F238E27FC236}">
                  <a16:creationId xmlns:a16="http://schemas.microsoft.com/office/drawing/2014/main" id="{A0666185-6C74-40C0-BEBE-222467B65735}"/>
                </a:ext>
              </a:extLst>
            </p:cNvPr>
            <p:cNvSpPr txBox="1"/>
            <p:nvPr/>
          </p:nvSpPr>
          <p:spPr>
            <a:xfrm>
              <a:off x="639660" y="2241189"/>
              <a:ext cx="946006" cy="227686"/>
            </a:xfrm>
            <a:prstGeom prst="rect">
              <a:avLst/>
            </a:prstGeom>
            <a:noFill/>
          </p:spPr>
          <p:txBody>
            <a:bodyPr wrap="none" rtlCol="0">
              <a:spAutoFit/>
            </a:bodyPr>
            <a:lstStyle/>
            <a:p>
              <a:r>
                <a:rPr lang="en-US" altLang="zh-CN" sz="1050" b="1">
                  <a:solidFill>
                    <a:srgbClr val="C00000"/>
                  </a:solidFill>
                  <a:latin typeface="微软雅黑" panose="020B0503020204020204" pitchFamily="34" charset="-122"/>
                  <a:ea typeface="微软雅黑" panose="020B0503020204020204" pitchFamily="34" charset="-122"/>
                </a:rPr>
                <a:t>T</a:t>
              </a:r>
              <a:r>
                <a:rPr lang="en-US" altLang="zh-CN" sz="1050" b="1">
                  <a:solidFill>
                    <a:srgbClr val="C00000"/>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1050" b="1">
                  <a:solidFill>
                    <a:srgbClr val="C00000"/>
                  </a:solidFill>
                  <a:latin typeface="微软雅黑" panose="020B0503020204020204" pitchFamily="34" charset="-122"/>
                  <a:ea typeface="微软雅黑" panose="020B0503020204020204" pitchFamily="34" charset="-122"/>
                </a:rPr>
                <a:t>Prompt</a:t>
              </a:r>
              <a:r>
                <a:rPr lang="en-US" altLang="zh-CN" sz="1050" b="1">
                  <a:solidFill>
                    <a:srgbClr val="C00000"/>
                  </a:solidFill>
                  <a:latin typeface="微软雅黑" panose="020B0503020204020204" pitchFamily="34" charset="-122"/>
                  <a:ea typeface="微软雅黑" panose="020B0503020204020204" pitchFamily="34" charset="-122"/>
                  <a:sym typeface="Wingdings" panose="05000000000000000000" pitchFamily="2" charset="2"/>
                </a:rPr>
                <a:t>T</a:t>
              </a:r>
              <a:endParaRPr lang="zh-CN" altLang="en-US" sz="1050" b="1">
                <a:solidFill>
                  <a:srgbClr val="C00000"/>
                </a:solidFill>
                <a:latin typeface="微软雅黑" panose="020B0503020204020204" pitchFamily="34" charset="-122"/>
                <a:ea typeface="微软雅黑" panose="020B0503020204020204" pitchFamily="34" charset="-122"/>
              </a:endParaRPr>
            </a:p>
          </p:txBody>
        </p:sp>
      </p:grpSp>
      <p:cxnSp>
        <p:nvCxnSpPr>
          <p:cNvPr id="502" name="直接箭头连接符 501">
            <a:extLst>
              <a:ext uri="{FF2B5EF4-FFF2-40B4-BE49-F238E27FC236}">
                <a16:creationId xmlns:a16="http://schemas.microsoft.com/office/drawing/2014/main" id="{B317893F-A8E1-4C02-BA86-196153D21B75}"/>
              </a:ext>
            </a:extLst>
          </p:cNvPr>
          <p:cNvCxnSpPr/>
          <p:nvPr/>
        </p:nvCxnSpPr>
        <p:spPr>
          <a:xfrm>
            <a:off x="11498964" y="4666367"/>
            <a:ext cx="274714" cy="0"/>
          </a:xfrm>
          <a:prstGeom prst="straightConnector1">
            <a:avLst/>
          </a:prstGeom>
          <a:ln w="22225">
            <a:solidFill>
              <a:schemeClr val="accent5">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503" name="文本框 502">
            <a:extLst>
              <a:ext uri="{FF2B5EF4-FFF2-40B4-BE49-F238E27FC236}">
                <a16:creationId xmlns:a16="http://schemas.microsoft.com/office/drawing/2014/main" id="{02E90E2F-4123-4928-A7D9-33A6E4D9DCCF}"/>
              </a:ext>
            </a:extLst>
          </p:cNvPr>
          <p:cNvSpPr txBox="1"/>
          <p:nvPr/>
        </p:nvSpPr>
        <p:spPr>
          <a:xfrm>
            <a:off x="10184963" y="4973779"/>
            <a:ext cx="992579" cy="253916"/>
          </a:xfrm>
          <a:prstGeom prst="rect">
            <a:avLst/>
          </a:prstGeom>
          <a:solidFill>
            <a:schemeClr val="bg1">
              <a:alpha val="60000"/>
            </a:schemeClr>
          </a:solidFill>
        </p:spPr>
        <p:txBody>
          <a:bodyPr wrap="none" rtlCol="0">
            <a:spAutoFit/>
          </a:bodyPr>
          <a:lstStyle/>
          <a:p>
            <a:r>
              <a:rPr lang="zh-CN" altLang="en-US" sz="1050" b="1">
                <a:solidFill>
                  <a:srgbClr val="C00000"/>
                </a:solidFill>
                <a:latin typeface="微软雅黑" panose="020B0503020204020204" pitchFamily="34" charset="-122"/>
                <a:ea typeface="微软雅黑" panose="020B0503020204020204" pitchFamily="34" charset="-122"/>
              </a:rPr>
              <a:t>优势市场设计</a:t>
            </a:r>
          </a:p>
        </p:txBody>
      </p:sp>
      <p:cxnSp>
        <p:nvCxnSpPr>
          <p:cNvPr id="505" name="连接符: 曲线 504">
            <a:extLst>
              <a:ext uri="{FF2B5EF4-FFF2-40B4-BE49-F238E27FC236}">
                <a16:creationId xmlns:a16="http://schemas.microsoft.com/office/drawing/2014/main" id="{6BB0C89B-FC75-467F-BD57-25E62400C6C2}"/>
              </a:ext>
            </a:extLst>
          </p:cNvPr>
          <p:cNvCxnSpPr>
            <a:cxnSpLocks/>
            <a:stCxn id="503" idx="1"/>
            <a:endCxn id="500" idx="1"/>
          </p:cNvCxnSpPr>
          <p:nvPr/>
        </p:nvCxnSpPr>
        <p:spPr>
          <a:xfrm rot="10800000">
            <a:off x="10020345" y="2432911"/>
            <a:ext cx="164619" cy="2667826"/>
          </a:xfrm>
          <a:prstGeom prst="curvedConnector3">
            <a:avLst>
              <a:gd name="adj1" fmla="val 409209"/>
            </a:avLst>
          </a:prstGeom>
          <a:ln>
            <a:solidFill>
              <a:srgbClr val="FF0000">
                <a:alpha val="98000"/>
              </a:srgb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07" name="连接符: 曲线 506">
            <a:extLst>
              <a:ext uri="{FF2B5EF4-FFF2-40B4-BE49-F238E27FC236}">
                <a16:creationId xmlns:a16="http://schemas.microsoft.com/office/drawing/2014/main" id="{D0F9A6D6-F41A-490F-B4F4-46CC8E592052}"/>
              </a:ext>
            </a:extLst>
          </p:cNvPr>
          <p:cNvCxnSpPr>
            <a:cxnSpLocks/>
          </p:cNvCxnSpPr>
          <p:nvPr/>
        </p:nvCxnSpPr>
        <p:spPr>
          <a:xfrm>
            <a:off x="11258445" y="2421930"/>
            <a:ext cx="659213" cy="1604495"/>
          </a:xfrm>
          <a:prstGeom prst="curvedConnector2">
            <a:avLst/>
          </a:prstGeom>
          <a:ln>
            <a:solidFill>
              <a:srgbClr val="FF0000">
                <a:alpha val="98000"/>
              </a:srgb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514" name="组合 513">
            <a:extLst>
              <a:ext uri="{FF2B5EF4-FFF2-40B4-BE49-F238E27FC236}">
                <a16:creationId xmlns:a16="http://schemas.microsoft.com/office/drawing/2014/main" id="{4336694F-E5D4-486A-B4F1-D5BAA3CA0EE0}"/>
              </a:ext>
            </a:extLst>
          </p:cNvPr>
          <p:cNvGrpSpPr/>
          <p:nvPr/>
        </p:nvGrpSpPr>
        <p:grpSpPr>
          <a:xfrm>
            <a:off x="12720584" y="2298487"/>
            <a:ext cx="10730561" cy="3034209"/>
            <a:chOff x="642402" y="2819595"/>
            <a:chExt cx="10730561" cy="3034209"/>
          </a:xfrm>
        </p:grpSpPr>
        <p:sp>
          <p:nvSpPr>
            <p:cNvPr id="512" name="矩形: 圆角 511">
              <a:extLst>
                <a:ext uri="{FF2B5EF4-FFF2-40B4-BE49-F238E27FC236}">
                  <a16:creationId xmlns:a16="http://schemas.microsoft.com/office/drawing/2014/main" id="{A332E0B6-2B55-4FCF-A898-BE64E189365B}"/>
                </a:ext>
              </a:extLst>
            </p:cNvPr>
            <p:cNvSpPr/>
            <p:nvPr/>
          </p:nvSpPr>
          <p:spPr>
            <a:xfrm>
              <a:off x="642402" y="5330584"/>
              <a:ext cx="10730561" cy="523220"/>
            </a:xfrm>
            <a:prstGeom prst="roundRect">
              <a:avLst>
                <a:gd name="adj" fmla="val 17960"/>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342900" indent="-342900" algn="l" defTabSz="457200">
                <a:buFont typeface="Wingdings" panose="05000000000000000000" pitchFamily="2" charset="2"/>
                <a:buChar char="ü"/>
              </a:pPr>
              <a:r>
                <a:rPr lang="zh-CN" altLang="en-US" sz="2000" b="1">
                  <a:solidFill>
                    <a:srgbClr val="002060"/>
                  </a:solidFill>
                  <a:latin typeface="Arial" panose="020B0604020202020204" pitchFamily="34" charset="0"/>
                  <a:ea typeface="微软雅黑" panose="020B0503020204020204" pitchFamily="34" charset="-122"/>
                  <a:cs typeface="Arial" panose="020B0604020202020204" pitchFamily="34" charset="0"/>
                </a:rPr>
                <a:t>工程问题</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rPr>
                <a:t>LLM-Agent</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系统如何</a:t>
              </a:r>
              <a:r>
                <a:rPr lang="zh-CN" altLang="en-US" sz="2000" b="1">
                  <a:solidFill>
                    <a:srgbClr val="C00000"/>
                  </a:solidFill>
                  <a:latin typeface="Arial" panose="020B0604020202020204" pitchFamily="34" charset="0"/>
                  <a:ea typeface="微软雅黑" panose="020B0503020204020204" pitchFamily="34" charset="-122"/>
                  <a:cs typeface="Arial" panose="020B0604020202020204" pitchFamily="34" charset="0"/>
                </a:rPr>
                <a:t>替代专家</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进行市场设计</a:t>
              </a:r>
              <a:r>
                <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如何</a:t>
              </a:r>
              <a:r>
                <a:rPr lang="zh-CN" altLang="en-US" sz="2000" b="1">
                  <a:solidFill>
                    <a:srgbClr val="C00000"/>
                  </a:solidFill>
                  <a:latin typeface="Arial" panose="020B0604020202020204" pitchFamily="34" charset="0"/>
                  <a:ea typeface="微软雅黑" panose="020B0503020204020204" pitchFamily="34" charset="-122"/>
                  <a:cs typeface="Arial" panose="020B0604020202020204" pitchFamily="34" charset="0"/>
                </a:rPr>
                <a:t>缩小</a:t>
              </a:r>
              <a:r>
                <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rPr>
                <a:t>DEM</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市场设计</a:t>
              </a:r>
              <a:r>
                <a:rPr lang="zh-CN" altLang="en-US" sz="2000" b="1">
                  <a:solidFill>
                    <a:srgbClr val="0070C0"/>
                  </a:solidFill>
                  <a:latin typeface="Arial" panose="020B0604020202020204" pitchFamily="34" charset="0"/>
                  <a:ea typeface="微软雅黑" panose="020B0503020204020204" pitchFamily="34" charset="-122"/>
                  <a:cs typeface="Arial" panose="020B0604020202020204" pitchFamily="34" charset="0"/>
                </a:rPr>
                <a:t>可行范围</a:t>
              </a:r>
              <a:endParaRPr lang="zh-CN" altLang="en-US" sz="20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p:txBody>
        </p:sp>
        <p:sp>
          <p:nvSpPr>
            <p:cNvPr id="513" name="矩形: 圆角 512">
              <a:extLst>
                <a:ext uri="{FF2B5EF4-FFF2-40B4-BE49-F238E27FC236}">
                  <a16:creationId xmlns:a16="http://schemas.microsoft.com/office/drawing/2014/main" id="{6C9F5185-CC35-4FFE-8A2B-3B3AE8F4D753}"/>
                </a:ext>
              </a:extLst>
            </p:cNvPr>
            <p:cNvSpPr/>
            <p:nvPr/>
          </p:nvSpPr>
          <p:spPr>
            <a:xfrm>
              <a:off x="642402" y="2819595"/>
              <a:ext cx="10730561" cy="523220"/>
            </a:xfrm>
            <a:prstGeom prst="roundRect">
              <a:avLst>
                <a:gd name="adj" fmla="val 17960"/>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342900" indent="-342900" algn="l" defTabSz="457200">
                <a:buFont typeface="Wingdings" panose="05000000000000000000" pitchFamily="2" charset="2"/>
                <a:buChar char="ü"/>
              </a:pPr>
              <a:r>
                <a:rPr lang="zh-CN" altLang="en-US" sz="2000" b="1">
                  <a:solidFill>
                    <a:srgbClr val="C00000"/>
                  </a:solidFill>
                  <a:latin typeface="Arial" panose="020B0604020202020204" pitchFamily="34" charset="0"/>
                  <a:ea typeface="微软雅黑" panose="020B0503020204020204" pitchFamily="34" charset="-122"/>
                  <a:cs typeface="Arial" panose="020B0604020202020204" pitchFamily="34" charset="0"/>
                </a:rPr>
                <a:t>科学问题</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：是否存在</a:t>
              </a:r>
              <a:r>
                <a:rPr lang="zh-CN" altLang="en-US" sz="2000" b="1">
                  <a:solidFill>
                    <a:srgbClr val="C00000"/>
                  </a:solidFill>
                  <a:latin typeface="Arial" panose="020B0604020202020204" pitchFamily="34" charset="0"/>
                  <a:ea typeface="微软雅黑" panose="020B0503020204020204" pitchFamily="34" charset="-122"/>
                  <a:cs typeface="Arial" panose="020B0604020202020204" pitchFamily="34" charset="0"/>
                </a:rPr>
                <a:t>一致化</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的</a:t>
              </a:r>
              <a:r>
                <a:rPr lang="en-US" altLang="zh-CN" sz="2000" b="1">
                  <a:solidFill>
                    <a:srgbClr val="0070C0"/>
                  </a:solidFill>
                  <a:latin typeface="Arial" panose="020B0604020202020204" pitchFamily="34" charset="0"/>
                  <a:ea typeface="微软雅黑" panose="020B0503020204020204" pitchFamily="34" charset="-122"/>
                  <a:cs typeface="Arial" panose="020B0604020202020204" pitchFamily="34" charset="0"/>
                </a:rPr>
                <a:t>DEM</a:t>
              </a:r>
              <a:r>
                <a:rPr lang="zh-CN" altLang="en-US" sz="2000" b="1">
                  <a:solidFill>
                    <a:srgbClr val="0070C0"/>
                  </a:solidFill>
                  <a:latin typeface="Arial" panose="020B0604020202020204" pitchFamily="34" charset="0"/>
                  <a:ea typeface="微软雅黑" panose="020B0503020204020204" pitchFamily="34" charset="-122"/>
                  <a:cs typeface="Arial" panose="020B0604020202020204" pitchFamily="34" charset="0"/>
                </a:rPr>
                <a:t>市场体系</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？如何校验市场设计在一定设计范围内</a:t>
              </a:r>
              <a:r>
                <a:rPr lang="zh-CN" altLang="en-US" sz="2000" b="1">
                  <a:solidFill>
                    <a:srgbClr val="C00000"/>
                  </a:solidFill>
                  <a:latin typeface="Arial" panose="020B0604020202020204" pitchFamily="34" charset="0"/>
                  <a:ea typeface="微软雅黑" panose="020B0503020204020204" pitchFamily="34" charset="-122"/>
                  <a:cs typeface="Arial" panose="020B0604020202020204" pitchFamily="34" charset="0"/>
                </a:rPr>
                <a:t>最有效</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a:t>
              </a:r>
              <a:endParaRPr lang="zh-CN" altLang="en-US" sz="20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p:txBody>
        </p:sp>
      </p:grpSp>
    </p:spTree>
    <p:custDataLst>
      <p:tags r:id="rId1"/>
    </p:custDataLst>
    <p:extLst>
      <p:ext uri="{BB962C8B-B14F-4D97-AF65-F5344CB8AC3E}">
        <p14:creationId xmlns:p14="http://schemas.microsoft.com/office/powerpoint/2010/main" val="1646920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14885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1.2 </a:t>
            </a:r>
            <a:r>
              <a:rPr lang="zh-CN" altLang="en-US" sz="2800" spc="0">
                <a:solidFill>
                  <a:schemeClr val="tx1"/>
                </a:solidFill>
                <a:effectLst/>
                <a:sym typeface="微软雅黑" panose="020B0503020204020204" pitchFamily="34" charset="-122"/>
              </a:rPr>
              <a:t>现有的进展：</a:t>
            </a:r>
            <a:r>
              <a:rPr lang="en-US" altLang="zh-CN" sz="2800" spc="0">
                <a:solidFill>
                  <a:schemeClr val="tx1"/>
                </a:solidFill>
                <a:effectLst/>
                <a:sym typeface="微软雅黑" panose="020B0503020204020204" pitchFamily="34" charset="-122"/>
              </a:rPr>
              <a:t>LLM Prompt</a:t>
            </a:r>
            <a:r>
              <a:rPr lang="zh-CN" altLang="en-US" sz="2800" spc="0">
                <a:solidFill>
                  <a:schemeClr val="tx1"/>
                </a:solidFill>
                <a:effectLst/>
                <a:sym typeface="微软雅黑" panose="020B0503020204020204" pitchFamily="34" charset="-122"/>
              </a:rPr>
              <a:t>工程</a:t>
            </a:r>
            <a:r>
              <a:rPr lang="en-US" altLang="zh-CN" sz="2800" spc="0">
                <a:solidFill>
                  <a:schemeClr val="tx1"/>
                </a:solidFill>
                <a:effectLst/>
                <a:sym typeface="微软雅黑" panose="020B0503020204020204" pitchFamily="34" charset="-122"/>
              </a:rPr>
              <a:t>—Units</a:t>
            </a:r>
            <a:r>
              <a:rPr lang="zh-CN" altLang="en-US" sz="2800" spc="0">
                <a:solidFill>
                  <a:schemeClr val="tx1"/>
                </a:solidFill>
                <a:effectLst/>
                <a:sym typeface="微软雅黑" panose="020B0503020204020204" pitchFamily="34" charset="-122"/>
              </a:rPr>
              <a:t>规则化实验</a:t>
            </a:r>
          </a:p>
        </p:txBody>
      </p:sp>
      <p:grpSp>
        <p:nvGrpSpPr>
          <p:cNvPr id="83" name="组合 82">
            <a:extLst>
              <a:ext uri="{FF2B5EF4-FFF2-40B4-BE49-F238E27FC236}">
                <a16:creationId xmlns:a16="http://schemas.microsoft.com/office/drawing/2014/main" id="{935A8463-3490-4A4C-9FBE-C504EB783A9E}"/>
              </a:ext>
            </a:extLst>
          </p:cNvPr>
          <p:cNvGrpSpPr/>
          <p:nvPr/>
        </p:nvGrpSpPr>
        <p:grpSpPr>
          <a:xfrm>
            <a:off x="308924" y="734752"/>
            <a:ext cx="11574151" cy="522605"/>
            <a:chOff x="308924" y="734752"/>
            <a:chExt cx="11574151" cy="522605"/>
          </a:xfrm>
        </p:grpSpPr>
        <p:sp>
          <p:nvSpPr>
            <p:cNvPr id="84" name="矩形 22">
              <a:extLst>
                <a:ext uri="{FF2B5EF4-FFF2-40B4-BE49-F238E27FC236}">
                  <a16:creationId xmlns:a16="http://schemas.microsoft.com/office/drawing/2014/main" id="{8ACE45B6-93A6-4AE3-8868-C769AFD68E32}"/>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85" name="文本框 84">
              <a:extLst>
                <a:ext uri="{FF2B5EF4-FFF2-40B4-BE49-F238E27FC236}">
                  <a16:creationId xmlns:a16="http://schemas.microsoft.com/office/drawing/2014/main" id="{3EE57984-FF8B-4D82-A0D1-4E149A2F6C71}"/>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构建程序控制器</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方法模块（重点是</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API-Prompt</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测试）</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测试模块</a:t>
              </a:r>
              <a:endParaRPr sz="22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sp>
        <p:nvSpPr>
          <p:cNvPr id="323" name="文本框 322">
            <a:extLst>
              <a:ext uri="{FF2B5EF4-FFF2-40B4-BE49-F238E27FC236}">
                <a16:creationId xmlns:a16="http://schemas.microsoft.com/office/drawing/2014/main" id="{251E1F1B-9427-47BF-98C6-E628332423B4}"/>
              </a:ext>
            </a:extLst>
          </p:cNvPr>
          <p:cNvSpPr txBox="1"/>
          <p:nvPr/>
        </p:nvSpPr>
        <p:spPr>
          <a:xfrm>
            <a:off x="0" y="1324116"/>
            <a:ext cx="12195525" cy="646331"/>
          </a:xfrm>
          <a:prstGeom prst="rect">
            <a:avLst/>
          </a:prstGeom>
          <a:noFill/>
        </p:spPr>
        <p:txBody>
          <a:bodyPr wrap="square" rtlCol="0">
            <a:spAutoFit/>
          </a:bodyPr>
          <a:lstStyle/>
          <a:p>
            <a:pPr marL="285750" indent="-285750" algn="just">
              <a:buFont typeface="Wingdings" panose="05000000000000000000" pitchFamily="2" charset="2"/>
              <a:buChar char="n"/>
            </a:pPr>
            <a:r>
              <a:rPr lang="zh-CN" altLang="en-US" b="1">
                <a:latin typeface="Times New Roman" panose="02020603050405020304" pitchFamily="18" charset="0"/>
                <a:ea typeface="微软雅黑" panose="020B0503020204020204" pitchFamily="34" charset="-122"/>
                <a:cs typeface="Times New Roman" panose="02020603050405020304" pitchFamily="18" charset="0"/>
              </a:rPr>
              <a:t>开发工作量较大下的可行性</a:t>
            </a:r>
            <a:r>
              <a:rPr lang="zh-CN" altLang="en-US"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框架</a:t>
            </a:r>
            <a:r>
              <a:rPr lang="en-US" altLang="zh-CN"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需求提出</a:t>
            </a:r>
            <a:r>
              <a:rPr lang="en-US" altLang="zh-CN"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en-US" altLang="zh-CN"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CodeX Coding</a:t>
            </a:r>
            <a:r>
              <a:rPr lang="en-US" altLang="zh-CN"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zh-CN" altLang="en-US"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校验</a:t>
            </a:r>
            <a:r>
              <a:rPr lang="en-US" altLang="zh-CN"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zh-CN" altLang="en-US"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主要看代码</a:t>
            </a:r>
            <a:r>
              <a:rPr lang="en-US" altLang="zh-CN"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en-US" altLang="zh-CN"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zh-CN" altLang="en-US"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测试 </a:t>
            </a:r>
            <a:r>
              <a:rPr lang="en-US" altLang="zh-CN"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(AI</a:t>
            </a:r>
            <a:r>
              <a:rPr lang="zh-CN" altLang="en-US"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运行</a:t>
            </a:r>
            <a:r>
              <a:rPr lang="en-US" altLang="zh-CN"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zh-CN" altLang="en-US"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分析</a:t>
            </a:r>
            <a:r>
              <a:rPr lang="en-US" altLang="zh-CN"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 </a:t>
            </a:r>
            <a:r>
              <a:rPr lang="zh-CN" altLang="en-US"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校验</a:t>
            </a:r>
            <a:r>
              <a:rPr lang="en-US" altLang="zh-CN"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zh-CN" altLang="en-US"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主要看结果数据和图</a:t>
            </a:r>
            <a:r>
              <a:rPr lang="en-US" altLang="zh-CN"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en-US" altLang="zh-CN"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  </a:t>
            </a:r>
            <a:r>
              <a:rPr lang="zh-CN" altLang="en-US"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代码重构</a:t>
            </a:r>
            <a:r>
              <a:rPr lang="en-US" altLang="zh-CN"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zh-CN" altLang="en-US"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分析，</a:t>
            </a:r>
            <a:r>
              <a:rPr lang="zh-CN" altLang="en-US"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算法</a:t>
            </a:r>
            <a:r>
              <a:rPr lang="en-US" altLang="zh-CN"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zh-CN" altLang="en-US"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知识库研究和代码工作能够同时进行，</a:t>
            </a:r>
            <a:r>
              <a:rPr lang="zh-CN" altLang="en-US"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所以应该能保证工期</a:t>
            </a:r>
            <a:r>
              <a:rPr lang="zh-CN" altLang="en-US"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endParaRPr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29" name="main-arrow-1">
            <a:extLst>
              <a:ext uri="{FF2B5EF4-FFF2-40B4-BE49-F238E27FC236}">
                <a16:creationId xmlns:a16="http://schemas.microsoft.com/office/drawing/2014/main" id="{05FCEC3F-5549-43DA-B278-5ED7C309F5F5}"/>
              </a:ext>
            </a:extLst>
          </p:cNvPr>
          <p:cNvSpPr>
            <a:spLocks noGrp="1"/>
          </p:cNvSpPr>
          <p:nvPr/>
        </p:nvSpPr>
        <p:spPr>
          <a:xfrm>
            <a:off x="2613660" y="3829910"/>
            <a:ext cx="133350" cy="190500"/>
          </a:xfrm>
          <a:prstGeom prst="rightArrow">
            <a:avLst/>
          </a:prstGeom>
          <a:solidFill>
            <a:srgbClr val="3D8DFF"/>
          </a:solidFill>
          <a:ln w="0">
            <a:noFill/>
            <a:prstDash val="solid"/>
          </a:ln>
        </p:spPr>
      </p:sp>
      <p:sp>
        <p:nvSpPr>
          <p:cNvPr id="330" name="main-arrow-2">
            <a:extLst>
              <a:ext uri="{FF2B5EF4-FFF2-40B4-BE49-F238E27FC236}">
                <a16:creationId xmlns:a16="http://schemas.microsoft.com/office/drawing/2014/main" id="{FD2F401D-9AE8-4748-9D84-0FC2A9D3DE2A}"/>
              </a:ext>
            </a:extLst>
          </p:cNvPr>
          <p:cNvSpPr>
            <a:spLocks noGrp="1"/>
          </p:cNvSpPr>
          <p:nvPr/>
        </p:nvSpPr>
        <p:spPr>
          <a:xfrm>
            <a:off x="4880610" y="3829910"/>
            <a:ext cx="133350" cy="190500"/>
          </a:xfrm>
          <a:prstGeom prst="rightArrow">
            <a:avLst/>
          </a:prstGeom>
          <a:solidFill>
            <a:srgbClr val="3D8DFF"/>
          </a:solidFill>
          <a:ln w="0">
            <a:noFill/>
            <a:prstDash val="solid"/>
          </a:ln>
        </p:spPr>
      </p:sp>
      <p:sp>
        <p:nvSpPr>
          <p:cNvPr id="331" name="main-arrow-3">
            <a:extLst>
              <a:ext uri="{FF2B5EF4-FFF2-40B4-BE49-F238E27FC236}">
                <a16:creationId xmlns:a16="http://schemas.microsoft.com/office/drawing/2014/main" id="{F8CAD0BB-FDE6-4D4C-A282-4959A56A2538}"/>
              </a:ext>
            </a:extLst>
          </p:cNvPr>
          <p:cNvSpPr>
            <a:spLocks noGrp="1"/>
          </p:cNvSpPr>
          <p:nvPr/>
        </p:nvSpPr>
        <p:spPr>
          <a:xfrm>
            <a:off x="7147560" y="3829910"/>
            <a:ext cx="133350" cy="190500"/>
          </a:xfrm>
          <a:prstGeom prst="rightArrow">
            <a:avLst/>
          </a:prstGeom>
          <a:solidFill>
            <a:srgbClr val="3D8DFF"/>
          </a:solidFill>
          <a:ln w="0">
            <a:noFill/>
            <a:prstDash val="solid"/>
          </a:ln>
        </p:spPr>
      </p:sp>
      <p:sp>
        <p:nvSpPr>
          <p:cNvPr id="332" name="main-arrow-4">
            <a:extLst>
              <a:ext uri="{FF2B5EF4-FFF2-40B4-BE49-F238E27FC236}">
                <a16:creationId xmlns:a16="http://schemas.microsoft.com/office/drawing/2014/main" id="{19F7819A-E039-43E3-A42B-5888EBE2773D}"/>
              </a:ext>
            </a:extLst>
          </p:cNvPr>
          <p:cNvSpPr>
            <a:spLocks noGrp="1"/>
          </p:cNvSpPr>
          <p:nvPr/>
        </p:nvSpPr>
        <p:spPr>
          <a:xfrm>
            <a:off x="9414510" y="3829910"/>
            <a:ext cx="133350" cy="190500"/>
          </a:xfrm>
          <a:prstGeom prst="rightArrow">
            <a:avLst/>
          </a:prstGeom>
          <a:solidFill>
            <a:srgbClr val="3D8DFF"/>
          </a:solidFill>
          <a:ln w="0">
            <a:noFill/>
            <a:prstDash val="solid"/>
          </a:ln>
        </p:spPr>
      </p:sp>
      <p:sp>
        <p:nvSpPr>
          <p:cNvPr id="333" name="tbd-branch-arrow">
            <a:extLst>
              <a:ext uri="{FF2B5EF4-FFF2-40B4-BE49-F238E27FC236}">
                <a16:creationId xmlns:a16="http://schemas.microsoft.com/office/drawing/2014/main" id="{9277E2E0-521C-4F75-BF49-EEF1D60637EE}"/>
              </a:ext>
            </a:extLst>
          </p:cNvPr>
          <p:cNvSpPr>
            <a:spLocks noGrp="1"/>
          </p:cNvSpPr>
          <p:nvPr/>
        </p:nvSpPr>
        <p:spPr>
          <a:xfrm>
            <a:off x="5985510" y="5296760"/>
            <a:ext cx="190500" cy="238125"/>
          </a:xfrm>
          <a:prstGeom prst="downArrow">
            <a:avLst/>
          </a:prstGeom>
          <a:solidFill>
            <a:srgbClr val="D97706"/>
          </a:solidFill>
          <a:ln w="0">
            <a:noFill/>
            <a:prstDash val="solid"/>
          </a:ln>
        </p:spPr>
      </p:sp>
      <p:sp>
        <p:nvSpPr>
          <p:cNvPr id="334" name="controller-band">
            <a:extLst>
              <a:ext uri="{FF2B5EF4-FFF2-40B4-BE49-F238E27FC236}">
                <a16:creationId xmlns:a16="http://schemas.microsoft.com/office/drawing/2014/main" id="{B7E5ABCC-48B4-44CF-BFFA-9505E111C6F6}"/>
              </a:ext>
            </a:extLst>
          </p:cNvPr>
          <p:cNvSpPr>
            <a:spLocks noGrp="1"/>
          </p:cNvSpPr>
          <p:nvPr/>
        </p:nvSpPr>
        <p:spPr>
          <a:xfrm>
            <a:off x="518160" y="2096360"/>
            <a:ext cx="11201400" cy="400050"/>
          </a:xfrm>
          <a:prstGeom prst="rect">
            <a:avLst/>
          </a:prstGeom>
          <a:solidFill>
            <a:srgbClr val="101828"/>
          </a:solidFill>
          <a:ln w="0">
            <a:solidFill>
              <a:srgbClr val="101828"/>
            </a:solidFill>
            <a:prstDash val="solid"/>
          </a:ln>
        </p:spPr>
      </p:sp>
      <p:sp>
        <p:nvSpPr>
          <p:cNvPr id="335" name="controller-file">
            <a:extLst>
              <a:ext uri="{FF2B5EF4-FFF2-40B4-BE49-F238E27FC236}">
                <a16:creationId xmlns:a16="http://schemas.microsoft.com/office/drawing/2014/main" id="{43342742-EA10-4311-A73E-A6E0FD2B30E4}"/>
              </a:ext>
            </a:extLst>
          </p:cNvPr>
          <p:cNvSpPr>
            <a:spLocks noGrp="1"/>
          </p:cNvSpPr>
          <p:nvPr/>
        </p:nvSpPr>
        <p:spPr>
          <a:xfrm>
            <a:off x="670560" y="2134460"/>
            <a:ext cx="3048000" cy="323850"/>
          </a:xfrm>
          <a:prstGeom prst="rect">
            <a:avLst/>
          </a:prstGeom>
          <a:noFill/>
          <a:ln w="0">
            <a:noFill/>
            <a:prstDash val="solid"/>
          </a:ln>
        </p:spPr>
        <p:txBody>
          <a:bodyPr lIns="0" tIns="0" rIns="0" bIns="0" anchor="ctr"/>
          <a:lstStyle/>
          <a:p>
            <a:pPr algn="l">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C_01_main_controller.py</a:t>
            </a:r>
          </a:p>
        </p:txBody>
      </p:sp>
      <p:sp>
        <p:nvSpPr>
          <p:cNvPr id="336" name="controller-call">
            <a:extLst>
              <a:ext uri="{FF2B5EF4-FFF2-40B4-BE49-F238E27FC236}">
                <a16:creationId xmlns:a16="http://schemas.microsoft.com/office/drawing/2014/main" id="{FBC4646B-EFA1-40ED-8D58-C84AAC617DED}"/>
              </a:ext>
            </a:extLst>
          </p:cNvPr>
          <p:cNvSpPr>
            <a:spLocks noGrp="1"/>
          </p:cNvSpPr>
          <p:nvPr/>
        </p:nvSpPr>
        <p:spPr>
          <a:xfrm>
            <a:off x="4023360" y="2143985"/>
            <a:ext cx="7239000" cy="304800"/>
          </a:xfrm>
          <a:prstGeom prst="rect">
            <a:avLst/>
          </a:prstGeom>
          <a:noFill/>
          <a:ln w="0">
            <a:noFill/>
            <a:prstDash val="solid"/>
          </a:ln>
        </p:spPr>
        <p:txBody>
          <a:bodyPr lIns="0" tIns="0" rIns="0" bIns="0" anchor="ctr"/>
          <a:lstStyle/>
          <a:p>
            <a:pPr algn="r">
              <a:defRPr sz="1350" b="0">
                <a:solidFill>
                  <a:srgbClr val="FFFFFF"/>
                </a:solidFill>
                <a:latin typeface="Microsoft YaHei"/>
                <a:ea typeface="Microsoft YaHei"/>
                <a:cs typeface="Microsoft YaHei"/>
              </a:defRPr>
            </a:pPr>
            <a:r>
              <a:rPr sz="1350" b="0">
                <a:solidFill>
                  <a:srgbClr val="FFFFFF"/>
                </a:solidFill>
                <a:latin typeface="Microsoft YaHei"/>
                <a:ea typeface="Microsoft YaHei"/>
                <a:cs typeface="Microsoft YaHei"/>
              </a:rPr>
              <a:t>main()  →  get_input_text()  →  run_full_pipeline()</a:t>
            </a:r>
          </a:p>
        </p:txBody>
      </p:sp>
      <p:sp>
        <p:nvSpPr>
          <p:cNvPr id="337" name="stage-1-panel">
            <a:extLst>
              <a:ext uri="{FF2B5EF4-FFF2-40B4-BE49-F238E27FC236}">
                <a16:creationId xmlns:a16="http://schemas.microsoft.com/office/drawing/2014/main" id="{7859DDE6-4A2E-4654-9240-F14656111200}"/>
              </a:ext>
            </a:extLst>
          </p:cNvPr>
          <p:cNvSpPr>
            <a:spLocks noGrp="1"/>
          </p:cNvSpPr>
          <p:nvPr/>
        </p:nvSpPr>
        <p:spPr>
          <a:xfrm>
            <a:off x="518160" y="2686910"/>
            <a:ext cx="2057400" cy="2571750"/>
          </a:xfrm>
          <a:prstGeom prst="roundRect">
            <a:avLst>
              <a:gd name="adj" fmla="val 3704"/>
            </a:avLst>
          </a:prstGeom>
          <a:solidFill>
            <a:srgbClr val="F2F4F7"/>
          </a:solidFill>
          <a:ln w="14288">
            <a:solidFill>
              <a:srgbClr val="667085"/>
            </a:solidFill>
            <a:prstDash val="solid"/>
          </a:ln>
        </p:spPr>
      </p:sp>
      <p:sp>
        <p:nvSpPr>
          <p:cNvPr id="338" name="stage-1-title">
            <a:extLst>
              <a:ext uri="{FF2B5EF4-FFF2-40B4-BE49-F238E27FC236}">
                <a16:creationId xmlns:a16="http://schemas.microsoft.com/office/drawing/2014/main" id="{F4744BC6-EC74-438D-90C2-91E47F8CEF74}"/>
              </a:ext>
            </a:extLst>
          </p:cNvPr>
          <p:cNvSpPr>
            <a:spLocks noGrp="1"/>
          </p:cNvSpPr>
          <p:nvPr/>
        </p:nvSpPr>
        <p:spPr>
          <a:xfrm>
            <a:off x="670560" y="2829785"/>
            <a:ext cx="1752600" cy="400050"/>
          </a:xfrm>
          <a:prstGeom prst="rect">
            <a:avLst/>
          </a:prstGeom>
          <a:noFill/>
          <a:ln w="0">
            <a:noFill/>
            <a:prstDash val="solid"/>
          </a:ln>
        </p:spPr>
        <p:txBody>
          <a:bodyPr lIns="0" tIns="0" rIns="0" bIns="0" anchor="ctr"/>
          <a:lstStyle/>
          <a:p>
            <a:pPr algn="l">
              <a:defRPr sz="1800" b="1">
                <a:solidFill>
                  <a:srgbClr val="667085"/>
                </a:solidFill>
                <a:latin typeface="Microsoft YaHei"/>
                <a:ea typeface="Microsoft YaHei"/>
                <a:cs typeface="Microsoft YaHei"/>
              </a:defRPr>
            </a:pPr>
            <a:r>
              <a:rPr sz="1800" b="1">
                <a:solidFill>
                  <a:srgbClr val="667085"/>
                </a:solidFill>
                <a:latin typeface="Microsoft YaHei"/>
                <a:ea typeface="Microsoft YaHei"/>
                <a:cs typeface="Microsoft YaHei"/>
              </a:rPr>
              <a:t>① 输入解析</a:t>
            </a:r>
          </a:p>
        </p:txBody>
      </p:sp>
      <p:sp>
        <p:nvSpPr>
          <p:cNvPr id="339" name="stage-1-rule">
            <a:extLst>
              <a:ext uri="{FF2B5EF4-FFF2-40B4-BE49-F238E27FC236}">
                <a16:creationId xmlns:a16="http://schemas.microsoft.com/office/drawing/2014/main" id="{8B5F31E9-F934-4301-9AE9-17028786DC1D}"/>
              </a:ext>
            </a:extLst>
          </p:cNvPr>
          <p:cNvSpPr>
            <a:spLocks noGrp="1"/>
          </p:cNvSpPr>
          <p:nvPr/>
        </p:nvSpPr>
        <p:spPr>
          <a:xfrm>
            <a:off x="670560" y="3296510"/>
            <a:ext cx="1752600" cy="0"/>
          </a:xfrm>
          <a:prstGeom prst="line">
            <a:avLst/>
          </a:prstGeom>
          <a:noFill/>
          <a:ln w="9525">
            <a:solidFill>
              <a:srgbClr val="667085"/>
            </a:solidFill>
            <a:prstDash val="solid"/>
          </a:ln>
        </p:spPr>
      </p:sp>
      <p:sp>
        <p:nvSpPr>
          <p:cNvPr id="340" name="stage-1-module">
            <a:extLst>
              <a:ext uri="{FF2B5EF4-FFF2-40B4-BE49-F238E27FC236}">
                <a16:creationId xmlns:a16="http://schemas.microsoft.com/office/drawing/2014/main" id="{493FB72C-415D-41AC-BCAD-41DE9E0CB43B}"/>
              </a:ext>
            </a:extLst>
          </p:cNvPr>
          <p:cNvSpPr>
            <a:spLocks noGrp="1"/>
          </p:cNvSpPr>
          <p:nvPr/>
        </p:nvSpPr>
        <p:spPr>
          <a:xfrm>
            <a:off x="670560" y="3420335"/>
            <a:ext cx="1752600" cy="457200"/>
          </a:xfrm>
          <a:prstGeom prst="rect">
            <a:avLst/>
          </a:prstGeom>
          <a:noFill/>
          <a:ln w="0">
            <a:noFill/>
            <a:prstDash val="solid"/>
          </a:ln>
        </p:spPr>
        <p:txBody>
          <a:bodyPr lIns="0" tIns="0" rIns="0" bIns="0" anchor="t"/>
          <a:lstStyle/>
          <a:p>
            <a:pPr algn="l">
              <a:defRPr sz="1200" b="1">
                <a:solidFill>
                  <a:srgbClr val="101828"/>
                </a:solidFill>
                <a:latin typeface="Microsoft YaHei"/>
                <a:ea typeface="Microsoft YaHei"/>
                <a:cs typeface="Microsoft YaHei"/>
              </a:defRPr>
            </a:pPr>
            <a:r>
              <a:rPr sz="1200" b="1">
                <a:solidFill>
                  <a:srgbClr val="101828"/>
                </a:solidFill>
                <a:latin typeface="Microsoft YaHei"/>
                <a:ea typeface="Microsoft YaHei"/>
                <a:cs typeface="Microsoft YaHei"/>
              </a:rPr>
              <a:t>C_01.get_input_text()</a:t>
            </a:r>
          </a:p>
        </p:txBody>
      </p:sp>
      <p:sp>
        <p:nvSpPr>
          <p:cNvPr id="341" name="stage-1-body">
            <a:extLst>
              <a:ext uri="{FF2B5EF4-FFF2-40B4-BE49-F238E27FC236}">
                <a16:creationId xmlns:a16="http://schemas.microsoft.com/office/drawing/2014/main" id="{573E5428-9FF1-4B71-9E47-3505C5B3C377}"/>
              </a:ext>
            </a:extLst>
          </p:cNvPr>
          <p:cNvSpPr>
            <a:spLocks noGrp="1"/>
          </p:cNvSpPr>
          <p:nvPr/>
        </p:nvSpPr>
        <p:spPr>
          <a:xfrm>
            <a:off x="670560" y="3915635"/>
            <a:ext cx="1752600" cy="838200"/>
          </a:xfrm>
          <a:prstGeom prst="rect">
            <a:avLst/>
          </a:prstGeom>
          <a:noFill/>
          <a:ln w="0">
            <a:noFill/>
            <a:prstDash val="solid"/>
          </a:ln>
        </p:spPr>
        <p:txBody>
          <a:bodyPr lIns="0" tIns="0" rIns="0" bIns="0" anchor="t"/>
          <a:lstStyle/>
          <a:p>
            <a:pPr algn="l">
              <a:defRPr sz="1200" b="0">
                <a:solidFill>
                  <a:srgbClr val="667085"/>
                </a:solidFill>
                <a:latin typeface="Microsoft YaHei"/>
                <a:ea typeface="Microsoft YaHei"/>
                <a:cs typeface="Microsoft YaHei"/>
              </a:defRPr>
            </a:pPr>
            <a:r>
              <a:rPr sz="1200" b="0">
                <a:solidFill>
                  <a:srgbClr val="667085"/>
                </a:solidFill>
                <a:latin typeface="Microsoft YaHei"/>
                <a:ea typeface="Microsoft YaHei"/>
                <a:cs typeface="Microsoft YaHei"/>
              </a:rPr>
              <a:t>读取 CLI / UTF-8 文件 / 交互输入 / 内置样例</a:t>
            </a:r>
          </a:p>
          <a:p>
            <a:endParaRPr sz="1200" b="0">
              <a:solidFill>
                <a:srgbClr val="667085"/>
              </a:solidFill>
              <a:latin typeface="Microsoft YaHei"/>
              <a:ea typeface="Microsoft YaHei"/>
              <a:cs typeface="Microsoft YaHei"/>
            </a:endParaRPr>
          </a:p>
          <a:p>
            <a:pPr algn="l">
              <a:defRPr sz="1200" b="0">
                <a:solidFill>
                  <a:srgbClr val="667085"/>
                </a:solidFill>
                <a:latin typeface="Microsoft YaHei"/>
                <a:ea typeface="Microsoft YaHei"/>
                <a:cs typeface="Microsoft YaHei"/>
              </a:defRPr>
            </a:pPr>
            <a:r>
              <a:rPr sz="1200" b="0">
                <a:solidFill>
                  <a:srgbClr val="667085"/>
                </a:solidFill>
                <a:latin typeface="Microsoft YaHei"/>
                <a:ea typeface="Microsoft YaHei"/>
                <a:cs typeface="Microsoft YaHei"/>
              </a:rPr>
              <a:t>数据：D_01_examples、D_02_inputs</a:t>
            </a:r>
          </a:p>
        </p:txBody>
      </p:sp>
      <p:sp>
        <p:nvSpPr>
          <p:cNvPr id="342" name="stage-1-output">
            <a:extLst>
              <a:ext uri="{FF2B5EF4-FFF2-40B4-BE49-F238E27FC236}">
                <a16:creationId xmlns:a16="http://schemas.microsoft.com/office/drawing/2014/main" id="{4ED25ACA-5C28-463B-8EF3-442684F6F981}"/>
              </a:ext>
            </a:extLst>
          </p:cNvPr>
          <p:cNvSpPr>
            <a:spLocks noGrp="1"/>
          </p:cNvSpPr>
          <p:nvPr/>
        </p:nvSpPr>
        <p:spPr>
          <a:xfrm>
            <a:off x="670560" y="4887185"/>
            <a:ext cx="1752600" cy="228600"/>
          </a:xfrm>
          <a:prstGeom prst="rect">
            <a:avLst/>
          </a:prstGeom>
          <a:noFill/>
          <a:ln w="0">
            <a:noFill/>
            <a:prstDash val="solid"/>
          </a:ln>
        </p:spPr>
        <p:txBody>
          <a:bodyPr lIns="0" tIns="0" rIns="0" bIns="0" anchor="ctr"/>
          <a:lstStyle/>
          <a:p>
            <a:pPr algn="l">
              <a:defRPr sz="1200" b="1">
                <a:solidFill>
                  <a:srgbClr val="667085"/>
                </a:solidFill>
                <a:latin typeface="Microsoft YaHei"/>
                <a:ea typeface="Microsoft YaHei"/>
                <a:cs typeface="Microsoft YaHei"/>
              </a:defRPr>
            </a:pPr>
            <a:r>
              <a:rPr sz="1200" b="1">
                <a:solidFill>
                  <a:srgbClr val="667085"/>
                </a:solidFill>
                <a:latin typeface="Microsoft YaHei"/>
                <a:ea typeface="Microsoft YaHei"/>
                <a:cs typeface="Microsoft YaHei"/>
              </a:rPr>
              <a:t>输出 → input_text</a:t>
            </a:r>
          </a:p>
        </p:txBody>
      </p:sp>
      <p:sp>
        <p:nvSpPr>
          <p:cNvPr id="343" name="stage-2-panel">
            <a:extLst>
              <a:ext uri="{FF2B5EF4-FFF2-40B4-BE49-F238E27FC236}">
                <a16:creationId xmlns:a16="http://schemas.microsoft.com/office/drawing/2014/main" id="{86BAE394-951D-434D-B4AB-4E2DF316C250}"/>
              </a:ext>
            </a:extLst>
          </p:cNvPr>
          <p:cNvSpPr>
            <a:spLocks noGrp="1"/>
          </p:cNvSpPr>
          <p:nvPr/>
        </p:nvSpPr>
        <p:spPr>
          <a:xfrm>
            <a:off x="2785110" y="2686910"/>
            <a:ext cx="2057400" cy="2571750"/>
          </a:xfrm>
          <a:prstGeom prst="roundRect">
            <a:avLst>
              <a:gd name="adj" fmla="val 3704"/>
            </a:avLst>
          </a:prstGeom>
          <a:solidFill>
            <a:srgbClr val="EAF3FF"/>
          </a:solidFill>
          <a:ln w="14288">
            <a:solidFill>
              <a:srgbClr val="3D8DFF"/>
            </a:solidFill>
            <a:prstDash val="solid"/>
          </a:ln>
        </p:spPr>
      </p:sp>
      <p:sp>
        <p:nvSpPr>
          <p:cNvPr id="344" name="stage-2-title">
            <a:extLst>
              <a:ext uri="{FF2B5EF4-FFF2-40B4-BE49-F238E27FC236}">
                <a16:creationId xmlns:a16="http://schemas.microsoft.com/office/drawing/2014/main" id="{D49D10F2-3E68-4D71-9141-0623BF3862C8}"/>
              </a:ext>
            </a:extLst>
          </p:cNvPr>
          <p:cNvSpPr>
            <a:spLocks noGrp="1"/>
          </p:cNvSpPr>
          <p:nvPr/>
        </p:nvSpPr>
        <p:spPr>
          <a:xfrm>
            <a:off x="2937510" y="2829785"/>
            <a:ext cx="1752600" cy="400050"/>
          </a:xfrm>
          <a:prstGeom prst="rect">
            <a:avLst/>
          </a:prstGeom>
          <a:noFill/>
          <a:ln w="0">
            <a:noFill/>
            <a:prstDash val="solid"/>
          </a:ln>
        </p:spPr>
        <p:txBody>
          <a:bodyPr lIns="0" tIns="0" rIns="0" bIns="0" anchor="ctr"/>
          <a:lstStyle/>
          <a:p>
            <a:pPr algn="l">
              <a:defRPr sz="1800" b="1">
                <a:solidFill>
                  <a:srgbClr val="3D8DFF"/>
                </a:solidFill>
                <a:latin typeface="Microsoft YaHei"/>
                <a:ea typeface="Microsoft YaHei"/>
                <a:cs typeface="Microsoft YaHei"/>
              </a:defRPr>
            </a:pPr>
            <a:r>
              <a:rPr sz="1800" b="1">
                <a:solidFill>
                  <a:srgbClr val="3D8DFF"/>
                </a:solidFill>
                <a:latin typeface="Microsoft YaHei"/>
                <a:ea typeface="Microsoft YaHei"/>
                <a:cs typeface="Microsoft YaHei"/>
              </a:rPr>
              <a:t>② LLM 规则化</a:t>
            </a:r>
          </a:p>
        </p:txBody>
      </p:sp>
      <p:sp>
        <p:nvSpPr>
          <p:cNvPr id="345" name="stage-2-rule">
            <a:extLst>
              <a:ext uri="{FF2B5EF4-FFF2-40B4-BE49-F238E27FC236}">
                <a16:creationId xmlns:a16="http://schemas.microsoft.com/office/drawing/2014/main" id="{134B622E-2DA7-4431-97DE-C2629CE50E6F}"/>
              </a:ext>
            </a:extLst>
          </p:cNvPr>
          <p:cNvSpPr>
            <a:spLocks noGrp="1"/>
          </p:cNvSpPr>
          <p:nvPr/>
        </p:nvSpPr>
        <p:spPr>
          <a:xfrm>
            <a:off x="2937510" y="3296510"/>
            <a:ext cx="1752600" cy="0"/>
          </a:xfrm>
          <a:prstGeom prst="line">
            <a:avLst/>
          </a:prstGeom>
          <a:noFill/>
          <a:ln w="9525">
            <a:solidFill>
              <a:srgbClr val="3D8DFF"/>
            </a:solidFill>
            <a:prstDash val="solid"/>
          </a:ln>
        </p:spPr>
      </p:sp>
      <p:sp>
        <p:nvSpPr>
          <p:cNvPr id="349" name="stage-2-module">
            <a:extLst>
              <a:ext uri="{FF2B5EF4-FFF2-40B4-BE49-F238E27FC236}">
                <a16:creationId xmlns:a16="http://schemas.microsoft.com/office/drawing/2014/main" id="{8A60D6AB-A22B-4872-BBE4-F8BEDC2E09EE}"/>
              </a:ext>
            </a:extLst>
          </p:cNvPr>
          <p:cNvSpPr>
            <a:spLocks noGrp="1"/>
          </p:cNvSpPr>
          <p:nvPr/>
        </p:nvSpPr>
        <p:spPr>
          <a:xfrm>
            <a:off x="2937510" y="3420335"/>
            <a:ext cx="1752600" cy="419100"/>
          </a:xfrm>
          <a:prstGeom prst="rect">
            <a:avLst/>
          </a:prstGeom>
          <a:noFill/>
          <a:ln w="0">
            <a:noFill/>
            <a:prstDash val="solid"/>
          </a:ln>
        </p:spPr>
        <p:txBody>
          <a:bodyPr lIns="0" tIns="0" rIns="0" bIns="0" anchor="t"/>
          <a:lstStyle/>
          <a:p>
            <a:pPr algn="l">
              <a:defRPr sz="1200" b="1">
                <a:solidFill>
                  <a:srgbClr val="101828"/>
                </a:solidFill>
                <a:latin typeface="Microsoft YaHei"/>
                <a:ea typeface="Microsoft YaHei"/>
                <a:cs typeface="Microsoft YaHei"/>
              </a:defRPr>
            </a:pPr>
            <a:r>
              <a:rPr sz="1200" b="1">
                <a:solidFill>
                  <a:srgbClr val="101828"/>
                </a:solidFill>
                <a:latin typeface="Microsoft YaHei"/>
                <a:ea typeface="Microsoft YaHei"/>
                <a:cs typeface="Microsoft YaHei"/>
              </a:rPr>
              <a:t>A_01 DeepSeek 映射方法</a:t>
            </a:r>
          </a:p>
        </p:txBody>
      </p:sp>
      <p:sp>
        <p:nvSpPr>
          <p:cNvPr id="352" name="stage-2-body">
            <a:extLst>
              <a:ext uri="{FF2B5EF4-FFF2-40B4-BE49-F238E27FC236}">
                <a16:creationId xmlns:a16="http://schemas.microsoft.com/office/drawing/2014/main" id="{47E089DD-2D1A-4E44-8BA1-4066E3AE27BA}"/>
              </a:ext>
            </a:extLst>
          </p:cNvPr>
          <p:cNvSpPr>
            <a:spLocks noGrp="1"/>
          </p:cNvSpPr>
          <p:nvPr/>
        </p:nvSpPr>
        <p:spPr>
          <a:xfrm>
            <a:off x="2937510" y="3896585"/>
            <a:ext cx="1752600" cy="800100"/>
          </a:xfrm>
          <a:prstGeom prst="rect">
            <a:avLst/>
          </a:prstGeom>
          <a:noFill/>
          <a:ln w="0">
            <a:noFill/>
            <a:prstDash val="solid"/>
          </a:ln>
        </p:spPr>
        <p:txBody>
          <a:bodyPr lIns="0" tIns="0" rIns="0" bIns="0" anchor="t"/>
          <a:lstStyle/>
          <a:p>
            <a:pPr algn="l">
              <a:defRPr sz="1200" b="0">
                <a:solidFill>
                  <a:srgbClr val="667085"/>
                </a:solidFill>
                <a:latin typeface="Microsoft YaHei"/>
                <a:ea typeface="Microsoft YaHei"/>
                <a:cs typeface="Microsoft YaHei"/>
              </a:defRPr>
            </a:pPr>
            <a:r>
              <a:rPr sz="1200" b="0">
                <a:solidFill>
                  <a:srgbClr val="667085"/>
                </a:solidFill>
                <a:latin typeface="Microsoft YaHei"/>
                <a:ea typeface="Microsoft YaHei"/>
                <a:cs typeface="Microsoft YaHei"/>
              </a:rPr>
              <a:t>map_text_to_six_tuple()</a:t>
            </a:r>
          </a:p>
          <a:p>
            <a:pPr algn="l">
              <a:defRPr sz="1200" b="0">
                <a:solidFill>
                  <a:srgbClr val="667085"/>
                </a:solidFill>
                <a:latin typeface="Microsoft YaHei"/>
                <a:ea typeface="Microsoft YaHei"/>
                <a:cs typeface="Microsoft YaHei"/>
              </a:defRPr>
            </a:pPr>
            <a:r>
              <a:rPr sz="1200" b="0">
                <a:solidFill>
                  <a:srgbClr val="667085"/>
                </a:solidFill>
                <a:latin typeface="Microsoft YaHei"/>
                <a:ea typeface="Microsoft YaHei"/>
                <a:cs typeface="Microsoft YaHei"/>
              </a:rPr>
              <a:t>DeepSeek API</a:t>
            </a:r>
          </a:p>
          <a:p>
            <a:pPr algn="l">
              <a:defRPr sz="1200" b="0">
                <a:solidFill>
                  <a:srgbClr val="667085"/>
                </a:solidFill>
                <a:latin typeface="Microsoft YaHei"/>
                <a:ea typeface="Microsoft YaHei"/>
                <a:cs typeface="Microsoft YaHei"/>
              </a:defRPr>
            </a:pPr>
            <a:r>
              <a:rPr sz="1200" b="0">
                <a:solidFill>
                  <a:srgbClr val="667085"/>
                </a:solidFill>
                <a:latin typeface="Microsoft YaHei"/>
                <a:ea typeface="Microsoft YaHei"/>
                <a:cs typeface="Microsoft YaHei"/>
              </a:rPr>
              <a:t>P_01 Prompt + A_02 术语 + M_01 Schema</a:t>
            </a:r>
          </a:p>
        </p:txBody>
      </p:sp>
      <p:sp>
        <p:nvSpPr>
          <p:cNvPr id="354" name="stage-2-output">
            <a:extLst>
              <a:ext uri="{FF2B5EF4-FFF2-40B4-BE49-F238E27FC236}">
                <a16:creationId xmlns:a16="http://schemas.microsoft.com/office/drawing/2014/main" id="{932A39A8-83DB-4213-A33F-63FC7B5AE447}"/>
              </a:ext>
            </a:extLst>
          </p:cNvPr>
          <p:cNvSpPr>
            <a:spLocks noGrp="1"/>
          </p:cNvSpPr>
          <p:nvPr/>
        </p:nvSpPr>
        <p:spPr>
          <a:xfrm>
            <a:off x="2937510" y="4887185"/>
            <a:ext cx="1752600" cy="228600"/>
          </a:xfrm>
          <a:prstGeom prst="rect">
            <a:avLst/>
          </a:prstGeom>
          <a:noFill/>
          <a:ln w="0">
            <a:noFill/>
            <a:prstDash val="solid"/>
          </a:ln>
        </p:spPr>
        <p:txBody>
          <a:bodyPr lIns="0" tIns="0" rIns="0" bIns="0" anchor="ctr"/>
          <a:lstStyle/>
          <a:p>
            <a:pPr algn="l">
              <a:defRPr sz="1200" b="1">
                <a:solidFill>
                  <a:srgbClr val="3D8DFF"/>
                </a:solidFill>
                <a:latin typeface="Microsoft YaHei"/>
                <a:ea typeface="Microsoft YaHei"/>
                <a:cs typeface="Microsoft YaHei"/>
              </a:defRPr>
            </a:pPr>
            <a:r>
              <a:rPr sz="1200" b="1">
                <a:solidFill>
                  <a:srgbClr val="3D8DFF"/>
                </a:solidFill>
                <a:latin typeface="Microsoft YaHei"/>
                <a:ea typeface="Microsoft YaHei"/>
                <a:cs typeface="Microsoft YaHei"/>
              </a:rPr>
              <a:t>输出 → MappingResult</a:t>
            </a:r>
          </a:p>
        </p:txBody>
      </p:sp>
      <p:sp>
        <p:nvSpPr>
          <p:cNvPr id="358" name="stage-3-panel">
            <a:extLst>
              <a:ext uri="{FF2B5EF4-FFF2-40B4-BE49-F238E27FC236}">
                <a16:creationId xmlns:a16="http://schemas.microsoft.com/office/drawing/2014/main" id="{C8A6217F-098E-4635-A5E7-530375AF127E}"/>
              </a:ext>
            </a:extLst>
          </p:cNvPr>
          <p:cNvSpPr>
            <a:spLocks noGrp="1"/>
          </p:cNvSpPr>
          <p:nvPr/>
        </p:nvSpPr>
        <p:spPr>
          <a:xfrm>
            <a:off x="5052060" y="2686910"/>
            <a:ext cx="2057400" cy="2571750"/>
          </a:xfrm>
          <a:prstGeom prst="roundRect">
            <a:avLst>
              <a:gd name="adj" fmla="val 3704"/>
            </a:avLst>
          </a:prstGeom>
          <a:solidFill>
            <a:srgbClr val="EAF9FE"/>
          </a:solidFill>
          <a:ln w="14288">
            <a:solidFill>
              <a:srgbClr val="29A9E8"/>
            </a:solidFill>
            <a:prstDash val="solid"/>
          </a:ln>
        </p:spPr>
      </p:sp>
      <p:sp>
        <p:nvSpPr>
          <p:cNvPr id="359" name="stage-3-title">
            <a:extLst>
              <a:ext uri="{FF2B5EF4-FFF2-40B4-BE49-F238E27FC236}">
                <a16:creationId xmlns:a16="http://schemas.microsoft.com/office/drawing/2014/main" id="{D12F196E-3282-4818-9FF6-662278711B9F}"/>
              </a:ext>
            </a:extLst>
          </p:cNvPr>
          <p:cNvSpPr>
            <a:spLocks noGrp="1"/>
          </p:cNvSpPr>
          <p:nvPr/>
        </p:nvSpPr>
        <p:spPr>
          <a:xfrm>
            <a:off x="5204460" y="2829785"/>
            <a:ext cx="1752600" cy="400050"/>
          </a:xfrm>
          <a:prstGeom prst="rect">
            <a:avLst/>
          </a:prstGeom>
          <a:noFill/>
          <a:ln w="0">
            <a:noFill/>
            <a:prstDash val="solid"/>
          </a:ln>
        </p:spPr>
        <p:txBody>
          <a:bodyPr lIns="0" tIns="0" rIns="0" bIns="0" anchor="ctr"/>
          <a:lstStyle/>
          <a:p>
            <a:pPr algn="l">
              <a:defRPr sz="1800" b="1">
                <a:solidFill>
                  <a:srgbClr val="29A9E8"/>
                </a:solidFill>
                <a:latin typeface="Microsoft YaHei"/>
                <a:ea typeface="Microsoft YaHei"/>
                <a:cs typeface="Microsoft YaHei"/>
              </a:defRPr>
            </a:pPr>
            <a:r>
              <a:rPr sz="1800" b="1">
                <a:solidFill>
                  <a:srgbClr val="29A9E8"/>
                </a:solidFill>
                <a:latin typeface="Microsoft YaHei"/>
                <a:ea typeface="Microsoft YaHei"/>
                <a:cs typeface="Microsoft YaHei"/>
              </a:rPr>
              <a:t>③ Units </a:t>
            </a:r>
            <a:r>
              <a:rPr lang="zh-CN" altLang="en-US" sz="1800" b="1">
                <a:solidFill>
                  <a:srgbClr val="29A9E8"/>
                </a:solidFill>
                <a:latin typeface="Microsoft YaHei"/>
                <a:ea typeface="Microsoft YaHei"/>
                <a:cs typeface="Microsoft YaHei"/>
              </a:rPr>
              <a:t>建模</a:t>
            </a:r>
            <a:endParaRPr sz="1800" b="1">
              <a:solidFill>
                <a:srgbClr val="29A9E8"/>
              </a:solidFill>
              <a:latin typeface="Microsoft YaHei"/>
              <a:ea typeface="Microsoft YaHei"/>
              <a:cs typeface="Microsoft YaHei"/>
            </a:endParaRPr>
          </a:p>
        </p:txBody>
      </p:sp>
      <p:sp>
        <p:nvSpPr>
          <p:cNvPr id="365" name="stage-3-rule">
            <a:extLst>
              <a:ext uri="{FF2B5EF4-FFF2-40B4-BE49-F238E27FC236}">
                <a16:creationId xmlns:a16="http://schemas.microsoft.com/office/drawing/2014/main" id="{E331BA65-E783-4DA9-9C43-036BB1BB517B}"/>
              </a:ext>
            </a:extLst>
          </p:cNvPr>
          <p:cNvSpPr>
            <a:spLocks noGrp="1"/>
          </p:cNvSpPr>
          <p:nvPr/>
        </p:nvSpPr>
        <p:spPr>
          <a:xfrm>
            <a:off x="5204460" y="3296510"/>
            <a:ext cx="1752600" cy="0"/>
          </a:xfrm>
          <a:prstGeom prst="line">
            <a:avLst/>
          </a:prstGeom>
          <a:noFill/>
          <a:ln w="9525">
            <a:solidFill>
              <a:srgbClr val="29A9E8"/>
            </a:solidFill>
            <a:prstDash val="solid"/>
          </a:ln>
        </p:spPr>
      </p:sp>
      <p:sp>
        <p:nvSpPr>
          <p:cNvPr id="369" name="stage-3-module">
            <a:extLst>
              <a:ext uri="{FF2B5EF4-FFF2-40B4-BE49-F238E27FC236}">
                <a16:creationId xmlns:a16="http://schemas.microsoft.com/office/drawing/2014/main" id="{382B7A09-0707-4DB2-AF2E-EC02D38A6F91}"/>
              </a:ext>
            </a:extLst>
          </p:cNvPr>
          <p:cNvSpPr>
            <a:spLocks noGrp="1"/>
          </p:cNvSpPr>
          <p:nvPr/>
        </p:nvSpPr>
        <p:spPr>
          <a:xfrm>
            <a:off x="5204460" y="3420335"/>
            <a:ext cx="1752600" cy="457200"/>
          </a:xfrm>
          <a:prstGeom prst="rect">
            <a:avLst/>
          </a:prstGeom>
          <a:noFill/>
          <a:ln w="0">
            <a:noFill/>
            <a:prstDash val="solid"/>
          </a:ln>
        </p:spPr>
        <p:txBody>
          <a:bodyPr lIns="0" tIns="0" rIns="0" bIns="0" anchor="t"/>
          <a:lstStyle/>
          <a:p>
            <a:pPr algn="l">
              <a:defRPr sz="1200" b="1">
                <a:solidFill>
                  <a:srgbClr val="101828"/>
                </a:solidFill>
                <a:latin typeface="Microsoft YaHei"/>
                <a:ea typeface="Microsoft YaHei"/>
                <a:cs typeface="Microsoft YaHei"/>
              </a:defRPr>
            </a:pPr>
            <a:r>
              <a:rPr sz="1200" b="1">
                <a:solidFill>
                  <a:srgbClr val="101828"/>
                </a:solidFill>
                <a:latin typeface="Microsoft YaHei"/>
                <a:ea typeface="Microsoft YaHei"/>
                <a:cs typeface="Microsoft YaHei"/>
              </a:rPr>
              <a:t>M_01.MappingResult</a:t>
            </a:r>
          </a:p>
        </p:txBody>
      </p:sp>
      <p:sp>
        <p:nvSpPr>
          <p:cNvPr id="370" name="stage-3-body">
            <a:extLst>
              <a:ext uri="{FF2B5EF4-FFF2-40B4-BE49-F238E27FC236}">
                <a16:creationId xmlns:a16="http://schemas.microsoft.com/office/drawing/2014/main" id="{264755C6-AA91-4D7A-86B2-714CBE98A48A}"/>
              </a:ext>
            </a:extLst>
          </p:cNvPr>
          <p:cNvSpPr>
            <a:spLocks noGrp="1"/>
          </p:cNvSpPr>
          <p:nvPr/>
        </p:nvSpPr>
        <p:spPr>
          <a:xfrm>
            <a:off x="5204460" y="3915635"/>
            <a:ext cx="1752600" cy="838200"/>
          </a:xfrm>
          <a:prstGeom prst="rect">
            <a:avLst/>
          </a:prstGeom>
          <a:noFill/>
          <a:ln w="0">
            <a:noFill/>
            <a:prstDash val="solid"/>
          </a:ln>
        </p:spPr>
        <p:txBody>
          <a:bodyPr lIns="0" tIns="0" rIns="0" bIns="0" anchor="t"/>
          <a:lstStyle/>
          <a:p>
            <a:pPr algn="l">
              <a:defRPr sz="1200" b="0">
                <a:solidFill>
                  <a:srgbClr val="667085"/>
                </a:solidFill>
                <a:latin typeface="Microsoft YaHei"/>
                <a:ea typeface="Microsoft YaHei"/>
                <a:cs typeface="Microsoft YaHei"/>
              </a:defRPr>
            </a:pPr>
            <a:r>
              <a:rPr sz="1200" b="0">
                <a:solidFill>
                  <a:srgbClr val="667085"/>
                </a:solidFill>
                <a:latin typeface="Microsoft YaHei"/>
                <a:ea typeface="Microsoft YaHei"/>
                <a:cs typeface="Microsoft YaHei"/>
              </a:rPr>
              <a:t>Pydantic / 英文命名 / 连续 ID / 原文证据检查</a:t>
            </a:r>
          </a:p>
          <a:p>
            <a:endParaRPr sz="1200" b="0">
              <a:solidFill>
                <a:srgbClr val="667085"/>
              </a:solidFill>
              <a:latin typeface="Microsoft YaHei"/>
              <a:ea typeface="Microsoft YaHei"/>
              <a:cs typeface="Microsoft YaHei"/>
            </a:endParaRPr>
          </a:p>
          <a:p>
            <a:pPr algn="l">
              <a:defRPr sz="1200" b="0">
                <a:solidFill>
                  <a:srgbClr val="667085"/>
                </a:solidFill>
                <a:latin typeface="Microsoft YaHei"/>
                <a:ea typeface="Microsoft YaHei"/>
                <a:cs typeface="Microsoft YaHei"/>
              </a:defRPr>
            </a:pPr>
            <a:r>
              <a:rPr sz="1200" b="0">
                <a:solidFill>
                  <a:srgbClr val="667085"/>
                </a:solidFill>
                <a:latin typeface="Microsoft YaHei"/>
                <a:ea typeface="Microsoft YaHei"/>
                <a:cs typeface="Microsoft YaHei"/>
              </a:rPr>
              <a:t>model_dump_json()</a:t>
            </a:r>
          </a:p>
        </p:txBody>
      </p:sp>
      <p:sp>
        <p:nvSpPr>
          <p:cNvPr id="373" name="stage-3-output">
            <a:extLst>
              <a:ext uri="{FF2B5EF4-FFF2-40B4-BE49-F238E27FC236}">
                <a16:creationId xmlns:a16="http://schemas.microsoft.com/office/drawing/2014/main" id="{188678CB-96A0-4D08-9064-306BCA90FD27}"/>
              </a:ext>
            </a:extLst>
          </p:cNvPr>
          <p:cNvSpPr>
            <a:spLocks noGrp="1"/>
          </p:cNvSpPr>
          <p:nvPr/>
        </p:nvSpPr>
        <p:spPr>
          <a:xfrm>
            <a:off x="5204460" y="4887185"/>
            <a:ext cx="1752600" cy="228600"/>
          </a:xfrm>
          <a:prstGeom prst="rect">
            <a:avLst/>
          </a:prstGeom>
          <a:noFill/>
          <a:ln w="0">
            <a:noFill/>
            <a:prstDash val="solid"/>
          </a:ln>
        </p:spPr>
        <p:txBody>
          <a:bodyPr lIns="0" tIns="0" rIns="0" bIns="0" anchor="ctr"/>
          <a:lstStyle/>
          <a:p>
            <a:pPr algn="l">
              <a:defRPr sz="1200" b="1">
                <a:solidFill>
                  <a:srgbClr val="29A9E8"/>
                </a:solidFill>
                <a:latin typeface="Microsoft YaHei"/>
                <a:ea typeface="Microsoft YaHei"/>
                <a:cs typeface="Microsoft YaHei"/>
              </a:defRPr>
            </a:pPr>
            <a:r>
              <a:rPr sz="1200" b="1">
                <a:solidFill>
                  <a:srgbClr val="29A9E8"/>
                </a:solidFill>
                <a:latin typeface="Microsoft YaHei"/>
                <a:ea typeface="Microsoft YaHei"/>
                <a:cs typeface="Microsoft YaHei"/>
              </a:rPr>
              <a:t>输出 → R_01 Units JSON</a:t>
            </a:r>
          </a:p>
        </p:txBody>
      </p:sp>
      <p:sp>
        <p:nvSpPr>
          <p:cNvPr id="374" name="stage-5-panel">
            <a:extLst>
              <a:ext uri="{FF2B5EF4-FFF2-40B4-BE49-F238E27FC236}">
                <a16:creationId xmlns:a16="http://schemas.microsoft.com/office/drawing/2014/main" id="{90D6E6CE-D551-4E74-81D2-B24D01C1CD70}"/>
              </a:ext>
            </a:extLst>
          </p:cNvPr>
          <p:cNvSpPr>
            <a:spLocks noGrp="1"/>
          </p:cNvSpPr>
          <p:nvPr/>
        </p:nvSpPr>
        <p:spPr>
          <a:xfrm>
            <a:off x="7319010" y="2686910"/>
            <a:ext cx="2057400" cy="2571750"/>
          </a:xfrm>
          <a:prstGeom prst="roundRect">
            <a:avLst>
              <a:gd name="adj" fmla="val 3704"/>
            </a:avLst>
          </a:prstGeom>
          <a:solidFill>
            <a:srgbClr val="EAF9FE"/>
          </a:solidFill>
          <a:ln w="14288">
            <a:solidFill>
              <a:srgbClr val="29A9E8"/>
            </a:solidFill>
            <a:prstDash val="solid"/>
          </a:ln>
        </p:spPr>
      </p:sp>
      <p:sp>
        <p:nvSpPr>
          <p:cNvPr id="375" name="stage-5-title">
            <a:extLst>
              <a:ext uri="{FF2B5EF4-FFF2-40B4-BE49-F238E27FC236}">
                <a16:creationId xmlns:a16="http://schemas.microsoft.com/office/drawing/2014/main" id="{C5E75050-9528-47C7-959A-302BC264ECD8}"/>
              </a:ext>
            </a:extLst>
          </p:cNvPr>
          <p:cNvSpPr>
            <a:spLocks noGrp="1"/>
          </p:cNvSpPr>
          <p:nvPr/>
        </p:nvSpPr>
        <p:spPr>
          <a:xfrm>
            <a:off x="7471410" y="2829785"/>
            <a:ext cx="1752600" cy="400050"/>
          </a:xfrm>
          <a:prstGeom prst="rect">
            <a:avLst/>
          </a:prstGeom>
          <a:noFill/>
          <a:ln w="0">
            <a:noFill/>
            <a:prstDash val="solid"/>
          </a:ln>
        </p:spPr>
        <p:txBody>
          <a:bodyPr lIns="0" tIns="0" rIns="0" bIns="0" anchor="ctr"/>
          <a:lstStyle/>
          <a:p>
            <a:pPr algn="l">
              <a:defRPr sz="1800" b="1">
                <a:solidFill>
                  <a:srgbClr val="29A9E8"/>
                </a:solidFill>
                <a:latin typeface="Microsoft YaHei"/>
                <a:ea typeface="Microsoft YaHei"/>
                <a:cs typeface="Microsoft YaHei"/>
              </a:defRPr>
            </a:pPr>
            <a:r>
              <a:rPr sz="1800" b="1">
                <a:solidFill>
                  <a:srgbClr val="29A9E8"/>
                </a:solidFill>
                <a:latin typeface="Microsoft YaHei"/>
                <a:ea typeface="Microsoft YaHei"/>
                <a:cs typeface="Microsoft YaHei"/>
              </a:rPr>
              <a:t>⑤ IEEE 三相仿真</a:t>
            </a:r>
          </a:p>
        </p:txBody>
      </p:sp>
      <p:sp>
        <p:nvSpPr>
          <p:cNvPr id="376" name="stage-5-rule">
            <a:extLst>
              <a:ext uri="{FF2B5EF4-FFF2-40B4-BE49-F238E27FC236}">
                <a16:creationId xmlns:a16="http://schemas.microsoft.com/office/drawing/2014/main" id="{887485DF-C661-46F5-BB4F-73E5BE1981F5}"/>
              </a:ext>
            </a:extLst>
          </p:cNvPr>
          <p:cNvSpPr>
            <a:spLocks noGrp="1"/>
          </p:cNvSpPr>
          <p:nvPr/>
        </p:nvSpPr>
        <p:spPr>
          <a:xfrm>
            <a:off x="7471410" y="3296510"/>
            <a:ext cx="1752600" cy="0"/>
          </a:xfrm>
          <a:prstGeom prst="line">
            <a:avLst/>
          </a:prstGeom>
          <a:noFill/>
          <a:ln w="9525">
            <a:solidFill>
              <a:srgbClr val="29A9E8"/>
            </a:solidFill>
            <a:prstDash val="solid"/>
          </a:ln>
        </p:spPr>
      </p:sp>
      <p:sp>
        <p:nvSpPr>
          <p:cNvPr id="377" name="stage-5-module">
            <a:extLst>
              <a:ext uri="{FF2B5EF4-FFF2-40B4-BE49-F238E27FC236}">
                <a16:creationId xmlns:a16="http://schemas.microsoft.com/office/drawing/2014/main" id="{6A7AF59D-0A04-45AA-A1B4-430744543604}"/>
              </a:ext>
            </a:extLst>
          </p:cNvPr>
          <p:cNvSpPr>
            <a:spLocks noGrp="1"/>
          </p:cNvSpPr>
          <p:nvPr/>
        </p:nvSpPr>
        <p:spPr>
          <a:xfrm>
            <a:off x="7471410" y="3420335"/>
            <a:ext cx="1752600" cy="552450"/>
          </a:xfrm>
          <a:prstGeom prst="rect">
            <a:avLst/>
          </a:prstGeom>
          <a:noFill/>
          <a:ln w="0">
            <a:noFill/>
            <a:prstDash val="solid"/>
          </a:ln>
        </p:spPr>
        <p:txBody>
          <a:bodyPr lIns="0" tIns="0" rIns="0" bIns="0" anchor="t"/>
          <a:lstStyle/>
          <a:p>
            <a:pPr algn="l">
              <a:defRPr sz="1200" b="1">
                <a:solidFill>
                  <a:srgbClr val="101828"/>
                </a:solidFill>
                <a:latin typeface="Microsoft YaHei"/>
                <a:ea typeface="Microsoft YaHei"/>
                <a:cs typeface="Microsoft YaHei"/>
              </a:defRPr>
            </a:pPr>
            <a:r>
              <a:rPr sz="1200" b="1">
                <a:solidFill>
                  <a:srgbClr val="101828"/>
                </a:solidFill>
                <a:latin typeface="Microsoft YaHei"/>
                <a:ea typeface="Microsoft YaHei"/>
                <a:cs typeface="Microsoft YaHei"/>
              </a:rPr>
              <a:t>C_01.build_simulation_case()</a:t>
            </a:r>
          </a:p>
          <a:p>
            <a:pPr algn="l">
              <a:defRPr sz="1200" b="1">
                <a:solidFill>
                  <a:srgbClr val="101828"/>
                </a:solidFill>
                <a:latin typeface="Microsoft YaHei"/>
                <a:ea typeface="Microsoft YaHei"/>
                <a:cs typeface="Microsoft YaHei"/>
              </a:defRPr>
            </a:pPr>
            <a:r>
              <a:rPr sz="1200" b="1">
                <a:solidFill>
                  <a:srgbClr val="101828"/>
                </a:solidFill>
                <a:latin typeface="Microsoft YaHei"/>
                <a:ea typeface="Microsoft YaHei"/>
                <a:cs typeface="Microsoft YaHei"/>
              </a:rPr>
              <a:t>M_03.run_case()</a:t>
            </a:r>
          </a:p>
        </p:txBody>
      </p:sp>
      <p:sp>
        <p:nvSpPr>
          <p:cNvPr id="420" name="stage-5-body">
            <a:extLst>
              <a:ext uri="{FF2B5EF4-FFF2-40B4-BE49-F238E27FC236}">
                <a16:creationId xmlns:a16="http://schemas.microsoft.com/office/drawing/2014/main" id="{04FE1459-C89F-42B5-9D12-30FCB485303A}"/>
              </a:ext>
            </a:extLst>
          </p:cNvPr>
          <p:cNvSpPr>
            <a:spLocks noGrp="1"/>
          </p:cNvSpPr>
          <p:nvPr/>
        </p:nvSpPr>
        <p:spPr>
          <a:xfrm>
            <a:off x="7471410" y="4039460"/>
            <a:ext cx="1752600" cy="723900"/>
          </a:xfrm>
          <a:prstGeom prst="rect">
            <a:avLst/>
          </a:prstGeom>
          <a:noFill/>
          <a:ln w="0">
            <a:noFill/>
            <a:prstDash val="solid"/>
          </a:ln>
        </p:spPr>
        <p:txBody>
          <a:bodyPr lIns="0" tIns="0" rIns="0" bIns="0" anchor="t"/>
          <a:lstStyle/>
          <a:p>
            <a:pPr algn="l">
              <a:defRPr sz="1200" b="0">
                <a:solidFill>
                  <a:srgbClr val="667085"/>
                </a:solidFill>
                <a:latin typeface="Microsoft YaHei"/>
                <a:ea typeface="Microsoft YaHei"/>
                <a:cs typeface="Microsoft YaHei"/>
              </a:defRPr>
            </a:pPr>
            <a:r>
              <a:rPr sz="1200" b="0">
                <a:solidFill>
                  <a:srgbClr val="667085"/>
                </a:solidFill>
                <a:latin typeface="Microsoft YaHei"/>
                <a:ea typeface="Microsoft YaHei"/>
                <a:cs typeface="Microsoft YaHei"/>
              </a:rPr>
              <a:t>M_02.get_limit_mw()</a:t>
            </a:r>
          </a:p>
          <a:p>
            <a:pPr algn="l">
              <a:defRPr sz="1200" b="0">
                <a:solidFill>
                  <a:srgbClr val="667085"/>
                </a:solidFill>
                <a:latin typeface="Microsoft YaHei"/>
                <a:ea typeface="Microsoft YaHei"/>
                <a:cs typeface="Microsoft YaHei"/>
              </a:defRPr>
            </a:pPr>
            <a:r>
              <a:rPr sz="1200" b="0">
                <a:solidFill>
                  <a:srgbClr val="667085"/>
                </a:solidFill>
                <a:latin typeface="Microsoft YaHei"/>
                <a:ea typeface="Microsoft YaHei"/>
                <a:cs typeface="Microsoft YaHei"/>
              </a:rPr>
              <a:t>D_03 IEEE case 模板</a:t>
            </a:r>
          </a:p>
          <a:p>
            <a:pPr algn="l">
              <a:defRPr sz="1200" b="0">
                <a:solidFill>
                  <a:srgbClr val="667085"/>
                </a:solidFill>
                <a:latin typeface="Microsoft YaHei"/>
                <a:ea typeface="Microsoft YaHei"/>
                <a:cs typeface="Microsoft YaHei"/>
              </a:defRPr>
            </a:pPr>
            <a:r>
              <a:rPr sz="1200" b="0">
                <a:solidFill>
                  <a:srgbClr val="667085"/>
                </a:solidFill>
                <a:latin typeface="Microsoft YaHei"/>
                <a:ea typeface="Microsoft YaHei"/>
                <a:cs typeface="Microsoft YaHei"/>
              </a:rPr>
              <a:t>pandapower.runpp_3ph</a:t>
            </a:r>
          </a:p>
        </p:txBody>
      </p:sp>
      <p:sp>
        <p:nvSpPr>
          <p:cNvPr id="421" name="stage-5-output">
            <a:extLst>
              <a:ext uri="{FF2B5EF4-FFF2-40B4-BE49-F238E27FC236}">
                <a16:creationId xmlns:a16="http://schemas.microsoft.com/office/drawing/2014/main" id="{125AD658-A694-43BE-872B-BC1180D79FE9}"/>
              </a:ext>
            </a:extLst>
          </p:cNvPr>
          <p:cNvSpPr>
            <a:spLocks noGrp="1"/>
          </p:cNvSpPr>
          <p:nvPr/>
        </p:nvSpPr>
        <p:spPr>
          <a:xfrm>
            <a:off x="7471410" y="4887185"/>
            <a:ext cx="1752600" cy="228600"/>
          </a:xfrm>
          <a:prstGeom prst="rect">
            <a:avLst/>
          </a:prstGeom>
          <a:noFill/>
          <a:ln w="0">
            <a:noFill/>
            <a:prstDash val="solid"/>
          </a:ln>
        </p:spPr>
        <p:txBody>
          <a:bodyPr lIns="0" tIns="0" rIns="0" bIns="0" anchor="ctr"/>
          <a:lstStyle/>
          <a:p>
            <a:pPr algn="l">
              <a:defRPr sz="1200" b="1">
                <a:solidFill>
                  <a:srgbClr val="29A9E8"/>
                </a:solidFill>
                <a:latin typeface="Microsoft YaHei"/>
                <a:ea typeface="Microsoft YaHei"/>
                <a:cs typeface="Microsoft YaHei"/>
              </a:defRPr>
            </a:pPr>
            <a:r>
              <a:rPr sz="1200" b="1">
                <a:solidFill>
                  <a:srgbClr val="29A9E8"/>
                </a:solidFill>
                <a:latin typeface="Microsoft YaHei"/>
                <a:ea typeface="Microsoft YaHei"/>
                <a:cs typeface="Microsoft YaHei"/>
              </a:rPr>
              <a:t>输出 → R_03、R_05–R_09</a:t>
            </a:r>
          </a:p>
        </p:txBody>
      </p:sp>
      <p:sp>
        <p:nvSpPr>
          <p:cNvPr id="426" name="stage-6-panel">
            <a:extLst>
              <a:ext uri="{FF2B5EF4-FFF2-40B4-BE49-F238E27FC236}">
                <a16:creationId xmlns:a16="http://schemas.microsoft.com/office/drawing/2014/main" id="{F0AE2157-6CBF-447F-BB46-2BF96927E319}"/>
              </a:ext>
            </a:extLst>
          </p:cNvPr>
          <p:cNvSpPr>
            <a:spLocks noGrp="1"/>
          </p:cNvSpPr>
          <p:nvPr/>
        </p:nvSpPr>
        <p:spPr>
          <a:xfrm>
            <a:off x="9585960" y="2686910"/>
            <a:ext cx="2057400" cy="2571750"/>
          </a:xfrm>
          <a:prstGeom prst="roundRect">
            <a:avLst>
              <a:gd name="adj" fmla="val 3704"/>
            </a:avLst>
          </a:prstGeom>
          <a:solidFill>
            <a:srgbClr val="EAF8F0"/>
          </a:solidFill>
          <a:ln w="14288">
            <a:solidFill>
              <a:srgbClr val="159455"/>
            </a:solidFill>
            <a:prstDash val="solid"/>
          </a:ln>
        </p:spPr>
      </p:sp>
      <p:sp>
        <p:nvSpPr>
          <p:cNvPr id="428" name="stage-6-title">
            <a:extLst>
              <a:ext uri="{FF2B5EF4-FFF2-40B4-BE49-F238E27FC236}">
                <a16:creationId xmlns:a16="http://schemas.microsoft.com/office/drawing/2014/main" id="{26A9CEF3-56BB-47EB-8EDA-D3042DE003B7}"/>
              </a:ext>
            </a:extLst>
          </p:cNvPr>
          <p:cNvSpPr>
            <a:spLocks noGrp="1"/>
          </p:cNvSpPr>
          <p:nvPr/>
        </p:nvSpPr>
        <p:spPr>
          <a:xfrm>
            <a:off x="9738360" y="2829785"/>
            <a:ext cx="1752600" cy="400050"/>
          </a:xfrm>
          <a:prstGeom prst="rect">
            <a:avLst/>
          </a:prstGeom>
          <a:noFill/>
          <a:ln w="0">
            <a:noFill/>
            <a:prstDash val="solid"/>
          </a:ln>
        </p:spPr>
        <p:txBody>
          <a:bodyPr lIns="0" tIns="0" rIns="0" bIns="0" anchor="ctr"/>
          <a:lstStyle/>
          <a:p>
            <a:pPr algn="l">
              <a:defRPr sz="1800" b="1">
                <a:solidFill>
                  <a:srgbClr val="159455"/>
                </a:solidFill>
                <a:latin typeface="Microsoft YaHei"/>
                <a:ea typeface="Microsoft YaHei"/>
                <a:cs typeface="Microsoft YaHei"/>
              </a:defRPr>
            </a:pPr>
            <a:r>
              <a:rPr sz="1800" b="1">
                <a:solidFill>
                  <a:srgbClr val="159455"/>
                </a:solidFill>
                <a:latin typeface="Microsoft YaHei"/>
                <a:ea typeface="Microsoft YaHei"/>
                <a:cs typeface="Microsoft YaHei"/>
              </a:rPr>
              <a:t>⑥ 绘图与报告</a:t>
            </a:r>
          </a:p>
        </p:txBody>
      </p:sp>
      <p:sp>
        <p:nvSpPr>
          <p:cNvPr id="430" name="stage-6-rule">
            <a:extLst>
              <a:ext uri="{FF2B5EF4-FFF2-40B4-BE49-F238E27FC236}">
                <a16:creationId xmlns:a16="http://schemas.microsoft.com/office/drawing/2014/main" id="{B3850A1A-2B21-40B2-BC93-158AA34F92A7}"/>
              </a:ext>
            </a:extLst>
          </p:cNvPr>
          <p:cNvSpPr>
            <a:spLocks noGrp="1"/>
          </p:cNvSpPr>
          <p:nvPr/>
        </p:nvSpPr>
        <p:spPr>
          <a:xfrm>
            <a:off x="9738360" y="3296510"/>
            <a:ext cx="1752600" cy="0"/>
          </a:xfrm>
          <a:prstGeom prst="line">
            <a:avLst/>
          </a:prstGeom>
          <a:noFill/>
          <a:ln w="9525">
            <a:solidFill>
              <a:srgbClr val="159455"/>
            </a:solidFill>
            <a:prstDash val="solid"/>
          </a:ln>
        </p:spPr>
      </p:sp>
      <p:sp>
        <p:nvSpPr>
          <p:cNvPr id="431" name="stage-6-module">
            <a:extLst>
              <a:ext uri="{FF2B5EF4-FFF2-40B4-BE49-F238E27FC236}">
                <a16:creationId xmlns:a16="http://schemas.microsoft.com/office/drawing/2014/main" id="{9CFCE6AC-D300-4B4D-BB5A-486EDB90578C}"/>
              </a:ext>
            </a:extLst>
          </p:cNvPr>
          <p:cNvSpPr>
            <a:spLocks noGrp="1"/>
          </p:cNvSpPr>
          <p:nvPr/>
        </p:nvSpPr>
        <p:spPr>
          <a:xfrm>
            <a:off x="9738360" y="3420335"/>
            <a:ext cx="1752600" cy="457200"/>
          </a:xfrm>
          <a:prstGeom prst="rect">
            <a:avLst/>
          </a:prstGeom>
          <a:noFill/>
          <a:ln w="0">
            <a:noFill/>
            <a:prstDash val="solid"/>
          </a:ln>
        </p:spPr>
        <p:txBody>
          <a:bodyPr lIns="0" tIns="0" rIns="0" bIns="0" anchor="t"/>
          <a:lstStyle/>
          <a:p>
            <a:pPr algn="l">
              <a:defRPr sz="1200" b="1">
                <a:solidFill>
                  <a:srgbClr val="101828"/>
                </a:solidFill>
                <a:latin typeface="Microsoft YaHei"/>
                <a:ea typeface="Microsoft YaHei"/>
                <a:cs typeface="Microsoft YaHei"/>
              </a:defRPr>
            </a:pPr>
            <a:r>
              <a:rPr sz="1200" b="1">
                <a:solidFill>
                  <a:srgbClr val="101828"/>
                </a:solidFill>
                <a:latin typeface="Microsoft YaHei"/>
                <a:ea typeface="Microsoft YaHei"/>
                <a:cs typeface="Microsoft YaHei"/>
              </a:rPr>
              <a:t>A_03.generate_plots()</a:t>
            </a:r>
          </a:p>
        </p:txBody>
      </p:sp>
      <p:sp>
        <p:nvSpPr>
          <p:cNvPr id="432" name="stage-6-body">
            <a:extLst>
              <a:ext uri="{FF2B5EF4-FFF2-40B4-BE49-F238E27FC236}">
                <a16:creationId xmlns:a16="http://schemas.microsoft.com/office/drawing/2014/main" id="{19C3AE91-A88C-47F2-838A-BBB7504B93A3}"/>
              </a:ext>
            </a:extLst>
          </p:cNvPr>
          <p:cNvSpPr>
            <a:spLocks noGrp="1"/>
          </p:cNvSpPr>
          <p:nvPr/>
        </p:nvSpPr>
        <p:spPr>
          <a:xfrm>
            <a:off x="9738360" y="3915635"/>
            <a:ext cx="1752600" cy="838200"/>
          </a:xfrm>
          <a:prstGeom prst="rect">
            <a:avLst/>
          </a:prstGeom>
          <a:noFill/>
          <a:ln w="0">
            <a:noFill/>
            <a:prstDash val="solid"/>
          </a:ln>
        </p:spPr>
        <p:txBody>
          <a:bodyPr lIns="0" tIns="0" rIns="0" bIns="0" anchor="t"/>
          <a:lstStyle/>
          <a:p>
            <a:pPr algn="l">
              <a:defRPr sz="1200" b="0">
                <a:solidFill>
                  <a:srgbClr val="667085"/>
                </a:solidFill>
                <a:latin typeface="Microsoft YaHei"/>
                <a:ea typeface="Microsoft YaHei"/>
                <a:cs typeface="Microsoft YaHei"/>
              </a:defRPr>
            </a:pPr>
            <a:r>
              <a:rPr sz="1200" b="0">
                <a:solidFill>
                  <a:srgbClr val="667085"/>
                </a:solidFill>
                <a:latin typeface="Microsoft YaHei"/>
                <a:ea typeface="Microsoft YaHei"/>
                <a:cs typeface="Microsoft YaHei"/>
              </a:rPr>
              <a:t>拓扑 / 电压 / 不平衡度 / 线路负载 / 分相功率</a:t>
            </a:r>
          </a:p>
          <a:p>
            <a:endParaRPr sz="1200" b="0">
              <a:solidFill>
                <a:srgbClr val="667085"/>
              </a:solidFill>
              <a:latin typeface="Microsoft YaHei"/>
              <a:ea typeface="Microsoft YaHei"/>
              <a:cs typeface="Microsoft YaHei"/>
            </a:endParaRPr>
          </a:p>
          <a:p>
            <a:pPr algn="l">
              <a:defRPr sz="1200" b="0">
                <a:solidFill>
                  <a:srgbClr val="667085"/>
                </a:solidFill>
                <a:latin typeface="Microsoft YaHei"/>
                <a:ea typeface="Microsoft YaHei"/>
                <a:cs typeface="Microsoft YaHei"/>
              </a:defRPr>
            </a:pPr>
            <a:r>
              <a:rPr sz="1200" b="0">
                <a:solidFill>
                  <a:srgbClr val="667085"/>
                </a:solidFill>
                <a:latin typeface="Microsoft YaHei"/>
                <a:ea typeface="Microsoft YaHei"/>
                <a:cs typeface="Microsoft YaHei"/>
              </a:rPr>
              <a:t>C_01 写 pipeline_report</a:t>
            </a:r>
          </a:p>
        </p:txBody>
      </p:sp>
      <p:sp>
        <p:nvSpPr>
          <p:cNvPr id="433" name="stage-6-output">
            <a:extLst>
              <a:ext uri="{FF2B5EF4-FFF2-40B4-BE49-F238E27FC236}">
                <a16:creationId xmlns:a16="http://schemas.microsoft.com/office/drawing/2014/main" id="{CC136F44-D976-4E2A-89CF-DEEA604FE125}"/>
              </a:ext>
            </a:extLst>
          </p:cNvPr>
          <p:cNvSpPr>
            <a:spLocks noGrp="1"/>
          </p:cNvSpPr>
          <p:nvPr/>
        </p:nvSpPr>
        <p:spPr>
          <a:xfrm>
            <a:off x="9738360" y="4887185"/>
            <a:ext cx="1752600" cy="228600"/>
          </a:xfrm>
          <a:prstGeom prst="rect">
            <a:avLst/>
          </a:prstGeom>
          <a:noFill/>
          <a:ln w="0">
            <a:noFill/>
            <a:prstDash val="solid"/>
          </a:ln>
        </p:spPr>
        <p:txBody>
          <a:bodyPr lIns="0" tIns="0" rIns="0" bIns="0" anchor="ctr"/>
          <a:lstStyle/>
          <a:p>
            <a:pPr algn="l">
              <a:defRPr sz="1200" b="1">
                <a:solidFill>
                  <a:srgbClr val="159455"/>
                </a:solidFill>
                <a:latin typeface="Microsoft YaHei"/>
                <a:ea typeface="Microsoft YaHei"/>
                <a:cs typeface="Microsoft YaHei"/>
              </a:defRPr>
            </a:pPr>
            <a:r>
              <a:rPr sz="1200" b="1">
                <a:solidFill>
                  <a:srgbClr val="159455"/>
                </a:solidFill>
                <a:latin typeface="Microsoft YaHei"/>
                <a:ea typeface="Microsoft YaHei"/>
                <a:cs typeface="Microsoft YaHei"/>
              </a:rPr>
              <a:t>输出 → R_04、R_10–R_15</a:t>
            </a:r>
          </a:p>
        </p:txBody>
      </p:sp>
      <p:sp>
        <p:nvSpPr>
          <p:cNvPr id="435" name="stage-4-panel">
            <a:extLst>
              <a:ext uri="{FF2B5EF4-FFF2-40B4-BE49-F238E27FC236}">
                <a16:creationId xmlns:a16="http://schemas.microsoft.com/office/drawing/2014/main" id="{55F77B5C-4B22-46B3-A085-7A86150A9857}"/>
              </a:ext>
            </a:extLst>
          </p:cNvPr>
          <p:cNvSpPr>
            <a:spLocks noGrp="1"/>
          </p:cNvSpPr>
          <p:nvPr/>
        </p:nvSpPr>
        <p:spPr>
          <a:xfrm>
            <a:off x="4328160" y="5639660"/>
            <a:ext cx="3505200" cy="1066800"/>
          </a:xfrm>
          <a:prstGeom prst="roundRect">
            <a:avLst>
              <a:gd name="adj" fmla="val 7143"/>
            </a:avLst>
          </a:prstGeom>
          <a:solidFill>
            <a:srgbClr val="FFF5E6"/>
          </a:solidFill>
          <a:ln w="14288">
            <a:solidFill>
              <a:srgbClr val="D97706"/>
            </a:solidFill>
            <a:prstDash val="dash"/>
          </a:ln>
        </p:spPr>
      </p:sp>
      <p:sp>
        <p:nvSpPr>
          <p:cNvPr id="436" name="stage-4-title">
            <a:extLst>
              <a:ext uri="{FF2B5EF4-FFF2-40B4-BE49-F238E27FC236}">
                <a16:creationId xmlns:a16="http://schemas.microsoft.com/office/drawing/2014/main" id="{BD8B9054-3D2C-412E-A441-EDA4DB585AAD}"/>
              </a:ext>
            </a:extLst>
          </p:cNvPr>
          <p:cNvSpPr>
            <a:spLocks noGrp="1"/>
          </p:cNvSpPr>
          <p:nvPr/>
        </p:nvSpPr>
        <p:spPr>
          <a:xfrm>
            <a:off x="4499610" y="5744435"/>
            <a:ext cx="3143250" cy="323850"/>
          </a:xfrm>
          <a:prstGeom prst="rect">
            <a:avLst/>
          </a:prstGeom>
          <a:noFill/>
          <a:ln w="0">
            <a:noFill/>
            <a:prstDash val="solid"/>
          </a:ln>
        </p:spPr>
        <p:txBody>
          <a:bodyPr lIns="0" tIns="0" rIns="0" bIns="0" anchor="ctr"/>
          <a:lstStyle/>
          <a:p>
            <a:pPr algn="ctr">
              <a:defRPr sz="1800" b="1">
                <a:solidFill>
                  <a:srgbClr val="D97706"/>
                </a:solidFill>
                <a:latin typeface="Microsoft YaHei"/>
                <a:ea typeface="Microsoft YaHei"/>
                <a:cs typeface="Microsoft YaHei"/>
              </a:defRPr>
            </a:pPr>
            <a:r>
              <a:rPr sz="1800" b="1">
                <a:solidFill>
                  <a:srgbClr val="D97706"/>
                </a:solidFill>
                <a:latin typeface="Microsoft YaHei"/>
                <a:ea typeface="Microsoft YaHei"/>
                <a:cs typeface="Microsoft YaHei"/>
              </a:rPr>
              <a:t>④ 市场接口旁路（TBD）</a:t>
            </a:r>
          </a:p>
        </p:txBody>
      </p:sp>
      <p:sp>
        <p:nvSpPr>
          <p:cNvPr id="437" name="stage-4-body">
            <a:extLst>
              <a:ext uri="{FF2B5EF4-FFF2-40B4-BE49-F238E27FC236}">
                <a16:creationId xmlns:a16="http://schemas.microsoft.com/office/drawing/2014/main" id="{8A89FFA6-7F6C-4B0F-9311-862B8F804E36}"/>
              </a:ext>
            </a:extLst>
          </p:cNvPr>
          <p:cNvSpPr>
            <a:spLocks noGrp="1"/>
          </p:cNvSpPr>
          <p:nvPr/>
        </p:nvSpPr>
        <p:spPr>
          <a:xfrm>
            <a:off x="4518660" y="6115910"/>
            <a:ext cx="3105150" cy="457200"/>
          </a:xfrm>
          <a:prstGeom prst="rect">
            <a:avLst/>
          </a:prstGeom>
          <a:noFill/>
          <a:ln w="0">
            <a:noFill/>
            <a:prstDash val="solid"/>
          </a:ln>
        </p:spPr>
        <p:txBody>
          <a:bodyPr lIns="0" tIns="0" rIns="0" bIns="0" anchor="t"/>
          <a:lstStyle/>
          <a:p>
            <a:pPr algn="ctr">
              <a:defRPr sz="1200" b="0">
                <a:solidFill>
                  <a:srgbClr val="101828"/>
                </a:solidFill>
                <a:latin typeface="Microsoft YaHei"/>
                <a:ea typeface="Microsoft YaHei"/>
                <a:cs typeface="Microsoft YaHei"/>
              </a:defRPr>
            </a:pPr>
            <a:r>
              <a:rPr sz="1200" b="0">
                <a:solidFill>
                  <a:srgbClr val="101828"/>
                </a:solidFill>
                <a:latin typeface="Microsoft YaHei"/>
                <a:ea typeface="Microsoft YaHei"/>
                <a:cs typeface="Microsoft YaHei"/>
              </a:rPr>
              <a:t>build_market_rules_tbd()</a:t>
            </a:r>
          </a:p>
          <a:p>
            <a:pPr algn="ctr">
              <a:defRPr sz="1200" b="0">
                <a:solidFill>
                  <a:srgbClr val="101828"/>
                </a:solidFill>
                <a:latin typeface="Microsoft YaHei"/>
                <a:ea typeface="Microsoft YaHei"/>
                <a:cs typeface="Microsoft YaHei"/>
              </a:defRPr>
            </a:pPr>
            <a:r>
              <a:rPr sz="1200" b="0">
                <a:solidFill>
                  <a:srgbClr val="101828"/>
                </a:solidFill>
                <a:latin typeface="Microsoft YaHei"/>
                <a:ea typeface="Microsoft YaHei"/>
                <a:cs typeface="Microsoft YaHei"/>
              </a:rPr>
              <a:t>保存六元组 m → R_02；当前不参与 pandapower 仿真</a:t>
            </a:r>
          </a:p>
        </p:txBody>
      </p:sp>
      <p:grpSp>
        <p:nvGrpSpPr>
          <p:cNvPr id="441" name="组合 440">
            <a:extLst>
              <a:ext uri="{FF2B5EF4-FFF2-40B4-BE49-F238E27FC236}">
                <a16:creationId xmlns:a16="http://schemas.microsoft.com/office/drawing/2014/main" id="{14420B03-DD03-4B4E-B67A-B8DAECDA3621}"/>
              </a:ext>
            </a:extLst>
          </p:cNvPr>
          <p:cNvGrpSpPr/>
          <p:nvPr/>
        </p:nvGrpSpPr>
        <p:grpSpPr>
          <a:xfrm>
            <a:off x="1991359" y="2585529"/>
            <a:ext cx="7988301" cy="4222311"/>
            <a:chOff x="495299" y="2562123"/>
            <a:chExt cx="7988301" cy="4222311"/>
          </a:xfrm>
        </p:grpSpPr>
        <p:grpSp>
          <p:nvGrpSpPr>
            <p:cNvPr id="442" name="组合 441">
              <a:extLst>
                <a:ext uri="{FF2B5EF4-FFF2-40B4-BE49-F238E27FC236}">
                  <a16:creationId xmlns:a16="http://schemas.microsoft.com/office/drawing/2014/main" id="{083AC6F9-FF58-42A8-927B-F0027A9DB6D5}"/>
                </a:ext>
              </a:extLst>
            </p:cNvPr>
            <p:cNvGrpSpPr/>
            <p:nvPr/>
          </p:nvGrpSpPr>
          <p:grpSpPr>
            <a:xfrm>
              <a:off x="495299" y="2562123"/>
              <a:ext cx="7988301" cy="4222311"/>
              <a:chOff x="495299" y="2562123"/>
              <a:chExt cx="11201400" cy="5920632"/>
            </a:xfrm>
          </p:grpSpPr>
          <p:pic>
            <p:nvPicPr>
              <p:cNvPr id="462" name="图片 461">
                <a:extLst>
                  <a:ext uri="{FF2B5EF4-FFF2-40B4-BE49-F238E27FC236}">
                    <a16:creationId xmlns:a16="http://schemas.microsoft.com/office/drawing/2014/main" id="{421D8724-26AA-45A8-931F-1FE5619EC616}"/>
                  </a:ext>
                </a:extLst>
              </p:cNvPr>
              <p:cNvPicPr>
                <a:picLocks noChangeAspect="1"/>
              </p:cNvPicPr>
              <p:nvPr/>
            </p:nvPicPr>
            <p:blipFill>
              <a:blip r:embed="rId4"/>
              <a:stretch>
                <a:fillRect/>
              </a:stretch>
            </p:blipFill>
            <p:spPr>
              <a:xfrm>
                <a:off x="495299" y="2562123"/>
                <a:ext cx="11201400" cy="1919572"/>
              </a:xfrm>
              <a:prstGeom prst="rect">
                <a:avLst/>
              </a:prstGeom>
            </p:spPr>
          </p:pic>
          <p:pic>
            <p:nvPicPr>
              <p:cNvPr id="463" name="图片 462">
                <a:extLst>
                  <a:ext uri="{FF2B5EF4-FFF2-40B4-BE49-F238E27FC236}">
                    <a16:creationId xmlns:a16="http://schemas.microsoft.com/office/drawing/2014/main" id="{7747F545-B60E-40CF-8B0F-4C696B31D629}"/>
                  </a:ext>
                </a:extLst>
              </p:cNvPr>
              <p:cNvPicPr>
                <a:picLocks noChangeAspect="1"/>
              </p:cNvPicPr>
              <p:nvPr/>
            </p:nvPicPr>
            <p:blipFill>
              <a:blip r:embed="rId5"/>
              <a:stretch>
                <a:fillRect/>
              </a:stretch>
            </p:blipFill>
            <p:spPr>
              <a:xfrm>
                <a:off x="495299" y="6306461"/>
                <a:ext cx="11201400" cy="2176294"/>
              </a:xfrm>
              <a:prstGeom prst="rect">
                <a:avLst/>
              </a:prstGeom>
            </p:spPr>
          </p:pic>
          <p:pic>
            <p:nvPicPr>
              <p:cNvPr id="468" name="图片 467">
                <a:extLst>
                  <a:ext uri="{FF2B5EF4-FFF2-40B4-BE49-F238E27FC236}">
                    <a16:creationId xmlns:a16="http://schemas.microsoft.com/office/drawing/2014/main" id="{B8B6483B-F517-4955-84D4-0FA469168472}"/>
                  </a:ext>
                </a:extLst>
              </p:cNvPr>
              <p:cNvPicPr>
                <a:picLocks noChangeAspect="1"/>
              </p:cNvPicPr>
              <p:nvPr/>
            </p:nvPicPr>
            <p:blipFill>
              <a:blip r:embed="rId6"/>
              <a:stretch>
                <a:fillRect/>
              </a:stretch>
            </p:blipFill>
            <p:spPr>
              <a:xfrm>
                <a:off x="497840" y="4470079"/>
                <a:ext cx="11198859" cy="1836228"/>
              </a:xfrm>
              <a:prstGeom prst="rect">
                <a:avLst/>
              </a:prstGeom>
            </p:spPr>
          </p:pic>
        </p:grpSp>
        <p:sp>
          <p:nvSpPr>
            <p:cNvPr id="444" name="矩形: 圆角 443">
              <a:extLst>
                <a:ext uri="{FF2B5EF4-FFF2-40B4-BE49-F238E27FC236}">
                  <a16:creationId xmlns:a16="http://schemas.microsoft.com/office/drawing/2014/main" id="{91B5739C-6EBD-4581-B731-AB85A42C5669}"/>
                </a:ext>
              </a:extLst>
            </p:cNvPr>
            <p:cNvSpPr/>
            <p:nvPr/>
          </p:nvSpPr>
          <p:spPr>
            <a:xfrm>
              <a:off x="518160" y="2818540"/>
              <a:ext cx="1095895" cy="180321"/>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45" name="文本框 444">
              <a:extLst>
                <a:ext uri="{FF2B5EF4-FFF2-40B4-BE49-F238E27FC236}">
                  <a16:creationId xmlns:a16="http://schemas.microsoft.com/office/drawing/2014/main" id="{067D73EE-0F91-4F11-BC0D-78834A7542D0}"/>
                </a:ext>
              </a:extLst>
            </p:cNvPr>
            <p:cNvSpPr txBox="1"/>
            <p:nvPr/>
          </p:nvSpPr>
          <p:spPr>
            <a:xfrm>
              <a:off x="1569412" y="2754861"/>
              <a:ext cx="1082348" cy="307777"/>
            </a:xfrm>
            <a:prstGeom prst="rect">
              <a:avLst/>
            </a:prstGeom>
            <a:noFill/>
          </p:spPr>
          <p:txBody>
            <a:bodyPr wrap="none" rtlCol="0">
              <a:spAutoFit/>
            </a:bodyPr>
            <a:lstStyle/>
            <a:p>
              <a:r>
                <a:rPr lang="zh-CN" altLang="en-US" sz="1400" b="1">
                  <a:solidFill>
                    <a:schemeClr val="bg1"/>
                  </a:solidFill>
                  <a:latin typeface="微软雅黑" panose="020B0503020204020204" pitchFamily="34" charset="-122"/>
                  <a:ea typeface="微软雅黑" panose="020B0503020204020204" pitchFamily="34" charset="-122"/>
                </a:rPr>
                <a:t>仿真控制器</a:t>
              </a:r>
            </a:p>
          </p:txBody>
        </p:sp>
        <p:sp>
          <p:nvSpPr>
            <p:cNvPr id="446" name="矩形: 圆角 445">
              <a:extLst>
                <a:ext uri="{FF2B5EF4-FFF2-40B4-BE49-F238E27FC236}">
                  <a16:creationId xmlns:a16="http://schemas.microsoft.com/office/drawing/2014/main" id="{0AC1A12C-411F-4C74-ABDA-FC064D8B6A1E}"/>
                </a:ext>
              </a:extLst>
            </p:cNvPr>
            <p:cNvSpPr/>
            <p:nvPr/>
          </p:nvSpPr>
          <p:spPr>
            <a:xfrm>
              <a:off x="632460" y="3103088"/>
              <a:ext cx="1877060" cy="777983"/>
            </a:xfrm>
            <a:prstGeom prst="roundRect">
              <a:avLst/>
            </a:prstGeom>
            <a:noFill/>
            <a:ln>
              <a:solidFill>
                <a:schemeClr val="bg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47" name="箭头: 下 446">
              <a:extLst>
                <a:ext uri="{FF2B5EF4-FFF2-40B4-BE49-F238E27FC236}">
                  <a16:creationId xmlns:a16="http://schemas.microsoft.com/office/drawing/2014/main" id="{8D97D580-64F3-4B76-A262-5C03442B6097}"/>
                </a:ext>
              </a:extLst>
            </p:cNvPr>
            <p:cNvSpPr/>
            <p:nvPr/>
          </p:nvSpPr>
          <p:spPr>
            <a:xfrm>
              <a:off x="1127760" y="2992304"/>
              <a:ext cx="163830" cy="136842"/>
            </a:xfrm>
            <a:prstGeom prst="down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48" name="文本框 447">
              <a:extLst>
                <a:ext uri="{FF2B5EF4-FFF2-40B4-BE49-F238E27FC236}">
                  <a16:creationId xmlns:a16="http://schemas.microsoft.com/office/drawing/2014/main" id="{4CD22B91-8CA5-43D5-BAD1-C1E7B0205D3D}"/>
                </a:ext>
              </a:extLst>
            </p:cNvPr>
            <p:cNvSpPr txBox="1"/>
            <p:nvPr/>
          </p:nvSpPr>
          <p:spPr>
            <a:xfrm>
              <a:off x="2509520" y="3184934"/>
              <a:ext cx="1261884" cy="307777"/>
            </a:xfrm>
            <a:prstGeom prst="rect">
              <a:avLst/>
            </a:prstGeom>
            <a:noFill/>
          </p:spPr>
          <p:txBody>
            <a:bodyPr wrap="none" rtlCol="0">
              <a:spAutoFit/>
            </a:bodyPr>
            <a:lstStyle/>
            <a:p>
              <a:r>
                <a:rPr lang="zh-CN" altLang="en-US" sz="1400" b="1">
                  <a:solidFill>
                    <a:schemeClr val="bg1"/>
                  </a:solidFill>
                  <a:latin typeface="微软雅黑" panose="020B0503020204020204" pitchFamily="34" charset="-122"/>
                  <a:ea typeface="微软雅黑" panose="020B0503020204020204" pitchFamily="34" charset="-122"/>
                </a:rPr>
                <a:t>调用子控制器</a:t>
              </a:r>
            </a:p>
          </p:txBody>
        </p:sp>
        <p:sp>
          <p:nvSpPr>
            <p:cNvPr id="449" name="文本框 448">
              <a:extLst>
                <a:ext uri="{FF2B5EF4-FFF2-40B4-BE49-F238E27FC236}">
                  <a16:creationId xmlns:a16="http://schemas.microsoft.com/office/drawing/2014/main" id="{C5DD3A63-B5C0-4059-9750-A70CC54974F8}"/>
                </a:ext>
              </a:extLst>
            </p:cNvPr>
            <p:cNvSpPr txBox="1"/>
            <p:nvPr/>
          </p:nvSpPr>
          <p:spPr>
            <a:xfrm>
              <a:off x="2509520" y="3997569"/>
              <a:ext cx="723275" cy="307777"/>
            </a:xfrm>
            <a:prstGeom prst="rect">
              <a:avLst/>
            </a:prstGeom>
            <a:noFill/>
          </p:spPr>
          <p:txBody>
            <a:bodyPr wrap="none" rtlCol="0">
              <a:spAutoFit/>
            </a:bodyPr>
            <a:lstStyle/>
            <a:p>
              <a:r>
                <a:rPr lang="zh-CN" altLang="en-US" sz="1400" b="1">
                  <a:solidFill>
                    <a:schemeClr val="bg1"/>
                  </a:solidFill>
                  <a:latin typeface="微软雅黑" panose="020B0503020204020204" pitchFamily="34" charset="-122"/>
                  <a:ea typeface="微软雅黑" panose="020B0503020204020204" pitchFamily="34" charset="-122"/>
                </a:rPr>
                <a:t>建模器</a:t>
              </a:r>
            </a:p>
          </p:txBody>
        </p:sp>
        <p:sp>
          <p:nvSpPr>
            <p:cNvPr id="452" name="文本框 451">
              <a:extLst>
                <a:ext uri="{FF2B5EF4-FFF2-40B4-BE49-F238E27FC236}">
                  <a16:creationId xmlns:a16="http://schemas.microsoft.com/office/drawing/2014/main" id="{61C38A17-2804-4792-8897-177A0660AB01}"/>
                </a:ext>
              </a:extLst>
            </p:cNvPr>
            <p:cNvSpPr txBox="1"/>
            <p:nvPr/>
          </p:nvSpPr>
          <p:spPr>
            <a:xfrm>
              <a:off x="2509519" y="5182406"/>
              <a:ext cx="723275" cy="307777"/>
            </a:xfrm>
            <a:prstGeom prst="rect">
              <a:avLst/>
            </a:prstGeom>
            <a:noFill/>
          </p:spPr>
          <p:txBody>
            <a:bodyPr wrap="none" rtlCol="0">
              <a:spAutoFit/>
            </a:bodyPr>
            <a:lstStyle/>
            <a:p>
              <a:r>
                <a:rPr lang="zh-CN" altLang="en-US" sz="1400" b="1">
                  <a:solidFill>
                    <a:schemeClr val="bg1"/>
                  </a:solidFill>
                  <a:latin typeface="微软雅黑" panose="020B0503020204020204" pitchFamily="34" charset="-122"/>
                  <a:ea typeface="微软雅黑" panose="020B0503020204020204" pitchFamily="34" charset="-122"/>
                </a:rPr>
                <a:t>算法器</a:t>
              </a:r>
            </a:p>
          </p:txBody>
        </p:sp>
        <p:cxnSp>
          <p:nvCxnSpPr>
            <p:cNvPr id="455" name="直接箭头连接符 454">
              <a:extLst>
                <a:ext uri="{FF2B5EF4-FFF2-40B4-BE49-F238E27FC236}">
                  <a16:creationId xmlns:a16="http://schemas.microsoft.com/office/drawing/2014/main" id="{25587196-FDA7-4EEF-AB87-E09AA00ED6D6}"/>
                </a:ext>
              </a:extLst>
            </p:cNvPr>
            <p:cNvCxnSpPr/>
            <p:nvPr/>
          </p:nvCxnSpPr>
          <p:spPr>
            <a:xfrm flipH="1">
              <a:off x="999744" y="3921362"/>
              <a:ext cx="487680" cy="69357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56" name="直接箭头连接符 455">
              <a:extLst>
                <a:ext uri="{FF2B5EF4-FFF2-40B4-BE49-F238E27FC236}">
                  <a16:creationId xmlns:a16="http://schemas.microsoft.com/office/drawing/2014/main" id="{DE9BF2DD-EA36-4F45-A792-B4072685510A}"/>
                </a:ext>
              </a:extLst>
            </p:cNvPr>
            <p:cNvCxnSpPr>
              <a:cxnSpLocks/>
            </p:cNvCxnSpPr>
            <p:nvPr/>
          </p:nvCxnSpPr>
          <p:spPr>
            <a:xfrm>
              <a:off x="1487424" y="3892967"/>
              <a:ext cx="81988" cy="186165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57" name="矩形: 圆角 456">
              <a:extLst>
                <a:ext uri="{FF2B5EF4-FFF2-40B4-BE49-F238E27FC236}">
                  <a16:creationId xmlns:a16="http://schemas.microsoft.com/office/drawing/2014/main" id="{121A4148-7E10-4507-82C0-DC7B38BBA676}"/>
                </a:ext>
              </a:extLst>
            </p:cNvPr>
            <p:cNvSpPr/>
            <p:nvPr/>
          </p:nvSpPr>
          <p:spPr>
            <a:xfrm>
              <a:off x="548894" y="6242304"/>
              <a:ext cx="1877060" cy="451946"/>
            </a:xfrm>
            <a:prstGeom prst="roundRect">
              <a:avLst/>
            </a:prstGeom>
            <a:noFill/>
            <a:ln>
              <a:solidFill>
                <a:schemeClr val="bg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59" name="文本框 458">
              <a:extLst>
                <a:ext uri="{FF2B5EF4-FFF2-40B4-BE49-F238E27FC236}">
                  <a16:creationId xmlns:a16="http://schemas.microsoft.com/office/drawing/2014/main" id="{135873F5-45B8-4140-A25A-CE6746BCE9E9}"/>
                </a:ext>
              </a:extLst>
            </p:cNvPr>
            <p:cNvSpPr txBox="1"/>
            <p:nvPr/>
          </p:nvSpPr>
          <p:spPr>
            <a:xfrm>
              <a:off x="2509519" y="6156221"/>
              <a:ext cx="1218603" cy="307777"/>
            </a:xfrm>
            <a:prstGeom prst="rect">
              <a:avLst/>
            </a:prstGeom>
            <a:noFill/>
          </p:spPr>
          <p:txBody>
            <a:bodyPr wrap="none" rtlCol="0">
              <a:spAutoFit/>
            </a:bodyPr>
            <a:lstStyle/>
            <a:p>
              <a:r>
                <a:rPr lang="zh-CN" altLang="en-US" sz="1400" b="1">
                  <a:solidFill>
                    <a:schemeClr val="bg1"/>
                  </a:solidFill>
                  <a:latin typeface="微软雅黑" panose="020B0503020204020204" pitchFamily="34" charset="-122"/>
                  <a:ea typeface="微软雅黑" panose="020B0503020204020204" pitchFamily="34" charset="-122"/>
                </a:rPr>
                <a:t>分析</a:t>
              </a:r>
              <a:r>
                <a:rPr lang="en-US" altLang="zh-CN" sz="1400" b="1">
                  <a:solidFill>
                    <a:schemeClr val="bg1"/>
                  </a:solidFill>
                  <a:latin typeface="微软雅黑" panose="020B0503020204020204" pitchFamily="34" charset="-122"/>
                  <a:ea typeface="微软雅黑" panose="020B0503020204020204" pitchFamily="34" charset="-122"/>
                </a:rPr>
                <a:t>+</a:t>
              </a:r>
              <a:r>
                <a:rPr lang="zh-CN" altLang="en-US" sz="1400" b="1">
                  <a:solidFill>
                    <a:schemeClr val="bg1"/>
                  </a:solidFill>
                  <a:latin typeface="微软雅黑" panose="020B0503020204020204" pitchFamily="34" charset="-122"/>
                  <a:ea typeface="微软雅黑" panose="020B0503020204020204" pitchFamily="34" charset="-122"/>
                </a:rPr>
                <a:t>绘图包</a:t>
              </a:r>
            </a:p>
          </p:txBody>
        </p:sp>
        <p:cxnSp>
          <p:nvCxnSpPr>
            <p:cNvPr id="461" name="直接箭头连接符 460">
              <a:extLst>
                <a:ext uri="{FF2B5EF4-FFF2-40B4-BE49-F238E27FC236}">
                  <a16:creationId xmlns:a16="http://schemas.microsoft.com/office/drawing/2014/main" id="{375F1239-2419-442E-B55B-8CD9BBDF0699}"/>
                </a:ext>
              </a:extLst>
            </p:cNvPr>
            <p:cNvCxnSpPr>
              <a:cxnSpLocks/>
            </p:cNvCxnSpPr>
            <p:nvPr/>
          </p:nvCxnSpPr>
          <p:spPr>
            <a:xfrm>
              <a:off x="1528418" y="3892967"/>
              <a:ext cx="708814" cy="234933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4146709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14885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1.2 </a:t>
            </a:r>
            <a:r>
              <a:rPr lang="zh-CN" altLang="en-US" sz="2800" spc="0">
                <a:solidFill>
                  <a:schemeClr val="tx1"/>
                </a:solidFill>
                <a:effectLst/>
                <a:sym typeface="微软雅黑" panose="020B0503020204020204" pitchFamily="34" charset="-122"/>
              </a:rPr>
              <a:t>现有的进展：</a:t>
            </a:r>
            <a:r>
              <a:rPr lang="en-US" altLang="zh-CN" sz="2800" spc="0">
                <a:solidFill>
                  <a:schemeClr val="tx1"/>
                </a:solidFill>
                <a:effectLst/>
                <a:sym typeface="微软雅黑" panose="020B0503020204020204" pitchFamily="34" charset="-122"/>
              </a:rPr>
              <a:t>LLM Prompt</a:t>
            </a:r>
            <a:r>
              <a:rPr lang="zh-CN" altLang="en-US" sz="2800" spc="0">
                <a:solidFill>
                  <a:schemeClr val="tx1"/>
                </a:solidFill>
                <a:effectLst/>
                <a:sym typeface="微软雅黑" panose="020B0503020204020204" pitchFamily="34" charset="-122"/>
              </a:rPr>
              <a:t>工程</a:t>
            </a:r>
            <a:r>
              <a:rPr lang="en-US" altLang="zh-CN" sz="2800" spc="0">
                <a:solidFill>
                  <a:schemeClr val="tx1"/>
                </a:solidFill>
                <a:effectLst/>
                <a:sym typeface="微软雅黑" panose="020B0503020204020204" pitchFamily="34" charset="-122"/>
              </a:rPr>
              <a:t>—Units</a:t>
            </a:r>
            <a:r>
              <a:rPr lang="zh-CN" altLang="en-US" sz="2800" spc="0">
                <a:solidFill>
                  <a:schemeClr val="tx1"/>
                </a:solidFill>
                <a:effectLst/>
                <a:sym typeface="微软雅黑" panose="020B0503020204020204" pitchFamily="34" charset="-122"/>
              </a:rPr>
              <a:t>规则化实验</a:t>
            </a:r>
          </a:p>
        </p:txBody>
      </p:sp>
      <p:grpSp>
        <p:nvGrpSpPr>
          <p:cNvPr id="83" name="组合 82">
            <a:extLst>
              <a:ext uri="{FF2B5EF4-FFF2-40B4-BE49-F238E27FC236}">
                <a16:creationId xmlns:a16="http://schemas.microsoft.com/office/drawing/2014/main" id="{935A8463-3490-4A4C-9FBE-C504EB783A9E}"/>
              </a:ext>
            </a:extLst>
          </p:cNvPr>
          <p:cNvGrpSpPr/>
          <p:nvPr/>
        </p:nvGrpSpPr>
        <p:grpSpPr>
          <a:xfrm>
            <a:off x="308924" y="734752"/>
            <a:ext cx="11574151" cy="522605"/>
            <a:chOff x="308924" y="734752"/>
            <a:chExt cx="11574151" cy="522605"/>
          </a:xfrm>
        </p:grpSpPr>
        <p:sp>
          <p:nvSpPr>
            <p:cNvPr id="84" name="矩形 22">
              <a:extLst>
                <a:ext uri="{FF2B5EF4-FFF2-40B4-BE49-F238E27FC236}">
                  <a16:creationId xmlns:a16="http://schemas.microsoft.com/office/drawing/2014/main" id="{8ACE45B6-93A6-4AE3-8868-C769AFD68E32}"/>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85" name="文本框 84">
              <a:extLst>
                <a:ext uri="{FF2B5EF4-FFF2-40B4-BE49-F238E27FC236}">
                  <a16:creationId xmlns:a16="http://schemas.microsoft.com/office/drawing/2014/main" id="{3EE57984-FF8B-4D82-A0D1-4E149A2F6C71}"/>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E01 </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单个异质化单元规则化 </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 E02 </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相同输入连续 </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100 </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次一致性</a:t>
              </a:r>
              <a:endParaRPr sz="22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sp>
        <p:nvSpPr>
          <p:cNvPr id="323" name="文本框 322">
            <a:extLst>
              <a:ext uri="{FF2B5EF4-FFF2-40B4-BE49-F238E27FC236}">
                <a16:creationId xmlns:a16="http://schemas.microsoft.com/office/drawing/2014/main" id="{251E1F1B-9427-47BF-98C6-E628332423B4}"/>
              </a:ext>
            </a:extLst>
          </p:cNvPr>
          <p:cNvSpPr txBox="1"/>
          <p:nvPr/>
        </p:nvSpPr>
        <p:spPr>
          <a:xfrm>
            <a:off x="0" y="1324116"/>
            <a:ext cx="12195525" cy="369332"/>
          </a:xfrm>
          <a:prstGeom prst="rect">
            <a:avLst/>
          </a:prstGeom>
          <a:noFill/>
        </p:spPr>
        <p:txBody>
          <a:bodyPr wrap="square" rtlCol="0">
            <a:spAutoFit/>
          </a:bodyPr>
          <a:lstStyle/>
          <a:p>
            <a:pPr marL="285750" indent="-285750" algn="just">
              <a:buFont typeface="Wingdings" panose="05000000000000000000" pitchFamily="2" charset="2"/>
              <a:buChar char="n"/>
            </a:pPr>
            <a:r>
              <a:rPr lang="zh-CN" altLang="en-US" b="1">
                <a:latin typeface="Times New Roman" panose="02020603050405020304" pitchFamily="18" charset="0"/>
                <a:ea typeface="微软雅黑" panose="020B0503020204020204" pitchFamily="34" charset="-122"/>
                <a:cs typeface="Times New Roman" panose="02020603050405020304" pitchFamily="18" charset="0"/>
              </a:rPr>
              <a:t>构建两个</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Prompt</a:t>
            </a:r>
            <a:r>
              <a:rPr lang="zh-CN" altLang="en-US"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1. P_02 </a:t>
            </a:r>
            <a:r>
              <a:rPr lang="zh-CN" altLang="en-US" b="1">
                <a:latin typeface="Times New Roman" panose="02020603050405020304" pitchFamily="18" charset="0"/>
                <a:ea typeface="微软雅黑" panose="020B0503020204020204" pitchFamily="34" charset="-122"/>
                <a:cs typeface="Times New Roman" panose="02020603050405020304" pitchFamily="18" charset="0"/>
              </a:rPr>
              <a:t>测试文本生成 </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Prompt; 2. P_01 </a:t>
            </a:r>
            <a:r>
              <a:rPr lang="zh-CN" altLang="en-US" b="1">
                <a:latin typeface="Times New Roman" panose="02020603050405020304" pitchFamily="18" charset="0"/>
                <a:ea typeface="微软雅黑" panose="020B0503020204020204" pitchFamily="34" charset="-122"/>
                <a:cs typeface="Times New Roman" panose="02020603050405020304" pitchFamily="18" charset="0"/>
              </a:rPr>
              <a:t>六元组规则化 </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Prompt </a:t>
            </a:r>
            <a:r>
              <a:rPr lang="zh-CN" altLang="en-US" b="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a:latin typeface="Times New Roman" panose="02020603050405020304" pitchFamily="18" charset="0"/>
                <a:ea typeface="微软雅黑" panose="020B0503020204020204" pitchFamily="34" charset="-122"/>
                <a:cs typeface="Times New Roman" panose="02020603050405020304" pitchFamily="18" charset="0"/>
              </a:rPr>
              <a:t>AI Generated</a:t>
            </a:r>
            <a:r>
              <a:rPr lang="zh-CN" altLang="en-US" b="1">
                <a:latin typeface="Times New Roman" panose="02020603050405020304" pitchFamily="18" charset="0"/>
                <a:ea typeface="微软雅黑" panose="020B0503020204020204" pitchFamily="34" charset="-122"/>
                <a:cs typeface="Times New Roman" panose="02020603050405020304" pitchFamily="18" charset="0"/>
              </a:rPr>
              <a:t>结构分析）</a:t>
            </a:r>
          </a:p>
        </p:txBody>
      </p:sp>
      <p:sp>
        <p:nvSpPr>
          <p:cNvPr id="66" name="column-divider">
            <a:extLst>
              <a:ext uri="{FF2B5EF4-FFF2-40B4-BE49-F238E27FC236}">
                <a16:creationId xmlns:a16="http://schemas.microsoft.com/office/drawing/2014/main" id="{EC6CC4DD-8415-4894-8277-DC3909B03886}"/>
              </a:ext>
            </a:extLst>
          </p:cNvPr>
          <p:cNvSpPr>
            <a:spLocks noGrp="1"/>
          </p:cNvSpPr>
          <p:nvPr/>
        </p:nvSpPr>
        <p:spPr>
          <a:xfrm>
            <a:off x="5921479" y="2113521"/>
            <a:ext cx="0" cy="3409950"/>
          </a:xfrm>
          <a:prstGeom prst="line">
            <a:avLst/>
          </a:prstGeom>
          <a:noFill/>
          <a:ln w="9525">
            <a:solidFill>
              <a:srgbClr val="B8BCC4"/>
            </a:solidFill>
            <a:prstDash val="solid"/>
          </a:ln>
        </p:spPr>
      </p:sp>
      <p:sp>
        <p:nvSpPr>
          <p:cNvPr id="67" name="p02-header">
            <a:extLst>
              <a:ext uri="{FF2B5EF4-FFF2-40B4-BE49-F238E27FC236}">
                <a16:creationId xmlns:a16="http://schemas.microsoft.com/office/drawing/2014/main" id="{EA5A4C71-B55B-42C3-813E-5529E81B3C8D}"/>
              </a:ext>
            </a:extLst>
          </p:cNvPr>
          <p:cNvSpPr>
            <a:spLocks noGrp="1"/>
          </p:cNvSpPr>
          <p:nvPr/>
        </p:nvSpPr>
        <p:spPr>
          <a:xfrm>
            <a:off x="763270" y="1914384"/>
            <a:ext cx="4953000" cy="361950"/>
          </a:xfrm>
          <a:prstGeom prst="rect">
            <a:avLst/>
          </a:prstGeom>
          <a:noFill/>
          <a:ln w="0">
            <a:noFill/>
            <a:prstDash val="solid"/>
          </a:ln>
        </p:spPr>
        <p:txBody>
          <a:bodyPr lIns="0" tIns="0" rIns="0" bIns="0" anchor="ctr"/>
          <a:lstStyle/>
          <a:p>
            <a:pPr algn="l">
              <a:defRPr sz="2100" b="1">
                <a:solidFill>
                  <a:srgbClr val="3D8DFF"/>
                </a:solidFill>
                <a:latin typeface="Microsoft YaHei"/>
                <a:ea typeface="Microsoft YaHei"/>
                <a:cs typeface="Microsoft YaHei"/>
              </a:defRPr>
            </a:pPr>
            <a:r>
              <a:rPr sz="2100" b="1">
                <a:solidFill>
                  <a:srgbClr val="3D8DFF"/>
                </a:solidFill>
                <a:latin typeface="Microsoft YaHei"/>
                <a:ea typeface="Microsoft YaHei"/>
                <a:cs typeface="Microsoft YaHei"/>
              </a:rPr>
              <a:t>P_02 测试文本生成 Prompt</a:t>
            </a:r>
          </a:p>
        </p:txBody>
      </p:sp>
      <p:sp>
        <p:nvSpPr>
          <p:cNvPr id="69" name="p02-1-circle">
            <a:extLst>
              <a:ext uri="{FF2B5EF4-FFF2-40B4-BE49-F238E27FC236}">
                <a16:creationId xmlns:a16="http://schemas.microsoft.com/office/drawing/2014/main" id="{503E2381-2853-4A90-A871-BAE5E64355BA}"/>
              </a:ext>
            </a:extLst>
          </p:cNvPr>
          <p:cNvSpPr>
            <a:spLocks noGrp="1"/>
          </p:cNvSpPr>
          <p:nvPr/>
        </p:nvSpPr>
        <p:spPr>
          <a:xfrm>
            <a:off x="763270" y="2490202"/>
            <a:ext cx="285750" cy="285750"/>
          </a:xfrm>
          <a:prstGeom prst="ellipse">
            <a:avLst/>
          </a:prstGeom>
          <a:solidFill>
            <a:srgbClr val="3D8DFF"/>
          </a:solidFill>
          <a:ln w="0">
            <a:solidFill>
              <a:srgbClr val="3D8DFF"/>
            </a:solidFill>
            <a:prstDash val="solid"/>
          </a:ln>
        </p:spPr>
      </p:sp>
      <p:sp>
        <p:nvSpPr>
          <p:cNvPr id="70" name="p02-1-number">
            <a:extLst>
              <a:ext uri="{FF2B5EF4-FFF2-40B4-BE49-F238E27FC236}">
                <a16:creationId xmlns:a16="http://schemas.microsoft.com/office/drawing/2014/main" id="{A91566D5-A181-4E85-8EA4-3F34F189480C}"/>
              </a:ext>
            </a:extLst>
          </p:cNvPr>
          <p:cNvSpPr>
            <a:spLocks noGrp="1"/>
          </p:cNvSpPr>
          <p:nvPr/>
        </p:nvSpPr>
        <p:spPr>
          <a:xfrm>
            <a:off x="763270" y="2490202"/>
            <a:ext cx="285750" cy="285750"/>
          </a:xfrm>
          <a:prstGeom prst="rect">
            <a:avLst/>
          </a:prstGeom>
          <a:noFill/>
          <a:ln w="0">
            <a:noFill/>
            <a:prstDash val="solid"/>
          </a:ln>
        </p:spPr>
        <p:txBody>
          <a:bodyPr lIns="0" tIns="0" rIns="0" bIns="0" anchor="ctr"/>
          <a:lstStyle/>
          <a:p>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1</a:t>
            </a:r>
          </a:p>
        </p:txBody>
      </p:sp>
      <p:sp>
        <p:nvSpPr>
          <p:cNvPr id="71" name="p02-1-title">
            <a:extLst>
              <a:ext uri="{FF2B5EF4-FFF2-40B4-BE49-F238E27FC236}">
                <a16:creationId xmlns:a16="http://schemas.microsoft.com/office/drawing/2014/main" id="{FA444260-33D9-49EA-88A8-5495B09878C0}"/>
              </a:ext>
            </a:extLst>
          </p:cNvPr>
          <p:cNvSpPr>
            <a:spLocks noGrp="1"/>
          </p:cNvSpPr>
          <p:nvPr/>
        </p:nvSpPr>
        <p:spPr>
          <a:xfrm>
            <a:off x="1172845" y="2461627"/>
            <a:ext cx="4286250" cy="266700"/>
          </a:xfrm>
          <a:prstGeom prst="rect">
            <a:avLst/>
          </a:prstGeom>
          <a:noFill/>
          <a:ln w="0">
            <a:noFill/>
            <a:prstDash val="solid"/>
          </a:ln>
        </p:spPr>
        <p:txBody>
          <a:bodyPr lIns="0" tIns="0" rIns="0" bIns="0" anchor="ctr"/>
          <a:lstStyle/>
          <a:p>
            <a:pPr algn="l">
              <a:defRPr sz="1500" b="1">
                <a:solidFill>
                  <a:srgbClr val="3D8DFF"/>
                </a:solidFill>
                <a:latin typeface="Microsoft YaHei"/>
                <a:ea typeface="Microsoft YaHei"/>
                <a:cs typeface="Microsoft YaHei"/>
              </a:defRPr>
            </a:pPr>
            <a:r>
              <a:rPr lang="en-US" altLang="zh-CN" sz="1500" b="1">
                <a:solidFill>
                  <a:srgbClr val="3D8DFF"/>
                </a:solidFill>
                <a:latin typeface="Microsoft YaHei"/>
                <a:ea typeface="Microsoft YaHei"/>
                <a:cs typeface="Microsoft YaHei"/>
              </a:rPr>
              <a:t>Rule</a:t>
            </a:r>
            <a:endParaRPr sz="1500" b="1">
              <a:solidFill>
                <a:srgbClr val="3D8DFF"/>
              </a:solidFill>
              <a:latin typeface="Microsoft YaHei"/>
              <a:ea typeface="Microsoft YaHei"/>
              <a:cs typeface="Microsoft YaHei"/>
            </a:endParaRPr>
          </a:p>
        </p:txBody>
      </p:sp>
      <p:sp>
        <p:nvSpPr>
          <p:cNvPr id="72" name="p02-1-body">
            <a:extLst>
              <a:ext uri="{FF2B5EF4-FFF2-40B4-BE49-F238E27FC236}">
                <a16:creationId xmlns:a16="http://schemas.microsoft.com/office/drawing/2014/main" id="{DECA6477-0407-47BE-BA2A-56F4C4F8E555}"/>
              </a:ext>
            </a:extLst>
          </p:cNvPr>
          <p:cNvSpPr>
            <a:spLocks noGrp="1"/>
          </p:cNvSpPr>
          <p:nvPr/>
        </p:nvSpPr>
        <p:spPr>
          <a:xfrm>
            <a:off x="1172845" y="2737852"/>
            <a:ext cx="4286250" cy="361950"/>
          </a:xfrm>
          <a:prstGeom prst="rect">
            <a:avLst/>
          </a:prstGeom>
          <a:noFill/>
          <a:ln w="0">
            <a:noFill/>
            <a:prstDash val="solid"/>
          </a:ln>
        </p:spPr>
        <p:txBody>
          <a:bodyPr lIns="0" tIns="0" rIns="0" bIns="0" anchor="t"/>
          <a:lstStyle/>
          <a:p>
            <a:pPr>
              <a:defRPr sz="1200" b="0">
                <a:solidFill>
                  <a:srgbClr val="667085"/>
                </a:solidFill>
                <a:latin typeface="Microsoft YaHei"/>
                <a:ea typeface="Microsoft YaHei"/>
                <a:cs typeface="Microsoft YaHei"/>
              </a:defRPr>
            </a:pPr>
            <a:r>
              <a:rPr lang="en-US" sz="1200">
                <a:solidFill>
                  <a:srgbClr val="667085"/>
                </a:solidFill>
                <a:latin typeface="Microsoft YaHei"/>
                <a:ea typeface="Microsoft YaHei"/>
                <a:cs typeface="Microsoft YaHei"/>
              </a:rPr>
              <a:t>You generate realistic electricity-resource descriptions for evaluating an information-extraction prompt.</a:t>
            </a:r>
            <a:endParaRPr sz="1200" b="0">
              <a:solidFill>
                <a:srgbClr val="667085"/>
              </a:solidFill>
              <a:latin typeface="Microsoft YaHei"/>
              <a:ea typeface="Microsoft YaHei"/>
              <a:cs typeface="Microsoft YaHei"/>
            </a:endParaRPr>
          </a:p>
        </p:txBody>
      </p:sp>
      <p:sp>
        <p:nvSpPr>
          <p:cNvPr id="73" name="p02-2-circle">
            <a:extLst>
              <a:ext uri="{FF2B5EF4-FFF2-40B4-BE49-F238E27FC236}">
                <a16:creationId xmlns:a16="http://schemas.microsoft.com/office/drawing/2014/main" id="{EB2101DA-7CBE-4634-9E30-37ECD12C3FB7}"/>
              </a:ext>
            </a:extLst>
          </p:cNvPr>
          <p:cNvSpPr>
            <a:spLocks noGrp="1"/>
          </p:cNvSpPr>
          <p:nvPr/>
        </p:nvSpPr>
        <p:spPr>
          <a:xfrm>
            <a:off x="763270" y="3214102"/>
            <a:ext cx="285750" cy="285750"/>
          </a:xfrm>
          <a:prstGeom prst="ellipse">
            <a:avLst/>
          </a:prstGeom>
          <a:solidFill>
            <a:srgbClr val="3D8DFF"/>
          </a:solidFill>
          <a:ln w="0">
            <a:solidFill>
              <a:srgbClr val="3D8DFF"/>
            </a:solidFill>
            <a:prstDash val="solid"/>
          </a:ln>
        </p:spPr>
      </p:sp>
      <p:sp>
        <p:nvSpPr>
          <p:cNvPr id="74" name="p02-2-number">
            <a:extLst>
              <a:ext uri="{FF2B5EF4-FFF2-40B4-BE49-F238E27FC236}">
                <a16:creationId xmlns:a16="http://schemas.microsoft.com/office/drawing/2014/main" id="{4CECADD8-E21E-418B-A147-53A2FD2CCBD9}"/>
              </a:ext>
            </a:extLst>
          </p:cNvPr>
          <p:cNvSpPr>
            <a:spLocks noGrp="1"/>
          </p:cNvSpPr>
          <p:nvPr/>
        </p:nvSpPr>
        <p:spPr>
          <a:xfrm>
            <a:off x="763270" y="3214102"/>
            <a:ext cx="285750" cy="285750"/>
          </a:xfrm>
          <a:prstGeom prst="rect">
            <a:avLst/>
          </a:prstGeom>
          <a:noFill/>
          <a:ln w="0">
            <a:noFill/>
            <a:prstDash val="solid"/>
          </a:ln>
        </p:spPr>
        <p:txBody>
          <a:bodyPr lIns="0" tIns="0" rIns="0" bIns="0" anchor="ctr"/>
          <a:lstStyle/>
          <a:p>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2</a:t>
            </a:r>
          </a:p>
        </p:txBody>
      </p:sp>
      <p:sp>
        <p:nvSpPr>
          <p:cNvPr id="75" name="p02-2-title">
            <a:extLst>
              <a:ext uri="{FF2B5EF4-FFF2-40B4-BE49-F238E27FC236}">
                <a16:creationId xmlns:a16="http://schemas.microsoft.com/office/drawing/2014/main" id="{1EAC9C43-CE48-4764-986A-AE1AA05ED8C2}"/>
              </a:ext>
            </a:extLst>
          </p:cNvPr>
          <p:cNvSpPr>
            <a:spLocks noGrp="1"/>
          </p:cNvSpPr>
          <p:nvPr/>
        </p:nvSpPr>
        <p:spPr>
          <a:xfrm>
            <a:off x="1172845" y="3185527"/>
            <a:ext cx="4286250" cy="266700"/>
          </a:xfrm>
          <a:prstGeom prst="rect">
            <a:avLst/>
          </a:prstGeom>
          <a:noFill/>
          <a:ln w="0">
            <a:noFill/>
            <a:prstDash val="solid"/>
          </a:ln>
        </p:spPr>
        <p:txBody>
          <a:bodyPr lIns="0" tIns="0" rIns="0" bIns="0" anchor="ctr"/>
          <a:lstStyle/>
          <a:p>
            <a:pPr algn="l">
              <a:defRPr sz="1500" b="1">
                <a:solidFill>
                  <a:srgbClr val="3D8DFF"/>
                </a:solidFill>
                <a:latin typeface="Microsoft YaHei"/>
                <a:ea typeface="Microsoft YaHei"/>
                <a:cs typeface="Microsoft YaHei"/>
              </a:defRPr>
            </a:pPr>
            <a:r>
              <a:rPr lang="en-US" altLang="zh-CN" sz="1500" b="1">
                <a:solidFill>
                  <a:srgbClr val="3D8DFF"/>
                </a:solidFill>
                <a:latin typeface="Microsoft YaHei"/>
                <a:ea typeface="Microsoft YaHei"/>
                <a:cs typeface="Microsoft YaHei"/>
              </a:rPr>
              <a:t>Return one JSON</a:t>
            </a:r>
            <a:endParaRPr sz="1500" b="1">
              <a:solidFill>
                <a:srgbClr val="3D8DFF"/>
              </a:solidFill>
              <a:latin typeface="Microsoft YaHei"/>
              <a:ea typeface="Microsoft YaHei"/>
              <a:cs typeface="Microsoft YaHei"/>
            </a:endParaRPr>
          </a:p>
        </p:txBody>
      </p:sp>
      <p:sp>
        <p:nvSpPr>
          <p:cNvPr id="76" name="p02-2-body">
            <a:extLst>
              <a:ext uri="{FF2B5EF4-FFF2-40B4-BE49-F238E27FC236}">
                <a16:creationId xmlns:a16="http://schemas.microsoft.com/office/drawing/2014/main" id="{264BE574-9CFB-447D-81E5-D8EC0D57AEB8}"/>
              </a:ext>
            </a:extLst>
          </p:cNvPr>
          <p:cNvSpPr>
            <a:spLocks noGrp="1"/>
          </p:cNvSpPr>
          <p:nvPr/>
        </p:nvSpPr>
        <p:spPr>
          <a:xfrm>
            <a:off x="1172845" y="3461752"/>
            <a:ext cx="4286250" cy="361950"/>
          </a:xfrm>
          <a:prstGeom prst="rect">
            <a:avLst/>
          </a:prstGeom>
          <a:noFill/>
          <a:ln w="0">
            <a:noFill/>
            <a:prstDash val="solid"/>
          </a:ln>
        </p:spPr>
        <p:txBody>
          <a:bodyPr lIns="0" tIns="0" rIns="0" bIns="0" anchor="t"/>
          <a:lstStyle/>
          <a:p>
            <a:pPr>
              <a:defRPr sz="1200" b="0">
                <a:solidFill>
                  <a:srgbClr val="667085"/>
                </a:solidFill>
                <a:latin typeface="Microsoft YaHei"/>
                <a:ea typeface="Microsoft YaHei"/>
                <a:cs typeface="Microsoft YaHei"/>
              </a:defRPr>
            </a:pPr>
            <a:r>
              <a:rPr lang="en-US" sz="1200">
                <a:solidFill>
                  <a:srgbClr val="667085"/>
                </a:solidFill>
                <a:latin typeface="Microsoft YaHei"/>
                <a:ea typeface="Microsoft YaHei"/>
                <a:cs typeface="Microsoft YaHei"/>
              </a:rPr>
              <a:t>- "source_language": one of "zh", "en", or "mixed".</a:t>
            </a:r>
            <a:br>
              <a:rPr lang="en-US" sz="1200">
                <a:solidFill>
                  <a:srgbClr val="667085"/>
                </a:solidFill>
                <a:latin typeface="Microsoft YaHei"/>
                <a:ea typeface="Microsoft YaHei"/>
                <a:cs typeface="Microsoft YaHei"/>
              </a:rPr>
            </a:br>
            <a:r>
              <a:rPr lang="en-US" sz="1200">
                <a:solidFill>
                  <a:srgbClr val="667085"/>
                </a:solidFill>
                <a:latin typeface="Microsoft YaHei"/>
                <a:ea typeface="Microsoft YaHei"/>
                <a:cs typeface="Microsoft YaHei"/>
              </a:rPr>
              <a:t>- "source_text": one self-contained resource description.</a:t>
            </a:r>
            <a:endParaRPr sz="1200" b="0">
              <a:solidFill>
                <a:srgbClr val="667085"/>
              </a:solidFill>
              <a:latin typeface="Microsoft YaHei"/>
              <a:ea typeface="Microsoft YaHei"/>
              <a:cs typeface="Microsoft YaHei"/>
            </a:endParaRPr>
          </a:p>
        </p:txBody>
      </p:sp>
      <p:sp>
        <p:nvSpPr>
          <p:cNvPr id="77" name="p02-3-circle">
            <a:extLst>
              <a:ext uri="{FF2B5EF4-FFF2-40B4-BE49-F238E27FC236}">
                <a16:creationId xmlns:a16="http://schemas.microsoft.com/office/drawing/2014/main" id="{1CF4CF14-C439-4471-B0A0-267D99651544}"/>
              </a:ext>
            </a:extLst>
          </p:cNvPr>
          <p:cNvSpPr>
            <a:spLocks noGrp="1"/>
          </p:cNvSpPr>
          <p:nvPr/>
        </p:nvSpPr>
        <p:spPr>
          <a:xfrm>
            <a:off x="763270" y="3938002"/>
            <a:ext cx="285750" cy="285750"/>
          </a:xfrm>
          <a:prstGeom prst="ellipse">
            <a:avLst/>
          </a:prstGeom>
          <a:solidFill>
            <a:srgbClr val="3D8DFF"/>
          </a:solidFill>
          <a:ln w="0">
            <a:solidFill>
              <a:srgbClr val="3D8DFF"/>
            </a:solidFill>
            <a:prstDash val="solid"/>
          </a:ln>
        </p:spPr>
      </p:sp>
      <p:sp>
        <p:nvSpPr>
          <p:cNvPr id="78" name="p02-3-number">
            <a:extLst>
              <a:ext uri="{FF2B5EF4-FFF2-40B4-BE49-F238E27FC236}">
                <a16:creationId xmlns:a16="http://schemas.microsoft.com/office/drawing/2014/main" id="{E0386D26-2148-4FFD-A74C-B381C58BAA68}"/>
              </a:ext>
            </a:extLst>
          </p:cNvPr>
          <p:cNvSpPr>
            <a:spLocks noGrp="1"/>
          </p:cNvSpPr>
          <p:nvPr/>
        </p:nvSpPr>
        <p:spPr>
          <a:xfrm>
            <a:off x="763270" y="3938002"/>
            <a:ext cx="285750" cy="285750"/>
          </a:xfrm>
          <a:prstGeom prst="rect">
            <a:avLst/>
          </a:prstGeom>
          <a:noFill/>
          <a:ln w="0">
            <a:noFill/>
            <a:prstDash val="solid"/>
          </a:ln>
        </p:spPr>
        <p:txBody>
          <a:bodyPr lIns="0" tIns="0" rIns="0" bIns="0" anchor="ctr"/>
          <a:lstStyle/>
          <a:p>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3</a:t>
            </a:r>
          </a:p>
        </p:txBody>
      </p:sp>
      <p:sp>
        <p:nvSpPr>
          <p:cNvPr id="79" name="p02-3-title">
            <a:extLst>
              <a:ext uri="{FF2B5EF4-FFF2-40B4-BE49-F238E27FC236}">
                <a16:creationId xmlns:a16="http://schemas.microsoft.com/office/drawing/2014/main" id="{9B129A0C-071C-444A-A873-1E0B780B0647}"/>
              </a:ext>
            </a:extLst>
          </p:cNvPr>
          <p:cNvSpPr>
            <a:spLocks noGrp="1"/>
          </p:cNvSpPr>
          <p:nvPr/>
        </p:nvSpPr>
        <p:spPr>
          <a:xfrm>
            <a:off x="1172845" y="3909427"/>
            <a:ext cx="4286250" cy="266700"/>
          </a:xfrm>
          <a:prstGeom prst="rect">
            <a:avLst/>
          </a:prstGeom>
          <a:noFill/>
          <a:ln w="0">
            <a:noFill/>
            <a:prstDash val="solid"/>
          </a:ln>
        </p:spPr>
        <p:txBody>
          <a:bodyPr lIns="0" tIns="0" rIns="0" bIns="0" anchor="ctr"/>
          <a:lstStyle/>
          <a:p>
            <a:pPr algn="l">
              <a:defRPr sz="1500" b="1">
                <a:solidFill>
                  <a:srgbClr val="3D8DFF"/>
                </a:solidFill>
                <a:latin typeface="Microsoft YaHei"/>
                <a:ea typeface="Microsoft YaHei"/>
                <a:cs typeface="Microsoft YaHei"/>
              </a:defRPr>
            </a:pPr>
            <a:r>
              <a:rPr lang="en-US" sz="1500" b="1">
                <a:solidFill>
                  <a:srgbClr val="3D8DFF"/>
                </a:solidFill>
                <a:latin typeface="Microsoft YaHei"/>
                <a:ea typeface="Microsoft YaHei"/>
                <a:cs typeface="Microsoft YaHei"/>
              </a:rPr>
              <a:t>Rules</a:t>
            </a:r>
            <a:endParaRPr sz="1500" b="1">
              <a:solidFill>
                <a:srgbClr val="3D8DFF"/>
              </a:solidFill>
              <a:latin typeface="Microsoft YaHei"/>
              <a:ea typeface="Microsoft YaHei"/>
              <a:cs typeface="Microsoft YaHei"/>
            </a:endParaRPr>
          </a:p>
        </p:txBody>
      </p:sp>
      <p:sp>
        <p:nvSpPr>
          <p:cNvPr id="80" name="p02-3-body">
            <a:extLst>
              <a:ext uri="{FF2B5EF4-FFF2-40B4-BE49-F238E27FC236}">
                <a16:creationId xmlns:a16="http://schemas.microsoft.com/office/drawing/2014/main" id="{1BD4BD77-5D6B-40B5-83FF-A05B2AF0270B}"/>
              </a:ext>
            </a:extLst>
          </p:cNvPr>
          <p:cNvSpPr>
            <a:spLocks noGrp="1"/>
          </p:cNvSpPr>
          <p:nvPr/>
        </p:nvSpPr>
        <p:spPr>
          <a:xfrm>
            <a:off x="1172845" y="4185652"/>
            <a:ext cx="4286250" cy="361950"/>
          </a:xfrm>
          <a:prstGeom prst="rect">
            <a:avLst/>
          </a:prstGeom>
          <a:noFill/>
          <a:ln w="0">
            <a:noFill/>
            <a:prstDash val="solid"/>
          </a:ln>
        </p:spPr>
        <p:txBody>
          <a:bodyPr lIns="0" tIns="0" rIns="0" bIns="0" anchor="t"/>
          <a:lstStyle/>
          <a:p>
            <a:pPr algn="l">
              <a:defRPr sz="1200" b="0">
                <a:solidFill>
                  <a:srgbClr val="667085"/>
                </a:solidFill>
                <a:latin typeface="Microsoft YaHei"/>
                <a:ea typeface="Microsoft YaHei"/>
                <a:cs typeface="Microsoft YaHei"/>
              </a:defRPr>
            </a:pPr>
            <a:r>
              <a:rPr sz="1200" b="0">
                <a:solidFill>
                  <a:srgbClr val="667085"/>
                </a:solidFill>
                <a:latin typeface="Microsoft YaHei"/>
                <a:ea typeface="Microsoft YaHei"/>
                <a:cs typeface="Microsoft YaHei"/>
              </a:rPr>
              <a:t>写成运行描述；禁止字段清单、六元组术语和测试答案</a:t>
            </a:r>
            <a:r>
              <a:rPr lang="zh-CN" altLang="en-US" sz="1200">
                <a:solidFill>
                  <a:srgbClr val="667085"/>
                </a:solidFill>
                <a:latin typeface="Microsoft YaHei"/>
                <a:ea typeface="Microsoft YaHei"/>
                <a:cs typeface="Microsoft YaHei"/>
              </a:rPr>
              <a:t>风格</a:t>
            </a:r>
            <a:r>
              <a:rPr sz="1200" b="0">
                <a:solidFill>
                  <a:srgbClr val="667085"/>
                </a:solidFill>
                <a:latin typeface="Microsoft YaHei"/>
                <a:ea typeface="Microsoft YaHei"/>
                <a:cs typeface="Microsoft YaHei"/>
              </a:rPr>
              <a:t>。</a:t>
            </a:r>
          </a:p>
        </p:txBody>
      </p:sp>
      <p:sp>
        <p:nvSpPr>
          <p:cNvPr id="81" name="p02-4-circle">
            <a:extLst>
              <a:ext uri="{FF2B5EF4-FFF2-40B4-BE49-F238E27FC236}">
                <a16:creationId xmlns:a16="http://schemas.microsoft.com/office/drawing/2014/main" id="{2525A137-B380-48F4-B292-1162BE6B4FDD}"/>
              </a:ext>
            </a:extLst>
          </p:cNvPr>
          <p:cNvSpPr>
            <a:spLocks noGrp="1"/>
          </p:cNvSpPr>
          <p:nvPr/>
        </p:nvSpPr>
        <p:spPr>
          <a:xfrm>
            <a:off x="763270" y="4661902"/>
            <a:ext cx="285750" cy="285750"/>
          </a:xfrm>
          <a:prstGeom prst="ellipse">
            <a:avLst/>
          </a:prstGeom>
          <a:solidFill>
            <a:srgbClr val="3D8DFF"/>
          </a:solidFill>
          <a:ln w="0">
            <a:solidFill>
              <a:srgbClr val="3D8DFF"/>
            </a:solidFill>
            <a:prstDash val="solid"/>
          </a:ln>
        </p:spPr>
      </p:sp>
      <p:sp>
        <p:nvSpPr>
          <p:cNvPr id="82" name="p02-4-number">
            <a:extLst>
              <a:ext uri="{FF2B5EF4-FFF2-40B4-BE49-F238E27FC236}">
                <a16:creationId xmlns:a16="http://schemas.microsoft.com/office/drawing/2014/main" id="{98A35DE3-7A04-436A-9A4F-3F6395128388}"/>
              </a:ext>
            </a:extLst>
          </p:cNvPr>
          <p:cNvSpPr>
            <a:spLocks noGrp="1"/>
          </p:cNvSpPr>
          <p:nvPr/>
        </p:nvSpPr>
        <p:spPr>
          <a:xfrm>
            <a:off x="763270" y="4661902"/>
            <a:ext cx="285750" cy="285750"/>
          </a:xfrm>
          <a:prstGeom prst="rect">
            <a:avLst/>
          </a:prstGeom>
          <a:noFill/>
          <a:ln w="0">
            <a:noFill/>
            <a:prstDash val="solid"/>
          </a:ln>
        </p:spPr>
        <p:txBody>
          <a:bodyPr lIns="0" tIns="0" rIns="0" bIns="0" anchor="ctr"/>
          <a:lstStyle/>
          <a:p>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4</a:t>
            </a:r>
          </a:p>
        </p:txBody>
      </p:sp>
      <p:sp>
        <p:nvSpPr>
          <p:cNvPr id="86" name="p02-4-title">
            <a:extLst>
              <a:ext uri="{FF2B5EF4-FFF2-40B4-BE49-F238E27FC236}">
                <a16:creationId xmlns:a16="http://schemas.microsoft.com/office/drawing/2014/main" id="{3085A39D-41A4-453B-BC15-635B1DCB7AC9}"/>
              </a:ext>
            </a:extLst>
          </p:cNvPr>
          <p:cNvSpPr>
            <a:spLocks noGrp="1"/>
          </p:cNvSpPr>
          <p:nvPr/>
        </p:nvSpPr>
        <p:spPr>
          <a:xfrm>
            <a:off x="1172845" y="4633327"/>
            <a:ext cx="4286250" cy="266700"/>
          </a:xfrm>
          <a:prstGeom prst="rect">
            <a:avLst/>
          </a:prstGeom>
          <a:noFill/>
          <a:ln w="0">
            <a:noFill/>
            <a:prstDash val="solid"/>
          </a:ln>
        </p:spPr>
        <p:txBody>
          <a:bodyPr lIns="0" tIns="0" rIns="0" bIns="0" anchor="ctr"/>
          <a:lstStyle/>
          <a:p>
            <a:pPr algn="l">
              <a:defRPr sz="1500" b="1">
                <a:solidFill>
                  <a:srgbClr val="3D8DFF"/>
                </a:solidFill>
                <a:latin typeface="Microsoft YaHei"/>
                <a:ea typeface="Microsoft YaHei"/>
                <a:cs typeface="Microsoft YaHei"/>
              </a:defRPr>
            </a:pPr>
            <a:r>
              <a:rPr lang="en-US" altLang="zh-CN" sz="1500" b="1">
                <a:solidFill>
                  <a:srgbClr val="3D8DFF"/>
                </a:solidFill>
                <a:latin typeface="Microsoft YaHei"/>
                <a:ea typeface="Microsoft YaHei"/>
                <a:cs typeface="Microsoft YaHei"/>
              </a:rPr>
              <a:t>Outputs</a:t>
            </a:r>
            <a:endParaRPr sz="1500" b="1">
              <a:solidFill>
                <a:srgbClr val="3D8DFF"/>
              </a:solidFill>
              <a:latin typeface="Microsoft YaHei"/>
              <a:ea typeface="Microsoft YaHei"/>
              <a:cs typeface="Microsoft YaHei"/>
            </a:endParaRPr>
          </a:p>
        </p:txBody>
      </p:sp>
      <p:sp>
        <p:nvSpPr>
          <p:cNvPr id="87" name="p02-4-body">
            <a:extLst>
              <a:ext uri="{FF2B5EF4-FFF2-40B4-BE49-F238E27FC236}">
                <a16:creationId xmlns:a16="http://schemas.microsoft.com/office/drawing/2014/main" id="{15B80FC4-C3E8-4267-8898-704D630FAB60}"/>
              </a:ext>
            </a:extLst>
          </p:cNvPr>
          <p:cNvSpPr>
            <a:spLocks noGrp="1"/>
          </p:cNvSpPr>
          <p:nvPr/>
        </p:nvSpPr>
        <p:spPr>
          <a:xfrm>
            <a:off x="1172845" y="4909552"/>
            <a:ext cx="4286250" cy="361950"/>
          </a:xfrm>
          <a:prstGeom prst="rect">
            <a:avLst/>
          </a:prstGeom>
          <a:noFill/>
          <a:ln w="0">
            <a:noFill/>
            <a:prstDash val="solid"/>
          </a:ln>
        </p:spPr>
        <p:txBody>
          <a:bodyPr lIns="0" tIns="0" rIns="0" bIns="0" anchor="t"/>
          <a:lstStyle/>
          <a:p>
            <a:pPr algn="l">
              <a:defRPr sz="1200" b="0">
                <a:solidFill>
                  <a:srgbClr val="667085"/>
                </a:solidFill>
                <a:latin typeface="Microsoft YaHei"/>
                <a:ea typeface="Microsoft YaHei"/>
                <a:cs typeface="Microsoft YaHei"/>
              </a:defRPr>
            </a:pPr>
            <a:r>
              <a:rPr sz="1200" b="0">
                <a:solidFill>
                  <a:srgbClr val="667085"/>
                </a:solidFill>
                <a:latin typeface="Microsoft YaHei"/>
                <a:ea typeface="Microsoft YaHei"/>
                <a:cs typeface="Microsoft YaHei"/>
              </a:rPr>
              <a:t>只返回 source_language + source_text；控制文本长度和 JSON 格式。</a:t>
            </a:r>
          </a:p>
        </p:txBody>
      </p:sp>
      <p:sp>
        <p:nvSpPr>
          <p:cNvPr id="88" name="p01-header">
            <a:extLst>
              <a:ext uri="{FF2B5EF4-FFF2-40B4-BE49-F238E27FC236}">
                <a16:creationId xmlns:a16="http://schemas.microsoft.com/office/drawing/2014/main" id="{E68F9D04-5F3C-405E-AC3C-7BFB9CC95668}"/>
              </a:ext>
            </a:extLst>
          </p:cNvPr>
          <p:cNvSpPr>
            <a:spLocks noGrp="1"/>
          </p:cNvSpPr>
          <p:nvPr/>
        </p:nvSpPr>
        <p:spPr>
          <a:xfrm>
            <a:off x="6668770" y="1914384"/>
            <a:ext cx="4953000" cy="361950"/>
          </a:xfrm>
          <a:prstGeom prst="rect">
            <a:avLst/>
          </a:prstGeom>
          <a:noFill/>
          <a:ln w="0">
            <a:noFill/>
            <a:prstDash val="solid"/>
          </a:ln>
        </p:spPr>
        <p:txBody>
          <a:bodyPr lIns="0" tIns="0" rIns="0" bIns="0" anchor="ctr"/>
          <a:lstStyle/>
          <a:p>
            <a:pPr algn="l">
              <a:defRPr sz="2100" b="1">
                <a:solidFill>
                  <a:srgbClr val="29A9E8"/>
                </a:solidFill>
                <a:latin typeface="Microsoft YaHei"/>
                <a:ea typeface="Microsoft YaHei"/>
                <a:cs typeface="Microsoft YaHei"/>
              </a:defRPr>
            </a:pPr>
            <a:r>
              <a:rPr sz="2100" b="1">
                <a:solidFill>
                  <a:srgbClr val="002060"/>
                </a:solidFill>
                <a:latin typeface="Microsoft YaHei"/>
                <a:ea typeface="Microsoft YaHei"/>
                <a:cs typeface="Microsoft YaHei"/>
              </a:rPr>
              <a:t>P_01 六元组规则化 Prompt</a:t>
            </a:r>
          </a:p>
        </p:txBody>
      </p:sp>
      <p:sp>
        <p:nvSpPr>
          <p:cNvPr id="90" name="p01-1-circle">
            <a:extLst>
              <a:ext uri="{FF2B5EF4-FFF2-40B4-BE49-F238E27FC236}">
                <a16:creationId xmlns:a16="http://schemas.microsoft.com/office/drawing/2014/main" id="{D2177023-7C24-4BA5-86DF-7C83315414D0}"/>
              </a:ext>
            </a:extLst>
          </p:cNvPr>
          <p:cNvSpPr>
            <a:spLocks noGrp="1"/>
          </p:cNvSpPr>
          <p:nvPr/>
        </p:nvSpPr>
        <p:spPr>
          <a:xfrm>
            <a:off x="6668770" y="2490202"/>
            <a:ext cx="285750" cy="285750"/>
          </a:xfrm>
          <a:prstGeom prst="ellipse">
            <a:avLst/>
          </a:prstGeom>
          <a:solidFill>
            <a:schemeClr val="accent5">
              <a:lumMod val="75000"/>
            </a:schemeClr>
          </a:solidFill>
          <a:ln w="0">
            <a:solidFill>
              <a:srgbClr val="29A9E8"/>
            </a:solidFill>
            <a:prstDash val="solid"/>
          </a:ln>
        </p:spPr>
      </p:sp>
      <p:sp>
        <p:nvSpPr>
          <p:cNvPr id="91" name="p01-1-number">
            <a:extLst>
              <a:ext uri="{FF2B5EF4-FFF2-40B4-BE49-F238E27FC236}">
                <a16:creationId xmlns:a16="http://schemas.microsoft.com/office/drawing/2014/main" id="{B35A207E-3B71-40CF-8DFF-07EC7C217718}"/>
              </a:ext>
            </a:extLst>
          </p:cNvPr>
          <p:cNvSpPr>
            <a:spLocks noGrp="1"/>
          </p:cNvSpPr>
          <p:nvPr/>
        </p:nvSpPr>
        <p:spPr>
          <a:xfrm>
            <a:off x="6668770" y="2490202"/>
            <a:ext cx="285750" cy="285750"/>
          </a:xfrm>
          <a:prstGeom prst="rect">
            <a:avLst/>
          </a:prstGeom>
          <a:solidFill>
            <a:schemeClr val="accent5">
              <a:lumMod val="75000"/>
            </a:schemeClr>
          </a:solidFill>
          <a:ln w="0">
            <a:noFill/>
            <a:prstDash val="solid"/>
          </a:ln>
        </p:spPr>
        <p:txBody>
          <a:bodyPr lIns="0" tIns="0" rIns="0" bIns="0" anchor="ctr"/>
          <a:lstStyle/>
          <a:p>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1</a:t>
            </a:r>
          </a:p>
        </p:txBody>
      </p:sp>
      <p:sp>
        <p:nvSpPr>
          <p:cNvPr id="92" name="p01-1-title">
            <a:extLst>
              <a:ext uri="{FF2B5EF4-FFF2-40B4-BE49-F238E27FC236}">
                <a16:creationId xmlns:a16="http://schemas.microsoft.com/office/drawing/2014/main" id="{992C2E92-11B3-481F-8F34-CA895F1B5D40}"/>
              </a:ext>
            </a:extLst>
          </p:cNvPr>
          <p:cNvSpPr>
            <a:spLocks noGrp="1"/>
          </p:cNvSpPr>
          <p:nvPr/>
        </p:nvSpPr>
        <p:spPr>
          <a:xfrm>
            <a:off x="7078345" y="2461627"/>
            <a:ext cx="4286250" cy="266700"/>
          </a:xfrm>
          <a:prstGeom prst="rect">
            <a:avLst/>
          </a:prstGeom>
          <a:noFill/>
          <a:ln w="0">
            <a:noFill/>
            <a:prstDash val="solid"/>
          </a:ln>
        </p:spPr>
        <p:txBody>
          <a:bodyPr lIns="0" tIns="0" rIns="0" bIns="0" anchor="ctr"/>
          <a:lstStyle/>
          <a:p>
            <a:pPr algn="l">
              <a:defRPr sz="1500" b="1">
                <a:solidFill>
                  <a:srgbClr val="29A9E8"/>
                </a:solidFill>
                <a:latin typeface="Microsoft YaHei"/>
                <a:ea typeface="Microsoft YaHei"/>
                <a:cs typeface="Microsoft YaHei"/>
              </a:defRPr>
            </a:pPr>
            <a:r>
              <a:rPr lang="en-US" altLang="zh-CN" sz="1500" b="1">
                <a:solidFill>
                  <a:srgbClr val="002060"/>
                </a:solidFill>
                <a:latin typeface="Microsoft YaHei"/>
                <a:ea typeface="Microsoft YaHei"/>
                <a:cs typeface="Microsoft YaHei"/>
              </a:rPr>
              <a:t>Formulation</a:t>
            </a:r>
            <a:endParaRPr sz="1500" b="1">
              <a:solidFill>
                <a:srgbClr val="002060"/>
              </a:solidFill>
              <a:latin typeface="Microsoft YaHei"/>
              <a:ea typeface="Microsoft YaHei"/>
              <a:cs typeface="Microsoft YaHei"/>
            </a:endParaRPr>
          </a:p>
        </p:txBody>
      </p:sp>
      <p:sp>
        <p:nvSpPr>
          <p:cNvPr id="93" name="p01-1-body">
            <a:extLst>
              <a:ext uri="{FF2B5EF4-FFF2-40B4-BE49-F238E27FC236}">
                <a16:creationId xmlns:a16="http://schemas.microsoft.com/office/drawing/2014/main" id="{F77E8BC4-B8D4-470F-AC45-7D31FD3FDED9}"/>
              </a:ext>
            </a:extLst>
          </p:cNvPr>
          <p:cNvSpPr>
            <a:spLocks noGrp="1"/>
          </p:cNvSpPr>
          <p:nvPr/>
        </p:nvSpPr>
        <p:spPr>
          <a:xfrm>
            <a:off x="7078344" y="2737852"/>
            <a:ext cx="4952997" cy="356744"/>
          </a:xfrm>
          <a:prstGeom prst="rect">
            <a:avLst/>
          </a:prstGeom>
          <a:noFill/>
          <a:ln w="0">
            <a:noFill/>
            <a:prstDash val="solid"/>
          </a:ln>
        </p:spPr>
        <p:txBody>
          <a:bodyPr lIns="0" tIns="0" rIns="0" bIns="0" anchor="t"/>
          <a:lstStyle/>
          <a:p>
            <a:pPr>
              <a:defRPr sz="1200" b="0">
                <a:solidFill>
                  <a:srgbClr val="667085"/>
                </a:solidFill>
                <a:latin typeface="Microsoft YaHei"/>
                <a:ea typeface="Microsoft YaHei"/>
                <a:cs typeface="Microsoft YaHei"/>
              </a:defRPr>
            </a:pPr>
            <a:r>
              <a:rPr lang="en-US" sz="1200">
                <a:solidFill>
                  <a:srgbClr val="667085"/>
                </a:solidFill>
                <a:latin typeface="Microsoft YaHei"/>
                <a:ea typeface="Microsoft YaHei"/>
                <a:cs typeface="Microsoft YaHei"/>
              </a:rPr>
              <a:t>You are an information-extraction engine for distribution-level electricity-market resources.</a:t>
            </a:r>
            <a:r>
              <a:rPr lang="pl-PL" sz="1200">
                <a:solidFill>
                  <a:srgbClr val="667085"/>
                </a:solidFill>
                <a:latin typeface="Microsoft YaHei"/>
                <a:ea typeface="Microsoft YaHei"/>
                <a:cs typeface="Microsoft YaHei"/>
              </a:rPr>
              <a:t> U_u = &lt;tau_u, x_u, a_u, X_u, xi_u, m_u&gt;</a:t>
            </a:r>
            <a:endParaRPr sz="1200" b="0">
              <a:solidFill>
                <a:srgbClr val="667085"/>
              </a:solidFill>
              <a:latin typeface="Microsoft YaHei"/>
              <a:ea typeface="Microsoft YaHei"/>
              <a:cs typeface="Microsoft YaHei"/>
            </a:endParaRPr>
          </a:p>
        </p:txBody>
      </p:sp>
      <p:sp>
        <p:nvSpPr>
          <p:cNvPr id="94" name="p01-2-circle">
            <a:extLst>
              <a:ext uri="{FF2B5EF4-FFF2-40B4-BE49-F238E27FC236}">
                <a16:creationId xmlns:a16="http://schemas.microsoft.com/office/drawing/2014/main" id="{478C1422-24D6-437C-B7B1-1FB30E2E994A}"/>
              </a:ext>
            </a:extLst>
          </p:cNvPr>
          <p:cNvSpPr>
            <a:spLocks noGrp="1"/>
          </p:cNvSpPr>
          <p:nvPr/>
        </p:nvSpPr>
        <p:spPr>
          <a:xfrm>
            <a:off x="6668770" y="3214102"/>
            <a:ext cx="285750" cy="285750"/>
          </a:xfrm>
          <a:prstGeom prst="ellipse">
            <a:avLst/>
          </a:prstGeom>
          <a:solidFill>
            <a:schemeClr val="accent5">
              <a:lumMod val="75000"/>
            </a:schemeClr>
          </a:solidFill>
          <a:ln w="0">
            <a:solidFill>
              <a:srgbClr val="29A9E8"/>
            </a:solidFill>
            <a:prstDash val="solid"/>
          </a:ln>
        </p:spPr>
      </p:sp>
      <p:sp>
        <p:nvSpPr>
          <p:cNvPr id="95" name="p01-2-number">
            <a:extLst>
              <a:ext uri="{FF2B5EF4-FFF2-40B4-BE49-F238E27FC236}">
                <a16:creationId xmlns:a16="http://schemas.microsoft.com/office/drawing/2014/main" id="{5FCFA767-7811-4A24-92EB-A32F75A716FA}"/>
              </a:ext>
            </a:extLst>
          </p:cNvPr>
          <p:cNvSpPr>
            <a:spLocks noGrp="1"/>
          </p:cNvSpPr>
          <p:nvPr/>
        </p:nvSpPr>
        <p:spPr>
          <a:xfrm>
            <a:off x="6668770" y="3214102"/>
            <a:ext cx="285750" cy="285750"/>
          </a:xfrm>
          <a:prstGeom prst="rect">
            <a:avLst/>
          </a:prstGeom>
          <a:solidFill>
            <a:schemeClr val="accent5">
              <a:lumMod val="75000"/>
            </a:schemeClr>
          </a:solidFill>
          <a:ln w="0">
            <a:noFill/>
            <a:prstDash val="solid"/>
          </a:ln>
        </p:spPr>
        <p:txBody>
          <a:bodyPr lIns="0" tIns="0" rIns="0" bIns="0" anchor="ctr"/>
          <a:lstStyle/>
          <a:p>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2</a:t>
            </a:r>
          </a:p>
        </p:txBody>
      </p:sp>
      <p:sp>
        <p:nvSpPr>
          <p:cNvPr id="96" name="p01-2-title">
            <a:extLst>
              <a:ext uri="{FF2B5EF4-FFF2-40B4-BE49-F238E27FC236}">
                <a16:creationId xmlns:a16="http://schemas.microsoft.com/office/drawing/2014/main" id="{072F2BE1-052C-46A4-9936-66FC4E044BC7}"/>
              </a:ext>
            </a:extLst>
          </p:cNvPr>
          <p:cNvSpPr>
            <a:spLocks noGrp="1"/>
          </p:cNvSpPr>
          <p:nvPr/>
        </p:nvSpPr>
        <p:spPr>
          <a:xfrm>
            <a:off x="7078345" y="3185527"/>
            <a:ext cx="4286250" cy="266700"/>
          </a:xfrm>
          <a:prstGeom prst="rect">
            <a:avLst/>
          </a:prstGeom>
          <a:noFill/>
          <a:ln w="0">
            <a:noFill/>
            <a:prstDash val="solid"/>
          </a:ln>
        </p:spPr>
        <p:txBody>
          <a:bodyPr lIns="0" tIns="0" rIns="0" bIns="0" anchor="ctr"/>
          <a:lstStyle/>
          <a:p>
            <a:pPr>
              <a:defRPr sz="1500" b="1">
                <a:solidFill>
                  <a:srgbClr val="29A9E8"/>
                </a:solidFill>
                <a:latin typeface="Microsoft YaHei"/>
                <a:ea typeface="Microsoft YaHei"/>
                <a:cs typeface="Microsoft YaHei"/>
              </a:defRPr>
            </a:pPr>
            <a:r>
              <a:rPr lang="en-US" sz="1500" b="1">
                <a:solidFill>
                  <a:srgbClr val="002060"/>
                </a:solidFill>
                <a:latin typeface="Microsoft YaHei"/>
                <a:ea typeface="Microsoft YaHei"/>
                <a:cs typeface="Microsoft YaHei"/>
              </a:rPr>
              <a:t>ENGLISH NORMALIZATION POLICY</a:t>
            </a:r>
            <a:endParaRPr sz="1500" b="1">
              <a:solidFill>
                <a:srgbClr val="002060"/>
              </a:solidFill>
              <a:latin typeface="Microsoft YaHei"/>
              <a:ea typeface="Microsoft YaHei"/>
              <a:cs typeface="Microsoft YaHei"/>
            </a:endParaRPr>
          </a:p>
        </p:txBody>
      </p:sp>
      <p:sp>
        <p:nvSpPr>
          <p:cNvPr id="97" name="p01-2-body">
            <a:extLst>
              <a:ext uri="{FF2B5EF4-FFF2-40B4-BE49-F238E27FC236}">
                <a16:creationId xmlns:a16="http://schemas.microsoft.com/office/drawing/2014/main" id="{367A0A0F-75AA-4E4E-A7E5-F6642B9FFD90}"/>
              </a:ext>
            </a:extLst>
          </p:cNvPr>
          <p:cNvSpPr>
            <a:spLocks noGrp="1"/>
          </p:cNvSpPr>
          <p:nvPr/>
        </p:nvSpPr>
        <p:spPr>
          <a:xfrm>
            <a:off x="7078344" y="3461752"/>
            <a:ext cx="5113645" cy="356744"/>
          </a:xfrm>
          <a:prstGeom prst="rect">
            <a:avLst/>
          </a:prstGeom>
          <a:noFill/>
          <a:ln w="0">
            <a:noFill/>
            <a:prstDash val="solid"/>
          </a:ln>
        </p:spPr>
        <p:txBody>
          <a:bodyPr lIns="0" tIns="0" rIns="0" bIns="0" anchor="t"/>
          <a:lstStyle/>
          <a:p>
            <a:pPr algn="just">
              <a:defRPr sz="1200" b="0">
                <a:solidFill>
                  <a:srgbClr val="667085"/>
                </a:solidFill>
                <a:latin typeface="Microsoft YaHei"/>
                <a:ea typeface="Microsoft YaHei"/>
                <a:cs typeface="Microsoft YaHei"/>
              </a:defRPr>
            </a:pPr>
            <a:r>
              <a:rPr lang="en-US" sz="1200">
                <a:solidFill>
                  <a:srgbClr val="667085"/>
                </a:solidFill>
                <a:latin typeface="Microsoft YaHei"/>
                <a:ea typeface="Microsoft YaHei"/>
                <a:cs typeface="Microsoft YaHei"/>
              </a:rPr>
              <a:t>All normalized output must be English. This includes canonical_type, name, value when textual, unit, expression….</a:t>
            </a:r>
          </a:p>
        </p:txBody>
      </p:sp>
      <p:sp>
        <p:nvSpPr>
          <p:cNvPr id="98" name="p01-3-circle">
            <a:extLst>
              <a:ext uri="{FF2B5EF4-FFF2-40B4-BE49-F238E27FC236}">
                <a16:creationId xmlns:a16="http://schemas.microsoft.com/office/drawing/2014/main" id="{0949A72E-1DFE-4DC9-BD14-483119D9A282}"/>
              </a:ext>
            </a:extLst>
          </p:cNvPr>
          <p:cNvSpPr>
            <a:spLocks noGrp="1"/>
          </p:cNvSpPr>
          <p:nvPr/>
        </p:nvSpPr>
        <p:spPr>
          <a:xfrm>
            <a:off x="6668770" y="3938002"/>
            <a:ext cx="285750" cy="285750"/>
          </a:xfrm>
          <a:prstGeom prst="ellipse">
            <a:avLst/>
          </a:prstGeom>
          <a:solidFill>
            <a:schemeClr val="accent5">
              <a:lumMod val="75000"/>
            </a:schemeClr>
          </a:solidFill>
          <a:ln w="0">
            <a:solidFill>
              <a:srgbClr val="29A9E8"/>
            </a:solidFill>
            <a:prstDash val="solid"/>
          </a:ln>
        </p:spPr>
      </p:sp>
      <p:sp>
        <p:nvSpPr>
          <p:cNvPr id="99" name="p01-3-number">
            <a:extLst>
              <a:ext uri="{FF2B5EF4-FFF2-40B4-BE49-F238E27FC236}">
                <a16:creationId xmlns:a16="http://schemas.microsoft.com/office/drawing/2014/main" id="{69670242-6256-45F5-9A6B-A401D9ACD3E2}"/>
              </a:ext>
            </a:extLst>
          </p:cNvPr>
          <p:cNvSpPr>
            <a:spLocks noGrp="1"/>
          </p:cNvSpPr>
          <p:nvPr/>
        </p:nvSpPr>
        <p:spPr>
          <a:xfrm>
            <a:off x="6668770" y="3938002"/>
            <a:ext cx="285750" cy="285750"/>
          </a:xfrm>
          <a:prstGeom prst="rect">
            <a:avLst/>
          </a:prstGeom>
          <a:solidFill>
            <a:schemeClr val="accent5">
              <a:lumMod val="75000"/>
            </a:schemeClr>
          </a:solidFill>
          <a:ln w="0">
            <a:noFill/>
            <a:prstDash val="solid"/>
          </a:ln>
        </p:spPr>
        <p:txBody>
          <a:bodyPr lIns="0" tIns="0" rIns="0" bIns="0" anchor="ctr"/>
          <a:lstStyle/>
          <a:p>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3</a:t>
            </a:r>
          </a:p>
        </p:txBody>
      </p:sp>
      <p:sp>
        <p:nvSpPr>
          <p:cNvPr id="100" name="p01-3-title">
            <a:extLst>
              <a:ext uri="{FF2B5EF4-FFF2-40B4-BE49-F238E27FC236}">
                <a16:creationId xmlns:a16="http://schemas.microsoft.com/office/drawing/2014/main" id="{027B1561-C816-4093-83E4-8358B3FCA590}"/>
              </a:ext>
            </a:extLst>
          </p:cNvPr>
          <p:cNvSpPr>
            <a:spLocks noGrp="1"/>
          </p:cNvSpPr>
          <p:nvPr/>
        </p:nvSpPr>
        <p:spPr>
          <a:xfrm>
            <a:off x="7078345" y="3909427"/>
            <a:ext cx="4286250" cy="266700"/>
          </a:xfrm>
          <a:prstGeom prst="rect">
            <a:avLst/>
          </a:prstGeom>
          <a:noFill/>
          <a:ln w="0">
            <a:noFill/>
            <a:prstDash val="solid"/>
          </a:ln>
        </p:spPr>
        <p:txBody>
          <a:bodyPr lIns="0" tIns="0" rIns="0" bIns="0" anchor="ctr"/>
          <a:lstStyle/>
          <a:p>
            <a:pPr>
              <a:defRPr sz="1500" b="1">
                <a:solidFill>
                  <a:srgbClr val="29A9E8"/>
                </a:solidFill>
                <a:latin typeface="Microsoft YaHei"/>
                <a:ea typeface="Microsoft YaHei"/>
                <a:cs typeface="Microsoft YaHei"/>
              </a:defRPr>
            </a:pPr>
            <a:r>
              <a:rPr lang="en-US" sz="1500" b="1">
                <a:solidFill>
                  <a:srgbClr val="002060"/>
                </a:solidFill>
                <a:latin typeface="Microsoft YaHei"/>
                <a:ea typeface="Microsoft YaHei"/>
                <a:cs typeface="Microsoft YaHei"/>
              </a:rPr>
              <a:t>GROUNDING AND NORMALIZATION RULES</a:t>
            </a:r>
            <a:endParaRPr sz="1500" b="1">
              <a:solidFill>
                <a:srgbClr val="002060"/>
              </a:solidFill>
              <a:latin typeface="Microsoft YaHei"/>
              <a:ea typeface="Microsoft YaHei"/>
              <a:cs typeface="Microsoft YaHei"/>
            </a:endParaRPr>
          </a:p>
        </p:txBody>
      </p:sp>
      <p:sp>
        <p:nvSpPr>
          <p:cNvPr id="101" name="p01-3-body">
            <a:extLst>
              <a:ext uri="{FF2B5EF4-FFF2-40B4-BE49-F238E27FC236}">
                <a16:creationId xmlns:a16="http://schemas.microsoft.com/office/drawing/2014/main" id="{0F37E7AE-F9CE-4363-822C-A8BBC8D6DF6C}"/>
              </a:ext>
            </a:extLst>
          </p:cNvPr>
          <p:cNvSpPr>
            <a:spLocks noGrp="1"/>
          </p:cNvSpPr>
          <p:nvPr/>
        </p:nvSpPr>
        <p:spPr>
          <a:xfrm>
            <a:off x="7078345" y="4185652"/>
            <a:ext cx="4286250" cy="361950"/>
          </a:xfrm>
          <a:prstGeom prst="rect">
            <a:avLst/>
          </a:prstGeom>
          <a:noFill/>
          <a:ln w="0">
            <a:noFill/>
            <a:prstDash val="solid"/>
          </a:ln>
        </p:spPr>
        <p:txBody>
          <a:bodyPr lIns="0" tIns="0" rIns="0" bIns="0" anchor="t"/>
          <a:lstStyle/>
          <a:p>
            <a:pPr algn="l">
              <a:defRPr sz="1200" b="0">
                <a:solidFill>
                  <a:srgbClr val="667085"/>
                </a:solidFill>
                <a:latin typeface="Microsoft YaHei"/>
                <a:ea typeface="Microsoft YaHei"/>
                <a:cs typeface="Microsoft YaHei"/>
              </a:defRPr>
            </a:pPr>
            <a:r>
              <a:rPr sz="1200" b="0">
                <a:solidFill>
                  <a:srgbClr val="667085"/>
                </a:solidFill>
                <a:latin typeface="Microsoft YaHei"/>
                <a:ea typeface="Microsoft YaHei"/>
                <a:cs typeface="Microsoft YaHei"/>
              </a:rPr>
              <a:t>explicit 必须有逐字证据；缺失事实省略，并转成 clarification question。</a:t>
            </a:r>
          </a:p>
        </p:txBody>
      </p:sp>
      <p:sp>
        <p:nvSpPr>
          <p:cNvPr id="102" name="p01-4-circle">
            <a:extLst>
              <a:ext uri="{FF2B5EF4-FFF2-40B4-BE49-F238E27FC236}">
                <a16:creationId xmlns:a16="http://schemas.microsoft.com/office/drawing/2014/main" id="{6DE76BC0-0FFE-4C9A-96E6-713B024629E0}"/>
              </a:ext>
            </a:extLst>
          </p:cNvPr>
          <p:cNvSpPr>
            <a:spLocks noGrp="1"/>
          </p:cNvSpPr>
          <p:nvPr/>
        </p:nvSpPr>
        <p:spPr>
          <a:xfrm>
            <a:off x="6668770" y="4661902"/>
            <a:ext cx="285750" cy="285750"/>
          </a:xfrm>
          <a:prstGeom prst="ellipse">
            <a:avLst/>
          </a:prstGeom>
          <a:solidFill>
            <a:schemeClr val="accent5">
              <a:lumMod val="75000"/>
            </a:schemeClr>
          </a:solidFill>
          <a:ln w="0">
            <a:solidFill>
              <a:srgbClr val="29A9E8"/>
            </a:solidFill>
            <a:prstDash val="solid"/>
          </a:ln>
        </p:spPr>
      </p:sp>
      <p:sp>
        <p:nvSpPr>
          <p:cNvPr id="103" name="p01-4-number">
            <a:extLst>
              <a:ext uri="{FF2B5EF4-FFF2-40B4-BE49-F238E27FC236}">
                <a16:creationId xmlns:a16="http://schemas.microsoft.com/office/drawing/2014/main" id="{3CF8A934-3B60-459A-BDF4-4559AB31CC37}"/>
              </a:ext>
            </a:extLst>
          </p:cNvPr>
          <p:cNvSpPr>
            <a:spLocks noGrp="1"/>
          </p:cNvSpPr>
          <p:nvPr/>
        </p:nvSpPr>
        <p:spPr>
          <a:xfrm>
            <a:off x="6668770" y="4661902"/>
            <a:ext cx="285750" cy="285750"/>
          </a:xfrm>
          <a:prstGeom prst="rect">
            <a:avLst/>
          </a:prstGeom>
          <a:solidFill>
            <a:schemeClr val="accent5">
              <a:lumMod val="75000"/>
            </a:schemeClr>
          </a:solidFill>
          <a:ln w="0">
            <a:noFill/>
            <a:prstDash val="solid"/>
          </a:ln>
        </p:spPr>
        <p:txBody>
          <a:bodyPr lIns="0" tIns="0" rIns="0" bIns="0" anchor="ctr"/>
          <a:lstStyle/>
          <a:p>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4</a:t>
            </a:r>
          </a:p>
        </p:txBody>
      </p:sp>
      <p:sp>
        <p:nvSpPr>
          <p:cNvPr id="104" name="p01-4-title">
            <a:extLst>
              <a:ext uri="{FF2B5EF4-FFF2-40B4-BE49-F238E27FC236}">
                <a16:creationId xmlns:a16="http://schemas.microsoft.com/office/drawing/2014/main" id="{2A50D6F5-065B-4177-AA47-718BC9946A92}"/>
              </a:ext>
            </a:extLst>
          </p:cNvPr>
          <p:cNvSpPr>
            <a:spLocks noGrp="1"/>
          </p:cNvSpPr>
          <p:nvPr/>
        </p:nvSpPr>
        <p:spPr>
          <a:xfrm>
            <a:off x="7078345" y="4633327"/>
            <a:ext cx="4286250" cy="266700"/>
          </a:xfrm>
          <a:prstGeom prst="rect">
            <a:avLst/>
          </a:prstGeom>
          <a:noFill/>
          <a:ln w="0">
            <a:noFill/>
            <a:prstDash val="solid"/>
          </a:ln>
        </p:spPr>
        <p:txBody>
          <a:bodyPr lIns="0" tIns="0" rIns="0" bIns="0" anchor="ctr"/>
          <a:lstStyle/>
          <a:p>
            <a:pPr>
              <a:defRPr sz="1500" b="1">
                <a:solidFill>
                  <a:srgbClr val="29A9E8"/>
                </a:solidFill>
                <a:latin typeface="Microsoft YaHei"/>
                <a:ea typeface="Microsoft YaHei"/>
                <a:cs typeface="Microsoft YaHei"/>
              </a:defRPr>
            </a:pPr>
            <a:r>
              <a:rPr lang="en-US" sz="1500" b="1">
                <a:solidFill>
                  <a:srgbClr val="002060"/>
                </a:solidFill>
                <a:latin typeface="Microsoft YaHei"/>
                <a:ea typeface="Microsoft YaHei"/>
                <a:cs typeface="Microsoft YaHei"/>
              </a:rPr>
              <a:t>FIELD CONVENTIONS</a:t>
            </a:r>
            <a:endParaRPr sz="1500" b="1">
              <a:solidFill>
                <a:srgbClr val="002060"/>
              </a:solidFill>
              <a:latin typeface="Microsoft YaHei"/>
              <a:ea typeface="Microsoft YaHei"/>
              <a:cs typeface="Microsoft YaHei"/>
            </a:endParaRPr>
          </a:p>
        </p:txBody>
      </p:sp>
      <p:sp>
        <p:nvSpPr>
          <p:cNvPr id="105" name="p01-4-body">
            <a:extLst>
              <a:ext uri="{FF2B5EF4-FFF2-40B4-BE49-F238E27FC236}">
                <a16:creationId xmlns:a16="http://schemas.microsoft.com/office/drawing/2014/main" id="{712DF744-A941-44DC-A1CE-6C8523F66B87}"/>
              </a:ext>
            </a:extLst>
          </p:cNvPr>
          <p:cNvSpPr>
            <a:spLocks noGrp="1"/>
          </p:cNvSpPr>
          <p:nvPr/>
        </p:nvSpPr>
        <p:spPr>
          <a:xfrm>
            <a:off x="7078345" y="4909552"/>
            <a:ext cx="4286250" cy="861424"/>
          </a:xfrm>
          <a:prstGeom prst="rect">
            <a:avLst/>
          </a:prstGeom>
          <a:noFill/>
          <a:ln w="0">
            <a:noFill/>
            <a:prstDash val="solid"/>
          </a:ln>
        </p:spPr>
        <p:txBody>
          <a:bodyPr lIns="0" tIns="0" rIns="0" bIns="0" anchor="t"/>
          <a:lstStyle/>
          <a:p>
            <a:pPr>
              <a:defRPr sz="1200" b="0">
                <a:solidFill>
                  <a:srgbClr val="667085"/>
                </a:solidFill>
                <a:latin typeface="Microsoft YaHei"/>
                <a:ea typeface="Microsoft YaHei"/>
                <a:cs typeface="Microsoft YaHei"/>
              </a:defRPr>
            </a:pPr>
            <a:r>
              <a:rPr lang="en-US" sz="1200">
                <a:solidFill>
                  <a:srgbClr val="667085"/>
                </a:solidFill>
                <a:latin typeface="Microsoft YaHei"/>
                <a:ea typeface="Microsoft YaHei"/>
                <a:cs typeface="Microsoft YaHei"/>
              </a:rPr>
              <a:t>Before answering, silently verify that every Unit contains tau, x, a, X, xi, and m; every explicit source_evidence occurs verbatim in source_text; all normalized fields are English; and the output is valid JSON.</a:t>
            </a:r>
            <a:endParaRPr sz="1200" b="0">
              <a:solidFill>
                <a:srgbClr val="667085"/>
              </a:solidFill>
              <a:latin typeface="Microsoft YaHei"/>
              <a:ea typeface="Microsoft YaHei"/>
              <a:cs typeface="Microsoft YaHei"/>
            </a:endParaRPr>
          </a:p>
        </p:txBody>
      </p:sp>
      <p:sp>
        <p:nvSpPr>
          <p:cNvPr id="3" name="Rectangle 1">
            <a:extLst>
              <a:ext uri="{FF2B5EF4-FFF2-40B4-BE49-F238E27FC236}">
                <a16:creationId xmlns:a16="http://schemas.microsoft.com/office/drawing/2014/main" id="{12457A39-3955-4164-915E-4E8BA88BD38E}"/>
              </a:ext>
            </a:extLst>
          </p:cNvPr>
          <p:cNvSpPr>
            <a:spLocks noChangeArrowheads="1"/>
          </p:cNvSpPr>
          <p:nvPr/>
        </p:nvSpPr>
        <p:spPr bwMode="auto">
          <a:xfrm>
            <a:off x="0" y="7326630"/>
            <a:ext cx="22806071" cy="3779520"/>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t>You generate realistic electricity-resource descriptions for evaluating an information-extraction prompt.</a:t>
            </a:r>
            <a:b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br>
            <a:b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br>
            <a: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t>Return exactly one JSON object with these keys:</a:t>
            </a:r>
            <a:b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br>
            <a: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t>- "source_language": one of "zh", "en", or "mixed".</a:t>
            </a:r>
            <a:b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br>
            <a: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t>- "source_text": one self-contained resource description.</a:t>
            </a:r>
            <a:b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br>
            <a:b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br>
            <a: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t>Rules:</a:t>
            </a:r>
            <a:b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br>
            <a: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t>1. Follow every requirement and every expected resource type in the supplied evaluation blueprint.</a:t>
            </a:r>
            <a:b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br>
            <a: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t>2. Preserve all required numeric facts, units, states, actions, constraints, uncertainties, market products, and network relations.</a:t>
            </a:r>
            <a:b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br>
            <a: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t>3. Write natural operational prose, not a field list, JSON object, six-tuple, table, or test answer.</a:t>
            </a:r>
            <a:b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br>
            <a: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t>4. Do not use English ontology identifiers such as canonical_type, maximum_load, connected_to, x, a, X, xi, or m in the source text.</a:t>
            </a:r>
            <a:b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br>
            <a: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t>5. Vary sentence order, connectors, opening structure, wording, and information density across rounds while keeping the facts unchanged.</a:t>
            </a:r>
            <a:b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br>
            <a: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t>6. Use the requested language. For "mixed", use natural Chinese prose with a few ordinary English engineering terms.</a:t>
            </a:r>
            <a:b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br>
            <a: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t>7. Do not explain the task and do not add Markdown fences.</a:t>
            </a:r>
            <a:b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br>
            <a: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t>8. Keep source_text between 80 and 360 Chinese characters or roughly 50 to 220 English words.</a:t>
            </a:r>
            <a:b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br>
            <a:b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br>
            <a: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t>The blueprint is the factual contract. Never omit one of its generation requirements and never introduce an additional resource type.</a:t>
            </a:r>
            <a:b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br>
            <a: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t>The input also supplies a variation_profile and repetition index for large-sample evaluation. Follow the writing form, but do not turn its label into a new fact. Even when the same blueprint is repeated more than 20 times, each source_text must be independently worded and must not copy a previous opening.</a:t>
            </a:r>
            <a:br>
              <a:rPr kumimoji="0" lang="zh-CN" altLang="zh-CN" sz="1300" b="0" i="0" u="none" strike="noStrike" cap="none" normalizeH="0" baseline="0">
                <a:ln>
                  <a:noFill/>
                </a:ln>
                <a:solidFill>
                  <a:srgbClr val="A9B7C6"/>
                </a:solidFill>
                <a:effectLst/>
                <a:latin typeface="Arial Unicode MS" panose="020B0604020202020204" pitchFamily="34" charset="-122"/>
                <a:ea typeface="JetBrains Mono"/>
              </a:rPr>
            </a:b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CE3FA1F3-30CD-4890-822E-4C3A32DF3415}"/>
              </a:ext>
            </a:extLst>
          </p:cNvPr>
          <p:cNvSpPr>
            <a:spLocks noChangeArrowheads="1"/>
          </p:cNvSpPr>
          <p:nvPr/>
        </p:nvSpPr>
        <p:spPr bwMode="auto">
          <a:xfrm>
            <a:off x="-20093832" y="-16470630"/>
            <a:ext cx="19850306" cy="27576780"/>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eaLnBrk="0" fontAlgn="base" hangingPunct="0">
              <a:spcBef>
                <a:spcPct val="0"/>
              </a:spcBef>
              <a:spcAft>
                <a:spcPct val="0"/>
              </a:spcAft>
            </a:pPr>
            <a:r>
              <a:rPr lang="zh-CN" altLang="zh-CN" sz="1300">
                <a:solidFill>
                  <a:srgbClr val="A9B7C6"/>
                </a:solidFill>
                <a:latin typeface="Arial Unicode MS" panose="020B0604020202020204" pitchFamily="34" charset="-122"/>
              </a:rPr>
              <a:t>You are an information-extraction engine for distribution-level electricity-market resources.</a:t>
            </a:r>
            <a:br>
              <a:rPr lang="zh-CN" altLang="zh-CN" sz="1300">
                <a:solidFill>
                  <a:srgbClr val="A9B7C6"/>
                </a:solidFill>
                <a:latin typeface="Arial Unicode MS" panose="020B0604020202020204" pitchFamily="34" charset="-122"/>
              </a:rPr>
            </a:b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TASK</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Convert Chinese, English, or mixed resource descriptions into a JSON object containing normalized Units. Use this exact mathematical six-tuple and no substitute schema:</a:t>
            </a:r>
            <a:br>
              <a:rPr lang="zh-CN" altLang="zh-CN" sz="1300">
                <a:solidFill>
                  <a:srgbClr val="A9B7C6"/>
                </a:solidFill>
                <a:latin typeface="Arial Unicode MS" panose="020B0604020202020204" pitchFamily="34" charset="-122"/>
              </a:rPr>
            </a:b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U_u = &lt;tau_u, x_u, a_u, X_u, xi_u, m_u&gt;</a:t>
            </a:r>
            <a:br>
              <a:rPr lang="zh-CN" altLang="zh-CN" sz="1300">
                <a:solidFill>
                  <a:srgbClr val="A9B7C6"/>
                </a:solidFill>
                <a:latin typeface="Arial Unicode MS" panose="020B0604020202020204" pitchFamily="34" charset="-122"/>
              </a:rPr>
            </a:b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ENGLISH NORMALIZATION POLICY</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All normalized output must be English. This includes canonical_type, name, value when textual, unit, expression, relation, target, ambiguities, questions, and global_warnings.</a:t>
            </a:r>
            <a:br>
              <a:rPr lang="zh-CN" altLang="zh-CN" sz="1300">
                <a:solidFill>
                  <a:srgbClr val="A9B7C6"/>
                </a:solidFill>
                <a:latin typeface="Arial Unicode MS" panose="020B0604020202020204" pitchFamily="34" charset="-122"/>
              </a:rPr>
            </a:b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Only these traceability fields may retain the original input language:</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source_text</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source_mention</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source_evidence</a:t>
            </a:r>
            <a:br>
              <a:rPr lang="zh-CN" altLang="zh-CN" sz="1300">
                <a:solidFill>
                  <a:srgbClr val="A9B7C6"/>
                </a:solidFill>
                <a:latin typeface="Arial Unicode MS" panose="020B0604020202020204" pitchFamily="34" charset="-122"/>
              </a:rPr>
            </a:b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Never translate source_text or source evidence. They must remain exact substrings of the input so downstream code can verify grounding.</a:t>
            </a:r>
            <a:br>
              <a:rPr lang="zh-CN" altLang="zh-CN" sz="1300">
                <a:solidFill>
                  <a:srgbClr val="A9B7C6"/>
                </a:solidFill>
                <a:latin typeface="Arial Unicode MS" panose="020B0604020202020204" pitchFamily="34" charset="-122"/>
              </a:rPr>
            </a:b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SIX-TUPLE SEMANTICS</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tau: resource identity/type. Use a stable English PascalCase canonical_type ending in Unit.</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x: state variables that evolve or describe operating state, e.g. state_of_charge, temperature, commitment_status, online_vehicle_count, departure_energy_requirement, task_queue, sla_margin, server_status, indoor_temperature, or islanding_status.</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 controllable actions, e.g. active_power, reactive_power, charging_power, discharging_power, load_shifting, temperature_setpoint, task_migration, task_deferral, power_shaping, reserve_activation, or internal_dispatch.</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X: physical/temporal feasible set, including bounds, dynamics, ramp limits, energy balance, comfort limits, SLA constraints, charging availability, and other operating constraints.</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xi: uncertain or exogenous parameters, e.g. renewable availability, arrival/departure time, baseline demand, weather, task arrivals, market price forecast, or outage state.</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m: market interface only, e.g. bid/offer quantity and price blocks, upward/downward flexibility, eligible product, buy/sell role, settlement interface, or utility/cost parameters used by the market.</a:t>
            </a:r>
            <a:br>
              <a:rPr lang="zh-CN" altLang="zh-CN" sz="1300">
                <a:solidFill>
                  <a:srgbClr val="A9B7C6"/>
                </a:solidFill>
                <a:latin typeface="Arial Unicode MS" panose="020B0604020202020204" pitchFamily="34" charset="-122"/>
              </a:rPr>
            </a:b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AUXILIARY TOPOLOGY</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Put located_in, connected_to, connected_network, and ownership/aggregation facts in network_connections. They are important but are not one of the mathematical six-tuple components. Normalize target to English; retain the original phrase only in source_evidence.</a:t>
            </a:r>
            <a:br>
              <a:rPr lang="zh-CN" altLang="zh-CN" sz="1300">
                <a:solidFill>
                  <a:srgbClr val="A9B7C6"/>
                </a:solidFill>
                <a:latin typeface="Arial Unicode MS" panose="020B0604020202020204" pitchFamily="34" charset="-122"/>
              </a:rPr>
            </a:b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GROUNDING AND NORMALIZATION RULES</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1. Return JSON only. Follow the supplied JSON Schema exactly.</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2. Use schema_version="units-six-tuple-v2".</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3. Detect source_language as zh, en, mixed, or unknown.</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4. Extract every explicitly mentioned Unit, order them by first mention, and assign U001, U002, ... consecutively.</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5. Never invent a number, unit, capability, equation, location, node, market role, uncertainty model, or relationship.</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6. Preserve stated measurement units using standard English/technical symbols such as MW, MWh, kW, kWh, %, degC, or p.u. Do not perform an unstated conversion.</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7. An explicit item must have status="explicit" and source_evidence equal to the shortest exact substring copied from source_text.</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8. Use status="inferred" only for conservative ontology normalization or an equation directly implied by an explicit phrase. Provide source_evidence when available and lower confidence than for direct facts.</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9. If information is absent, omit it from the relevant array. Never emit placeholder facts. Add an English clarification question only when the missing item is important for mathematical formulation or market participation.</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10. Write all ambiguity statements and clarification questions entirely in English. Do not quote, transliterate, or embed any Chinese/source-language term in those sentences. Refer generically to "the source term", "the resource", or the English canonical type instead.</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11. A rating or limit belongs in X, not in x. For example, a stated maximum load becomes maximum_load in X.</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12. Eligibility for demand response establishes eligible_product="demand_response" in m. It does not prove a response capacity, duration, baseline method, price, ramp rate, or dispatch value.</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13. Do not derive detailed device physics solely from canonical_type. A bare mention of storage does not justify inventing efficiency, SOC limits, or a state-transition equation.</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14. expression must be English/ mathematical text and may formalize an explicit limit, but it must contain no unstated numeric parameter.</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15. Use [] when a component has no grounded items.</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16. source_text must exactly reproduce the user's resource text.</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17. When a source term is absent from the supplied terminology glossary, create a conservative English normalization and report uncertainty in ambiguities if the interpretation is material.</a:t>
            </a:r>
            <a:br>
              <a:rPr lang="zh-CN" altLang="zh-CN" sz="1300">
                <a:solidFill>
                  <a:srgbClr val="A9B7C6"/>
                </a:solidFill>
                <a:latin typeface="Arial Unicode MS" panose="020B0604020202020204" pitchFamily="34" charset="-122"/>
              </a:rPr>
            </a:b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FIELD CONVENTIONS</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canonical_type: English PascalCase ending in Unit.</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name and relation: English snake_case.</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textual value and target: English; never embed a source-language quote inside an otherwise English string.</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source_mention and source_evidence: exact original-language spans.</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unit: null when not applicable or not stated.</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confidence: 0.95-1.00 for direct facts; 0.75-0.94 for conservative normalization; below 0.75 when materially ambiguous.</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value may be an English string, number, boolean, array, object, or null.</a:t>
            </a:r>
            <a:br>
              <a:rPr lang="zh-CN" altLang="zh-CN" sz="1300">
                <a:solidFill>
                  <a:srgbClr val="A9B7C6"/>
                </a:solidFill>
                <a:latin typeface="Arial Unicode MS" panose="020B0604020202020204" pitchFamily="34" charset="-122"/>
              </a:rPr>
            </a:b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EXAMPLE INPUT</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区域A内有一个最大负荷为20 MW的算力中心，通过节点5接入配电网，可参与需求响应。</a:t>
            </a:r>
            <a:br>
              <a:rPr lang="zh-CN" altLang="zh-CN" sz="1300">
                <a:solidFill>
                  <a:srgbClr val="A9B7C6"/>
                </a:solidFill>
                <a:latin typeface="Arial Unicode MS" panose="020B0604020202020204" pitchFamily="34" charset="-122"/>
              </a:rPr>
            </a:b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EXAMPLE JSON OUTPUT</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"schema_version": "units-six-tuple-v2",</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"source_language": "zh",</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"source_text": "区域A内有一个最大负荷为20 MW的算力中心，通过节点5接入配电网，可参与需求响应。",</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"units":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"unit_id": "U001",</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"six_tuple":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"tau":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"source_mention": "算力中心",</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"canonical_type": "ComputingLoadUnit",</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"status": "inferred",</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"source_evidence": "算力中心",</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"confidence": 0.9</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"x":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"X":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"name": "maximum_load",</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"value": 20,</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"unit": "MW",</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"status": "explicit",</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"source_evidence": "最大负荷为20 MW",</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"confidence": 1.0,</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"expression": "p_load(t) &lt;= 20 MW"</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"xi":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"m":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"name": "eligible_product",</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"value": "demand_response",</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"unit": null,</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"status": "explicit",</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"source_evidence": "可参与需求响应",</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"confidence": 1.0</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"network_connections":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"relation": "located_in",</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"target": "Region A",</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"status": "explicit",</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"source_evidence": "区域A内",</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"confidence": 1.0</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"relation": "connected_to",</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"target": "Node 5",</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"status": "explicit",</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"source_evidence": "节点5",</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"confidence": 1.0</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"relation": "connected_network",</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"target": "distribution network",</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"status": "explicit",</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"source_evidence": "配电网",</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"confidence": 1.0</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"ambiguities":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"The term computing center may mean a conventional data center or an integrated computing-energy facility."</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"questions":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"Can the load be controlled through task migration, task deferral, or power shaping?",</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"What are the response capacity, duration, recovery constraints, and offer format?"</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  "global_warnings": []</a:t>
            </a: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a:t>
            </a:r>
            <a:br>
              <a:rPr lang="zh-CN" altLang="zh-CN" sz="1300">
                <a:solidFill>
                  <a:srgbClr val="A9B7C6"/>
                </a:solidFill>
                <a:latin typeface="Arial Unicode MS" panose="020B0604020202020204" pitchFamily="34" charset="-122"/>
              </a:rPr>
            </a:br>
            <a:br>
              <a:rPr lang="zh-CN" altLang="zh-CN" sz="1300">
                <a:solidFill>
                  <a:srgbClr val="A9B7C6"/>
                </a:solidFill>
                <a:latin typeface="Arial Unicode MS" panose="020B0604020202020204" pitchFamily="34" charset="-122"/>
              </a:rPr>
            </a:br>
            <a:r>
              <a:rPr lang="zh-CN" altLang="zh-CN" sz="1300">
                <a:solidFill>
                  <a:srgbClr val="A9B7C6"/>
                </a:solidFill>
                <a:latin typeface="Arial Unicode MS" panose="020B0604020202020204" pitchFamily="34" charset="-122"/>
              </a:rPr>
              <a:t>Before answering, silently verify that every Unit contains tau, x, a, X, xi, and m; every explicit source_evidence occurs verbatim in source_text; all normalized fields are English; and the output is valid JSON.</a:t>
            </a:r>
            <a:br>
              <a:rPr lang="zh-CN" altLang="zh-CN" sz="1300">
                <a:solidFill>
                  <a:srgbClr val="A9B7C6"/>
                </a:solidFill>
                <a:latin typeface="Arial Unicode MS" panose="020B0604020202020204" pitchFamily="34" charset="-122"/>
              </a:rPr>
            </a:br>
            <a:endParaRPr lang="zh-CN" altLang="zh-CN" sz="1300">
              <a:solidFill>
                <a:srgbClr val="A9B7C6"/>
              </a:solidFill>
              <a:latin typeface="Arial Unicode MS" panose="020B0604020202020204" pitchFamily="34" charset="-122"/>
            </a:endParaRPr>
          </a:p>
        </p:txBody>
      </p:sp>
      <p:grpSp>
        <p:nvGrpSpPr>
          <p:cNvPr id="113" name="组合 112">
            <a:extLst>
              <a:ext uri="{FF2B5EF4-FFF2-40B4-BE49-F238E27FC236}">
                <a16:creationId xmlns:a16="http://schemas.microsoft.com/office/drawing/2014/main" id="{2A125139-FA7A-45B0-99AD-2EA0D5CE48DF}"/>
              </a:ext>
            </a:extLst>
          </p:cNvPr>
          <p:cNvGrpSpPr/>
          <p:nvPr/>
        </p:nvGrpSpPr>
        <p:grpSpPr>
          <a:xfrm>
            <a:off x="93234" y="1815810"/>
            <a:ext cx="11938107" cy="4868912"/>
            <a:chOff x="93234" y="1815810"/>
            <a:chExt cx="11938107" cy="4868912"/>
          </a:xfrm>
        </p:grpSpPr>
        <p:grpSp>
          <p:nvGrpSpPr>
            <p:cNvPr id="114" name="组合 113">
              <a:extLst>
                <a:ext uri="{FF2B5EF4-FFF2-40B4-BE49-F238E27FC236}">
                  <a16:creationId xmlns:a16="http://schemas.microsoft.com/office/drawing/2014/main" id="{6D58EEBF-59DE-4909-9A92-2E0259E5DC93}"/>
                </a:ext>
              </a:extLst>
            </p:cNvPr>
            <p:cNvGrpSpPr/>
            <p:nvPr/>
          </p:nvGrpSpPr>
          <p:grpSpPr>
            <a:xfrm>
              <a:off x="93234" y="3715316"/>
              <a:ext cx="11938107" cy="2969406"/>
              <a:chOff x="152293" y="1739168"/>
              <a:chExt cx="11938107" cy="2969406"/>
            </a:xfrm>
          </p:grpSpPr>
          <p:pic>
            <p:nvPicPr>
              <p:cNvPr id="116" name="图片 115">
                <a:extLst>
                  <a:ext uri="{FF2B5EF4-FFF2-40B4-BE49-F238E27FC236}">
                    <a16:creationId xmlns:a16="http://schemas.microsoft.com/office/drawing/2014/main" id="{A357DF1B-E345-4554-8A36-A08E88669592}"/>
                  </a:ext>
                </a:extLst>
              </p:cNvPr>
              <p:cNvPicPr>
                <a:picLocks noChangeAspect="1"/>
              </p:cNvPicPr>
              <p:nvPr/>
            </p:nvPicPr>
            <p:blipFill>
              <a:blip r:embed="rId4"/>
              <a:stretch>
                <a:fillRect/>
              </a:stretch>
            </p:blipFill>
            <p:spPr>
              <a:xfrm>
                <a:off x="561975" y="1739168"/>
                <a:ext cx="4721225" cy="2555935"/>
              </a:xfrm>
              <a:prstGeom prst="rect">
                <a:avLst/>
              </a:prstGeom>
            </p:spPr>
          </p:pic>
          <p:sp>
            <p:nvSpPr>
              <p:cNvPr id="117" name="矩形 116">
                <a:extLst>
                  <a:ext uri="{FF2B5EF4-FFF2-40B4-BE49-F238E27FC236}">
                    <a16:creationId xmlns:a16="http://schemas.microsoft.com/office/drawing/2014/main" id="{792C9EC9-41E4-4E3B-9357-8430C062BE30}"/>
                  </a:ext>
                </a:extLst>
              </p:cNvPr>
              <p:cNvSpPr/>
              <p:nvPr/>
            </p:nvSpPr>
            <p:spPr>
              <a:xfrm>
                <a:off x="152293" y="4400797"/>
                <a:ext cx="5491484" cy="307777"/>
              </a:xfrm>
              <a:prstGeom prst="rect">
                <a:avLst/>
              </a:prstGeom>
              <a:solidFill>
                <a:schemeClr val="bg1"/>
              </a:solidFill>
            </p:spPr>
            <p:txBody>
              <a:bodyPr wrap="square" rtlCol="0">
                <a:spAutoFit/>
              </a:bodyPr>
              <a:lstStyle/>
              <a:p>
                <a:pPr marL="285750" indent="-285750" algn="just">
                  <a:buFont typeface="Wingdings" panose="05000000000000000000" pitchFamily="2" charset="2"/>
                  <a:buChar char="p"/>
                </a:pPr>
                <a:r>
                  <a:rPr lang="en-US" altLang="zh-CN"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Schema</a:t>
                </a:r>
                <a:r>
                  <a:rPr lang="zh-CN" altLang="en-US"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、完整 </a:t>
                </a:r>
                <a:r>
                  <a:rPr lang="en-US" altLang="zh-CN"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JSON</a:t>
                </a:r>
                <a:r>
                  <a:rPr lang="zh-CN" altLang="en-US"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、核心语义、结构和类型指标均为 </a:t>
                </a:r>
                <a:r>
                  <a:rPr lang="en-US" altLang="zh-CN"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100%</a:t>
                </a:r>
                <a:endParaRPr lang="zh-CN" altLang="en-US"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18" name="图片 117">
                <a:extLst>
                  <a:ext uri="{FF2B5EF4-FFF2-40B4-BE49-F238E27FC236}">
                    <a16:creationId xmlns:a16="http://schemas.microsoft.com/office/drawing/2014/main" id="{8E35299C-33BF-4EB5-8E65-A7DFB06FFC17}"/>
                  </a:ext>
                </a:extLst>
              </p:cNvPr>
              <p:cNvPicPr>
                <a:picLocks noChangeAspect="1"/>
              </p:cNvPicPr>
              <p:nvPr/>
            </p:nvPicPr>
            <p:blipFill>
              <a:blip r:embed="rId5"/>
              <a:stretch>
                <a:fillRect/>
              </a:stretch>
            </p:blipFill>
            <p:spPr>
              <a:xfrm>
                <a:off x="5283200" y="1820734"/>
                <a:ext cx="6807200" cy="2555935"/>
              </a:xfrm>
              <a:prstGeom prst="rect">
                <a:avLst/>
              </a:prstGeom>
            </p:spPr>
          </p:pic>
          <p:sp>
            <p:nvSpPr>
              <p:cNvPr id="119" name="矩形 118">
                <a:extLst>
                  <a:ext uri="{FF2B5EF4-FFF2-40B4-BE49-F238E27FC236}">
                    <a16:creationId xmlns:a16="http://schemas.microsoft.com/office/drawing/2014/main" id="{5C58C3F8-2020-4998-9D75-BEC340BF4F94}"/>
                  </a:ext>
                </a:extLst>
              </p:cNvPr>
              <p:cNvSpPr/>
              <p:nvPr/>
            </p:nvSpPr>
            <p:spPr>
              <a:xfrm>
                <a:off x="5570603" y="4400796"/>
                <a:ext cx="6519797" cy="307777"/>
              </a:xfrm>
              <a:prstGeom prst="rect">
                <a:avLst/>
              </a:prstGeom>
              <a:solidFill>
                <a:schemeClr val="bg1"/>
              </a:solidFill>
            </p:spPr>
            <p:txBody>
              <a:bodyPr wrap="square" rtlCol="0">
                <a:spAutoFit/>
              </a:bodyPr>
              <a:lstStyle/>
              <a:p>
                <a:pPr marL="285750" indent="-285750" algn="just">
                  <a:buFont typeface="Wingdings" panose="05000000000000000000" pitchFamily="2" charset="2"/>
                  <a:buChar char="p"/>
                </a:pPr>
                <a:r>
                  <a:rPr lang="en-US" altLang="zh-CN"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maximum_load</a:t>
                </a:r>
                <a:r>
                  <a:rPr lang="zh-CN" altLang="en-US"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eligible_product </a:t>
                </a:r>
                <a:r>
                  <a:rPr lang="zh-CN" altLang="en-US"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以及三项网络关系在全部 </a:t>
                </a:r>
                <a:r>
                  <a:rPr lang="en-US" altLang="zh-CN"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mock </a:t>
                </a:r>
                <a:r>
                  <a:rPr lang="zh-CN" altLang="en-US"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结果中出现</a:t>
                </a:r>
              </a:p>
            </p:txBody>
          </p:sp>
        </p:grpSp>
        <p:sp>
          <p:nvSpPr>
            <p:cNvPr id="115" name="文本框 114">
              <a:extLst>
                <a:ext uri="{FF2B5EF4-FFF2-40B4-BE49-F238E27FC236}">
                  <a16:creationId xmlns:a16="http://schemas.microsoft.com/office/drawing/2014/main" id="{981534FA-8E91-4B89-8388-C96A027BC4C3}"/>
                </a:ext>
              </a:extLst>
            </p:cNvPr>
            <p:cNvSpPr txBox="1"/>
            <p:nvPr/>
          </p:nvSpPr>
          <p:spPr>
            <a:xfrm>
              <a:off x="93234" y="1815810"/>
              <a:ext cx="11938107" cy="1846659"/>
            </a:xfrm>
            <a:prstGeom prst="rect">
              <a:avLst/>
            </a:prstGeom>
            <a:solidFill>
              <a:schemeClr val="bg1"/>
            </a:solidFill>
            <a:ln>
              <a:solidFill>
                <a:srgbClr val="C00000"/>
              </a:solidFill>
              <a:prstDash val="dash"/>
            </a:ln>
          </p:spPr>
          <p:txBody>
            <a:bodyPr wrap="square" rtlCol="0">
              <a:spAutoFit/>
            </a:bodyPr>
            <a:lstStyle/>
            <a:p>
              <a:pPr marL="285750" indent="-285750" algn="just">
                <a:buFont typeface="Wingdings" panose="05000000000000000000" pitchFamily="2" charset="2"/>
                <a:buChar char="n"/>
              </a:pPr>
              <a:r>
                <a:rPr lang="zh-CN" altLang="en-US" b="1">
                  <a:gradFill>
                    <a:gsLst>
                      <a:gs pos="49351">
                        <a:schemeClr val="accent6">
                          <a:lumMod val="75000"/>
                        </a:schemeClr>
                      </a:gs>
                      <a:gs pos="14300">
                        <a:srgbClr val="406796"/>
                      </a:gs>
                      <a:gs pos="0">
                        <a:schemeClr val="accent1">
                          <a:lumMod val="75000"/>
                        </a:schemeClr>
                      </a:gs>
                      <a:gs pos="100000">
                        <a:schemeClr val="accent6">
                          <a:lumMod val="60000"/>
                          <a:lumOff val="40000"/>
                        </a:schemeClr>
                      </a:gs>
                    </a:gsLst>
                    <a:lin ang="5400000" scaled="1"/>
                  </a:gradFill>
                  <a:latin typeface="Times New Roman" panose="02020603050405020304" pitchFamily="18" charset="0"/>
                  <a:ea typeface="微软雅黑" panose="020B0503020204020204" pitchFamily="34" charset="-122"/>
                  <a:cs typeface="Times New Roman" panose="02020603050405020304" pitchFamily="18" charset="0"/>
                </a:rPr>
                <a:t>如何校验每一次的生成效果</a:t>
              </a:r>
              <a:endParaRPr lang="en-US" altLang="zh-CN" b="1">
                <a:gradFill>
                  <a:gsLst>
                    <a:gs pos="49351">
                      <a:schemeClr val="accent6">
                        <a:lumMod val="75000"/>
                      </a:schemeClr>
                    </a:gs>
                    <a:gs pos="14300">
                      <a:srgbClr val="406796"/>
                    </a:gs>
                    <a:gs pos="0">
                      <a:schemeClr val="accent1">
                        <a:lumMod val="75000"/>
                      </a:schemeClr>
                    </a:gs>
                    <a:gs pos="100000">
                      <a:schemeClr val="accent6">
                        <a:lumMod val="60000"/>
                        <a:lumOff val="40000"/>
                      </a:schemeClr>
                    </a:gs>
                  </a:gsLst>
                  <a:lin ang="5400000" scaled="1"/>
                </a:gra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Arial" panose="020B0604020202020204" pitchFamily="34" charset="0"/>
                <a:buChar char="•"/>
              </a:pPr>
              <a:r>
                <a:rPr lang="en-US" altLang="zh-CN" sz="1600" b="1">
                  <a:latin typeface="Times New Roman" panose="02020603050405020304" pitchFamily="18" charset="0"/>
                  <a:ea typeface="微软雅黑" panose="020B0503020204020204" pitchFamily="34" charset="-122"/>
                  <a:cs typeface="Times New Roman" panose="02020603050405020304" pitchFamily="18" charset="0"/>
                </a:rPr>
                <a:t>schema_validity = int(result[“mapping”] is not None) </a:t>
              </a:r>
              <a:r>
                <a:rPr lang="en-US" altLang="zh-CN"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en-US" altLang="zh-CN" sz="1600" b="1">
                  <a:latin typeface="Times New Roman" panose="02020603050405020304" pitchFamily="18" charset="0"/>
                  <a:ea typeface="微软雅黑" panose="020B0503020204020204" pitchFamily="34" charset="-122"/>
                  <a:cs typeface="Times New Roman" panose="02020603050405020304" pitchFamily="18" charset="0"/>
                </a:rPr>
                <a:t> Prompt</a:t>
              </a:r>
              <a:r>
                <a:rPr lang="zh-CN" altLang="en-US"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自行判断六元组生成约束</a:t>
              </a:r>
              <a:r>
                <a:rPr lang="en-US" altLang="zh-CN"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units-six-tuple-v2</a:t>
              </a:r>
              <a:r>
                <a:rPr lang="zh-CN" altLang="en-US"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是否满足</a:t>
              </a:r>
              <a:endParaRPr lang="en-US" altLang="zh-CN"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285750" indent="-285750" algn="just">
                <a:buFont typeface="Arial" panose="020B0604020202020204" pitchFamily="34" charset="0"/>
                <a:buChar char="•"/>
              </a:pPr>
              <a:r>
                <a:rPr lang="en-US" altLang="zh-CN" sz="1600" b="1">
                  <a:latin typeface="Times New Roman" panose="02020603050405020304" pitchFamily="18" charset="0"/>
                  <a:ea typeface="微软雅黑" panose="020B0503020204020204" pitchFamily="34" charset="-122"/>
                  <a:cs typeface="Times New Roman" panose="02020603050405020304" pitchFamily="18" charset="0"/>
                </a:rPr>
                <a:t>full_payload = mapping.model_dump(mode=“json”) </a:t>
              </a:r>
              <a:r>
                <a:rPr lang="en-US" altLang="zh-CN"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json</a:t>
              </a:r>
              <a:r>
                <a:rPr lang="zh-CN" altLang="en-US"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的字典完整性验证，判断文件是否成功生成</a:t>
              </a:r>
              <a:endParaRPr lang="en-US" altLang="zh-CN"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285750" indent="-285750" algn="just">
                <a:buFont typeface="Arial" panose="020B0604020202020204" pitchFamily="34" charset="0"/>
                <a:buChar char="•"/>
              </a:pPr>
              <a:r>
                <a:rPr lang="en-US" altLang="zh-CN" sz="1600" b="1" i="1">
                  <a:solidFill>
                    <a:schemeClr val="accent1">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def mapping_signatures(mapping: MappingResult) -&gt; Dict[str, Any]:    “”“Separate exact JSON, semantic content, structure, and type consistency.”““ </a:t>
              </a:r>
              <a:r>
                <a:rPr lang="en-US" altLang="zh-CN"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zh-CN" altLang="en-US" sz="1600"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核心语义一致率 </a:t>
              </a:r>
              <a:r>
                <a:rPr lang="en-US" altLang="zh-CN"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Json.value</a:t>
              </a:r>
              <a:r>
                <a:rPr lang="zh-CN" altLang="en-US"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核心语义提取</a:t>
              </a:r>
              <a:r>
                <a:rPr lang="en-US" altLang="zh-CN"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zh-CN" altLang="en-US"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六元组顺序排列</a:t>
              </a:r>
              <a:r>
                <a:rPr lang="en-US" altLang="zh-CN"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+SHA-256</a:t>
              </a:r>
              <a:r>
                <a:rPr lang="zh-CN" altLang="en-US"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词义验证</a:t>
              </a:r>
              <a:endParaRPr lang="en-US" altLang="zh-CN"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algn="just"/>
              <a:r>
                <a:rPr lang="en-US" altLang="zh-CN"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	               </a:t>
              </a:r>
              <a:r>
                <a:rPr lang="zh-CN" altLang="en-US" sz="1600"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六元组结构一致率 </a:t>
              </a:r>
              <a:r>
                <a:rPr lang="zh-CN" altLang="en-US"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比较字段结构</a:t>
              </a:r>
              <a:endParaRPr lang="en-US" altLang="zh-CN"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285750" indent="-285750" algn="just">
                <a:buFont typeface="Arial" panose="020B0604020202020204" pitchFamily="34" charset="0"/>
                <a:buChar char="•"/>
              </a:pPr>
              <a:r>
                <a:rPr lang="en-US" altLang="zh-CN" sz="1600" b="1">
                  <a:latin typeface="Times New Roman" panose="02020603050405020304" pitchFamily="18" charset="0"/>
                  <a:ea typeface="微软雅黑" panose="020B0503020204020204" pitchFamily="34" charset="-122"/>
                  <a:cs typeface="Times New Roman" panose="02020603050405020304" pitchFamily="18" charset="0"/>
                </a:rPr>
                <a:t>[“ComputingLoadUnit”]</a:t>
              </a:r>
              <a:r>
                <a:rPr lang="en-US" altLang="zh-CN"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en-US" altLang="zh-CN" sz="1600" b="1">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b="1">
                  <a:latin typeface="Times New Roman" panose="02020603050405020304" pitchFamily="18" charset="0"/>
                  <a:ea typeface="微软雅黑" panose="020B0503020204020204" pitchFamily="34" charset="-122"/>
                  <a:cs typeface="Times New Roman" panose="02020603050405020304" pitchFamily="18" charset="0"/>
                </a:rPr>
                <a:t>分类映射比较</a:t>
              </a:r>
              <a:endParaRPr lang="en-US" altLang="zh-CN" sz="1600" b="1">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p:txBody>
        </p:sp>
      </p:grpSp>
    </p:spTree>
    <p:custDataLst>
      <p:tags r:id="rId1"/>
    </p:custDataLst>
    <p:extLst>
      <p:ext uri="{BB962C8B-B14F-4D97-AF65-F5344CB8AC3E}">
        <p14:creationId xmlns:p14="http://schemas.microsoft.com/office/powerpoint/2010/main" val="1441698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14885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1.2 </a:t>
            </a:r>
            <a:r>
              <a:rPr lang="zh-CN" altLang="en-US" sz="2800" spc="0">
                <a:solidFill>
                  <a:schemeClr val="tx1"/>
                </a:solidFill>
                <a:effectLst/>
                <a:sym typeface="微软雅黑" panose="020B0503020204020204" pitchFamily="34" charset="-122"/>
              </a:rPr>
              <a:t>现有的进展：</a:t>
            </a:r>
            <a:r>
              <a:rPr lang="en-US" altLang="zh-CN" sz="2800" spc="0">
                <a:solidFill>
                  <a:schemeClr val="tx1"/>
                </a:solidFill>
                <a:effectLst/>
                <a:sym typeface="微软雅黑" panose="020B0503020204020204" pitchFamily="34" charset="-122"/>
              </a:rPr>
              <a:t>LLM Prompt</a:t>
            </a:r>
            <a:r>
              <a:rPr lang="zh-CN" altLang="en-US" sz="2800" spc="0">
                <a:solidFill>
                  <a:schemeClr val="tx1"/>
                </a:solidFill>
                <a:effectLst/>
                <a:sym typeface="微软雅黑" panose="020B0503020204020204" pitchFamily="34" charset="-122"/>
              </a:rPr>
              <a:t>工程</a:t>
            </a:r>
            <a:r>
              <a:rPr lang="en-US" altLang="zh-CN" sz="2800" spc="0">
                <a:solidFill>
                  <a:schemeClr val="tx1"/>
                </a:solidFill>
                <a:effectLst/>
                <a:sym typeface="微软雅黑" panose="020B0503020204020204" pitchFamily="34" charset="-122"/>
              </a:rPr>
              <a:t>—Units</a:t>
            </a:r>
            <a:r>
              <a:rPr lang="zh-CN" altLang="en-US" sz="2800" spc="0">
                <a:solidFill>
                  <a:schemeClr val="tx1"/>
                </a:solidFill>
                <a:effectLst/>
                <a:sym typeface="微软雅黑" panose="020B0503020204020204" pitchFamily="34" charset="-122"/>
              </a:rPr>
              <a:t>规则化实验</a:t>
            </a:r>
          </a:p>
        </p:txBody>
      </p:sp>
      <p:grpSp>
        <p:nvGrpSpPr>
          <p:cNvPr id="83" name="组合 82">
            <a:extLst>
              <a:ext uri="{FF2B5EF4-FFF2-40B4-BE49-F238E27FC236}">
                <a16:creationId xmlns:a16="http://schemas.microsoft.com/office/drawing/2014/main" id="{935A8463-3490-4A4C-9FBE-C504EB783A9E}"/>
              </a:ext>
            </a:extLst>
          </p:cNvPr>
          <p:cNvGrpSpPr/>
          <p:nvPr/>
        </p:nvGrpSpPr>
        <p:grpSpPr>
          <a:xfrm>
            <a:off x="308924" y="734752"/>
            <a:ext cx="11574151" cy="522605"/>
            <a:chOff x="308924" y="734752"/>
            <a:chExt cx="11574151" cy="522605"/>
          </a:xfrm>
        </p:grpSpPr>
        <p:sp>
          <p:nvSpPr>
            <p:cNvPr id="84" name="矩形 22">
              <a:extLst>
                <a:ext uri="{FF2B5EF4-FFF2-40B4-BE49-F238E27FC236}">
                  <a16:creationId xmlns:a16="http://schemas.microsoft.com/office/drawing/2014/main" id="{8ACE45B6-93A6-4AE3-8868-C769AFD68E32}"/>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85" name="文本框 84">
              <a:extLst>
                <a:ext uri="{FF2B5EF4-FFF2-40B4-BE49-F238E27FC236}">
                  <a16:creationId xmlns:a16="http://schemas.microsoft.com/office/drawing/2014/main" id="{3EE57984-FF8B-4D82-A0D1-4E149A2F6C71}"/>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E04 1</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不同异质文本的规则化可靠性验证</a:t>
              </a:r>
              <a:endParaRPr sz="22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sp>
        <p:nvSpPr>
          <p:cNvPr id="16" name="blueprint-header-square">
            <a:extLst>
              <a:ext uri="{FF2B5EF4-FFF2-40B4-BE49-F238E27FC236}">
                <a16:creationId xmlns:a16="http://schemas.microsoft.com/office/drawing/2014/main" id="{CB98FEFA-7A95-409D-93F3-2496F9261E50}"/>
              </a:ext>
            </a:extLst>
          </p:cNvPr>
          <p:cNvSpPr>
            <a:spLocks noGrp="1"/>
          </p:cNvSpPr>
          <p:nvPr/>
        </p:nvSpPr>
        <p:spPr>
          <a:xfrm>
            <a:off x="167325" y="1398848"/>
            <a:ext cx="123825" cy="123825"/>
          </a:xfrm>
          <a:prstGeom prst="rect">
            <a:avLst/>
          </a:prstGeom>
          <a:solidFill>
            <a:schemeClr val="tx1"/>
          </a:solidFill>
          <a:ln w="0">
            <a:solidFill>
              <a:srgbClr val="5B8E55"/>
            </a:solidFill>
            <a:prstDash val="solid"/>
          </a:ln>
        </p:spPr>
      </p:sp>
      <p:sp>
        <p:nvSpPr>
          <p:cNvPr id="17" name="blueprint-header-text">
            <a:extLst>
              <a:ext uri="{FF2B5EF4-FFF2-40B4-BE49-F238E27FC236}">
                <a16:creationId xmlns:a16="http://schemas.microsoft.com/office/drawing/2014/main" id="{8675EEF3-0250-42C4-8702-A63B4A9E7977}"/>
              </a:ext>
            </a:extLst>
          </p:cNvPr>
          <p:cNvSpPr>
            <a:spLocks noGrp="1"/>
          </p:cNvSpPr>
          <p:nvPr/>
        </p:nvSpPr>
        <p:spPr>
          <a:xfrm>
            <a:off x="376875" y="1341698"/>
            <a:ext cx="3933825" cy="285750"/>
          </a:xfrm>
          <a:prstGeom prst="rect">
            <a:avLst/>
          </a:prstGeom>
          <a:noFill/>
          <a:ln w="0">
            <a:noFill/>
            <a:prstDash val="solid"/>
          </a:ln>
        </p:spPr>
        <p:txBody>
          <a:bodyPr lIns="0" tIns="0" rIns="0" bIns="0" anchor="ctr"/>
          <a:lstStyle/>
          <a:p>
            <a:pPr algn="l">
              <a:defRPr sz="1500" b="1" i="0">
                <a:solidFill>
                  <a:srgbClr val="5B8E55"/>
                </a:solidFill>
                <a:latin typeface="Microsoft YaHei"/>
                <a:ea typeface="Microsoft YaHei"/>
                <a:cs typeface="Microsoft YaHei"/>
              </a:defRPr>
            </a:pPr>
            <a:r>
              <a:rPr sz="1600" b="1" i="0">
                <a:solidFill>
                  <a:schemeClr val="bg2">
                    <a:lumMod val="10000"/>
                  </a:schemeClr>
                </a:solidFill>
                <a:latin typeface="Microsoft YaHei"/>
                <a:ea typeface="Microsoft YaHei"/>
                <a:cs typeface="Microsoft YaHei"/>
              </a:rPr>
              <a:t>1  </a:t>
            </a:r>
            <a:r>
              <a:rPr lang="zh-CN" altLang="en-US" sz="1600" b="1" i="0">
                <a:solidFill>
                  <a:schemeClr val="bg2">
                    <a:lumMod val="10000"/>
                  </a:schemeClr>
                </a:solidFill>
                <a:latin typeface="Microsoft YaHei"/>
                <a:ea typeface="Microsoft YaHei"/>
                <a:cs typeface="Microsoft YaHei"/>
              </a:rPr>
              <a:t>评估的对照组（</a:t>
            </a:r>
            <a:r>
              <a:rPr lang="en-US" altLang="zh-CN" sz="1600" b="1" i="0">
                <a:solidFill>
                  <a:schemeClr val="bg2">
                    <a:lumMod val="10000"/>
                  </a:schemeClr>
                </a:solidFill>
                <a:latin typeface="Microsoft YaHei"/>
                <a:ea typeface="Microsoft YaHei"/>
                <a:cs typeface="Microsoft YaHei"/>
              </a:rPr>
              <a:t>blueprint</a:t>
            </a:r>
            <a:r>
              <a:rPr lang="zh-CN" altLang="en-US" sz="1600" b="1" i="0">
                <a:solidFill>
                  <a:schemeClr val="bg2">
                    <a:lumMod val="10000"/>
                  </a:schemeClr>
                </a:solidFill>
                <a:latin typeface="Microsoft YaHei"/>
                <a:ea typeface="Microsoft YaHei"/>
                <a:cs typeface="Microsoft YaHei"/>
              </a:rPr>
              <a:t>）</a:t>
            </a:r>
            <a:endParaRPr sz="1600" b="1" i="0">
              <a:solidFill>
                <a:schemeClr val="bg2">
                  <a:lumMod val="10000"/>
                </a:schemeClr>
              </a:solidFill>
              <a:latin typeface="Microsoft YaHei"/>
              <a:ea typeface="Microsoft YaHei"/>
              <a:cs typeface="Microsoft YaHei"/>
            </a:endParaRPr>
          </a:p>
        </p:txBody>
      </p:sp>
      <p:sp>
        <p:nvSpPr>
          <p:cNvPr id="18" name="blueprint-code-panel">
            <a:extLst>
              <a:ext uri="{FF2B5EF4-FFF2-40B4-BE49-F238E27FC236}">
                <a16:creationId xmlns:a16="http://schemas.microsoft.com/office/drawing/2014/main" id="{8CA24BDB-DBDD-4115-8073-F78B8DECA9BB}"/>
              </a:ext>
            </a:extLst>
          </p:cNvPr>
          <p:cNvSpPr>
            <a:spLocks noGrp="1"/>
          </p:cNvSpPr>
          <p:nvPr/>
        </p:nvSpPr>
        <p:spPr>
          <a:xfrm>
            <a:off x="243525" y="1694123"/>
            <a:ext cx="3952875" cy="3067050"/>
          </a:xfrm>
          <a:prstGeom prst="roundRect">
            <a:avLst>
              <a:gd name="adj" fmla="val 2484"/>
            </a:avLst>
          </a:prstGeom>
          <a:solidFill>
            <a:srgbClr val="F7F9FC"/>
          </a:solidFill>
          <a:ln w="9525">
            <a:solidFill>
              <a:srgbClr val="C8D0DA"/>
            </a:solidFill>
            <a:prstDash val="solid"/>
          </a:ln>
        </p:spPr>
      </p:sp>
      <p:sp>
        <p:nvSpPr>
          <p:cNvPr id="19" name="blueprint-code-1">
            <a:extLst>
              <a:ext uri="{FF2B5EF4-FFF2-40B4-BE49-F238E27FC236}">
                <a16:creationId xmlns:a16="http://schemas.microsoft.com/office/drawing/2014/main" id="{D768B4B0-FF79-484C-A777-C41E9DCC7E6C}"/>
              </a:ext>
            </a:extLst>
          </p:cNvPr>
          <p:cNvSpPr>
            <a:spLocks noGrp="1"/>
          </p:cNvSpPr>
          <p:nvPr/>
        </p:nvSpPr>
        <p:spPr>
          <a:xfrm>
            <a:off x="405450" y="1779848"/>
            <a:ext cx="3657600" cy="219075"/>
          </a:xfrm>
          <a:prstGeom prst="rect">
            <a:avLst/>
          </a:prstGeom>
          <a:noFill/>
          <a:ln w="0">
            <a:noFill/>
            <a:prstDash val="solid"/>
          </a:ln>
        </p:spPr>
        <p:txBody>
          <a:bodyPr lIns="0" tIns="0" rIns="0" bIns="0" anchor="ctr"/>
          <a:lstStyle/>
          <a:p>
            <a:pPr algn="l">
              <a:defRPr sz="1275" b="1" i="1">
                <a:solidFill>
                  <a:srgbClr val="2F4BAD"/>
                </a:solidFill>
                <a:latin typeface="Consolas"/>
                <a:ea typeface="Consolas"/>
                <a:cs typeface="Consolas"/>
              </a:defRPr>
            </a:pPr>
            <a:r>
              <a:rPr sz="1275" b="1" i="1">
                <a:solidFill>
                  <a:srgbClr val="2F4BAD"/>
                </a:solidFill>
                <a:latin typeface="Times New Roman" panose="02020603050405020304" pitchFamily="18" charset="0"/>
                <a:ea typeface="Consolas"/>
                <a:cs typeface="Times New Roman" panose="02020603050405020304" pitchFamily="18" charset="0"/>
              </a:rPr>
              <a:t>blueprint = {</a:t>
            </a:r>
          </a:p>
        </p:txBody>
      </p:sp>
      <p:sp>
        <p:nvSpPr>
          <p:cNvPr id="20" name="blueprint-code-2">
            <a:extLst>
              <a:ext uri="{FF2B5EF4-FFF2-40B4-BE49-F238E27FC236}">
                <a16:creationId xmlns:a16="http://schemas.microsoft.com/office/drawing/2014/main" id="{00C77BCF-E0B8-47C7-96AB-648C8D7D9635}"/>
              </a:ext>
            </a:extLst>
          </p:cNvPr>
          <p:cNvSpPr>
            <a:spLocks noGrp="1"/>
          </p:cNvSpPr>
          <p:nvPr/>
        </p:nvSpPr>
        <p:spPr>
          <a:xfrm>
            <a:off x="405450" y="2017973"/>
            <a:ext cx="3657600" cy="219075"/>
          </a:xfrm>
          <a:prstGeom prst="rect">
            <a:avLst/>
          </a:prstGeom>
          <a:noFill/>
          <a:ln w="0">
            <a:noFill/>
            <a:prstDash val="solid"/>
          </a:ln>
        </p:spPr>
        <p:txBody>
          <a:bodyPr lIns="0" tIns="0" rIns="0" bIns="0" anchor="ctr"/>
          <a:lstStyle/>
          <a:p>
            <a:pPr algn="l">
              <a:defRPr sz="1200" b="0" i="0">
                <a:solidFill>
                  <a:srgbClr val="0F172A"/>
                </a:solidFill>
                <a:latin typeface="Consolas"/>
                <a:ea typeface="Consolas"/>
                <a:cs typeface="Consolas"/>
              </a:defRPr>
            </a:pPr>
            <a:r>
              <a:rPr sz="1200" b="0" i="0">
                <a:solidFill>
                  <a:srgbClr val="0F172A"/>
                </a:solidFill>
                <a:latin typeface="Times New Roman" panose="02020603050405020304" pitchFamily="18" charset="0"/>
                <a:ea typeface="Consolas"/>
                <a:cs typeface="Times New Roman" panose="02020603050405020304" pitchFamily="18" charset="0"/>
              </a:rPr>
              <a:t>  blueprint_id      : B01 … B05</a:t>
            </a:r>
          </a:p>
        </p:txBody>
      </p:sp>
      <p:sp>
        <p:nvSpPr>
          <p:cNvPr id="21" name="blueprint-code-3">
            <a:extLst>
              <a:ext uri="{FF2B5EF4-FFF2-40B4-BE49-F238E27FC236}">
                <a16:creationId xmlns:a16="http://schemas.microsoft.com/office/drawing/2014/main" id="{BDBC12F4-DDFF-473F-ABAC-B49DAB69BB72}"/>
              </a:ext>
            </a:extLst>
          </p:cNvPr>
          <p:cNvSpPr>
            <a:spLocks noGrp="1"/>
          </p:cNvSpPr>
          <p:nvPr/>
        </p:nvSpPr>
        <p:spPr>
          <a:xfrm>
            <a:off x="405450" y="2256098"/>
            <a:ext cx="3657600" cy="219075"/>
          </a:xfrm>
          <a:prstGeom prst="rect">
            <a:avLst/>
          </a:prstGeom>
          <a:noFill/>
          <a:ln w="0">
            <a:noFill/>
            <a:prstDash val="solid"/>
          </a:ln>
        </p:spPr>
        <p:txBody>
          <a:bodyPr lIns="0" tIns="0" rIns="0" bIns="0" anchor="ctr"/>
          <a:lstStyle/>
          <a:p>
            <a:pPr algn="l">
              <a:defRPr sz="1200" b="0" i="0">
                <a:solidFill>
                  <a:srgbClr val="0F172A"/>
                </a:solidFill>
                <a:latin typeface="Consolas"/>
                <a:ea typeface="Consolas"/>
                <a:cs typeface="Consolas"/>
              </a:defRPr>
            </a:pPr>
            <a:r>
              <a:rPr sz="1200" b="0" i="0">
                <a:solidFill>
                  <a:srgbClr val="0F172A"/>
                </a:solidFill>
                <a:latin typeface="Times New Roman" panose="02020603050405020304" pitchFamily="18" charset="0"/>
                <a:ea typeface="Consolas"/>
                <a:cs typeface="Times New Roman" panose="02020603050405020304" pitchFamily="18" charset="0"/>
              </a:rPr>
              <a:t>  source_language   : zh / mixed</a:t>
            </a:r>
          </a:p>
        </p:txBody>
      </p:sp>
      <p:sp>
        <p:nvSpPr>
          <p:cNvPr id="22" name="blueprint-code-4">
            <a:extLst>
              <a:ext uri="{FF2B5EF4-FFF2-40B4-BE49-F238E27FC236}">
                <a16:creationId xmlns:a16="http://schemas.microsoft.com/office/drawing/2014/main" id="{253715EF-EEFF-4634-BD2A-F79D49AA8745}"/>
              </a:ext>
            </a:extLst>
          </p:cNvPr>
          <p:cNvSpPr>
            <a:spLocks noGrp="1"/>
          </p:cNvSpPr>
          <p:nvPr/>
        </p:nvSpPr>
        <p:spPr>
          <a:xfrm>
            <a:off x="405450" y="2494223"/>
            <a:ext cx="3657600" cy="219075"/>
          </a:xfrm>
          <a:prstGeom prst="rect">
            <a:avLst/>
          </a:prstGeom>
          <a:noFill/>
          <a:ln w="0">
            <a:noFill/>
            <a:prstDash val="solid"/>
          </a:ln>
        </p:spPr>
        <p:txBody>
          <a:bodyPr lIns="0" tIns="0" rIns="0" bIns="0" anchor="ctr"/>
          <a:lstStyle/>
          <a:p>
            <a:pPr algn="l">
              <a:defRPr sz="1200" b="0" i="0">
                <a:solidFill>
                  <a:srgbClr val="0F172A"/>
                </a:solidFill>
                <a:latin typeface="Consolas"/>
                <a:ea typeface="Consolas"/>
                <a:cs typeface="Consolas"/>
              </a:defRPr>
            </a:pPr>
            <a:r>
              <a:rPr sz="1200" b="0" i="0">
                <a:solidFill>
                  <a:srgbClr val="0F172A"/>
                </a:solidFill>
                <a:latin typeface="Times New Roman" panose="02020603050405020304" pitchFamily="18" charset="0"/>
                <a:ea typeface="Consolas"/>
                <a:cs typeface="Times New Roman" panose="02020603050405020304" pitchFamily="18" charset="0"/>
              </a:rPr>
              <a:t>  difficulty        : basic / mid / adv</a:t>
            </a:r>
          </a:p>
        </p:txBody>
      </p:sp>
      <p:sp>
        <p:nvSpPr>
          <p:cNvPr id="23" name="blueprint-code-5">
            <a:extLst>
              <a:ext uri="{FF2B5EF4-FFF2-40B4-BE49-F238E27FC236}">
                <a16:creationId xmlns:a16="http://schemas.microsoft.com/office/drawing/2014/main" id="{0924F79B-1ED2-4669-8176-54AA641F9C4F}"/>
              </a:ext>
            </a:extLst>
          </p:cNvPr>
          <p:cNvSpPr>
            <a:spLocks noGrp="1"/>
          </p:cNvSpPr>
          <p:nvPr/>
        </p:nvSpPr>
        <p:spPr>
          <a:xfrm>
            <a:off x="405450" y="2732348"/>
            <a:ext cx="3657600" cy="219075"/>
          </a:xfrm>
          <a:prstGeom prst="rect">
            <a:avLst/>
          </a:prstGeom>
          <a:noFill/>
          <a:ln w="0">
            <a:noFill/>
            <a:prstDash val="solid"/>
          </a:ln>
        </p:spPr>
        <p:txBody>
          <a:bodyPr lIns="0" tIns="0" rIns="0" bIns="0" anchor="ctr"/>
          <a:lstStyle/>
          <a:p>
            <a:pPr algn="l">
              <a:defRPr sz="1200" b="1" i="0">
                <a:solidFill>
                  <a:srgbClr val="138A55"/>
                </a:solidFill>
                <a:latin typeface="Consolas"/>
                <a:ea typeface="Consolas"/>
                <a:cs typeface="Consolas"/>
              </a:defRPr>
            </a:pPr>
            <a:r>
              <a:rPr sz="1200" b="1" i="0">
                <a:solidFill>
                  <a:srgbClr val="7030A0"/>
                </a:solidFill>
                <a:latin typeface="Times New Roman" panose="02020603050405020304" pitchFamily="18" charset="0"/>
                <a:ea typeface="Consolas"/>
                <a:cs typeface="Times New Roman" panose="02020603050405020304" pitchFamily="18" charset="0"/>
              </a:rPr>
              <a:t>  generation_requirements</a:t>
            </a:r>
          </a:p>
        </p:txBody>
      </p:sp>
      <p:sp>
        <p:nvSpPr>
          <p:cNvPr id="24" name="blueprint-code-6">
            <a:extLst>
              <a:ext uri="{FF2B5EF4-FFF2-40B4-BE49-F238E27FC236}">
                <a16:creationId xmlns:a16="http://schemas.microsoft.com/office/drawing/2014/main" id="{BE0C0197-2753-44FC-B89D-0F32036456E4}"/>
              </a:ext>
            </a:extLst>
          </p:cNvPr>
          <p:cNvSpPr>
            <a:spLocks noGrp="1"/>
          </p:cNvSpPr>
          <p:nvPr/>
        </p:nvSpPr>
        <p:spPr>
          <a:xfrm>
            <a:off x="405450" y="2970473"/>
            <a:ext cx="3657600" cy="219075"/>
          </a:xfrm>
          <a:prstGeom prst="rect">
            <a:avLst/>
          </a:prstGeom>
          <a:noFill/>
          <a:ln w="0">
            <a:noFill/>
            <a:prstDash val="solid"/>
          </a:ln>
        </p:spPr>
        <p:txBody>
          <a:bodyPr lIns="0" tIns="0" rIns="0" bIns="0" anchor="ctr"/>
          <a:lstStyle/>
          <a:p>
            <a:pPr algn="l">
              <a:defRPr sz="1200" b="0" i="0">
                <a:solidFill>
                  <a:srgbClr val="475467"/>
                </a:solidFill>
                <a:latin typeface="Consolas"/>
                <a:ea typeface="Consolas"/>
                <a:cs typeface="Consolas"/>
              </a:defRPr>
            </a:pPr>
            <a:r>
              <a:rPr sz="1200" b="0" i="0">
                <a:solidFill>
                  <a:srgbClr val="475467"/>
                </a:solidFill>
                <a:latin typeface="Times New Roman" panose="02020603050405020304" pitchFamily="18" charset="0"/>
                <a:ea typeface="Consolas"/>
                <a:cs typeface="Times New Roman" panose="02020603050405020304" pitchFamily="18" charset="0"/>
              </a:rPr>
              <a:t>    → 必须出现的事实 + 禁止补充的信息</a:t>
            </a:r>
          </a:p>
        </p:txBody>
      </p:sp>
      <p:sp>
        <p:nvSpPr>
          <p:cNvPr id="25" name="blueprint-code-7">
            <a:extLst>
              <a:ext uri="{FF2B5EF4-FFF2-40B4-BE49-F238E27FC236}">
                <a16:creationId xmlns:a16="http://schemas.microsoft.com/office/drawing/2014/main" id="{DE733784-BE63-40A9-A9EA-9015C46755DE}"/>
              </a:ext>
            </a:extLst>
          </p:cNvPr>
          <p:cNvSpPr>
            <a:spLocks noGrp="1"/>
          </p:cNvSpPr>
          <p:nvPr/>
        </p:nvSpPr>
        <p:spPr>
          <a:xfrm>
            <a:off x="405450" y="3208598"/>
            <a:ext cx="3657600" cy="219075"/>
          </a:xfrm>
          <a:prstGeom prst="rect">
            <a:avLst/>
          </a:prstGeom>
          <a:noFill/>
          <a:ln w="0">
            <a:noFill/>
            <a:prstDash val="solid"/>
          </a:ln>
        </p:spPr>
        <p:txBody>
          <a:bodyPr lIns="0" tIns="0" rIns="0" bIns="0" anchor="ctr"/>
          <a:lstStyle/>
          <a:p>
            <a:pPr algn="l">
              <a:defRPr sz="1200" b="1" i="0">
                <a:solidFill>
                  <a:srgbClr val="138A55"/>
                </a:solidFill>
                <a:latin typeface="Consolas"/>
                <a:ea typeface="Consolas"/>
                <a:cs typeface="Consolas"/>
              </a:defRPr>
            </a:pPr>
            <a:r>
              <a:rPr sz="1200" b="1" i="0">
                <a:solidFill>
                  <a:srgbClr val="7030A0"/>
                </a:solidFill>
                <a:latin typeface="Times New Roman" panose="02020603050405020304" pitchFamily="18" charset="0"/>
                <a:ea typeface="Consolas"/>
                <a:cs typeface="Times New Roman" panose="02020603050405020304" pitchFamily="18" charset="0"/>
              </a:rPr>
              <a:t>  expected_units</a:t>
            </a:r>
          </a:p>
        </p:txBody>
      </p:sp>
      <p:sp>
        <p:nvSpPr>
          <p:cNvPr id="26" name="blueprint-code-8">
            <a:extLst>
              <a:ext uri="{FF2B5EF4-FFF2-40B4-BE49-F238E27FC236}">
                <a16:creationId xmlns:a16="http://schemas.microsoft.com/office/drawing/2014/main" id="{4A74C29A-40DB-401E-8F9E-D88765B679AF}"/>
              </a:ext>
            </a:extLst>
          </p:cNvPr>
          <p:cNvSpPr>
            <a:spLocks noGrp="1"/>
          </p:cNvSpPr>
          <p:nvPr/>
        </p:nvSpPr>
        <p:spPr>
          <a:xfrm>
            <a:off x="405450" y="3446723"/>
            <a:ext cx="3657600" cy="219075"/>
          </a:xfrm>
          <a:prstGeom prst="rect">
            <a:avLst/>
          </a:prstGeom>
          <a:noFill/>
          <a:ln w="0">
            <a:noFill/>
            <a:prstDash val="solid"/>
          </a:ln>
        </p:spPr>
        <p:txBody>
          <a:bodyPr lIns="0" tIns="0" rIns="0" bIns="0" anchor="ctr"/>
          <a:lstStyle/>
          <a:p>
            <a:pPr algn="l">
              <a:defRPr sz="1200" b="0" i="0">
                <a:solidFill>
                  <a:srgbClr val="0F172A"/>
                </a:solidFill>
                <a:latin typeface="Consolas"/>
                <a:ea typeface="Consolas"/>
                <a:cs typeface="Consolas"/>
              </a:defRPr>
            </a:pPr>
            <a:r>
              <a:rPr sz="1200" b="0" i="0">
                <a:solidFill>
                  <a:srgbClr val="0F172A"/>
                </a:solidFill>
                <a:latin typeface="Times New Roman" panose="02020603050405020304" pitchFamily="18" charset="0"/>
                <a:ea typeface="Consolas"/>
                <a:cs typeface="Times New Roman" panose="02020603050405020304" pitchFamily="18" charset="0"/>
              </a:rPr>
              <a:t>    → canonical_type</a:t>
            </a:r>
          </a:p>
        </p:txBody>
      </p:sp>
      <p:sp>
        <p:nvSpPr>
          <p:cNvPr id="27" name="blueprint-code-9">
            <a:extLst>
              <a:ext uri="{FF2B5EF4-FFF2-40B4-BE49-F238E27FC236}">
                <a16:creationId xmlns:a16="http://schemas.microsoft.com/office/drawing/2014/main" id="{49651730-E065-40CA-A662-96832DCEC116}"/>
              </a:ext>
            </a:extLst>
          </p:cNvPr>
          <p:cNvSpPr>
            <a:spLocks noGrp="1"/>
          </p:cNvSpPr>
          <p:nvPr/>
        </p:nvSpPr>
        <p:spPr>
          <a:xfrm>
            <a:off x="405450" y="3684848"/>
            <a:ext cx="3657600" cy="219075"/>
          </a:xfrm>
          <a:prstGeom prst="rect">
            <a:avLst/>
          </a:prstGeom>
          <a:noFill/>
          <a:ln w="0">
            <a:noFill/>
            <a:prstDash val="solid"/>
          </a:ln>
        </p:spPr>
        <p:txBody>
          <a:bodyPr lIns="0" tIns="0" rIns="0" bIns="0" anchor="ctr"/>
          <a:lstStyle/>
          <a:p>
            <a:pPr algn="l">
              <a:defRPr sz="1200" b="0" i="0">
                <a:solidFill>
                  <a:srgbClr val="0F172A"/>
                </a:solidFill>
                <a:latin typeface="Consolas"/>
                <a:ea typeface="Consolas"/>
                <a:cs typeface="Consolas"/>
              </a:defRPr>
            </a:pPr>
            <a:r>
              <a:rPr sz="1200" b="0" i="0">
                <a:solidFill>
                  <a:srgbClr val="0F172A"/>
                </a:solidFill>
                <a:latin typeface="Times New Roman" panose="02020603050405020304" pitchFamily="18" charset="0"/>
                <a:ea typeface="Consolas"/>
                <a:cs typeface="Times New Roman" panose="02020603050405020304" pitchFamily="18" charset="0"/>
              </a:rPr>
              <a:t>    → expected_items: x / a / X / ξ / m</a:t>
            </a:r>
          </a:p>
        </p:txBody>
      </p:sp>
      <p:sp>
        <p:nvSpPr>
          <p:cNvPr id="28" name="blueprint-code-10">
            <a:extLst>
              <a:ext uri="{FF2B5EF4-FFF2-40B4-BE49-F238E27FC236}">
                <a16:creationId xmlns:a16="http://schemas.microsoft.com/office/drawing/2014/main" id="{94A2C7EF-0706-4408-9CDC-17AEA8767E8E}"/>
              </a:ext>
            </a:extLst>
          </p:cNvPr>
          <p:cNvSpPr>
            <a:spLocks noGrp="1"/>
          </p:cNvSpPr>
          <p:nvPr/>
        </p:nvSpPr>
        <p:spPr>
          <a:xfrm>
            <a:off x="405450" y="3922973"/>
            <a:ext cx="3657600" cy="219075"/>
          </a:xfrm>
          <a:prstGeom prst="rect">
            <a:avLst/>
          </a:prstGeom>
          <a:noFill/>
          <a:ln w="0">
            <a:noFill/>
            <a:prstDash val="solid"/>
          </a:ln>
        </p:spPr>
        <p:txBody>
          <a:bodyPr lIns="0" tIns="0" rIns="0" bIns="0" anchor="ctr"/>
          <a:lstStyle/>
          <a:p>
            <a:pPr algn="l">
              <a:defRPr sz="1200" b="0" i="0">
                <a:solidFill>
                  <a:srgbClr val="0F172A"/>
                </a:solidFill>
                <a:latin typeface="Consolas"/>
                <a:ea typeface="Consolas"/>
                <a:cs typeface="Consolas"/>
              </a:defRPr>
            </a:pPr>
            <a:r>
              <a:rPr sz="1200" b="0" i="0">
                <a:solidFill>
                  <a:srgbClr val="0F172A"/>
                </a:solidFill>
                <a:latin typeface="Times New Roman" panose="02020603050405020304" pitchFamily="18" charset="0"/>
                <a:ea typeface="Consolas"/>
                <a:cs typeface="Times New Roman" panose="02020603050405020304" pitchFamily="18" charset="0"/>
              </a:rPr>
              <a:t>    → expected_network_relations</a:t>
            </a:r>
          </a:p>
        </p:txBody>
      </p:sp>
      <p:sp>
        <p:nvSpPr>
          <p:cNvPr id="29" name="blueprint-code-11">
            <a:extLst>
              <a:ext uri="{FF2B5EF4-FFF2-40B4-BE49-F238E27FC236}">
                <a16:creationId xmlns:a16="http://schemas.microsoft.com/office/drawing/2014/main" id="{5A38938E-96AC-4DA6-9542-75FCFABECC7C}"/>
              </a:ext>
            </a:extLst>
          </p:cNvPr>
          <p:cNvSpPr>
            <a:spLocks noGrp="1"/>
          </p:cNvSpPr>
          <p:nvPr/>
        </p:nvSpPr>
        <p:spPr>
          <a:xfrm>
            <a:off x="405450" y="4161098"/>
            <a:ext cx="3657600" cy="219075"/>
          </a:xfrm>
          <a:prstGeom prst="rect">
            <a:avLst/>
          </a:prstGeom>
          <a:noFill/>
          <a:ln w="0">
            <a:noFill/>
            <a:prstDash val="solid"/>
          </a:ln>
        </p:spPr>
        <p:txBody>
          <a:bodyPr lIns="0" tIns="0" rIns="0" bIns="0" anchor="ctr"/>
          <a:lstStyle/>
          <a:p>
            <a:pPr algn="l">
              <a:defRPr sz="1200" b="1" i="0">
                <a:solidFill>
                  <a:srgbClr val="E43131"/>
                </a:solidFill>
                <a:latin typeface="Consolas"/>
                <a:ea typeface="Consolas"/>
                <a:cs typeface="Consolas"/>
              </a:defRPr>
            </a:pPr>
            <a:r>
              <a:rPr sz="1200" b="1" i="0">
                <a:solidFill>
                  <a:srgbClr val="E43131"/>
                </a:solidFill>
                <a:latin typeface="Times New Roman" panose="02020603050405020304" pitchFamily="18" charset="0"/>
                <a:ea typeface="Consolas"/>
                <a:cs typeface="Times New Roman" panose="02020603050405020304" pitchFamily="18" charset="0"/>
              </a:rPr>
              <a:t>    → expects_clarification: true</a:t>
            </a:r>
          </a:p>
        </p:txBody>
      </p:sp>
      <p:sp>
        <p:nvSpPr>
          <p:cNvPr id="30" name="blueprint-code-12">
            <a:extLst>
              <a:ext uri="{FF2B5EF4-FFF2-40B4-BE49-F238E27FC236}">
                <a16:creationId xmlns:a16="http://schemas.microsoft.com/office/drawing/2014/main" id="{C5C4AE0F-9319-451F-98FA-696046FDA085}"/>
              </a:ext>
            </a:extLst>
          </p:cNvPr>
          <p:cNvSpPr>
            <a:spLocks noGrp="1"/>
          </p:cNvSpPr>
          <p:nvPr/>
        </p:nvSpPr>
        <p:spPr>
          <a:xfrm>
            <a:off x="405450" y="4399223"/>
            <a:ext cx="3657600" cy="219075"/>
          </a:xfrm>
          <a:prstGeom prst="rect">
            <a:avLst/>
          </a:prstGeom>
          <a:noFill/>
          <a:ln w="0">
            <a:noFill/>
            <a:prstDash val="solid"/>
          </a:ln>
        </p:spPr>
        <p:txBody>
          <a:bodyPr lIns="0" tIns="0" rIns="0" bIns="0" anchor="ctr"/>
          <a:lstStyle/>
          <a:p>
            <a:pPr algn="l">
              <a:defRPr sz="1200" b="1" i="1">
                <a:solidFill>
                  <a:srgbClr val="2F4BAD"/>
                </a:solidFill>
                <a:latin typeface="Consolas"/>
                <a:ea typeface="Consolas"/>
                <a:cs typeface="Consolas"/>
              </a:defRPr>
            </a:pPr>
            <a:r>
              <a:rPr sz="1200" b="1" i="1">
                <a:solidFill>
                  <a:srgbClr val="2F4BAD"/>
                </a:solidFill>
                <a:latin typeface="Times New Roman" panose="02020603050405020304" pitchFamily="18" charset="0"/>
                <a:ea typeface="Consolas"/>
                <a:cs typeface="Times New Roman" panose="02020603050405020304" pitchFamily="18" charset="0"/>
              </a:rPr>
              <a:t>}</a:t>
            </a:r>
          </a:p>
        </p:txBody>
      </p:sp>
      <p:sp>
        <p:nvSpPr>
          <p:cNvPr id="31" name="blueprint-arrow-150">
            <a:extLst>
              <a:ext uri="{FF2B5EF4-FFF2-40B4-BE49-F238E27FC236}">
                <a16:creationId xmlns:a16="http://schemas.microsoft.com/office/drawing/2014/main" id="{2A8C7359-EA73-4CEB-B91D-3348D0DAB31F}"/>
              </a:ext>
            </a:extLst>
          </p:cNvPr>
          <p:cNvSpPr>
            <a:spLocks noGrp="1"/>
          </p:cNvSpPr>
          <p:nvPr/>
        </p:nvSpPr>
        <p:spPr>
          <a:xfrm>
            <a:off x="1405575" y="5065973"/>
            <a:ext cx="228600" cy="171450"/>
          </a:xfrm>
          <a:prstGeom prst="rightArrow">
            <a:avLst/>
          </a:prstGeom>
          <a:solidFill>
            <a:srgbClr val="176FC1"/>
          </a:solidFill>
          <a:ln w="0">
            <a:noFill/>
            <a:prstDash val="solid"/>
          </a:ln>
        </p:spPr>
      </p:sp>
      <p:sp>
        <p:nvSpPr>
          <p:cNvPr id="32" name="blueprint-arrow-285">
            <a:extLst>
              <a:ext uri="{FF2B5EF4-FFF2-40B4-BE49-F238E27FC236}">
                <a16:creationId xmlns:a16="http://schemas.microsoft.com/office/drawing/2014/main" id="{60F5361A-44F4-4B41-9E2B-3000421112B2}"/>
              </a:ext>
            </a:extLst>
          </p:cNvPr>
          <p:cNvSpPr>
            <a:spLocks noGrp="1"/>
          </p:cNvSpPr>
          <p:nvPr/>
        </p:nvSpPr>
        <p:spPr>
          <a:xfrm>
            <a:off x="2691450" y="5065973"/>
            <a:ext cx="228600" cy="171450"/>
          </a:xfrm>
          <a:prstGeom prst="rightArrow">
            <a:avLst/>
          </a:prstGeom>
          <a:solidFill>
            <a:srgbClr val="176FC1"/>
          </a:solidFill>
          <a:ln w="0">
            <a:noFill/>
            <a:prstDash val="solid"/>
          </a:ln>
        </p:spPr>
      </p:sp>
      <p:sp>
        <p:nvSpPr>
          <p:cNvPr id="33" name="P_02-flow-box">
            <a:extLst>
              <a:ext uri="{FF2B5EF4-FFF2-40B4-BE49-F238E27FC236}">
                <a16:creationId xmlns:a16="http://schemas.microsoft.com/office/drawing/2014/main" id="{F93D60B6-9BDC-4486-AA76-C9F3E9E7C85A}"/>
              </a:ext>
            </a:extLst>
          </p:cNvPr>
          <p:cNvSpPr>
            <a:spLocks noGrp="1"/>
          </p:cNvSpPr>
          <p:nvPr/>
        </p:nvSpPr>
        <p:spPr>
          <a:xfrm>
            <a:off x="348300" y="4894523"/>
            <a:ext cx="1047750" cy="514350"/>
          </a:xfrm>
          <a:prstGeom prst="roundRect">
            <a:avLst>
              <a:gd name="adj" fmla="val 14815"/>
            </a:avLst>
          </a:prstGeom>
          <a:solidFill>
            <a:srgbClr val="EAF3FF"/>
          </a:solidFill>
          <a:ln w="9525">
            <a:solidFill>
              <a:srgbClr val="176FC1"/>
            </a:solidFill>
            <a:prstDash val="solid"/>
          </a:ln>
        </p:spPr>
      </p:sp>
      <p:sp>
        <p:nvSpPr>
          <p:cNvPr id="34" name="P_02-flow-text">
            <a:extLst>
              <a:ext uri="{FF2B5EF4-FFF2-40B4-BE49-F238E27FC236}">
                <a16:creationId xmlns:a16="http://schemas.microsoft.com/office/drawing/2014/main" id="{813DC952-AC75-4FCC-B981-34186C28980B}"/>
              </a:ext>
            </a:extLst>
          </p:cNvPr>
          <p:cNvSpPr>
            <a:spLocks noGrp="1"/>
          </p:cNvSpPr>
          <p:nvPr/>
        </p:nvSpPr>
        <p:spPr>
          <a:xfrm>
            <a:off x="386400" y="4904048"/>
            <a:ext cx="971550" cy="485775"/>
          </a:xfrm>
          <a:prstGeom prst="rect">
            <a:avLst/>
          </a:prstGeom>
          <a:noFill/>
          <a:ln w="0">
            <a:noFill/>
            <a:prstDash val="solid"/>
          </a:ln>
        </p:spPr>
        <p:txBody>
          <a:bodyPr lIns="0" tIns="0" rIns="0" bIns="0" anchor="ctr"/>
          <a:lstStyle/>
          <a:p>
            <a:pPr algn="ctr">
              <a:defRPr sz="1200" b="1" i="0">
                <a:solidFill>
                  <a:srgbClr val="176FC1"/>
                </a:solidFill>
                <a:latin typeface="Microsoft YaHei"/>
                <a:ea typeface="Microsoft YaHei"/>
                <a:cs typeface="Microsoft YaHei"/>
              </a:defRPr>
            </a:pPr>
            <a:r>
              <a:rPr sz="1200" b="1" i="0">
                <a:solidFill>
                  <a:schemeClr val="accent5">
                    <a:lumMod val="50000"/>
                  </a:schemeClr>
                </a:solidFill>
                <a:latin typeface="Microsoft YaHei"/>
                <a:ea typeface="Microsoft YaHei"/>
                <a:cs typeface="Microsoft YaHei"/>
              </a:rPr>
              <a:t>P_02  造题</a:t>
            </a:r>
          </a:p>
          <a:p>
            <a:pPr algn="ctr">
              <a:defRPr sz="1200" b="1" i="0">
                <a:solidFill>
                  <a:srgbClr val="176FC1"/>
                </a:solidFill>
                <a:latin typeface="Microsoft YaHei"/>
                <a:ea typeface="Microsoft YaHei"/>
                <a:cs typeface="Microsoft YaHei"/>
              </a:defRPr>
            </a:pPr>
            <a:r>
              <a:rPr sz="1200" b="1" i="0">
                <a:solidFill>
                  <a:schemeClr val="accent5">
                    <a:lumMod val="50000"/>
                  </a:schemeClr>
                </a:solidFill>
                <a:latin typeface="Microsoft YaHei"/>
                <a:ea typeface="Microsoft YaHei"/>
                <a:cs typeface="Microsoft YaHei"/>
              </a:rPr>
              <a:t>异质文本</a:t>
            </a:r>
          </a:p>
        </p:txBody>
      </p:sp>
      <p:sp>
        <p:nvSpPr>
          <p:cNvPr id="35" name="P_01-flow-box">
            <a:extLst>
              <a:ext uri="{FF2B5EF4-FFF2-40B4-BE49-F238E27FC236}">
                <a16:creationId xmlns:a16="http://schemas.microsoft.com/office/drawing/2014/main" id="{9147CBE7-2E04-471C-9313-DE9697FBF7AC}"/>
              </a:ext>
            </a:extLst>
          </p:cNvPr>
          <p:cNvSpPr>
            <a:spLocks noGrp="1"/>
          </p:cNvSpPr>
          <p:nvPr/>
        </p:nvSpPr>
        <p:spPr>
          <a:xfrm>
            <a:off x="1634175" y="4894523"/>
            <a:ext cx="1047750" cy="514350"/>
          </a:xfrm>
          <a:prstGeom prst="roundRect">
            <a:avLst>
              <a:gd name="adj" fmla="val 14815"/>
            </a:avLst>
          </a:prstGeom>
          <a:solidFill>
            <a:srgbClr val="EAF3FF"/>
          </a:solidFill>
          <a:ln w="9525">
            <a:solidFill>
              <a:srgbClr val="176FC1"/>
            </a:solidFill>
            <a:prstDash val="solid"/>
          </a:ln>
        </p:spPr>
      </p:sp>
      <p:sp>
        <p:nvSpPr>
          <p:cNvPr id="36" name="P_01-flow-text">
            <a:extLst>
              <a:ext uri="{FF2B5EF4-FFF2-40B4-BE49-F238E27FC236}">
                <a16:creationId xmlns:a16="http://schemas.microsoft.com/office/drawing/2014/main" id="{8D593CC6-9BD6-452C-B49F-1374110FC3B3}"/>
              </a:ext>
            </a:extLst>
          </p:cNvPr>
          <p:cNvSpPr>
            <a:spLocks noGrp="1"/>
          </p:cNvSpPr>
          <p:nvPr/>
        </p:nvSpPr>
        <p:spPr>
          <a:xfrm>
            <a:off x="1672275" y="4904048"/>
            <a:ext cx="971550" cy="485775"/>
          </a:xfrm>
          <a:prstGeom prst="rect">
            <a:avLst/>
          </a:prstGeom>
          <a:noFill/>
          <a:ln w="0">
            <a:noFill/>
            <a:prstDash val="solid"/>
          </a:ln>
        </p:spPr>
        <p:txBody>
          <a:bodyPr lIns="0" tIns="0" rIns="0" bIns="0" anchor="ctr"/>
          <a:lstStyle/>
          <a:p>
            <a:pPr algn="ctr"/>
            <a:r>
              <a:rPr sz="1200" b="1">
                <a:solidFill>
                  <a:schemeClr val="accent5">
                    <a:lumMod val="50000"/>
                  </a:schemeClr>
                </a:solidFill>
                <a:latin typeface="Microsoft YaHei"/>
                <a:ea typeface="Microsoft YaHei"/>
              </a:rPr>
              <a:t>P_01  解题</a:t>
            </a:r>
          </a:p>
          <a:p>
            <a:pPr algn="ctr"/>
            <a:r>
              <a:rPr sz="1200" b="1">
                <a:solidFill>
                  <a:schemeClr val="accent5">
                    <a:lumMod val="50000"/>
                  </a:schemeClr>
                </a:solidFill>
                <a:latin typeface="Microsoft YaHei"/>
                <a:ea typeface="Microsoft YaHei"/>
              </a:rPr>
              <a:t>六元组</a:t>
            </a:r>
          </a:p>
        </p:txBody>
      </p:sp>
      <p:sp>
        <p:nvSpPr>
          <p:cNvPr id="37" name="A_04-flow-box">
            <a:extLst>
              <a:ext uri="{FF2B5EF4-FFF2-40B4-BE49-F238E27FC236}">
                <a16:creationId xmlns:a16="http://schemas.microsoft.com/office/drawing/2014/main" id="{1F56EAE3-4F72-419B-BF6C-040E6522E2EB}"/>
              </a:ext>
            </a:extLst>
          </p:cNvPr>
          <p:cNvSpPr>
            <a:spLocks noGrp="1"/>
          </p:cNvSpPr>
          <p:nvPr/>
        </p:nvSpPr>
        <p:spPr>
          <a:xfrm>
            <a:off x="2920049" y="4894523"/>
            <a:ext cx="1190623" cy="514350"/>
          </a:xfrm>
          <a:prstGeom prst="roundRect">
            <a:avLst>
              <a:gd name="adj" fmla="val 14815"/>
            </a:avLst>
          </a:prstGeom>
          <a:solidFill>
            <a:srgbClr val="EAF3FF"/>
          </a:solidFill>
          <a:ln w="9525">
            <a:solidFill>
              <a:srgbClr val="176FC1"/>
            </a:solidFill>
            <a:prstDash val="solid"/>
          </a:ln>
        </p:spPr>
      </p:sp>
      <p:sp>
        <p:nvSpPr>
          <p:cNvPr id="38" name="A_04-flow-text">
            <a:extLst>
              <a:ext uri="{FF2B5EF4-FFF2-40B4-BE49-F238E27FC236}">
                <a16:creationId xmlns:a16="http://schemas.microsoft.com/office/drawing/2014/main" id="{B208B24A-8945-4574-AC65-298A1A338D2D}"/>
              </a:ext>
            </a:extLst>
          </p:cNvPr>
          <p:cNvSpPr>
            <a:spLocks noGrp="1"/>
          </p:cNvSpPr>
          <p:nvPr/>
        </p:nvSpPr>
        <p:spPr>
          <a:xfrm>
            <a:off x="2958150" y="4904048"/>
            <a:ext cx="1152522" cy="485775"/>
          </a:xfrm>
          <a:prstGeom prst="rect">
            <a:avLst/>
          </a:prstGeom>
          <a:noFill/>
          <a:ln w="0">
            <a:noFill/>
            <a:prstDash val="solid"/>
          </a:ln>
        </p:spPr>
        <p:txBody>
          <a:bodyPr lIns="0" tIns="0" rIns="0" bIns="0" anchor="ctr"/>
          <a:lstStyle/>
          <a:p>
            <a:pPr algn="ctr"/>
            <a:r>
              <a:rPr sz="1200" b="1">
                <a:solidFill>
                  <a:schemeClr val="accent5">
                    <a:lumMod val="50000"/>
                  </a:schemeClr>
                </a:solidFill>
                <a:latin typeface="Microsoft YaHei"/>
                <a:ea typeface="Microsoft YaHei"/>
              </a:rPr>
              <a:t>A_04  对照蓝图</a:t>
            </a:r>
          </a:p>
          <a:p>
            <a:pPr algn="ctr"/>
            <a:r>
              <a:rPr sz="1200" b="1">
                <a:solidFill>
                  <a:schemeClr val="accent5">
                    <a:lumMod val="50000"/>
                  </a:schemeClr>
                </a:solidFill>
                <a:latin typeface="Microsoft YaHei"/>
                <a:ea typeface="Microsoft YaHei"/>
              </a:rPr>
              <a:t>程序评分</a:t>
            </a:r>
          </a:p>
        </p:txBody>
      </p:sp>
      <p:sp>
        <p:nvSpPr>
          <p:cNvPr id="41" name="main-divider">
            <a:extLst>
              <a:ext uri="{FF2B5EF4-FFF2-40B4-BE49-F238E27FC236}">
                <a16:creationId xmlns:a16="http://schemas.microsoft.com/office/drawing/2014/main" id="{70CAF01D-22DD-42E0-9343-D4FB13FF3E44}"/>
              </a:ext>
            </a:extLst>
          </p:cNvPr>
          <p:cNvSpPr>
            <a:spLocks noGrp="1"/>
          </p:cNvSpPr>
          <p:nvPr/>
        </p:nvSpPr>
        <p:spPr>
          <a:xfrm>
            <a:off x="4348800" y="1360748"/>
            <a:ext cx="9525" cy="4762500"/>
          </a:xfrm>
          <a:prstGeom prst="rect">
            <a:avLst/>
          </a:prstGeom>
          <a:solidFill>
            <a:srgbClr val="C8D0DA"/>
          </a:solidFill>
          <a:ln w="0">
            <a:solidFill>
              <a:srgbClr val="C8D0DA"/>
            </a:solidFill>
            <a:prstDash val="solid"/>
          </a:ln>
        </p:spPr>
      </p:sp>
      <p:sp>
        <p:nvSpPr>
          <p:cNvPr id="42" name="metric-header-square">
            <a:extLst>
              <a:ext uri="{FF2B5EF4-FFF2-40B4-BE49-F238E27FC236}">
                <a16:creationId xmlns:a16="http://schemas.microsoft.com/office/drawing/2014/main" id="{65C2AD84-2A80-4326-87DF-D9F2EC48DC4E}"/>
              </a:ext>
            </a:extLst>
          </p:cNvPr>
          <p:cNvSpPr>
            <a:spLocks noGrp="1"/>
          </p:cNvSpPr>
          <p:nvPr/>
        </p:nvSpPr>
        <p:spPr>
          <a:xfrm>
            <a:off x="4501200" y="1398848"/>
            <a:ext cx="123825" cy="123825"/>
          </a:xfrm>
          <a:prstGeom prst="rect">
            <a:avLst/>
          </a:prstGeom>
          <a:solidFill>
            <a:schemeClr val="tx1"/>
          </a:solidFill>
          <a:ln w="0">
            <a:solidFill>
              <a:srgbClr val="5B8E55"/>
            </a:solidFill>
            <a:prstDash val="solid"/>
          </a:ln>
        </p:spPr>
      </p:sp>
      <p:sp>
        <p:nvSpPr>
          <p:cNvPr id="43" name="metric-header-text">
            <a:extLst>
              <a:ext uri="{FF2B5EF4-FFF2-40B4-BE49-F238E27FC236}">
                <a16:creationId xmlns:a16="http://schemas.microsoft.com/office/drawing/2014/main" id="{2157DEFB-09DF-470F-B6DF-B07F4246BDBA}"/>
              </a:ext>
            </a:extLst>
          </p:cNvPr>
          <p:cNvSpPr>
            <a:spLocks noGrp="1"/>
          </p:cNvSpPr>
          <p:nvPr/>
        </p:nvSpPr>
        <p:spPr>
          <a:xfrm>
            <a:off x="4710750" y="1341698"/>
            <a:ext cx="7124700" cy="285750"/>
          </a:xfrm>
          <a:prstGeom prst="rect">
            <a:avLst/>
          </a:prstGeom>
          <a:noFill/>
          <a:ln w="0">
            <a:noFill/>
            <a:prstDash val="solid"/>
          </a:ln>
        </p:spPr>
        <p:txBody>
          <a:bodyPr lIns="0" tIns="0" rIns="0" bIns="0" anchor="ctr"/>
          <a:lstStyle/>
          <a:p>
            <a:pPr algn="l">
              <a:defRPr sz="1650" b="1" i="0">
                <a:solidFill>
                  <a:srgbClr val="5B8E55"/>
                </a:solidFill>
                <a:latin typeface="Microsoft YaHei"/>
                <a:ea typeface="Microsoft YaHei"/>
                <a:cs typeface="Microsoft YaHei"/>
              </a:defRPr>
            </a:pPr>
            <a:r>
              <a:rPr sz="1600" b="1" i="0">
                <a:solidFill>
                  <a:schemeClr val="bg2">
                    <a:lumMod val="10000"/>
                  </a:schemeClr>
                </a:solidFill>
                <a:latin typeface="Microsoft YaHei"/>
                <a:ea typeface="Microsoft YaHei"/>
                <a:cs typeface="Microsoft YaHei"/>
              </a:rPr>
              <a:t>2  </a:t>
            </a:r>
            <a:r>
              <a:rPr lang="zh-CN" altLang="en-US" sz="1600" b="1">
                <a:solidFill>
                  <a:schemeClr val="bg2">
                    <a:lumMod val="10000"/>
                  </a:schemeClr>
                </a:solidFill>
                <a:latin typeface="Microsoft YaHei"/>
                <a:ea typeface="Microsoft YaHei"/>
                <a:cs typeface="Microsoft YaHei"/>
              </a:rPr>
              <a:t>评估</a:t>
            </a:r>
            <a:r>
              <a:rPr sz="1600" b="1" i="0">
                <a:solidFill>
                  <a:schemeClr val="bg2">
                    <a:lumMod val="10000"/>
                  </a:schemeClr>
                </a:solidFill>
                <a:latin typeface="Microsoft YaHei"/>
                <a:ea typeface="Microsoft YaHei"/>
                <a:cs typeface="Microsoft YaHei"/>
              </a:rPr>
              <a:t>指标：由 A_04 对结果做确定性计算</a:t>
            </a:r>
          </a:p>
        </p:txBody>
      </p:sp>
      <p:sp>
        <p:nvSpPr>
          <p:cNvPr id="44" name="metric-col-name">
            <a:extLst>
              <a:ext uri="{FF2B5EF4-FFF2-40B4-BE49-F238E27FC236}">
                <a16:creationId xmlns:a16="http://schemas.microsoft.com/office/drawing/2014/main" id="{22FC070B-30A8-4A05-AAB3-34A66102BE22}"/>
              </a:ext>
            </a:extLst>
          </p:cNvPr>
          <p:cNvSpPr>
            <a:spLocks noGrp="1"/>
          </p:cNvSpPr>
          <p:nvPr/>
        </p:nvSpPr>
        <p:spPr>
          <a:xfrm>
            <a:off x="4882200" y="1636973"/>
            <a:ext cx="1285875" cy="209550"/>
          </a:xfrm>
          <a:prstGeom prst="rect">
            <a:avLst/>
          </a:prstGeom>
          <a:noFill/>
          <a:ln w="0">
            <a:noFill/>
            <a:prstDash val="solid"/>
          </a:ln>
        </p:spPr>
        <p:txBody>
          <a:bodyPr lIns="0" tIns="0" rIns="0" bIns="0" anchor="ctr"/>
          <a:lstStyle/>
          <a:p>
            <a:pPr algn="l">
              <a:defRPr sz="1125" b="1" i="0">
                <a:solidFill>
                  <a:srgbClr val="475467"/>
                </a:solidFill>
                <a:latin typeface="Microsoft YaHei"/>
                <a:ea typeface="Microsoft YaHei"/>
                <a:cs typeface="Microsoft YaHei"/>
              </a:defRPr>
            </a:pPr>
            <a:r>
              <a:rPr sz="1125" b="1" i="0">
                <a:solidFill>
                  <a:srgbClr val="475467"/>
                </a:solidFill>
                <a:latin typeface="Microsoft YaHei"/>
                <a:ea typeface="Microsoft YaHei"/>
                <a:cs typeface="Microsoft YaHei"/>
              </a:rPr>
              <a:t>指标</a:t>
            </a:r>
          </a:p>
        </p:txBody>
      </p:sp>
      <p:sp>
        <p:nvSpPr>
          <p:cNvPr id="45" name="metric-col-method">
            <a:extLst>
              <a:ext uri="{FF2B5EF4-FFF2-40B4-BE49-F238E27FC236}">
                <a16:creationId xmlns:a16="http://schemas.microsoft.com/office/drawing/2014/main" id="{7A949794-BE24-45DF-A5FE-CAFA39E3BAB2}"/>
              </a:ext>
            </a:extLst>
          </p:cNvPr>
          <p:cNvSpPr>
            <a:spLocks noGrp="1"/>
          </p:cNvSpPr>
          <p:nvPr/>
        </p:nvSpPr>
        <p:spPr>
          <a:xfrm>
            <a:off x="6168075" y="1636973"/>
            <a:ext cx="4000500" cy="209550"/>
          </a:xfrm>
          <a:prstGeom prst="rect">
            <a:avLst/>
          </a:prstGeom>
          <a:noFill/>
          <a:ln w="0">
            <a:noFill/>
            <a:prstDash val="solid"/>
          </a:ln>
        </p:spPr>
        <p:txBody>
          <a:bodyPr lIns="0" tIns="0" rIns="0" bIns="0" anchor="ctr"/>
          <a:lstStyle/>
          <a:p>
            <a:pPr algn="l">
              <a:defRPr sz="1125" b="1" i="0">
                <a:solidFill>
                  <a:srgbClr val="475467"/>
                </a:solidFill>
                <a:latin typeface="Microsoft YaHei"/>
                <a:ea typeface="Microsoft YaHei"/>
                <a:cs typeface="Microsoft YaHei"/>
              </a:defRPr>
            </a:pPr>
            <a:r>
              <a:rPr sz="1125" i="1">
                <a:solidFill>
                  <a:schemeClr val="bg2">
                    <a:lumMod val="25000"/>
                  </a:schemeClr>
                </a:solidFill>
                <a:latin typeface="Times New Roman" panose="02020603050405020304" pitchFamily="18" charset="0"/>
                <a:ea typeface="Microsoft YaHei"/>
                <a:cs typeface="Times New Roman" panose="02020603050405020304" pitchFamily="18" charset="0"/>
              </a:rPr>
              <a:t>技术定义</a:t>
            </a:r>
          </a:p>
        </p:txBody>
      </p:sp>
      <p:sp>
        <p:nvSpPr>
          <p:cNvPr id="48" name="metric-no-circle-1">
            <a:extLst>
              <a:ext uri="{FF2B5EF4-FFF2-40B4-BE49-F238E27FC236}">
                <a16:creationId xmlns:a16="http://schemas.microsoft.com/office/drawing/2014/main" id="{8EC6C583-9FAF-4ABD-A7E5-4C0DB1BFE5A9}"/>
              </a:ext>
            </a:extLst>
          </p:cNvPr>
          <p:cNvSpPr>
            <a:spLocks noGrp="1"/>
          </p:cNvSpPr>
          <p:nvPr/>
        </p:nvSpPr>
        <p:spPr>
          <a:xfrm>
            <a:off x="4577400" y="1979873"/>
            <a:ext cx="247650" cy="247650"/>
          </a:xfrm>
          <a:prstGeom prst="ellipse">
            <a:avLst/>
          </a:prstGeom>
          <a:solidFill>
            <a:srgbClr val="176FC1"/>
          </a:solidFill>
          <a:ln w="0">
            <a:solidFill>
              <a:srgbClr val="176FC1"/>
            </a:solidFill>
            <a:prstDash val="solid"/>
          </a:ln>
        </p:spPr>
      </p:sp>
      <p:sp>
        <p:nvSpPr>
          <p:cNvPr id="49" name="metric-no-1">
            <a:extLst>
              <a:ext uri="{FF2B5EF4-FFF2-40B4-BE49-F238E27FC236}">
                <a16:creationId xmlns:a16="http://schemas.microsoft.com/office/drawing/2014/main" id="{08BFDD20-9122-4A35-ACC6-6EDB6AF771F6}"/>
              </a:ext>
            </a:extLst>
          </p:cNvPr>
          <p:cNvSpPr>
            <a:spLocks noGrp="1"/>
          </p:cNvSpPr>
          <p:nvPr/>
        </p:nvSpPr>
        <p:spPr>
          <a:xfrm>
            <a:off x="4577400" y="1979873"/>
            <a:ext cx="247650" cy="247650"/>
          </a:xfrm>
          <a:prstGeom prst="rect">
            <a:avLst/>
          </a:prstGeom>
          <a:noFill/>
          <a:ln w="0">
            <a:noFill/>
            <a:prstDash val="solid"/>
          </a:ln>
        </p:spPr>
        <p:txBody>
          <a:bodyPr lIns="0" tIns="0" rIns="0" bIns="0" anchor="ctr"/>
          <a:lstStyle/>
          <a:p>
            <a:pPr algn="ctr">
              <a:defRPr sz="1125" b="1" i="0">
                <a:solidFill>
                  <a:srgbClr val="FFFFFF"/>
                </a:solidFill>
                <a:latin typeface="Microsoft YaHei"/>
                <a:ea typeface="Microsoft YaHei"/>
                <a:cs typeface="Microsoft YaHei"/>
              </a:defRPr>
            </a:pPr>
            <a:r>
              <a:rPr sz="1125" b="1" i="0">
                <a:solidFill>
                  <a:srgbClr val="FFFFFF"/>
                </a:solidFill>
                <a:latin typeface="Microsoft YaHei"/>
                <a:ea typeface="Microsoft YaHei"/>
                <a:cs typeface="Microsoft YaHei"/>
              </a:rPr>
              <a:t>1</a:t>
            </a:r>
          </a:p>
        </p:txBody>
      </p:sp>
      <p:sp>
        <p:nvSpPr>
          <p:cNvPr id="50" name="metric-name-1">
            <a:extLst>
              <a:ext uri="{FF2B5EF4-FFF2-40B4-BE49-F238E27FC236}">
                <a16:creationId xmlns:a16="http://schemas.microsoft.com/office/drawing/2014/main" id="{1BB0B2F9-3CD4-4128-B8A8-CEBA685BA72B}"/>
              </a:ext>
            </a:extLst>
          </p:cNvPr>
          <p:cNvSpPr>
            <a:spLocks noGrp="1"/>
          </p:cNvSpPr>
          <p:nvPr/>
        </p:nvSpPr>
        <p:spPr>
          <a:xfrm>
            <a:off x="4901250" y="1922723"/>
            <a:ext cx="1238250" cy="361950"/>
          </a:xfrm>
          <a:prstGeom prst="rect">
            <a:avLst/>
          </a:prstGeom>
          <a:noFill/>
          <a:ln w="0">
            <a:noFill/>
            <a:prstDash val="solid"/>
          </a:ln>
        </p:spPr>
        <p:txBody>
          <a:bodyPr lIns="0" tIns="0" rIns="0" bIns="0" anchor="ctr"/>
          <a:lstStyle/>
          <a:p>
            <a:pPr algn="l">
              <a:defRPr sz="1200" b="1" i="0">
                <a:solidFill>
                  <a:srgbClr val="0F172A"/>
                </a:solidFill>
                <a:latin typeface="Microsoft YaHei"/>
                <a:ea typeface="Microsoft YaHei"/>
                <a:cs typeface="Microsoft YaHei"/>
              </a:defRPr>
            </a:pPr>
            <a:r>
              <a:rPr sz="1200" b="1" i="0">
                <a:latin typeface="Microsoft YaHei"/>
                <a:ea typeface="Microsoft YaHei"/>
                <a:cs typeface="Microsoft YaHei"/>
              </a:rPr>
              <a:t>Schema</a:t>
            </a:r>
          </a:p>
        </p:txBody>
      </p:sp>
      <p:sp>
        <p:nvSpPr>
          <p:cNvPr id="51" name="metric-def-1">
            <a:extLst>
              <a:ext uri="{FF2B5EF4-FFF2-40B4-BE49-F238E27FC236}">
                <a16:creationId xmlns:a16="http://schemas.microsoft.com/office/drawing/2014/main" id="{38D11E7F-D890-45D6-97B0-F0D6F3A5AA19}"/>
              </a:ext>
            </a:extLst>
          </p:cNvPr>
          <p:cNvSpPr>
            <a:spLocks noGrp="1"/>
          </p:cNvSpPr>
          <p:nvPr/>
        </p:nvSpPr>
        <p:spPr>
          <a:xfrm>
            <a:off x="6168075" y="1922723"/>
            <a:ext cx="4048125" cy="361950"/>
          </a:xfrm>
          <a:prstGeom prst="rect">
            <a:avLst/>
          </a:prstGeom>
          <a:noFill/>
          <a:ln w="0">
            <a:noFill/>
            <a:prstDash val="solid"/>
          </a:ln>
        </p:spPr>
        <p:txBody>
          <a:bodyPr lIns="0" tIns="0" rIns="0" bIns="0" anchor="ctr"/>
          <a:lstStyle/>
          <a:p>
            <a:pPr algn="l">
              <a:defRPr sz="1200" b="0" i="0">
                <a:solidFill>
                  <a:srgbClr val="2F4BAD"/>
                </a:solidFill>
                <a:latin typeface="Consolas"/>
                <a:ea typeface="Consolas"/>
                <a:cs typeface="Consolas"/>
              </a:defRPr>
            </a:pPr>
            <a:r>
              <a:rPr sz="1200" i="1">
                <a:solidFill>
                  <a:schemeClr val="bg2">
                    <a:lumMod val="25000"/>
                  </a:schemeClr>
                </a:solidFill>
                <a:latin typeface="Times New Roman" panose="02020603050405020304" pitchFamily="18" charset="0"/>
                <a:ea typeface="Consolas"/>
                <a:cs typeface="Times New Roman" panose="02020603050405020304" pitchFamily="18" charset="0"/>
              </a:rPr>
              <a:t>int(mapping is not None)</a:t>
            </a:r>
            <a:r>
              <a:rPr lang="en-US" altLang="zh-CN" sz="1200" i="1">
                <a:solidFill>
                  <a:schemeClr val="bg2">
                    <a:lumMod val="25000"/>
                  </a:schemeClr>
                </a:solidFill>
                <a:latin typeface="Times New Roman" panose="02020603050405020304" pitchFamily="18" charset="0"/>
                <a:ea typeface="Consolas"/>
                <a:cs typeface="Times New Roman" panose="02020603050405020304" pitchFamily="18" charset="0"/>
              </a:rPr>
              <a:t> </a:t>
            </a:r>
            <a:r>
              <a:rPr lang="zh-CN" altLang="en-US" sz="1200" i="1">
                <a:solidFill>
                  <a:schemeClr val="bg2">
                    <a:lumMod val="25000"/>
                  </a:schemeClr>
                </a:solidFill>
                <a:latin typeface="Times New Roman" panose="02020603050405020304" pitchFamily="18" charset="0"/>
                <a:ea typeface="Consolas"/>
                <a:cs typeface="Times New Roman" panose="02020603050405020304" pitchFamily="18" charset="0"/>
              </a:rPr>
              <a:t>前面说过了</a:t>
            </a:r>
            <a:endParaRPr sz="1200" i="1">
              <a:solidFill>
                <a:schemeClr val="bg2">
                  <a:lumMod val="25000"/>
                </a:schemeClr>
              </a:solidFill>
              <a:latin typeface="Times New Roman" panose="02020603050405020304" pitchFamily="18" charset="0"/>
              <a:ea typeface="Consolas"/>
              <a:cs typeface="Times New Roman" panose="02020603050405020304" pitchFamily="18" charset="0"/>
            </a:endParaRPr>
          </a:p>
        </p:txBody>
      </p:sp>
      <p:sp>
        <p:nvSpPr>
          <p:cNvPr id="55" name="metric-no-circle-2">
            <a:extLst>
              <a:ext uri="{FF2B5EF4-FFF2-40B4-BE49-F238E27FC236}">
                <a16:creationId xmlns:a16="http://schemas.microsoft.com/office/drawing/2014/main" id="{34C390A0-364A-475E-8027-A5567B17AA7C}"/>
              </a:ext>
            </a:extLst>
          </p:cNvPr>
          <p:cNvSpPr>
            <a:spLocks noGrp="1"/>
          </p:cNvSpPr>
          <p:nvPr/>
        </p:nvSpPr>
        <p:spPr>
          <a:xfrm>
            <a:off x="4577400" y="2456123"/>
            <a:ext cx="247650" cy="247650"/>
          </a:xfrm>
          <a:prstGeom prst="ellipse">
            <a:avLst/>
          </a:prstGeom>
          <a:solidFill>
            <a:srgbClr val="176FC1"/>
          </a:solidFill>
          <a:ln w="0">
            <a:solidFill>
              <a:srgbClr val="176FC1"/>
            </a:solidFill>
            <a:prstDash val="solid"/>
          </a:ln>
        </p:spPr>
      </p:sp>
      <p:sp>
        <p:nvSpPr>
          <p:cNvPr id="56" name="metric-no-2">
            <a:extLst>
              <a:ext uri="{FF2B5EF4-FFF2-40B4-BE49-F238E27FC236}">
                <a16:creationId xmlns:a16="http://schemas.microsoft.com/office/drawing/2014/main" id="{AF7535B4-4324-4C2F-B1B8-CCFA08E11C7F}"/>
              </a:ext>
            </a:extLst>
          </p:cNvPr>
          <p:cNvSpPr>
            <a:spLocks noGrp="1"/>
          </p:cNvSpPr>
          <p:nvPr/>
        </p:nvSpPr>
        <p:spPr>
          <a:xfrm>
            <a:off x="4577400" y="2456123"/>
            <a:ext cx="247650" cy="247650"/>
          </a:xfrm>
          <a:prstGeom prst="rect">
            <a:avLst/>
          </a:prstGeom>
          <a:noFill/>
          <a:ln w="0">
            <a:noFill/>
            <a:prstDash val="solid"/>
          </a:ln>
        </p:spPr>
        <p:txBody>
          <a:bodyPr lIns="0" tIns="0" rIns="0" bIns="0" anchor="ctr"/>
          <a:lstStyle/>
          <a:p>
            <a:pPr algn="ctr">
              <a:defRPr sz="1125" b="1" i="0">
                <a:solidFill>
                  <a:srgbClr val="FFFFFF"/>
                </a:solidFill>
                <a:latin typeface="Microsoft YaHei"/>
                <a:ea typeface="Microsoft YaHei"/>
                <a:cs typeface="Microsoft YaHei"/>
              </a:defRPr>
            </a:pPr>
            <a:r>
              <a:rPr sz="1125" b="1" i="0">
                <a:solidFill>
                  <a:srgbClr val="FFFFFF"/>
                </a:solidFill>
                <a:latin typeface="Microsoft YaHei"/>
                <a:ea typeface="Microsoft YaHei"/>
                <a:cs typeface="Microsoft YaHei"/>
              </a:rPr>
              <a:t>2</a:t>
            </a:r>
          </a:p>
        </p:txBody>
      </p:sp>
      <p:sp>
        <p:nvSpPr>
          <p:cNvPr id="57" name="metric-name-2">
            <a:extLst>
              <a:ext uri="{FF2B5EF4-FFF2-40B4-BE49-F238E27FC236}">
                <a16:creationId xmlns:a16="http://schemas.microsoft.com/office/drawing/2014/main" id="{C1E3E29C-C11B-429A-8FE5-FA9F3CD0E7C8}"/>
              </a:ext>
            </a:extLst>
          </p:cNvPr>
          <p:cNvSpPr>
            <a:spLocks noGrp="1"/>
          </p:cNvSpPr>
          <p:nvPr/>
        </p:nvSpPr>
        <p:spPr>
          <a:xfrm>
            <a:off x="4901250" y="2398973"/>
            <a:ext cx="1238250" cy="361950"/>
          </a:xfrm>
          <a:prstGeom prst="rect">
            <a:avLst/>
          </a:prstGeom>
          <a:noFill/>
          <a:ln w="0">
            <a:noFill/>
            <a:prstDash val="solid"/>
          </a:ln>
        </p:spPr>
        <p:txBody>
          <a:bodyPr lIns="0" tIns="0" rIns="0" bIns="0" anchor="ctr"/>
          <a:lstStyle/>
          <a:p>
            <a:pPr algn="l">
              <a:defRPr sz="1200" b="1" i="0">
                <a:solidFill>
                  <a:srgbClr val="0F172A"/>
                </a:solidFill>
                <a:latin typeface="Microsoft YaHei"/>
                <a:ea typeface="Microsoft YaHei"/>
                <a:cs typeface="Microsoft YaHei"/>
              </a:defRPr>
            </a:pPr>
            <a:r>
              <a:rPr sz="1200" b="1" i="0">
                <a:latin typeface="Microsoft YaHei"/>
                <a:ea typeface="Microsoft YaHei"/>
                <a:cs typeface="Microsoft YaHei"/>
              </a:rPr>
              <a:t>Source match</a:t>
            </a:r>
          </a:p>
        </p:txBody>
      </p:sp>
      <p:sp>
        <p:nvSpPr>
          <p:cNvPr id="58" name="metric-def-2">
            <a:extLst>
              <a:ext uri="{FF2B5EF4-FFF2-40B4-BE49-F238E27FC236}">
                <a16:creationId xmlns:a16="http://schemas.microsoft.com/office/drawing/2014/main" id="{F72EEBBB-2FE6-42C4-84A9-3701041FFEA7}"/>
              </a:ext>
            </a:extLst>
          </p:cNvPr>
          <p:cNvSpPr>
            <a:spLocks noGrp="1"/>
          </p:cNvSpPr>
          <p:nvPr/>
        </p:nvSpPr>
        <p:spPr>
          <a:xfrm>
            <a:off x="6168076" y="2398973"/>
            <a:ext cx="4000500" cy="361950"/>
          </a:xfrm>
          <a:prstGeom prst="rect">
            <a:avLst/>
          </a:prstGeom>
          <a:noFill/>
          <a:ln w="0">
            <a:noFill/>
            <a:prstDash val="solid"/>
          </a:ln>
        </p:spPr>
        <p:txBody>
          <a:bodyPr lIns="0" tIns="0" rIns="0" bIns="0" anchor="ctr"/>
          <a:lstStyle/>
          <a:p>
            <a:pPr>
              <a:defRPr sz="1200" b="0" i="0">
                <a:solidFill>
                  <a:srgbClr val="2F4BAD"/>
                </a:solidFill>
                <a:latin typeface="Consolas"/>
                <a:ea typeface="Consolas"/>
                <a:cs typeface="Consolas"/>
              </a:defRPr>
            </a:pPr>
            <a:r>
              <a:rPr sz="1200" i="1">
                <a:solidFill>
                  <a:schemeClr val="bg2">
                    <a:lumMod val="25000"/>
                  </a:schemeClr>
                </a:solidFill>
                <a:latin typeface="Times New Roman" panose="02020603050405020304" pitchFamily="18" charset="0"/>
                <a:ea typeface="Consolas"/>
                <a:cs typeface="Times New Roman" panose="02020603050405020304" pitchFamily="18" charset="0"/>
              </a:rPr>
              <a:t>int(mapping.source_text == generated_text)</a:t>
            </a:r>
            <a:r>
              <a:rPr lang="en-US" altLang="zh-CN" sz="1200" i="1">
                <a:solidFill>
                  <a:schemeClr val="bg2">
                    <a:lumMod val="25000"/>
                  </a:schemeClr>
                </a:solidFill>
                <a:latin typeface="Times New Roman" panose="02020603050405020304" pitchFamily="18" charset="0"/>
                <a:ea typeface="Consolas"/>
                <a:cs typeface="Times New Roman" panose="02020603050405020304" pitchFamily="18" charset="0"/>
              </a:rPr>
              <a:t> Source text match = 1</a:t>
            </a:r>
            <a:r>
              <a:rPr lang="zh-CN" altLang="en-US" sz="1200" i="1">
                <a:solidFill>
                  <a:schemeClr val="bg2">
                    <a:lumMod val="25000"/>
                  </a:schemeClr>
                </a:solidFill>
                <a:latin typeface="Times New Roman" panose="02020603050405020304" pitchFamily="18" charset="0"/>
                <a:ea typeface="Consolas"/>
                <a:cs typeface="Times New Roman" panose="02020603050405020304" pitchFamily="18" charset="0"/>
              </a:rPr>
              <a:t>，</a:t>
            </a:r>
            <a:r>
              <a:rPr lang="en-US" altLang="zh-CN" sz="1200" i="1">
                <a:solidFill>
                  <a:schemeClr val="bg2">
                    <a:lumMod val="25000"/>
                  </a:schemeClr>
                </a:solidFill>
                <a:latin typeface="Times New Roman" panose="02020603050405020304" pitchFamily="18" charset="0"/>
                <a:ea typeface="Consolas"/>
                <a:cs typeface="Times New Roman" panose="02020603050405020304" pitchFamily="18" charset="0"/>
              </a:rPr>
              <a:t>mapping.source_text</a:t>
            </a:r>
            <a:endParaRPr sz="1200" i="1">
              <a:solidFill>
                <a:schemeClr val="bg2">
                  <a:lumMod val="25000"/>
                </a:schemeClr>
              </a:solidFill>
              <a:latin typeface="Times New Roman" panose="02020603050405020304" pitchFamily="18" charset="0"/>
              <a:ea typeface="Consolas"/>
              <a:cs typeface="Times New Roman" panose="02020603050405020304" pitchFamily="18" charset="0"/>
            </a:endParaRPr>
          </a:p>
        </p:txBody>
      </p:sp>
      <p:sp>
        <p:nvSpPr>
          <p:cNvPr id="63" name="metric-no-circle-3">
            <a:extLst>
              <a:ext uri="{FF2B5EF4-FFF2-40B4-BE49-F238E27FC236}">
                <a16:creationId xmlns:a16="http://schemas.microsoft.com/office/drawing/2014/main" id="{8AC39C55-B8D2-4BF3-A983-313678431B54}"/>
              </a:ext>
            </a:extLst>
          </p:cNvPr>
          <p:cNvSpPr>
            <a:spLocks noGrp="1"/>
          </p:cNvSpPr>
          <p:nvPr/>
        </p:nvSpPr>
        <p:spPr>
          <a:xfrm>
            <a:off x="4577400" y="2932373"/>
            <a:ext cx="247650" cy="247650"/>
          </a:xfrm>
          <a:prstGeom prst="ellipse">
            <a:avLst/>
          </a:prstGeom>
          <a:solidFill>
            <a:srgbClr val="176FC1"/>
          </a:solidFill>
          <a:ln w="0">
            <a:solidFill>
              <a:srgbClr val="176FC1"/>
            </a:solidFill>
            <a:prstDash val="solid"/>
          </a:ln>
        </p:spPr>
      </p:sp>
      <p:sp>
        <p:nvSpPr>
          <p:cNvPr id="64" name="metric-no-3">
            <a:extLst>
              <a:ext uri="{FF2B5EF4-FFF2-40B4-BE49-F238E27FC236}">
                <a16:creationId xmlns:a16="http://schemas.microsoft.com/office/drawing/2014/main" id="{B2E27FC0-69A2-4051-8B8F-1B4F86DA34DD}"/>
              </a:ext>
            </a:extLst>
          </p:cNvPr>
          <p:cNvSpPr>
            <a:spLocks noGrp="1"/>
          </p:cNvSpPr>
          <p:nvPr/>
        </p:nvSpPr>
        <p:spPr>
          <a:xfrm>
            <a:off x="4577400" y="2932373"/>
            <a:ext cx="247650" cy="247650"/>
          </a:xfrm>
          <a:prstGeom prst="rect">
            <a:avLst/>
          </a:prstGeom>
          <a:noFill/>
          <a:ln w="0">
            <a:noFill/>
            <a:prstDash val="solid"/>
          </a:ln>
        </p:spPr>
        <p:txBody>
          <a:bodyPr lIns="0" tIns="0" rIns="0" bIns="0" anchor="ctr"/>
          <a:lstStyle/>
          <a:p>
            <a:pPr algn="ctr">
              <a:defRPr sz="1125" b="1" i="0">
                <a:solidFill>
                  <a:srgbClr val="FFFFFF"/>
                </a:solidFill>
                <a:latin typeface="Microsoft YaHei"/>
                <a:ea typeface="Microsoft YaHei"/>
                <a:cs typeface="Microsoft YaHei"/>
              </a:defRPr>
            </a:pPr>
            <a:r>
              <a:rPr sz="1125" b="1" i="0">
                <a:solidFill>
                  <a:srgbClr val="FFFFFF"/>
                </a:solidFill>
                <a:latin typeface="Microsoft YaHei"/>
                <a:ea typeface="Microsoft YaHei"/>
                <a:cs typeface="Microsoft YaHei"/>
              </a:rPr>
              <a:t>3</a:t>
            </a:r>
          </a:p>
        </p:txBody>
      </p:sp>
      <p:sp>
        <p:nvSpPr>
          <p:cNvPr id="65" name="metric-name-3">
            <a:extLst>
              <a:ext uri="{FF2B5EF4-FFF2-40B4-BE49-F238E27FC236}">
                <a16:creationId xmlns:a16="http://schemas.microsoft.com/office/drawing/2014/main" id="{8498FDF6-F3FD-4A0E-8B4B-C08887564F1F}"/>
              </a:ext>
            </a:extLst>
          </p:cNvPr>
          <p:cNvSpPr>
            <a:spLocks noGrp="1"/>
          </p:cNvSpPr>
          <p:nvPr/>
        </p:nvSpPr>
        <p:spPr>
          <a:xfrm>
            <a:off x="4901250" y="2875223"/>
            <a:ext cx="1238250" cy="361950"/>
          </a:xfrm>
          <a:prstGeom prst="rect">
            <a:avLst/>
          </a:prstGeom>
          <a:noFill/>
          <a:ln w="0">
            <a:noFill/>
            <a:prstDash val="solid"/>
          </a:ln>
        </p:spPr>
        <p:txBody>
          <a:bodyPr lIns="0" tIns="0" rIns="0" bIns="0" anchor="ctr"/>
          <a:lstStyle/>
          <a:p>
            <a:pPr algn="l">
              <a:defRPr sz="1200" b="1" i="0">
                <a:solidFill>
                  <a:srgbClr val="0F172A"/>
                </a:solidFill>
                <a:latin typeface="Microsoft YaHei"/>
                <a:ea typeface="Microsoft YaHei"/>
                <a:cs typeface="Microsoft YaHei"/>
              </a:defRPr>
            </a:pPr>
            <a:r>
              <a:rPr sz="1200" b="1" i="0">
                <a:solidFill>
                  <a:srgbClr val="0F172A"/>
                </a:solidFill>
                <a:latin typeface="Microsoft YaHei"/>
                <a:ea typeface="Microsoft YaHei"/>
                <a:cs typeface="Microsoft YaHei"/>
              </a:rPr>
              <a:t>Type F1</a:t>
            </a:r>
          </a:p>
        </p:txBody>
      </p:sp>
      <p:sp>
        <p:nvSpPr>
          <p:cNvPr id="66" name="metric-def-3">
            <a:extLst>
              <a:ext uri="{FF2B5EF4-FFF2-40B4-BE49-F238E27FC236}">
                <a16:creationId xmlns:a16="http://schemas.microsoft.com/office/drawing/2014/main" id="{CC2BBCF4-DB01-4E2C-842A-4A95F535BB45}"/>
              </a:ext>
            </a:extLst>
          </p:cNvPr>
          <p:cNvSpPr>
            <a:spLocks noGrp="1"/>
          </p:cNvSpPr>
          <p:nvPr/>
        </p:nvSpPr>
        <p:spPr>
          <a:xfrm>
            <a:off x="6168075" y="2875223"/>
            <a:ext cx="4048125" cy="361950"/>
          </a:xfrm>
          <a:prstGeom prst="rect">
            <a:avLst/>
          </a:prstGeom>
          <a:noFill/>
          <a:ln w="0">
            <a:noFill/>
            <a:prstDash val="solid"/>
          </a:ln>
        </p:spPr>
        <p:txBody>
          <a:bodyPr lIns="0" tIns="0" rIns="0" bIns="0" anchor="ctr"/>
          <a:lstStyle/>
          <a:p>
            <a:pPr>
              <a:defRPr sz="1200" b="0" i="0">
                <a:solidFill>
                  <a:srgbClr val="2F4BAD"/>
                </a:solidFill>
                <a:latin typeface="Consolas"/>
                <a:ea typeface="Consolas"/>
                <a:cs typeface="Consolas"/>
              </a:defRPr>
            </a:pPr>
            <a:r>
              <a:rPr lang="en-US" sz="1200" i="1">
                <a:solidFill>
                  <a:schemeClr val="bg2">
                    <a:lumMod val="25000"/>
                  </a:schemeClr>
                </a:solidFill>
                <a:latin typeface="Times New Roman" panose="02020603050405020304" pitchFamily="18" charset="0"/>
                <a:ea typeface="Consolas"/>
                <a:cs typeface="Times New Roman" panose="02020603050405020304" pitchFamily="18" charset="0"/>
              </a:rPr>
              <a:t>TP = sum((expected_counter &amp; actual_counter).values()) </a:t>
            </a:r>
            <a:r>
              <a:rPr sz="1200" i="1">
                <a:solidFill>
                  <a:schemeClr val="bg2">
                    <a:lumMod val="25000"/>
                  </a:schemeClr>
                </a:solidFill>
                <a:latin typeface="Times New Roman" panose="02020603050405020304" pitchFamily="18" charset="0"/>
                <a:ea typeface="Consolas"/>
                <a:cs typeface="Times New Roman" panose="02020603050405020304" pitchFamily="18" charset="0"/>
              </a:rPr>
              <a:t>F1(Counter(expected_type), Counter(actual_type))</a:t>
            </a:r>
          </a:p>
        </p:txBody>
      </p:sp>
      <p:sp>
        <p:nvSpPr>
          <p:cNvPr id="70" name="metric-no-circle-4">
            <a:extLst>
              <a:ext uri="{FF2B5EF4-FFF2-40B4-BE49-F238E27FC236}">
                <a16:creationId xmlns:a16="http://schemas.microsoft.com/office/drawing/2014/main" id="{43935DB3-0F10-4F76-994A-0F901340D108}"/>
              </a:ext>
            </a:extLst>
          </p:cNvPr>
          <p:cNvSpPr>
            <a:spLocks noGrp="1"/>
          </p:cNvSpPr>
          <p:nvPr/>
        </p:nvSpPr>
        <p:spPr>
          <a:xfrm>
            <a:off x="4577400" y="3408623"/>
            <a:ext cx="247650" cy="247650"/>
          </a:xfrm>
          <a:prstGeom prst="ellipse">
            <a:avLst/>
          </a:prstGeom>
          <a:solidFill>
            <a:srgbClr val="176FC1"/>
          </a:solidFill>
          <a:ln w="0">
            <a:solidFill>
              <a:srgbClr val="176FC1"/>
            </a:solidFill>
            <a:prstDash val="solid"/>
          </a:ln>
        </p:spPr>
      </p:sp>
      <p:sp>
        <p:nvSpPr>
          <p:cNvPr id="71" name="metric-no-4">
            <a:extLst>
              <a:ext uri="{FF2B5EF4-FFF2-40B4-BE49-F238E27FC236}">
                <a16:creationId xmlns:a16="http://schemas.microsoft.com/office/drawing/2014/main" id="{F68551A1-A4FD-49A0-B988-5CD2AF725261}"/>
              </a:ext>
            </a:extLst>
          </p:cNvPr>
          <p:cNvSpPr>
            <a:spLocks noGrp="1"/>
          </p:cNvSpPr>
          <p:nvPr/>
        </p:nvSpPr>
        <p:spPr>
          <a:xfrm>
            <a:off x="4577400" y="3408623"/>
            <a:ext cx="247650" cy="247650"/>
          </a:xfrm>
          <a:prstGeom prst="rect">
            <a:avLst/>
          </a:prstGeom>
          <a:noFill/>
          <a:ln w="0">
            <a:noFill/>
            <a:prstDash val="solid"/>
          </a:ln>
        </p:spPr>
        <p:txBody>
          <a:bodyPr lIns="0" tIns="0" rIns="0" bIns="0" anchor="ctr"/>
          <a:lstStyle/>
          <a:p>
            <a:pPr algn="ctr">
              <a:defRPr sz="1125" b="1" i="0">
                <a:solidFill>
                  <a:srgbClr val="FFFFFF"/>
                </a:solidFill>
                <a:latin typeface="Microsoft YaHei"/>
                <a:ea typeface="Microsoft YaHei"/>
                <a:cs typeface="Microsoft YaHei"/>
              </a:defRPr>
            </a:pPr>
            <a:r>
              <a:rPr sz="1125" b="1" i="0">
                <a:solidFill>
                  <a:srgbClr val="FFFFFF"/>
                </a:solidFill>
                <a:latin typeface="Microsoft YaHei"/>
                <a:ea typeface="Microsoft YaHei"/>
                <a:cs typeface="Microsoft YaHei"/>
              </a:rPr>
              <a:t>4</a:t>
            </a:r>
          </a:p>
        </p:txBody>
      </p:sp>
      <p:sp>
        <p:nvSpPr>
          <p:cNvPr id="72" name="metric-name-4">
            <a:extLst>
              <a:ext uri="{FF2B5EF4-FFF2-40B4-BE49-F238E27FC236}">
                <a16:creationId xmlns:a16="http://schemas.microsoft.com/office/drawing/2014/main" id="{D27FFA72-CB10-4914-9DEA-AE8C0A031B92}"/>
              </a:ext>
            </a:extLst>
          </p:cNvPr>
          <p:cNvSpPr>
            <a:spLocks noGrp="1"/>
          </p:cNvSpPr>
          <p:nvPr/>
        </p:nvSpPr>
        <p:spPr>
          <a:xfrm>
            <a:off x="4901250" y="3351473"/>
            <a:ext cx="1238250" cy="361950"/>
          </a:xfrm>
          <a:prstGeom prst="rect">
            <a:avLst/>
          </a:prstGeom>
          <a:noFill/>
          <a:ln w="0">
            <a:noFill/>
            <a:prstDash val="solid"/>
          </a:ln>
        </p:spPr>
        <p:txBody>
          <a:bodyPr lIns="0" tIns="0" rIns="0" bIns="0" anchor="ctr"/>
          <a:lstStyle/>
          <a:p>
            <a:pPr algn="l">
              <a:defRPr sz="1200" b="1" i="0">
                <a:solidFill>
                  <a:srgbClr val="0F172A"/>
                </a:solidFill>
                <a:latin typeface="Microsoft YaHei"/>
                <a:ea typeface="Microsoft YaHei"/>
                <a:cs typeface="Microsoft YaHei"/>
              </a:defRPr>
            </a:pPr>
            <a:r>
              <a:rPr sz="1200" b="1" i="0">
                <a:solidFill>
                  <a:srgbClr val="0F172A"/>
                </a:solidFill>
                <a:latin typeface="Microsoft YaHei"/>
                <a:ea typeface="Microsoft YaHei"/>
                <a:cs typeface="Microsoft YaHei"/>
              </a:rPr>
              <a:t>Fact F1</a:t>
            </a:r>
          </a:p>
        </p:txBody>
      </p:sp>
      <p:sp>
        <p:nvSpPr>
          <p:cNvPr id="73" name="metric-def-4">
            <a:extLst>
              <a:ext uri="{FF2B5EF4-FFF2-40B4-BE49-F238E27FC236}">
                <a16:creationId xmlns:a16="http://schemas.microsoft.com/office/drawing/2014/main" id="{21FC6DC5-7824-4E92-91EB-E44B5730889C}"/>
              </a:ext>
            </a:extLst>
          </p:cNvPr>
          <p:cNvSpPr>
            <a:spLocks noGrp="1"/>
          </p:cNvSpPr>
          <p:nvPr/>
        </p:nvSpPr>
        <p:spPr>
          <a:xfrm>
            <a:off x="6168075" y="3351473"/>
            <a:ext cx="4048125" cy="361950"/>
          </a:xfrm>
          <a:prstGeom prst="rect">
            <a:avLst/>
          </a:prstGeom>
          <a:noFill/>
          <a:ln w="0">
            <a:noFill/>
            <a:prstDash val="solid"/>
          </a:ln>
        </p:spPr>
        <p:txBody>
          <a:bodyPr lIns="0" tIns="0" rIns="0" bIns="0" anchor="ctr"/>
          <a:lstStyle/>
          <a:p>
            <a:pPr algn="l">
              <a:defRPr sz="1200" b="0" i="0">
                <a:solidFill>
                  <a:srgbClr val="2F4BAD"/>
                </a:solidFill>
                <a:latin typeface="Consolas"/>
                <a:ea typeface="Consolas"/>
                <a:cs typeface="Consolas"/>
              </a:defRPr>
            </a:pPr>
            <a:r>
              <a:rPr sz="1200" i="1">
                <a:solidFill>
                  <a:schemeClr val="bg2">
                    <a:lumMod val="25000"/>
                  </a:schemeClr>
                </a:solidFill>
                <a:latin typeface="Times New Roman" panose="02020603050405020304" pitchFamily="18" charset="0"/>
                <a:ea typeface="Consolas"/>
                <a:cs typeface="Times New Roman" panose="02020603050405020304" pitchFamily="18" charset="0"/>
              </a:rPr>
              <a:t>F1(type | section | name + network relation)</a:t>
            </a:r>
          </a:p>
        </p:txBody>
      </p:sp>
      <p:sp>
        <p:nvSpPr>
          <p:cNvPr id="78" name="metric-no-circle-5">
            <a:extLst>
              <a:ext uri="{FF2B5EF4-FFF2-40B4-BE49-F238E27FC236}">
                <a16:creationId xmlns:a16="http://schemas.microsoft.com/office/drawing/2014/main" id="{24F9506E-DC4D-4CAF-BA96-F3B82CCAA9A0}"/>
              </a:ext>
            </a:extLst>
          </p:cNvPr>
          <p:cNvSpPr>
            <a:spLocks noGrp="1"/>
          </p:cNvSpPr>
          <p:nvPr/>
        </p:nvSpPr>
        <p:spPr>
          <a:xfrm>
            <a:off x="4577400" y="3884873"/>
            <a:ext cx="247650" cy="247650"/>
          </a:xfrm>
          <a:prstGeom prst="ellipse">
            <a:avLst/>
          </a:prstGeom>
          <a:solidFill>
            <a:srgbClr val="176FC1"/>
          </a:solidFill>
          <a:ln w="0">
            <a:solidFill>
              <a:srgbClr val="176FC1"/>
            </a:solidFill>
            <a:prstDash val="solid"/>
          </a:ln>
        </p:spPr>
      </p:sp>
      <p:sp>
        <p:nvSpPr>
          <p:cNvPr id="79" name="metric-no-5">
            <a:extLst>
              <a:ext uri="{FF2B5EF4-FFF2-40B4-BE49-F238E27FC236}">
                <a16:creationId xmlns:a16="http://schemas.microsoft.com/office/drawing/2014/main" id="{C0C31F5E-7ACB-445A-B386-ADD7395C75D0}"/>
              </a:ext>
            </a:extLst>
          </p:cNvPr>
          <p:cNvSpPr>
            <a:spLocks noGrp="1"/>
          </p:cNvSpPr>
          <p:nvPr/>
        </p:nvSpPr>
        <p:spPr>
          <a:xfrm>
            <a:off x="4577400" y="3884873"/>
            <a:ext cx="247650" cy="247650"/>
          </a:xfrm>
          <a:prstGeom prst="rect">
            <a:avLst/>
          </a:prstGeom>
          <a:noFill/>
          <a:ln w="0">
            <a:noFill/>
            <a:prstDash val="solid"/>
          </a:ln>
        </p:spPr>
        <p:txBody>
          <a:bodyPr lIns="0" tIns="0" rIns="0" bIns="0" anchor="ctr"/>
          <a:lstStyle/>
          <a:p>
            <a:pPr algn="ctr">
              <a:defRPr sz="1125" b="1" i="0">
                <a:solidFill>
                  <a:srgbClr val="FFFFFF"/>
                </a:solidFill>
                <a:latin typeface="Microsoft YaHei"/>
                <a:ea typeface="Microsoft YaHei"/>
                <a:cs typeface="Microsoft YaHei"/>
              </a:defRPr>
            </a:pPr>
            <a:r>
              <a:rPr sz="1125" b="1" i="0">
                <a:solidFill>
                  <a:srgbClr val="FFFFFF"/>
                </a:solidFill>
                <a:latin typeface="Microsoft YaHei"/>
                <a:ea typeface="Microsoft YaHei"/>
                <a:cs typeface="Microsoft YaHei"/>
              </a:rPr>
              <a:t>5</a:t>
            </a:r>
          </a:p>
        </p:txBody>
      </p:sp>
      <p:sp>
        <p:nvSpPr>
          <p:cNvPr id="80" name="metric-name-5">
            <a:extLst>
              <a:ext uri="{FF2B5EF4-FFF2-40B4-BE49-F238E27FC236}">
                <a16:creationId xmlns:a16="http://schemas.microsoft.com/office/drawing/2014/main" id="{089916C3-2692-4839-B191-07317BBA7704}"/>
              </a:ext>
            </a:extLst>
          </p:cNvPr>
          <p:cNvSpPr>
            <a:spLocks noGrp="1"/>
          </p:cNvSpPr>
          <p:nvPr/>
        </p:nvSpPr>
        <p:spPr>
          <a:xfrm>
            <a:off x="4901250" y="4319560"/>
            <a:ext cx="1238250" cy="361950"/>
          </a:xfrm>
          <a:prstGeom prst="rect">
            <a:avLst/>
          </a:prstGeom>
          <a:noFill/>
          <a:ln w="0">
            <a:noFill/>
            <a:prstDash val="solid"/>
          </a:ln>
        </p:spPr>
        <p:txBody>
          <a:bodyPr lIns="0" tIns="0" rIns="0" bIns="0" anchor="ctr"/>
          <a:lstStyle/>
          <a:p>
            <a:pPr algn="l">
              <a:defRPr sz="1200" b="1" i="0">
                <a:solidFill>
                  <a:srgbClr val="0F172A"/>
                </a:solidFill>
                <a:latin typeface="Microsoft YaHei"/>
                <a:ea typeface="Microsoft YaHei"/>
                <a:cs typeface="Microsoft YaHei"/>
              </a:defRPr>
            </a:pPr>
            <a:r>
              <a:rPr sz="1200" b="1" i="0">
                <a:solidFill>
                  <a:srgbClr val="0F172A"/>
                </a:solidFill>
                <a:latin typeface="Microsoft YaHei"/>
                <a:ea typeface="Microsoft YaHei"/>
                <a:cs typeface="Microsoft YaHei"/>
              </a:rPr>
              <a:t>Evidence</a:t>
            </a:r>
          </a:p>
        </p:txBody>
      </p:sp>
      <p:sp>
        <p:nvSpPr>
          <p:cNvPr id="81" name="metric-def-5">
            <a:extLst>
              <a:ext uri="{FF2B5EF4-FFF2-40B4-BE49-F238E27FC236}">
                <a16:creationId xmlns:a16="http://schemas.microsoft.com/office/drawing/2014/main" id="{2E1FA899-A71E-44FB-BAC4-031372E3A669}"/>
              </a:ext>
            </a:extLst>
          </p:cNvPr>
          <p:cNvSpPr>
            <a:spLocks noGrp="1"/>
          </p:cNvSpPr>
          <p:nvPr/>
        </p:nvSpPr>
        <p:spPr>
          <a:xfrm>
            <a:off x="6168075" y="4315403"/>
            <a:ext cx="4048125" cy="361950"/>
          </a:xfrm>
          <a:prstGeom prst="rect">
            <a:avLst/>
          </a:prstGeom>
          <a:noFill/>
          <a:ln w="0">
            <a:noFill/>
            <a:prstDash val="solid"/>
          </a:ln>
        </p:spPr>
        <p:txBody>
          <a:bodyPr lIns="0" tIns="0" rIns="0" bIns="0" anchor="ctr"/>
          <a:lstStyle/>
          <a:p>
            <a:pPr algn="l">
              <a:defRPr sz="1200" b="0" i="0">
                <a:solidFill>
                  <a:srgbClr val="2F4BAD"/>
                </a:solidFill>
                <a:latin typeface="Microsoft YaHei"/>
                <a:ea typeface="Microsoft YaHei"/>
                <a:cs typeface="Microsoft YaHei"/>
              </a:defRPr>
            </a:pPr>
            <a:r>
              <a:rPr sz="1200" i="1">
                <a:solidFill>
                  <a:schemeClr val="bg2">
                    <a:lumMod val="25000"/>
                  </a:schemeClr>
                </a:solidFill>
                <a:latin typeface="Times New Roman" panose="02020603050405020304" pitchFamily="18" charset="0"/>
                <a:ea typeface="Microsoft YaHei"/>
                <a:cs typeface="Times New Roman" panose="02020603050405020304" pitchFamily="18" charset="0"/>
              </a:rPr>
              <a:t>原文逐字命中证据数 / 全部非空证据数</a:t>
            </a:r>
          </a:p>
        </p:txBody>
      </p:sp>
      <p:sp>
        <p:nvSpPr>
          <p:cNvPr id="88" name="metric-no-circle-6">
            <a:extLst>
              <a:ext uri="{FF2B5EF4-FFF2-40B4-BE49-F238E27FC236}">
                <a16:creationId xmlns:a16="http://schemas.microsoft.com/office/drawing/2014/main" id="{5B3C4247-2DF2-45E8-A65F-6B0DA805F582}"/>
              </a:ext>
            </a:extLst>
          </p:cNvPr>
          <p:cNvSpPr>
            <a:spLocks noGrp="1"/>
          </p:cNvSpPr>
          <p:nvPr/>
        </p:nvSpPr>
        <p:spPr>
          <a:xfrm>
            <a:off x="4577400" y="4361123"/>
            <a:ext cx="247650" cy="247650"/>
          </a:xfrm>
          <a:prstGeom prst="ellipse">
            <a:avLst/>
          </a:prstGeom>
          <a:solidFill>
            <a:srgbClr val="176FC1"/>
          </a:solidFill>
          <a:ln w="0">
            <a:solidFill>
              <a:srgbClr val="176FC1"/>
            </a:solidFill>
            <a:prstDash val="solid"/>
          </a:ln>
        </p:spPr>
      </p:sp>
      <p:sp>
        <p:nvSpPr>
          <p:cNvPr id="89" name="metric-no-6">
            <a:extLst>
              <a:ext uri="{FF2B5EF4-FFF2-40B4-BE49-F238E27FC236}">
                <a16:creationId xmlns:a16="http://schemas.microsoft.com/office/drawing/2014/main" id="{6ECC130D-A353-45E8-B4E7-664153A8DEF3}"/>
              </a:ext>
            </a:extLst>
          </p:cNvPr>
          <p:cNvSpPr>
            <a:spLocks noGrp="1"/>
          </p:cNvSpPr>
          <p:nvPr/>
        </p:nvSpPr>
        <p:spPr>
          <a:xfrm>
            <a:off x="4577400" y="4361123"/>
            <a:ext cx="247650" cy="247650"/>
          </a:xfrm>
          <a:prstGeom prst="rect">
            <a:avLst/>
          </a:prstGeom>
          <a:noFill/>
          <a:ln w="0">
            <a:noFill/>
            <a:prstDash val="solid"/>
          </a:ln>
        </p:spPr>
        <p:txBody>
          <a:bodyPr lIns="0" tIns="0" rIns="0" bIns="0" anchor="ctr"/>
          <a:lstStyle/>
          <a:p>
            <a:pPr algn="ctr">
              <a:defRPr sz="1125" b="1" i="0">
                <a:solidFill>
                  <a:srgbClr val="FFFFFF"/>
                </a:solidFill>
                <a:latin typeface="Microsoft YaHei"/>
                <a:ea typeface="Microsoft YaHei"/>
                <a:cs typeface="Microsoft YaHei"/>
              </a:defRPr>
            </a:pPr>
            <a:r>
              <a:rPr sz="1125" b="1" i="0">
                <a:solidFill>
                  <a:srgbClr val="FFFFFF"/>
                </a:solidFill>
                <a:latin typeface="Microsoft YaHei"/>
                <a:ea typeface="Microsoft YaHei"/>
                <a:cs typeface="Microsoft YaHei"/>
              </a:rPr>
              <a:t>6</a:t>
            </a:r>
          </a:p>
        </p:txBody>
      </p:sp>
      <p:sp>
        <p:nvSpPr>
          <p:cNvPr id="90" name="metric-name-6">
            <a:extLst>
              <a:ext uri="{FF2B5EF4-FFF2-40B4-BE49-F238E27FC236}">
                <a16:creationId xmlns:a16="http://schemas.microsoft.com/office/drawing/2014/main" id="{FB2A7F6C-634D-4DF1-B97E-18EE16DC8656}"/>
              </a:ext>
            </a:extLst>
          </p:cNvPr>
          <p:cNvSpPr>
            <a:spLocks noGrp="1"/>
          </p:cNvSpPr>
          <p:nvPr/>
        </p:nvSpPr>
        <p:spPr>
          <a:xfrm>
            <a:off x="4901250" y="4795810"/>
            <a:ext cx="1238250" cy="361950"/>
          </a:xfrm>
          <a:prstGeom prst="rect">
            <a:avLst/>
          </a:prstGeom>
          <a:noFill/>
          <a:ln w="0">
            <a:noFill/>
            <a:prstDash val="solid"/>
          </a:ln>
        </p:spPr>
        <p:txBody>
          <a:bodyPr lIns="0" tIns="0" rIns="0" bIns="0" anchor="ctr"/>
          <a:lstStyle/>
          <a:p>
            <a:pPr algn="l">
              <a:defRPr sz="1200" b="1" i="0">
                <a:solidFill>
                  <a:srgbClr val="0F172A"/>
                </a:solidFill>
                <a:latin typeface="Microsoft YaHei"/>
                <a:ea typeface="Microsoft YaHei"/>
                <a:cs typeface="Microsoft YaHei"/>
              </a:defRPr>
            </a:pPr>
            <a:r>
              <a:rPr sz="1200" b="1" i="0">
                <a:solidFill>
                  <a:srgbClr val="0F172A"/>
                </a:solidFill>
                <a:latin typeface="Microsoft YaHei"/>
                <a:ea typeface="Microsoft YaHei"/>
                <a:cs typeface="Microsoft YaHei"/>
              </a:rPr>
              <a:t>English</a:t>
            </a:r>
          </a:p>
        </p:txBody>
      </p:sp>
      <p:sp>
        <p:nvSpPr>
          <p:cNvPr id="91" name="metric-def-6">
            <a:extLst>
              <a:ext uri="{FF2B5EF4-FFF2-40B4-BE49-F238E27FC236}">
                <a16:creationId xmlns:a16="http://schemas.microsoft.com/office/drawing/2014/main" id="{5020196C-E323-4F4A-9E7D-C7F9E38E39DC}"/>
              </a:ext>
            </a:extLst>
          </p:cNvPr>
          <p:cNvSpPr>
            <a:spLocks noGrp="1"/>
          </p:cNvSpPr>
          <p:nvPr/>
        </p:nvSpPr>
        <p:spPr>
          <a:xfrm>
            <a:off x="6168075" y="4791653"/>
            <a:ext cx="4048125" cy="361950"/>
          </a:xfrm>
          <a:prstGeom prst="rect">
            <a:avLst/>
          </a:prstGeom>
          <a:noFill/>
          <a:ln w="0">
            <a:noFill/>
            <a:prstDash val="solid"/>
          </a:ln>
        </p:spPr>
        <p:txBody>
          <a:bodyPr lIns="0" tIns="0" rIns="0" bIns="0" anchor="ctr"/>
          <a:lstStyle/>
          <a:p>
            <a:pPr algn="l">
              <a:defRPr sz="1200" b="0" i="0">
                <a:solidFill>
                  <a:srgbClr val="2F4BAD"/>
                </a:solidFill>
                <a:latin typeface="Microsoft YaHei"/>
                <a:ea typeface="Microsoft YaHei"/>
                <a:cs typeface="Microsoft YaHei"/>
              </a:defRPr>
            </a:pPr>
            <a:r>
              <a:rPr sz="1200" i="1">
                <a:solidFill>
                  <a:schemeClr val="bg2">
                    <a:lumMod val="25000"/>
                  </a:schemeClr>
                </a:solidFill>
                <a:latin typeface="Times New Roman" panose="02020603050405020304" pitchFamily="18" charset="0"/>
                <a:ea typeface="Microsoft YaHei"/>
                <a:cs typeface="Times New Roman" panose="02020603050405020304" pitchFamily="18" charset="0"/>
              </a:rPr>
              <a:t>无 CJK 规范化字符串数 / 全部规范化字符串</a:t>
            </a:r>
          </a:p>
        </p:txBody>
      </p:sp>
      <p:sp>
        <p:nvSpPr>
          <p:cNvPr id="96" name="metric-no-circle-7">
            <a:extLst>
              <a:ext uri="{FF2B5EF4-FFF2-40B4-BE49-F238E27FC236}">
                <a16:creationId xmlns:a16="http://schemas.microsoft.com/office/drawing/2014/main" id="{F2BA800F-7B46-402C-ACE1-CF61917C019B}"/>
              </a:ext>
            </a:extLst>
          </p:cNvPr>
          <p:cNvSpPr>
            <a:spLocks noGrp="1"/>
          </p:cNvSpPr>
          <p:nvPr/>
        </p:nvSpPr>
        <p:spPr>
          <a:xfrm>
            <a:off x="4577400" y="4837373"/>
            <a:ext cx="247650" cy="247650"/>
          </a:xfrm>
          <a:prstGeom prst="ellipse">
            <a:avLst/>
          </a:prstGeom>
          <a:solidFill>
            <a:srgbClr val="176FC1"/>
          </a:solidFill>
          <a:ln w="0">
            <a:solidFill>
              <a:srgbClr val="176FC1"/>
            </a:solidFill>
            <a:prstDash val="solid"/>
          </a:ln>
        </p:spPr>
      </p:sp>
      <p:sp>
        <p:nvSpPr>
          <p:cNvPr id="97" name="metric-no-7">
            <a:extLst>
              <a:ext uri="{FF2B5EF4-FFF2-40B4-BE49-F238E27FC236}">
                <a16:creationId xmlns:a16="http://schemas.microsoft.com/office/drawing/2014/main" id="{87574997-DDB8-40F9-81A2-DABE86189A7A}"/>
              </a:ext>
            </a:extLst>
          </p:cNvPr>
          <p:cNvSpPr>
            <a:spLocks noGrp="1"/>
          </p:cNvSpPr>
          <p:nvPr/>
        </p:nvSpPr>
        <p:spPr>
          <a:xfrm>
            <a:off x="4577400" y="4837373"/>
            <a:ext cx="247650" cy="247650"/>
          </a:xfrm>
          <a:prstGeom prst="rect">
            <a:avLst/>
          </a:prstGeom>
          <a:noFill/>
          <a:ln w="0">
            <a:noFill/>
            <a:prstDash val="solid"/>
          </a:ln>
        </p:spPr>
        <p:txBody>
          <a:bodyPr lIns="0" tIns="0" rIns="0" bIns="0" anchor="ctr"/>
          <a:lstStyle/>
          <a:p>
            <a:pPr algn="ctr">
              <a:defRPr sz="1125" b="1" i="0">
                <a:solidFill>
                  <a:srgbClr val="FFFFFF"/>
                </a:solidFill>
                <a:latin typeface="Microsoft YaHei"/>
                <a:ea typeface="Microsoft YaHei"/>
                <a:cs typeface="Microsoft YaHei"/>
              </a:defRPr>
            </a:pPr>
            <a:r>
              <a:rPr sz="1125" b="1" i="0">
                <a:solidFill>
                  <a:srgbClr val="FFFFFF"/>
                </a:solidFill>
                <a:latin typeface="Microsoft YaHei"/>
                <a:ea typeface="Microsoft YaHei"/>
                <a:cs typeface="Microsoft YaHei"/>
              </a:rPr>
              <a:t>7</a:t>
            </a:r>
          </a:p>
        </p:txBody>
      </p:sp>
      <p:sp>
        <p:nvSpPr>
          <p:cNvPr id="98" name="metric-name-7">
            <a:extLst>
              <a:ext uri="{FF2B5EF4-FFF2-40B4-BE49-F238E27FC236}">
                <a16:creationId xmlns:a16="http://schemas.microsoft.com/office/drawing/2014/main" id="{C296FFDD-309D-4C18-9732-FF69B9EAA774}"/>
              </a:ext>
            </a:extLst>
          </p:cNvPr>
          <p:cNvSpPr>
            <a:spLocks noGrp="1"/>
          </p:cNvSpPr>
          <p:nvPr/>
        </p:nvSpPr>
        <p:spPr>
          <a:xfrm>
            <a:off x="4901250" y="5272060"/>
            <a:ext cx="1238250" cy="361950"/>
          </a:xfrm>
          <a:prstGeom prst="rect">
            <a:avLst/>
          </a:prstGeom>
          <a:noFill/>
          <a:ln w="0">
            <a:noFill/>
            <a:prstDash val="solid"/>
          </a:ln>
        </p:spPr>
        <p:txBody>
          <a:bodyPr lIns="0" tIns="0" rIns="0" bIns="0" anchor="ctr"/>
          <a:lstStyle/>
          <a:p>
            <a:pPr algn="l">
              <a:defRPr sz="1200" b="1" i="0">
                <a:solidFill>
                  <a:srgbClr val="0F172A"/>
                </a:solidFill>
                <a:latin typeface="Microsoft YaHei"/>
                <a:ea typeface="Microsoft YaHei"/>
                <a:cs typeface="Microsoft YaHei"/>
              </a:defRPr>
            </a:pPr>
            <a:r>
              <a:rPr sz="1200" b="1" i="0">
                <a:solidFill>
                  <a:srgbClr val="0F172A"/>
                </a:solidFill>
                <a:latin typeface="Microsoft YaHei"/>
                <a:ea typeface="Microsoft YaHei"/>
                <a:cs typeface="Microsoft YaHei"/>
              </a:rPr>
              <a:t>Clarification</a:t>
            </a:r>
          </a:p>
        </p:txBody>
      </p:sp>
      <p:sp>
        <p:nvSpPr>
          <p:cNvPr id="99" name="metric-def-7">
            <a:extLst>
              <a:ext uri="{FF2B5EF4-FFF2-40B4-BE49-F238E27FC236}">
                <a16:creationId xmlns:a16="http://schemas.microsoft.com/office/drawing/2014/main" id="{8D61DA1E-6B71-4F7E-8DE7-F03BA9135461}"/>
              </a:ext>
            </a:extLst>
          </p:cNvPr>
          <p:cNvSpPr>
            <a:spLocks noGrp="1"/>
          </p:cNvSpPr>
          <p:nvPr/>
        </p:nvSpPr>
        <p:spPr>
          <a:xfrm>
            <a:off x="6168075" y="5267903"/>
            <a:ext cx="5907027" cy="361950"/>
          </a:xfrm>
          <a:prstGeom prst="rect">
            <a:avLst/>
          </a:prstGeom>
          <a:noFill/>
          <a:ln w="0">
            <a:noFill/>
            <a:prstDash val="solid"/>
          </a:ln>
        </p:spPr>
        <p:txBody>
          <a:bodyPr lIns="0" tIns="0" rIns="0" bIns="0" anchor="ctr"/>
          <a:lstStyle/>
          <a:p>
            <a:pPr>
              <a:defRPr sz="1200" b="1" i="0">
                <a:solidFill>
                  <a:srgbClr val="E43131"/>
                </a:solidFill>
                <a:latin typeface="Microsoft YaHei"/>
                <a:ea typeface="Microsoft YaHei"/>
                <a:cs typeface="Microsoft YaHei"/>
              </a:defRPr>
            </a:pPr>
            <a:r>
              <a:rPr lang="en-US" sz="1200" i="1">
                <a:solidFill>
                  <a:schemeClr val="bg2">
                    <a:lumMod val="25000"/>
                  </a:schemeClr>
                </a:solidFill>
                <a:latin typeface="Times New Roman" panose="02020603050405020304" pitchFamily="18" charset="0"/>
                <a:ea typeface="Microsoft YaHei"/>
                <a:cs typeface="Times New Roman" panose="02020603050405020304" pitchFamily="18" charset="0"/>
              </a:rPr>
              <a:t>bool(actual_unit.questions) == expected_unit.expects_clarification </a:t>
            </a:r>
            <a:r>
              <a:rPr lang="zh-CN" altLang="en-US" sz="1200" i="1">
                <a:solidFill>
                  <a:schemeClr val="bg2">
                    <a:lumMod val="25000"/>
                  </a:schemeClr>
                </a:solidFill>
                <a:latin typeface="Times New Roman" panose="02020603050405020304" pitchFamily="18" charset="0"/>
                <a:ea typeface="Microsoft YaHei"/>
                <a:cs typeface="Times New Roman" panose="02020603050405020304" pitchFamily="18" charset="0"/>
              </a:rPr>
              <a:t>不合规信息的</a:t>
            </a:r>
            <a:r>
              <a:rPr sz="1200" i="1">
                <a:solidFill>
                  <a:schemeClr val="bg2">
                    <a:lumMod val="25000"/>
                  </a:schemeClr>
                </a:solidFill>
                <a:latin typeface="Times New Roman" panose="02020603050405020304" pitchFamily="18" charset="0"/>
                <a:ea typeface="Microsoft YaHei"/>
                <a:cs typeface="Times New Roman" panose="02020603050405020304" pitchFamily="18" charset="0"/>
              </a:rPr>
              <a:t>追问行为匹配 Unit 数 / expected_units</a:t>
            </a:r>
          </a:p>
        </p:txBody>
      </p:sp>
      <p:sp>
        <p:nvSpPr>
          <p:cNvPr id="103" name="overall-formula-band">
            <a:extLst>
              <a:ext uri="{FF2B5EF4-FFF2-40B4-BE49-F238E27FC236}">
                <a16:creationId xmlns:a16="http://schemas.microsoft.com/office/drawing/2014/main" id="{285D071B-DE9C-4935-A5ED-797CE44417AC}"/>
              </a:ext>
            </a:extLst>
          </p:cNvPr>
          <p:cNvSpPr>
            <a:spLocks noGrp="1"/>
          </p:cNvSpPr>
          <p:nvPr/>
        </p:nvSpPr>
        <p:spPr>
          <a:xfrm>
            <a:off x="4501200" y="5716124"/>
            <a:ext cx="7372350" cy="752475"/>
          </a:xfrm>
          <a:prstGeom prst="roundRect">
            <a:avLst>
              <a:gd name="adj" fmla="val 10127"/>
            </a:avLst>
          </a:prstGeom>
          <a:solidFill>
            <a:srgbClr val="EAF3FF"/>
          </a:solidFill>
          <a:ln w="9525">
            <a:solidFill>
              <a:srgbClr val="176FC1"/>
            </a:solidFill>
            <a:prstDash val="solid"/>
          </a:ln>
        </p:spPr>
      </p:sp>
      <p:sp>
        <p:nvSpPr>
          <p:cNvPr id="104" name="overall-label">
            <a:extLst>
              <a:ext uri="{FF2B5EF4-FFF2-40B4-BE49-F238E27FC236}">
                <a16:creationId xmlns:a16="http://schemas.microsoft.com/office/drawing/2014/main" id="{F727943C-42E4-46C2-945D-FCA28BA9CC85}"/>
              </a:ext>
            </a:extLst>
          </p:cNvPr>
          <p:cNvSpPr>
            <a:spLocks noGrp="1"/>
          </p:cNvSpPr>
          <p:nvPr/>
        </p:nvSpPr>
        <p:spPr>
          <a:xfrm>
            <a:off x="4653599" y="5763749"/>
            <a:ext cx="2730047" cy="238125"/>
          </a:xfrm>
          <a:prstGeom prst="rect">
            <a:avLst/>
          </a:prstGeom>
          <a:noFill/>
          <a:ln w="0">
            <a:noFill/>
            <a:prstDash val="solid"/>
          </a:ln>
        </p:spPr>
        <p:txBody>
          <a:bodyPr lIns="0" tIns="0" rIns="0" bIns="0" anchor="ctr"/>
          <a:lstStyle/>
          <a:p>
            <a:pPr algn="l">
              <a:defRPr sz="1350" b="1" i="0">
                <a:solidFill>
                  <a:srgbClr val="176FC1"/>
                </a:solidFill>
                <a:latin typeface="Microsoft YaHei"/>
                <a:ea typeface="Microsoft YaHei"/>
                <a:cs typeface="Microsoft YaHei"/>
              </a:defRPr>
            </a:pPr>
            <a:r>
              <a:rPr sz="1350" b="1" i="0">
                <a:solidFill>
                  <a:srgbClr val="176FC1"/>
                </a:solidFill>
                <a:latin typeface="Microsoft YaHei"/>
                <a:ea typeface="Microsoft YaHei"/>
                <a:cs typeface="Microsoft YaHei"/>
              </a:rPr>
              <a:t>Overall </a:t>
            </a:r>
            <a:r>
              <a:rPr lang="zh-CN" altLang="en-US" sz="1350" b="1" i="0">
                <a:solidFill>
                  <a:srgbClr val="176FC1"/>
                </a:solidFill>
                <a:latin typeface="Microsoft YaHei"/>
                <a:ea typeface="Microsoft YaHei"/>
                <a:cs typeface="Microsoft YaHei"/>
              </a:rPr>
              <a:t>整体评分的</a:t>
            </a:r>
            <a:r>
              <a:rPr sz="1350" b="1" i="0">
                <a:solidFill>
                  <a:srgbClr val="176FC1"/>
                </a:solidFill>
                <a:latin typeface="Microsoft YaHei"/>
                <a:ea typeface="Microsoft YaHei"/>
                <a:cs typeface="Microsoft YaHei"/>
              </a:rPr>
              <a:t>加权</a:t>
            </a:r>
          </a:p>
        </p:txBody>
      </p:sp>
      <p:sp>
        <p:nvSpPr>
          <p:cNvPr id="105" name="overall-formula-1">
            <a:extLst>
              <a:ext uri="{FF2B5EF4-FFF2-40B4-BE49-F238E27FC236}">
                <a16:creationId xmlns:a16="http://schemas.microsoft.com/office/drawing/2014/main" id="{834CECA0-016C-4106-85F8-E245FF87A6A1}"/>
              </a:ext>
            </a:extLst>
          </p:cNvPr>
          <p:cNvSpPr>
            <a:spLocks noGrp="1"/>
          </p:cNvSpPr>
          <p:nvPr/>
        </p:nvSpPr>
        <p:spPr>
          <a:xfrm>
            <a:off x="4612138" y="6211424"/>
            <a:ext cx="7048500" cy="219075"/>
          </a:xfrm>
          <a:prstGeom prst="rect">
            <a:avLst/>
          </a:prstGeom>
          <a:noFill/>
          <a:ln w="0">
            <a:noFill/>
            <a:prstDash val="solid"/>
          </a:ln>
        </p:spPr>
        <p:txBody>
          <a:bodyPr lIns="0" tIns="0" rIns="0" bIns="0" anchor="ctr"/>
          <a:lstStyle/>
          <a:p>
            <a:pPr>
              <a:defRPr sz="1200" b="1" i="0">
                <a:solidFill>
                  <a:srgbClr val="0F172A"/>
                </a:solidFill>
                <a:latin typeface="Consolas"/>
                <a:ea typeface="Consolas"/>
                <a:cs typeface="Consolas"/>
              </a:defRPr>
            </a:pPr>
            <a:r>
              <a:rPr sz="1200" b="1" i="0">
                <a:solidFill>
                  <a:srgbClr val="0F172A"/>
                </a:solidFill>
                <a:latin typeface="Times New Roman" panose="02020603050405020304" pitchFamily="18" charset="0"/>
                <a:ea typeface="Consolas"/>
                <a:cs typeface="Times New Roman" panose="02020603050405020304" pitchFamily="18" charset="0"/>
              </a:rPr>
              <a:t>0.</a:t>
            </a:r>
            <a:r>
              <a:rPr lang="en-US" altLang="zh-CN" sz="1200" b="1" i="0">
                <a:solidFill>
                  <a:srgbClr val="0F172A"/>
                </a:solidFill>
                <a:latin typeface="Times New Roman" panose="02020603050405020304" pitchFamily="18" charset="0"/>
                <a:ea typeface="Consolas"/>
                <a:cs typeface="Times New Roman" panose="02020603050405020304" pitchFamily="18" charset="0"/>
              </a:rPr>
              <a:t>08</a:t>
            </a:r>
            <a:r>
              <a:rPr sz="1200" b="1" i="0">
                <a:solidFill>
                  <a:srgbClr val="0F172A"/>
                </a:solidFill>
                <a:latin typeface="Times New Roman" panose="02020603050405020304" pitchFamily="18" charset="0"/>
                <a:ea typeface="Consolas"/>
                <a:cs typeface="Times New Roman" panose="02020603050405020304" pitchFamily="18" charset="0"/>
              </a:rPr>
              <a:t> Schema + 0.</a:t>
            </a:r>
            <a:r>
              <a:rPr lang="en-US" altLang="zh-CN" sz="1200" b="1" i="0">
                <a:solidFill>
                  <a:srgbClr val="0F172A"/>
                </a:solidFill>
                <a:latin typeface="Times New Roman" panose="02020603050405020304" pitchFamily="18" charset="0"/>
                <a:ea typeface="Consolas"/>
                <a:cs typeface="Times New Roman" panose="02020603050405020304" pitchFamily="18" charset="0"/>
              </a:rPr>
              <a:t>07</a:t>
            </a:r>
            <a:r>
              <a:rPr sz="1200" b="1" i="0">
                <a:solidFill>
                  <a:srgbClr val="0F172A"/>
                </a:solidFill>
                <a:latin typeface="Times New Roman" panose="02020603050405020304" pitchFamily="18" charset="0"/>
                <a:ea typeface="Consolas"/>
                <a:cs typeface="Times New Roman" panose="02020603050405020304" pitchFamily="18" charset="0"/>
              </a:rPr>
              <a:t> Source + 0.</a:t>
            </a:r>
            <a:r>
              <a:rPr lang="en-US" altLang="zh-CN" sz="1200" b="1" i="0">
                <a:solidFill>
                  <a:srgbClr val="0F172A"/>
                </a:solidFill>
                <a:latin typeface="Times New Roman" panose="02020603050405020304" pitchFamily="18" charset="0"/>
                <a:ea typeface="Consolas"/>
                <a:cs typeface="Times New Roman" panose="02020603050405020304" pitchFamily="18" charset="0"/>
              </a:rPr>
              <a:t>15</a:t>
            </a:r>
            <a:r>
              <a:rPr sz="1200" b="1" i="0">
                <a:solidFill>
                  <a:srgbClr val="0F172A"/>
                </a:solidFill>
                <a:latin typeface="Times New Roman" panose="02020603050405020304" pitchFamily="18" charset="0"/>
                <a:ea typeface="Consolas"/>
                <a:cs typeface="Times New Roman" panose="02020603050405020304" pitchFamily="18" charset="0"/>
              </a:rPr>
              <a:t> Type F1 + 0.</a:t>
            </a:r>
            <a:r>
              <a:rPr lang="en-US" altLang="zh-CN" sz="1200" b="1" i="0">
                <a:solidFill>
                  <a:srgbClr val="0F172A"/>
                </a:solidFill>
                <a:latin typeface="Times New Roman" panose="02020603050405020304" pitchFamily="18" charset="0"/>
                <a:ea typeface="Consolas"/>
                <a:cs typeface="Times New Roman" panose="02020603050405020304" pitchFamily="18" charset="0"/>
              </a:rPr>
              <a:t>15</a:t>
            </a:r>
            <a:r>
              <a:rPr sz="1200" b="1" i="0">
                <a:solidFill>
                  <a:srgbClr val="0F172A"/>
                </a:solidFill>
                <a:latin typeface="Times New Roman" panose="02020603050405020304" pitchFamily="18" charset="0"/>
                <a:ea typeface="Consolas"/>
                <a:cs typeface="Times New Roman" panose="02020603050405020304" pitchFamily="18" charset="0"/>
              </a:rPr>
              <a:t> Fact F1</a:t>
            </a:r>
            <a:r>
              <a:rPr lang="en-US" altLang="zh-CN" sz="1200" b="1">
                <a:solidFill>
                  <a:srgbClr val="0F172A"/>
                </a:solidFill>
                <a:latin typeface="Times New Roman" panose="02020603050405020304" pitchFamily="18" charset="0"/>
                <a:ea typeface="Consolas"/>
                <a:cs typeface="Times New Roman" panose="02020603050405020304" pitchFamily="18" charset="0"/>
              </a:rPr>
              <a:t> + 0.25 Semanitc F1 + 0.12 Evidence + 0.08 English + 0.10 Clarification</a:t>
            </a:r>
          </a:p>
          <a:p>
            <a:pPr>
              <a:defRPr sz="1200" b="1" i="0">
                <a:solidFill>
                  <a:srgbClr val="0F172A"/>
                </a:solidFill>
                <a:latin typeface="Consolas"/>
                <a:ea typeface="Consolas"/>
                <a:cs typeface="Consolas"/>
              </a:defRPr>
            </a:pPr>
            <a:endParaRPr sz="1200" b="1" i="0">
              <a:solidFill>
                <a:srgbClr val="0F172A"/>
              </a:solidFill>
              <a:latin typeface="Times New Roman" panose="02020603050405020304" pitchFamily="18" charset="0"/>
              <a:ea typeface="Consolas"/>
              <a:cs typeface="Times New Roman" panose="02020603050405020304" pitchFamily="18" charset="0"/>
            </a:endParaRPr>
          </a:p>
        </p:txBody>
      </p:sp>
      <p:sp>
        <p:nvSpPr>
          <p:cNvPr id="106" name="overall-formula-2">
            <a:extLst>
              <a:ext uri="{FF2B5EF4-FFF2-40B4-BE49-F238E27FC236}">
                <a16:creationId xmlns:a16="http://schemas.microsoft.com/office/drawing/2014/main" id="{493961AB-A1EA-41F1-90D8-7A8056EA662D}"/>
              </a:ext>
            </a:extLst>
          </p:cNvPr>
          <p:cNvSpPr>
            <a:spLocks noGrp="1"/>
          </p:cNvSpPr>
          <p:nvPr/>
        </p:nvSpPr>
        <p:spPr>
          <a:xfrm>
            <a:off x="4653600" y="6211424"/>
            <a:ext cx="7048500" cy="209550"/>
          </a:xfrm>
          <a:prstGeom prst="rect">
            <a:avLst/>
          </a:prstGeom>
          <a:noFill/>
          <a:ln w="0">
            <a:noFill/>
            <a:prstDash val="solid"/>
          </a:ln>
        </p:spPr>
        <p:txBody>
          <a:bodyPr lIns="0" tIns="0" rIns="0" bIns="0" anchor="ctr"/>
          <a:lstStyle/>
          <a:p>
            <a:pPr algn="l">
              <a:defRPr sz="1200" b="1" i="0">
                <a:solidFill>
                  <a:srgbClr val="0F172A"/>
                </a:solidFill>
                <a:latin typeface="Consolas"/>
                <a:ea typeface="Consolas"/>
                <a:cs typeface="Consolas"/>
              </a:defRPr>
            </a:pPr>
            <a:endParaRPr sz="1200" b="1" i="0">
              <a:solidFill>
                <a:srgbClr val="0F172A"/>
              </a:solidFill>
              <a:latin typeface="Times New Roman" panose="02020603050405020304" pitchFamily="18" charset="0"/>
              <a:ea typeface="Consolas"/>
              <a:cs typeface="Times New Roman" panose="02020603050405020304" pitchFamily="18" charset="0"/>
            </a:endParaRPr>
          </a:p>
        </p:txBody>
      </p:sp>
      <p:sp>
        <p:nvSpPr>
          <p:cNvPr id="67" name="metric-def-2">
            <a:extLst>
              <a:ext uri="{FF2B5EF4-FFF2-40B4-BE49-F238E27FC236}">
                <a16:creationId xmlns:a16="http://schemas.microsoft.com/office/drawing/2014/main" id="{C87428A3-5465-4CD4-A9EE-BBC3D6DFFDC3}"/>
              </a:ext>
            </a:extLst>
          </p:cNvPr>
          <p:cNvSpPr>
            <a:spLocks noGrp="1"/>
          </p:cNvSpPr>
          <p:nvPr/>
        </p:nvSpPr>
        <p:spPr>
          <a:xfrm>
            <a:off x="8889423" y="2477507"/>
            <a:ext cx="2984127" cy="361950"/>
          </a:xfrm>
          <a:prstGeom prst="rect">
            <a:avLst/>
          </a:prstGeom>
          <a:noFill/>
          <a:ln w="0">
            <a:noFill/>
            <a:prstDash val="solid"/>
          </a:ln>
        </p:spPr>
        <p:txBody>
          <a:bodyPr lIns="0" tIns="0" rIns="0" bIns="0" anchor="ctr"/>
          <a:lstStyle/>
          <a:p>
            <a:pPr>
              <a:defRPr sz="1200" b="0" i="0">
                <a:solidFill>
                  <a:srgbClr val="2F4BAD"/>
                </a:solidFill>
                <a:latin typeface="Consolas"/>
                <a:ea typeface="Consolas"/>
                <a:cs typeface="Consolas"/>
              </a:defRPr>
            </a:pPr>
            <a:r>
              <a:rPr lang="zh-CN" altLang="en-US" sz="1200" b="1" i="1">
                <a:solidFill>
                  <a:schemeClr val="tx1">
                    <a:lumMod val="95000"/>
                    <a:lumOff val="5000"/>
                  </a:schemeClr>
                </a:solidFill>
                <a:latin typeface="Times New Roman" panose="02020603050405020304" pitchFamily="18" charset="0"/>
                <a:ea typeface="Consolas"/>
                <a:cs typeface="Times New Roman" panose="02020603050405020304" pitchFamily="18" charset="0"/>
              </a:rPr>
              <a:t>主要是校验</a:t>
            </a:r>
            <a:r>
              <a:rPr lang="en-US" altLang="zh-CN" sz="1200" b="1" i="1">
                <a:solidFill>
                  <a:schemeClr val="tx1">
                    <a:lumMod val="95000"/>
                    <a:lumOff val="5000"/>
                  </a:schemeClr>
                </a:solidFill>
                <a:latin typeface="Times New Roman" panose="02020603050405020304" pitchFamily="18" charset="0"/>
                <a:ea typeface="Consolas"/>
                <a:cs typeface="Times New Roman" panose="02020603050405020304" pitchFamily="18" charset="0"/>
              </a:rPr>
              <a:t>LLM-Agent</a:t>
            </a:r>
            <a:r>
              <a:rPr lang="zh-CN" altLang="en-US" sz="1200" b="1" i="1">
                <a:solidFill>
                  <a:schemeClr val="tx1">
                    <a:lumMod val="95000"/>
                    <a:lumOff val="5000"/>
                  </a:schemeClr>
                </a:solidFill>
                <a:latin typeface="Times New Roman" panose="02020603050405020304" pitchFamily="18" charset="0"/>
                <a:ea typeface="Consolas"/>
                <a:cs typeface="Times New Roman" panose="02020603050405020304" pitchFamily="18" charset="0"/>
              </a:rPr>
              <a:t>判断的是否是原文</a:t>
            </a:r>
            <a:endParaRPr sz="1200" b="1" i="1">
              <a:solidFill>
                <a:schemeClr val="tx1">
                  <a:lumMod val="95000"/>
                  <a:lumOff val="5000"/>
                </a:schemeClr>
              </a:solidFill>
              <a:latin typeface="Times New Roman" panose="02020603050405020304" pitchFamily="18" charset="0"/>
              <a:ea typeface="Consolas"/>
              <a:cs typeface="Times New Roman" panose="02020603050405020304" pitchFamily="18" charset="0"/>
            </a:endParaRPr>
          </a:p>
        </p:txBody>
      </p:sp>
      <p:sp>
        <p:nvSpPr>
          <p:cNvPr id="69" name="metric-no-circle-7">
            <a:extLst>
              <a:ext uri="{FF2B5EF4-FFF2-40B4-BE49-F238E27FC236}">
                <a16:creationId xmlns:a16="http://schemas.microsoft.com/office/drawing/2014/main" id="{4C8D6560-6304-4643-A568-1A7D76D9946B}"/>
              </a:ext>
            </a:extLst>
          </p:cNvPr>
          <p:cNvSpPr>
            <a:spLocks noGrp="1"/>
          </p:cNvSpPr>
          <p:nvPr/>
        </p:nvSpPr>
        <p:spPr>
          <a:xfrm>
            <a:off x="4577400" y="5301660"/>
            <a:ext cx="247650" cy="247650"/>
          </a:xfrm>
          <a:prstGeom prst="ellipse">
            <a:avLst/>
          </a:prstGeom>
          <a:solidFill>
            <a:srgbClr val="176FC1"/>
          </a:solidFill>
          <a:ln w="0">
            <a:solidFill>
              <a:srgbClr val="176FC1"/>
            </a:solidFill>
            <a:prstDash val="solid"/>
          </a:ln>
        </p:spPr>
      </p:sp>
      <p:sp>
        <p:nvSpPr>
          <p:cNvPr id="74" name="metric-no-7">
            <a:extLst>
              <a:ext uri="{FF2B5EF4-FFF2-40B4-BE49-F238E27FC236}">
                <a16:creationId xmlns:a16="http://schemas.microsoft.com/office/drawing/2014/main" id="{3296B7AD-C830-4B71-92EE-E9BCF2F630BE}"/>
              </a:ext>
            </a:extLst>
          </p:cNvPr>
          <p:cNvSpPr>
            <a:spLocks noGrp="1"/>
          </p:cNvSpPr>
          <p:nvPr/>
        </p:nvSpPr>
        <p:spPr>
          <a:xfrm>
            <a:off x="4577400" y="5301660"/>
            <a:ext cx="247650" cy="247650"/>
          </a:xfrm>
          <a:prstGeom prst="rect">
            <a:avLst/>
          </a:prstGeom>
          <a:noFill/>
          <a:ln w="0">
            <a:noFill/>
            <a:prstDash val="solid"/>
          </a:ln>
        </p:spPr>
        <p:txBody>
          <a:bodyPr lIns="0" tIns="0" rIns="0" bIns="0" anchor="ctr"/>
          <a:lstStyle/>
          <a:p>
            <a:pPr algn="ctr">
              <a:defRPr sz="1125" b="1" i="0">
                <a:solidFill>
                  <a:srgbClr val="FFFFFF"/>
                </a:solidFill>
                <a:latin typeface="Microsoft YaHei"/>
                <a:ea typeface="Microsoft YaHei"/>
                <a:cs typeface="Microsoft YaHei"/>
              </a:defRPr>
            </a:pPr>
            <a:r>
              <a:rPr lang="en-US" altLang="zh-CN" sz="1125" b="1" i="0">
                <a:solidFill>
                  <a:srgbClr val="FFFFFF"/>
                </a:solidFill>
                <a:latin typeface="Microsoft YaHei"/>
                <a:ea typeface="Microsoft YaHei"/>
                <a:cs typeface="Microsoft YaHei"/>
              </a:rPr>
              <a:t>8</a:t>
            </a:r>
            <a:endParaRPr sz="1125" b="1" i="0">
              <a:solidFill>
                <a:srgbClr val="FFFFFF"/>
              </a:solidFill>
              <a:latin typeface="Microsoft YaHei"/>
              <a:ea typeface="Microsoft YaHei"/>
              <a:cs typeface="Microsoft YaHei"/>
            </a:endParaRPr>
          </a:p>
        </p:txBody>
      </p:sp>
      <p:sp>
        <p:nvSpPr>
          <p:cNvPr id="75" name="metric-name-4">
            <a:extLst>
              <a:ext uri="{FF2B5EF4-FFF2-40B4-BE49-F238E27FC236}">
                <a16:creationId xmlns:a16="http://schemas.microsoft.com/office/drawing/2014/main" id="{6CC6CE05-68AB-49EF-BECC-5590236CB7CA}"/>
              </a:ext>
            </a:extLst>
          </p:cNvPr>
          <p:cNvSpPr>
            <a:spLocks noGrp="1"/>
          </p:cNvSpPr>
          <p:nvPr/>
        </p:nvSpPr>
        <p:spPr>
          <a:xfrm>
            <a:off x="4901250" y="3843310"/>
            <a:ext cx="1113151" cy="361950"/>
          </a:xfrm>
          <a:prstGeom prst="rect">
            <a:avLst/>
          </a:prstGeom>
          <a:noFill/>
          <a:ln w="0">
            <a:noFill/>
            <a:prstDash val="solid"/>
          </a:ln>
        </p:spPr>
        <p:txBody>
          <a:bodyPr lIns="0" tIns="0" rIns="0" bIns="0" anchor="ctr"/>
          <a:lstStyle/>
          <a:p>
            <a:pPr>
              <a:defRPr sz="1200" b="1" i="0">
                <a:solidFill>
                  <a:srgbClr val="0F172A"/>
                </a:solidFill>
                <a:latin typeface="Microsoft YaHei"/>
                <a:ea typeface="Microsoft YaHei"/>
                <a:cs typeface="Microsoft YaHei"/>
              </a:defRPr>
            </a:pPr>
            <a:r>
              <a:rPr lang="en-US" sz="1200" b="1">
                <a:solidFill>
                  <a:srgbClr val="0F172A"/>
                </a:solidFill>
                <a:latin typeface="Microsoft YaHei"/>
                <a:ea typeface="Microsoft YaHei"/>
                <a:cs typeface="Microsoft YaHei"/>
              </a:rPr>
              <a:t>core_semantic_f1</a:t>
            </a:r>
            <a:endParaRPr sz="1200" b="1" i="0">
              <a:solidFill>
                <a:srgbClr val="0F172A"/>
              </a:solidFill>
              <a:latin typeface="Microsoft YaHei"/>
              <a:ea typeface="Microsoft YaHei"/>
              <a:cs typeface="Microsoft YaHei"/>
            </a:endParaRPr>
          </a:p>
        </p:txBody>
      </p:sp>
      <p:sp>
        <p:nvSpPr>
          <p:cNvPr id="76" name="metric-def-2">
            <a:extLst>
              <a:ext uri="{FF2B5EF4-FFF2-40B4-BE49-F238E27FC236}">
                <a16:creationId xmlns:a16="http://schemas.microsoft.com/office/drawing/2014/main" id="{2CB43011-73B4-4030-A7E6-7039A7E816AC}"/>
              </a:ext>
            </a:extLst>
          </p:cNvPr>
          <p:cNvSpPr>
            <a:spLocks noGrp="1"/>
          </p:cNvSpPr>
          <p:nvPr/>
        </p:nvSpPr>
        <p:spPr>
          <a:xfrm>
            <a:off x="9754293" y="2863298"/>
            <a:ext cx="2984127" cy="361950"/>
          </a:xfrm>
          <a:prstGeom prst="rect">
            <a:avLst/>
          </a:prstGeom>
          <a:noFill/>
          <a:ln w="0">
            <a:noFill/>
            <a:prstDash val="solid"/>
          </a:ln>
        </p:spPr>
        <p:txBody>
          <a:bodyPr lIns="0" tIns="0" rIns="0" bIns="0" anchor="ctr"/>
          <a:lstStyle/>
          <a:p>
            <a:pPr>
              <a:defRPr sz="1200" b="0" i="0">
                <a:solidFill>
                  <a:srgbClr val="2F4BAD"/>
                </a:solidFill>
                <a:latin typeface="Consolas"/>
                <a:ea typeface="Consolas"/>
                <a:cs typeface="Consolas"/>
              </a:defRPr>
            </a:pPr>
            <a:r>
              <a:rPr lang="zh-CN" altLang="en-US" sz="1200" b="1" i="1">
                <a:solidFill>
                  <a:schemeClr val="tx1">
                    <a:lumMod val="95000"/>
                    <a:lumOff val="5000"/>
                  </a:schemeClr>
                </a:solidFill>
                <a:latin typeface="Times New Roman" panose="02020603050405020304" pitchFamily="18" charset="0"/>
                <a:ea typeface="Consolas"/>
                <a:cs typeface="Times New Roman" panose="02020603050405020304" pitchFamily="18" charset="0"/>
              </a:rPr>
              <a:t>前述类型判断</a:t>
            </a:r>
            <a:r>
              <a:rPr lang="en-US" altLang="zh-CN" sz="1200" b="1" i="1">
                <a:solidFill>
                  <a:srgbClr val="C00000"/>
                </a:solidFill>
                <a:latin typeface="Times New Roman" panose="02020603050405020304" pitchFamily="18" charset="0"/>
                <a:ea typeface="Consolas"/>
                <a:cs typeface="Times New Roman" panose="02020603050405020304" pitchFamily="18" charset="0"/>
              </a:rPr>
              <a:t>EnergyStorageUni</a:t>
            </a:r>
            <a:r>
              <a:rPr lang="en-US" altLang="zh-CN" sz="1200" b="1" i="1">
                <a:solidFill>
                  <a:schemeClr val="tx1">
                    <a:lumMod val="95000"/>
                    <a:lumOff val="5000"/>
                  </a:schemeClr>
                </a:solidFill>
                <a:latin typeface="Times New Roman" panose="02020603050405020304" pitchFamily="18" charset="0"/>
                <a:ea typeface="Consolas"/>
                <a:cs typeface="Times New Roman" panose="02020603050405020304" pitchFamily="18" charset="0"/>
              </a:rPr>
              <a:t>t|x|</a:t>
            </a:r>
            <a:r>
              <a:rPr lang="en-US" altLang="zh-CN" sz="1200" b="1" i="1">
                <a:solidFill>
                  <a:schemeClr val="tx1">
                    <a:lumMod val="95000"/>
                    <a:lumOff val="5000"/>
                  </a:schemeClr>
                </a:solidFill>
                <a:latin typeface="Times New Roman" panose="02020603050405020304" pitchFamily="18" charset="0"/>
                <a:cs typeface="Times New Roman" panose="02020603050405020304" pitchFamily="18" charset="0"/>
              </a:rPr>
              <a:t>state_of_charge</a:t>
            </a:r>
            <a:endParaRPr sz="1200" b="1" i="1">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7" name="metric-def-2">
            <a:extLst>
              <a:ext uri="{FF2B5EF4-FFF2-40B4-BE49-F238E27FC236}">
                <a16:creationId xmlns:a16="http://schemas.microsoft.com/office/drawing/2014/main" id="{3C1C4ED8-34D9-428F-BE19-521C872C9F3F}"/>
              </a:ext>
            </a:extLst>
          </p:cNvPr>
          <p:cNvSpPr>
            <a:spLocks noGrp="1"/>
          </p:cNvSpPr>
          <p:nvPr/>
        </p:nvSpPr>
        <p:spPr>
          <a:xfrm>
            <a:off x="8964348" y="3339548"/>
            <a:ext cx="2984127" cy="361950"/>
          </a:xfrm>
          <a:prstGeom prst="rect">
            <a:avLst/>
          </a:prstGeom>
          <a:noFill/>
          <a:ln w="0">
            <a:noFill/>
            <a:prstDash val="solid"/>
          </a:ln>
        </p:spPr>
        <p:txBody>
          <a:bodyPr lIns="0" tIns="0" rIns="0" bIns="0" anchor="ctr"/>
          <a:lstStyle/>
          <a:p>
            <a:pPr>
              <a:defRPr sz="1200" b="0" i="0">
                <a:solidFill>
                  <a:srgbClr val="2F4BAD"/>
                </a:solidFill>
                <a:latin typeface="Consolas"/>
                <a:ea typeface="Consolas"/>
                <a:cs typeface="Consolas"/>
              </a:defRPr>
            </a:pPr>
            <a:r>
              <a:rPr lang="zh-CN" altLang="en-US" sz="1200" b="1" i="1">
                <a:solidFill>
                  <a:schemeClr val="tx1">
                    <a:lumMod val="95000"/>
                    <a:lumOff val="5000"/>
                  </a:schemeClr>
                </a:solidFill>
                <a:latin typeface="Times New Roman" panose="02020603050405020304" pitchFamily="18" charset="0"/>
                <a:ea typeface="Consolas"/>
                <a:cs typeface="Times New Roman" panose="02020603050405020304" pitchFamily="18" charset="0"/>
              </a:rPr>
              <a:t>在六元组某一要素下，</a:t>
            </a:r>
            <a:r>
              <a:rPr lang="en-US" altLang="zh-CN" sz="1200" b="1" i="1">
                <a:solidFill>
                  <a:schemeClr val="tx1">
                    <a:lumMod val="95000"/>
                    <a:lumOff val="5000"/>
                  </a:schemeClr>
                </a:solidFill>
                <a:latin typeface="Times New Roman" panose="02020603050405020304" pitchFamily="18" charset="0"/>
                <a:ea typeface="Consolas"/>
                <a:cs typeface="Times New Roman" panose="02020603050405020304" pitchFamily="18" charset="0"/>
              </a:rPr>
              <a:t>FACT</a:t>
            </a:r>
            <a:r>
              <a:rPr lang="zh-CN" altLang="en-US" sz="1200" b="1" i="1">
                <a:solidFill>
                  <a:schemeClr val="tx1">
                    <a:lumMod val="95000"/>
                    <a:lumOff val="5000"/>
                  </a:schemeClr>
                </a:solidFill>
                <a:latin typeface="Times New Roman" panose="02020603050405020304" pitchFamily="18" charset="0"/>
                <a:ea typeface="Consolas"/>
                <a:cs typeface="Times New Roman" panose="02020603050405020304" pitchFamily="18" charset="0"/>
              </a:rPr>
              <a:t>判断特性前缀</a:t>
            </a:r>
            <a:endParaRPr lang="en-US" altLang="zh-CN" sz="1200" b="1" i="1">
              <a:solidFill>
                <a:schemeClr val="tx1">
                  <a:lumMod val="95000"/>
                  <a:lumOff val="5000"/>
                </a:schemeClr>
              </a:solidFill>
              <a:latin typeface="Times New Roman" panose="02020603050405020304" pitchFamily="18" charset="0"/>
              <a:ea typeface="Consolas"/>
              <a:cs typeface="Times New Roman" panose="02020603050405020304" pitchFamily="18" charset="0"/>
            </a:endParaRPr>
          </a:p>
          <a:p>
            <a:pPr>
              <a:defRPr sz="1200" b="0" i="0">
                <a:solidFill>
                  <a:srgbClr val="2F4BAD"/>
                </a:solidFill>
                <a:latin typeface="Consolas"/>
                <a:ea typeface="Consolas"/>
                <a:cs typeface="Consolas"/>
              </a:defRPr>
            </a:pPr>
            <a:r>
              <a:rPr lang="en-US" altLang="zh-CN" sz="1200" b="1" i="1">
                <a:solidFill>
                  <a:schemeClr val="tx1">
                    <a:lumMod val="95000"/>
                    <a:lumOff val="5000"/>
                  </a:schemeClr>
                </a:solidFill>
                <a:latin typeface="Times New Roman" panose="02020603050405020304" pitchFamily="18" charset="0"/>
                <a:ea typeface="Consolas"/>
                <a:cs typeface="Times New Roman" panose="02020603050405020304" pitchFamily="18" charset="0"/>
              </a:rPr>
              <a:t>EnergyStorageUnit|x|</a:t>
            </a:r>
            <a:r>
              <a:rPr lang="en-US" altLang="zh-CN" sz="1200" b="1" i="1">
                <a:solidFill>
                  <a:srgbClr val="C00000"/>
                </a:solidFill>
                <a:latin typeface="Times New Roman" panose="02020603050405020304" pitchFamily="18" charset="0"/>
                <a:ea typeface="Consolas"/>
                <a:cs typeface="Times New Roman" panose="02020603050405020304" pitchFamily="18" charset="0"/>
              </a:rPr>
              <a:t>state_of_charge</a:t>
            </a:r>
            <a:endParaRPr sz="1200" b="1" i="1">
              <a:solidFill>
                <a:srgbClr val="C00000"/>
              </a:solidFill>
              <a:latin typeface="Times New Roman" panose="02020603050405020304" pitchFamily="18" charset="0"/>
              <a:ea typeface="Consolas"/>
              <a:cs typeface="Times New Roman" panose="02020603050405020304" pitchFamily="18" charset="0"/>
            </a:endParaRPr>
          </a:p>
        </p:txBody>
      </p:sp>
      <p:sp>
        <p:nvSpPr>
          <p:cNvPr id="82" name="metric-def-2">
            <a:extLst>
              <a:ext uri="{FF2B5EF4-FFF2-40B4-BE49-F238E27FC236}">
                <a16:creationId xmlns:a16="http://schemas.microsoft.com/office/drawing/2014/main" id="{717EBADD-A1B6-45E6-8277-568DA3D3CA1C}"/>
              </a:ext>
            </a:extLst>
          </p:cNvPr>
          <p:cNvSpPr>
            <a:spLocks noGrp="1"/>
          </p:cNvSpPr>
          <p:nvPr/>
        </p:nvSpPr>
        <p:spPr>
          <a:xfrm>
            <a:off x="8676511" y="1936738"/>
            <a:ext cx="2984127" cy="361950"/>
          </a:xfrm>
          <a:prstGeom prst="rect">
            <a:avLst/>
          </a:prstGeom>
          <a:noFill/>
          <a:ln w="0">
            <a:noFill/>
            <a:prstDash val="solid"/>
          </a:ln>
        </p:spPr>
        <p:txBody>
          <a:bodyPr lIns="0" tIns="0" rIns="0" bIns="0" anchor="ctr"/>
          <a:lstStyle/>
          <a:p>
            <a:pPr>
              <a:defRPr sz="1200" b="0" i="0">
                <a:solidFill>
                  <a:srgbClr val="2F4BAD"/>
                </a:solidFill>
                <a:latin typeface="Consolas"/>
                <a:ea typeface="Consolas"/>
                <a:cs typeface="Consolas"/>
              </a:defRPr>
            </a:pPr>
            <a:r>
              <a:rPr lang="zh-CN" altLang="en-US" sz="1200" b="1" i="1">
                <a:solidFill>
                  <a:schemeClr val="tx1">
                    <a:lumMod val="95000"/>
                    <a:lumOff val="5000"/>
                  </a:schemeClr>
                </a:solidFill>
                <a:latin typeface="Times New Roman" panose="02020603050405020304" pitchFamily="18" charset="0"/>
                <a:ea typeface="Consolas"/>
                <a:cs typeface="Times New Roman" panose="02020603050405020304" pitchFamily="18" charset="0"/>
              </a:rPr>
              <a:t>整体是否是六元组</a:t>
            </a:r>
            <a:endParaRPr lang="en-US" altLang="zh-CN" sz="1200" b="1" i="1">
              <a:solidFill>
                <a:schemeClr val="tx1">
                  <a:lumMod val="95000"/>
                  <a:lumOff val="5000"/>
                </a:schemeClr>
              </a:solidFill>
              <a:latin typeface="Times New Roman" panose="02020603050405020304" pitchFamily="18" charset="0"/>
              <a:ea typeface="Consolas"/>
              <a:cs typeface="Times New Roman" panose="02020603050405020304" pitchFamily="18" charset="0"/>
            </a:endParaRPr>
          </a:p>
          <a:p>
            <a:pPr>
              <a:defRPr sz="1200" b="0" i="0">
                <a:solidFill>
                  <a:srgbClr val="2F4BAD"/>
                </a:solidFill>
                <a:latin typeface="Consolas"/>
                <a:ea typeface="Consolas"/>
                <a:cs typeface="Consolas"/>
              </a:defRPr>
            </a:pPr>
            <a:r>
              <a:rPr lang="en-US" altLang="zh-CN" sz="1200" b="1" i="1">
                <a:solidFill>
                  <a:srgbClr val="203864"/>
                </a:solidFill>
                <a:latin typeface="Times New Roman" panose="02020603050405020304" pitchFamily="18" charset="0"/>
                <a:ea typeface="Consolas"/>
                <a:cs typeface="Times New Roman" panose="02020603050405020304" pitchFamily="18" charset="0"/>
              </a:rPr>
              <a:t>EnergyStorageUnit|x|</a:t>
            </a:r>
            <a:endParaRPr sz="1200" b="1" i="1">
              <a:solidFill>
                <a:srgbClr val="203864"/>
              </a:solidFill>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16049F50-4F8C-4E03-9A86-D1C30C67880E}"/>
              </a:ext>
            </a:extLst>
          </p:cNvPr>
          <p:cNvSpPr/>
          <p:nvPr/>
        </p:nvSpPr>
        <p:spPr>
          <a:xfrm>
            <a:off x="6139500" y="3816498"/>
            <a:ext cx="3112739" cy="359001"/>
          </a:xfrm>
          <a:prstGeom prst="rect">
            <a:avLst/>
          </a:prstGeom>
          <a:noFill/>
          <a:ln w="0">
            <a:noFill/>
            <a:prstDash val="solid"/>
          </a:ln>
        </p:spPr>
        <p:txBody>
          <a:bodyPr lIns="0" tIns="0" rIns="0" bIns="0" anchor="ctr"/>
          <a:lstStyle/>
          <a:p>
            <a:r>
              <a:rPr lang="en-US" altLang="zh-CN" sz="1200" i="1">
                <a:solidFill>
                  <a:schemeClr val="bg2">
                    <a:lumMod val="25000"/>
                  </a:schemeClr>
                </a:solidFill>
                <a:latin typeface="Times New Roman" panose="02020603050405020304" pitchFamily="18" charset="0"/>
                <a:cs typeface="Times New Roman" panose="02020603050405020304" pitchFamily="18" charset="0"/>
              </a:rPr>
              <a:t>def mapping_signatures(mapping: MappingResult) -&gt; Dict[str, Any]: </a:t>
            </a:r>
            <a:endParaRPr lang="zh-CN" altLang="en-US" sz="1200" i="1">
              <a:solidFill>
                <a:schemeClr val="bg2">
                  <a:lumMod val="25000"/>
                </a:schemeClr>
              </a:solidFill>
              <a:latin typeface="Times New Roman" panose="02020603050405020304" pitchFamily="18" charset="0"/>
              <a:cs typeface="Times New Roman" panose="02020603050405020304" pitchFamily="18" charset="0"/>
            </a:endParaRPr>
          </a:p>
        </p:txBody>
      </p:sp>
      <p:sp>
        <p:nvSpPr>
          <p:cNvPr id="86" name="metric-def-2">
            <a:extLst>
              <a:ext uri="{FF2B5EF4-FFF2-40B4-BE49-F238E27FC236}">
                <a16:creationId xmlns:a16="http://schemas.microsoft.com/office/drawing/2014/main" id="{140B77AC-12D1-4F09-8C05-DA66B44197C6}"/>
              </a:ext>
            </a:extLst>
          </p:cNvPr>
          <p:cNvSpPr>
            <a:spLocks noGrp="1"/>
          </p:cNvSpPr>
          <p:nvPr/>
        </p:nvSpPr>
        <p:spPr>
          <a:xfrm>
            <a:off x="9293141" y="3816498"/>
            <a:ext cx="2984127" cy="361950"/>
          </a:xfrm>
          <a:prstGeom prst="rect">
            <a:avLst/>
          </a:prstGeom>
          <a:noFill/>
          <a:ln w="0">
            <a:noFill/>
            <a:prstDash val="solid"/>
          </a:ln>
        </p:spPr>
        <p:txBody>
          <a:bodyPr lIns="0" tIns="0" rIns="0" bIns="0" anchor="ctr"/>
          <a:lstStyle/>
          <a:p>
            <a:pPr>
              <a:defRPr sz="1200" b="0" i="0">
                <a:solidFill>
                  <a:srgbClr val="2F4BAD"/>
                </a:solidFill>
                <a:latin typeface="Consolas"/>
                <a:ea typeface="Consolas"/>
                <a:cs typeface="Consolas"/>
              </a:defRPr>
            </a:pPr>
            <a:r>
              <a:rPr lang="zh-CN" altLang="en-US" sz="1200" b="1" i="1">
                <a:solidFill>
                  <a:schemeClr val="tx1">
                    <a:lumMod val="95000"/>
                    <a:lumOff val="5000"/>
                  </a:schemeClr>
                </a:solidFill>
                <a:latin typeface="Times New Roman" panose="02020603050405020304" pitchFamily="18" charset="0"/>
                <a:ea typeface="Consolas"/>
                <a:cs typeface="Times New Roman" panose="02020603050405020304" pitchFamily="18" charset="0"/>
              </a:rPr>
              <a:t>某个特性的具体结果</a:t>
            </a:r>
            <a:endParaRPr lang="en-US" altLang="zh-CN" sz="1200" b="1" i="1">
              <a:solidFill>
                <a:schemeClr val="tx1">
                  <a:lumMod val="95000"/>
                  <a:lumOff val="5000"/>
                </a:schemeClr>
              </a:solidFill>
              <a:latin typeface="Times New Roman" panose="02020603050405020304" pitchFamily="18" charset="0"/>
              <a:ea typeface="Consolas"/>
              <a:cs typeface="Times New Roman" panose="02020603050405020304" pitchFamily="18" charset="0"/>
            </a:endParaRPr>
          </a:p>
          <a:p>
            <a:pPr>
              <a:defRPr sz="1200" b="0" i="0">
                <a:solidFill>
                  <a:srgbClr val="2F4BAD"/>
                </a:solidFill>
                <a:latin typeface="Consolas"/>
                <a:ea typeface="Consolas"/>
                <a:cs typeface="Consolas"/>
              </a:defRPr>
            </a:pPr>
            <a:r>
              <a:rPr lang="en-US" altLang="zh-CN" sz="1200" b="1" i="1">
                <a:solidFill>
                  <a:schemeClr val="tx1">
                    <a:lumMod val="95000"/>
                    <a:lumOff val="5000"/>
                  </a:schemeClr>
                </a:solidFill>
                <a:latin typeface="Times New Roman" panose="02020603050405020304" pitchFamily="18" charset="0"/>
                <a:ea typeface="Consolas"/>
                <a:cs typeface="Times New Roman" panose="02020603050405020304" pitchFamily="18" charset="0"/>
              </a:rPr>
              <a:t>EnergyStorageUnit|x|</a:t>
            </a:r>
            <a:r>
              <a:rPr lang="en-US" altLang="zh-CN" sz="1200" b="1" i="1">
                <a:solidFill>
                  <a:srgbClr val="203864"/>
                </a:solidFill>
                <a:latin typeface="Times New Roman" panose="02020603050405020304" pitchFamily="18" charset="0"/>
                <a:ea typeface="Consolas"/>
                <a:cs typeface="Times New Roman" panose="02020603050405020304" pitchFamily="18" charset="0"/>
              </a:rPr>
              <a:t>state_of_charge </a:t>
            </a:r>
            <a:r>
              <a:rPr lang="en-US" altLang="zh-CN" sz="1200" b="1" i="1">
                <a:solidFill>
                  <a:srgbClr val="C00000"/>
                </a:solidFill>
                <a:latin typeface="Times New Roman" panose="02020603050405020304" pitchFamily="18" charset="0"/>
                <a:ea typeface="Consolas"/>
                <a:cs typeface="Times New Roman" panose="02020603050405020304" pitchFamily="18" charset="0"/>
              </a:rPr>
              <a:t>| 80%</a:t>
            </a:r>
            <a:endParaRPr sz="1200" b="1" i="1">
              <a:solidFill>
                <a:srgbClr val="C00000"/>
              </a:solidFill>
              <a:latin typeface="Times New Roman" panose="02020603050405020304" pitchFamily="18" charset="0"/>
              <a:ea typeface="Consolas"/>
              <a:cs typeface="Times New Roman" panose="02020603050405020304" pitchFamily="18" charset="0"/>
            </a:endParaRPr>
          </a:p>
        </p:txBody>
      </p:sp>
      <p:sp>
        <p:nvSpPr>
          <p:cNvPr id="87" name="metric-def-2">
            <a:extLst>
              <a:ext uri="{FF2B5EF4-FFF2-40B4-BE49-F238E27FC236}">
                <a16:creationId xmlns:a16="http://schemas.microsoft.com/office/drawing/2014/main" id="{21C6D066-FD10-45CE-880C-4DFC61AD3114}"/>
              </a:ext>
            </a:extLst>
          </p:cNvPr>
          <p:cNvSpPr>
            <a:spLocks noGrp="1"/>
          </p:cNvSpPr>
          <p:nvPr/>
        </p:nvSpPr>
        <p:spPr>
          <a:xfrm>
            <a:off x="8898948" y="4356857"/>
            <a:ext cx="2984127" cy="361950"/>
          </a:xfrm>
          <a:prstGeom prst="rect">
            <a:avLst/>
          </a:prstGeom>
          <a:noFill/>
          <a:ln w="0">
            <a:noFill/>
            <a:prstDash val="solid"/>
          </a:ln>
        </p:spPr>
        <p:txBody>
          <a:bodyPr lIns="0" tIns="0" rIns="0" bIns="0" anchor="ctr"/>
          <a:lstStyle/>
          <a:p>
            <a:pPr>
              <a:defRPr sz="1200" b="0" i="0">
                <a:solidFill>
                  <a:srgbClr val="2F4BAD"/>
                </a:solidFill>
                <a:latin typeface="Consolas"/>
                <a:ea typeface="Consolas"/>
                <a:cs typeface="Consolas"/>
              </a:defRPr>
            </a:pPr>
            <a:r>
              <a:rPr lang="en-US" altLang="zh-CN" sz="1200" b="1" i="1">
                <a:solidFill>
                  <a:schemeClr val="tx1">
                    <a:lumMod val="95000"/>
                    <a:lumOff val="5000"/>
                  </a:schemeClr>
                </a:solidFill>
                <a:latin typeface="Times New Roman" panose="02020603050405020304" pitchFamily="18" charset="0"/>
                <a:ea typeface="Consolas"/>
                <a:cs typeface="Times New Roman" panose="02020603050405020304" pitchFamily="18" charset="0"/>
              </a:rPr>
              <a:t>Token</a:t>
            </a:r>
            <a:r>
              <a:rPr lang="zh-CN" altLang="en-US" sz="1200" b="1" i="1">
                <a:solidFill>
                  <a:schemeClr val="tx1">
                    <a:lumMod val="95000"/>
                    <a:lumOff val="5000"/>
                  </a:schemeClr>
                </a:solidFill>
                <a:latin typeface="Times New Roman" panose="02020603050405020304" pitchFamily="18" charset="0"/>
                <a:ea typeface="Consolas"/>
                <a:cs typeface="Times New Roman" panose="02020603050405020304" pitchFamily="18" charset="0"/>
              </a:rPr>
              <a:t>的分割原文结果</a:t>
            </a:r>
            <a:endParaRPr lang="en-US" altLang="zh-CN" sz="1200" b="1" i="1">
              <a:solidFill>
                <a:schemeClr val="tx1">
                  <a:lumMod val="95000"/>
                  <a:lumOff val="5000"/>
                </a:schemeClr>
              </a:solidFill>
              <a:latin typeface="Times New Roman" panose="02020603050405020304" pitchFamily="18" charset="0"/>
              <a:ea typeface="Consolas"/>
              <a:cs typeface="Times New Roman" panose="02020603050405020304" pitchFamily="18" charset="0"/>
            </a:endParaRPr>
          </a:p>
          <a:p>
            <a:pPr>
              <a:defRPr sz="1200" b="0" i="0">
                <a:solidFill>
                  <a:srgbClr val="2F4BAD"/>
                </a:solidFill>
                <a:latin typeface="Consolas"/>
                <a:ea typeface="Consolas"/>
                <a:cs typeface="Consolas"/>
              </a:defRPr>
            </a:pPr>
            <a:r>
              <a:rPr lang="zh-CN" altLang="en-US" sz="1200" b="1" i="1">
                <a:solidFill>
                  <a:schemeClr val="tx1">
                    <a:lumMod val="95000"/>
                    <a:lumOff val="5000"/>
                  </a:schemeClr>
                </a:solidFill>
                <a:latin typeface="Times New Roman" panose="02020603050405020304" pitchFamily="18" charset="0"/>
                <a:ea typeface="Consolas"/>
                <a:cs typeface="Times New Roman" panose="02020603050405020304" pitchFamily="18" charset="0"/>
              </a:rPr>
              <a:t>原文“</a:t>
            </a:r>
            <a:r>
              <a:rPr lang="en-US" altLang="zh-CN" sz="1200" b="1" i="1">
                <a:solidFill>
                  <a:schemeClr val="tx1">
                    <a:lumMod val="95000"/>
                    <a:lumOff val="5000"/>
                  </a:schemeClr>
                </a:solidFill>
                <a:latin typeface="Times New Roman" panose="02020603050405020304" pitchFamily="18" charset="0"/>
                <a:ea typeface="Consolas"/>
                <a:cs typeface="Times New Roman" panose="02020603050405020304" pitchFamily="18" charset="0"/>
              </a:rPr>
              <a:t>5</a:t>
            </a:r>
            <a:r>
              <a:rPr lang="zh-CN" altLang="en-US" sz="1200" b="1" i="1">
                <a:solidFill>
                  <a:schemeClr val="tx1">
                    <a:lumMod val="95000"/>
                    <a:lumOff val="5000"/>
                  </a:schemeClr>
                </a:solidFill>
                <a:latin typeface="Times New Roman" panose="02020603050405020304" pitchFamily="18" charset="0"/>
                <a:ea typeface="Consolas"/>
                <a:cs typeface="Times New Roman" panose="02020603050405020304" pitchFamily="18" charset="0"/>
              </a:rPr>
              <a:t>节点”在某个特性下的非空判断</a:t>
            </a:r>
            <a:endParaRPr sz="1200" b="1" i="1">
              <a:solidFill>
                <a:srgbClr val="C00000"/>
              </a:solidFill>
              <a:latin typeface="Times New Roman" panose="02020603050405020304" pitchFamily="18" charset="0"/>
              <a:ea typeface="Consolas"/>
              <a:cs typeface="Times New Roman" panose="02020603050405020304" pitchFamily="18" charset="0"/>
            </a:endParaRPr>
          </a:p>
        </p:txBody>
      </p:sp>
      <p:sp>
        <p:nvSpPr>
          <p:cNvPr id="92" name="metric-def-2">
            <a:extLst>
              <a:ext uri="{FF2B5EF4-FFF2-40B4-BE49-F238E27FC236}">
                <a16:creationId xmlns:a16="http://schemas.microsoft.com/office/drawing/2014/main" id="{B6B7EDF9-AA15-41A4-A726-D5CE37D2749B}"/>
              </a:ext>
            </a:extLst>
          </p:cNvPr>
          <p:cNvSpPr>
            <a:spLocks noGrp="1"/>
          </p:cNvSpPr>
          <p:nvPr/>
        </p:nvSpPr>
        <p:spPr>
          <a:xfrm>
            <a:off x="9141403" y="4834789"/>
            <a:ext cx="2984127" cy="361950"/>
          </a:xfrm>
          <a:prstGeom prst="rect">
            <a:avLst/>
          </a:prstGeom>
          <a:noFill/>
          <a:ln w="0">
            <a:noFill/>
            <a:prstDash val="solid"/>
          </a:ln>
        </p:spPr>
        <p:txBody>
          <a:bodyPr lIns="0" tIns="0" rIns="0" bIns="0" anchor="ctr"/>
          <a:lstStyle/>
          <a:p>
            <a:pPr>
              <a:defRPr sz="1200" b="0" i="0">
                <a:solidFill>
                  <a:srgbClr val="2F4BAD"/>
                </a:solidFill>
                <a:latin typeface="Consolas"/>
                <a:ea typeface="Consolas"/>
                <a:cs typeface="Consolas"/>
              </a:defRPr>
            </a:pPr>
            <a:r>
              <a:rPr lang="zh-CN" altLang="en-US" sz="1200" b="1" i="1">
                <a:solidFill>
                  <a:schemeClr val="tx1">
                    <a:lumMod val="95000"/>
                    <a:lumOff val="5000"/>
                  </a:schemeClr>
                </a:solidFill>
                <a:latin typeface="Times New Roman" panose="02020603050405020304" pitchFamily="18" charset="0"/>
                <a:ea typeface="Consolas"/>
                <a:cs typeface="Times New Roman" panose="02020603050405020304" pitchFamily="18" charset="0"/>
              </a:rPr>
              <a:t>没有不合规字符</a:t>
            </a:r>
            <a:endParaRPr sz="1200" b="1" i="1">
              <a:solidFill>
                <a:srgbClr val="C00000"/>
              </a:solidFill>
              <a:latin typeface="Times New Roman" panose="02020603050405020304" pitchFamily="18" charset="0"/>
              <a:ea typeface="Consolas"/>
              <a:cs typeface="Times New Roman" panose="02020603050405020304" pitchFamily="18" charset="0"/>
            </a:endParaRPr>
          </a:p>
        </p:txBody>
      </p:sp>
      <p:sp>
        <p:nvSpPr>
          <p:cNvPr id="4" name="矩形: 圆角 3">
            <a:extLst>
              <a:ext uri="{FF2B5EF4-FFF2-40B4-BE49-F238E27FC236}">
                <a16:creationId xmlns:a16="http://schemas.microsoft.com/office/drawing/2014/main" id="{33EAF816-389A-44B3-A5BA-E85E88120931}"/>
              </a:ext>
            </a:extLst>
          </p:cNvPr>
          <p:cNvSpPr/>
          <p:nvPr/>
        </p:nvSpPr>
        <p:spPr>
          <a:xfrm>
            <a:off x="4548825" y="2747687"/>
            <a:ext cx="7554852" cy="1571873"/>
          </a:xfrm>
          <a:prstGeom prst="roundRect">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文本框 5">
            <a:extLst>
              <a:ext uri="{FF2B5EF4-FFF2-40B4-BE49-F238E27FC236}">
                <a16:creationId xmlns:a16="http://schemas.microsoft.com/office/drawing/2014/main" id="{593A8864-F050-4834-AED2-A288079D842E}"/>
              </a:ext>
            </a:extLst>
          </p:cNvPr>
          <p:cNvSpPr txBox="1"/>
          <p:nvPr/>
        </p:nvSpPr>
        <p:spPr>
          <a:xfrm>
            <a:off x="4309152" y="2620191"/>
            <a:ext cx="1005403" cy="338554"/>
          </a:xfrm>
          <a:prstGeom prst="rect">
            <a:avLst/>
          </a:prstGeom>
          <a:noFill/>
        </p:spPr>
        <p:txBody>
          <a:bodyPr wrap="none" rtlCol="0">
            <a:spAutoFit/>
          </a:bodyPr>
          <a:lstStyle/>
          <a:p>
            <a:r>
              <a:rPr lang="zh-CN" altLang="en-US" sz="1600" b="1">
                <a:solidFill>
                  <a:srgbClr val="C00000"/>
                </a:solidFill>
                <a:latin typeface="微软雅黑" panose="020B0503020204020204" pitchFamily="34" charset="-122"/>
                <a:ea typeface="微软雅黑" panose="020B0503020204020204" pitchFamily="34" charset="-122"/>
              </a:rPr>
              <a:t>核心校验</a:t>
            </a:r>
          </a:p>
        </p:txBody>
      </p:sp>
      <p:sp>
        <p:nvSpPr>
          <p:cNvPr id="8" name="矩形 7">
            <a:extLst>
              <a:ext uri="{FF2B5EF4-FFF2-40B4-BE49-F238E27FC236}">
                <a16:creationId xmlns:a16="http://schemas.microsoft.com/office/drawing/2014/main" id="{2AE56C1C-899A-4FE5-BE53-2C1A9FB935BE}"/>
              </a:ext>
            </a:extLst>
          </p:cNvPr>
          <p:cNvSpPr/>
          <p:nvPr/>
        </p:nvSpPr>
        <p:spPr>
          <a:xfrm>
            <a:off x="-4124" y="5476173"/>
            <a:ext cx="4391024" cy="1446550"/>
          </a:xfrm>
          <a:prstGeom prst="rect">
            <a:avLst/>
          </a:prstGeom>
        </p:spPr>
        <p:txBody>
          <a:bodyPr wrap="square">
            <a:spAutoFit/>
          </a:bodyPr>
          <a:lstStyle/>
          <a:p>
            <a:r>
              <a:rPr lang="en-US" altLang="zh-CN" sz="1100" b="1"/>
              <a:t>R002 — B02_battery_storage</a:t>
            </a:r>
          </a:p>
          <a:p>
            <a:r>
              <a:rPr lang="en-US" altLang="zh-CN" sz="1100"/>
              <a:t>Language: zh</a:t>
            </a:r>
          </a:p>
          <a:p>
            <a:r>
              <a:rPr lang="zh-CN" altLang="en-US" sz="1100"/>
              <a:t>本备忘录记录</a:t>
            </a:r>
            <a:r>
              <a:rPr lang="en-US" altLang="zh-CN" sz="1100"/>
              <a:t>B</a:t>
            </a:r>
            <a:r>
              <a:rPr lang="zh-CN" altLang="en-US" sz="1100"/>
              <a:t>区电池储能电站的交接事项。该电站当前荷电状态为</a:t>
            </a:r>
            <a:r>
              <a:rPr lang="en-US" altLang="zh-CN" sz="1100"/>
              <a:t>45%</a:t>
            </a:r>
            <a:r>
              <a:rPr lang="zh-CN" altLang="en-US" sz="1100"/>
              <a:t>，并网于配电网</a:t>
            </a:r>
            <a:r>
              <a:rPr lang="en-US" altLang="zh-CN" sz="1100"/>
              <a:t>12</a:t>
            </a:r>
            <a:r>
              <a:rPr lang="zh-CN" altLang="en-US" sz="1100"/>
              <a:t>号节点。其额定能量容量为</a:t>
            </a:r>
            <a:r>
              <a:rPr lang="en-US" altLang="zh-CN" sz="1100"/>
              <a:t>12</a:t>
            </a:r>
            <a:r>
              <a:rPr lang="zh-CN" altLang="en-US" sz="1100"/>
              <a:t>兆瓦时，最大充电功率</a:t>
            </a:r>
            <a:r>
              <a:rPr lang="en-US" altLang="zh-CN" sz="1100"/>
              <a:t>4</a:t>
            </a:r>
            <a:r>
              <a:rPr lang="zh-CN" altLang="en-US" sz="1100"/>
              <a:t>兆瓦，最大放电功率</a:t>
            </a:r>
            <a:r>
              <a:rPr lang="en-US" altLang="zh-CN" sz="1100"/>
              <a:t>5</a:t>
            </a:r>
            <a:r>
              <a:rPr lang="zh-CN" altLang="en-US" sz="1100"/>
              <a:t>兆瓦，荷电状态运行范围</a:t>
            </a:r>
            <a:r>
              <a:rPr lang="en-US" altLang="zh-CN" sz="1100"/>
              <a:t>15%</a:t>
            </a:r>
            <a:r>
              <a:rPr lang="zh-CN" altLang="en-US" sz="1100"/>
              <a:t>至</a:t>
            </a:r>
            <a:r>
              <a:rPr lang="en-US" altLang="zh-CN" sz="1100"/>
              <a:t>90%</a:t>
            </a:r>
            <a:r>
              <a:rPr lang="zh-CN" altLang="en-US" sz="1100"/>
              <a:t>。充电功率与放电功率均为可控决策变量，电站能够提供上调和下调灵活性。</a:t>
            </a:r>
          </a:p>
          <a:p>
            <a:endParaRPr lang="zh-CN" altLang="en-US" sz="1100"/>
          </a:p>
        </p:txBody>
      </p:sp>
    </p:spTree>
    <p:custDataLst>
      <p:tags r:id="rId1"/>
    </p:custDataLst>
    <p:extLst>
      <p:ext uri="{BB962C8B-B14F-4D97-AF65-F5344CB8AC3E}">
        <p14:creationId xmlns:p14="http://schemas.microsoft.com/office/powerpoint/2010/main" val="2307671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14885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1.2 </a:t>
            </a:r>
            <a:r>
              <a:rPr lang="zh-CN" altLang="en-US" sz="2800" spc="0">
                <a:solidFill>
                  <a:schemeClr val="tx1"/>
                </a:solidFill>
                <a:effectLst/>
                <a:sym typeface="微软雅黑" panose="020B0503020204020204" pitchFamily="34" charset="-122"/>
              </a:rPr>
              <a:t>现有的进展：</a:t>
            </a:r>
            <a:r>
              <a:rPr lang="en-US" altLang="zh-CN" sz="2800" spc="0">
                <a:solidFill>
                  <a:schemeClr val="tx1"/>
                </a:solidFill>
                <a:effectLst/>
                <a:sym typeface="微软雅黑" panose="020B0503020204020204" pitchFamily="34" charset="-122"/>
              </a:rPr>
              <a:t>LLM Prompt</a:t>
            </a:r>
            <a:r>
              <a:rPr lang="zh-CN" altLang="en-US" sz="2800" spc="0">
                <a:solidFill>
                  <a:schemeClr val="tx1"/>
                </a:solidFill>
                <a:effectLst/>
                <a:sym typeface="微软雅黑" panose="020B0503020204020204" pitchFamily="34" charset="-122"/>
              </a:rPr>
              <a:t>工程</a:t>
            </a:r>
            <a:r>
              <a:rPr lang="en-US" altLang="zh-CN" sz="2800" spc="0">
                <a:solidFill>
                  <a:schemeClr val="tx1"/>
                </a:solidFill>
                <a:effectLst/>
                <a:sym typeface="微软雅黑" panose="020B0503020204020204" pitchFamily="34" charset="-122"/>
              </a:rPr>
              <a:t>—Units</a:t>
            </a:r>
            <a:r>
              <a:rPr lang="zh-CN" altLang="en-US" sz="2800" spc="0">
                <a:solidFill>
                  <a:schemeClr val="tx1"/>
                </a:solidFill>
                <a:effectLst/>
                <a:sym typeface="微软雅黑" panose="020B0503020204020204" pitchFamily="34" charset="-122"/>
              </a:rPr>
              <a:t>规则化实验</a:t>
            </a:r>
          </a:p>
        </p:txBody>
      </p:sp>
      <p:grpSp>
        <p:nvGrpSpPr>
          <p:cNvPr id="83" name="组合 82">
            <a:extLst>
              <a:ext uri="{FF2B5EF4-FFF2-40B4-BE49-F238E27FC236}">
                <a16:creationId xmlns:a16="http://schemas.microsoft.com/office/drawing/2014/main" id="{935A8463-3490-4A4C-9FBE-C504EB783A9E}"/>
              </a:ext>
            </a:extLst>
          </p:cNvPr>
          <p:cNvGrpSpPr/>
          <p:nvPr/>
        </p:nvGrpSpPr>
        <p:grpSpPr>
          <a:xfrm>
            <a:off x="308924" y="734752"/>
            <a:ext cx="11574151" cy="522605"/>
            <a:chOff x="308924" y="734752"/>
            <a:chExt cx="11574151" cy="522605"/>
          </a:xfrm>
        </p:grpSpPr>
        <p:sp>
          <p:nvSpPr>
            <p:cNvPr id="84" name="矩形 22">
              <a:extLst>
                <a:ext uri="{FF2B5EF4-FFF2-40B4-BE49-F238E27FC236}">
                  <a16:creationId xmlns:a16="http://schemas.microsoft.com/office/drawing/2014/main" id="{8ACE45B6-93A6-4AE3-8868-C769AFD68E32}"/>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85" name="文本框 84">
              <a:extLst>
                <a:ext uri="{FF2B5EF4-FFF2-40B4-BE49-F238E27FC236}">
                  <a16:creationId xmlns:a16="http://schemas.microsoft.com/office/drawing/2014/main" id="{3EE57984-FF8B-4D82-A0D1-4E149A2F6C71}"/>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E04 </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不同异质文本的规则化可靠性验证</a:t>
              </a:r>
              <a:endParaRPr sz="22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pic>
        <p:nvPicPr>
          <p:cNvPr id="2" name="图片 1">
            <a:extLst>
              <a:ext uri="{FF2B5EF4-FFF2-40B4-BE49-F238E27FC236}">
                <a16:creationId xmlns:a16="http://schemas.microsoft.com/office/drawing/2014/main" id="{AB364D2C-DEA8-4823-890E-022ECDF41CCE}"/>
              </a:ext>
            </a:extLst>
          </p:cNvPr>
          <p:cNvPicPr>
            <a:picLocks noChangeAspect="1"/>
          </p:cNvPicPr>
          <p:nvPr/>
        </p:nvPicPr>
        <p:blipFill>
          <a:blip r:embed="rId4"/>
          <a:stretch>
            <a:fillRect/>
          </a:stretch>
        </p:blipFill>
        <p:spPr>
          <a:xfrm>
            <a:off x="83820" y="1324116"/>
            <a:ext cx="4966262" cy="2569397"/>
          </a:xfrm>
          <a:prstGeom prst="rect">
            <a:avLst/>
          </a:prstGeom>
        </p:spPr>
      </p:pic>
      <p:pic>
        <p:nvPicPr>
          <p:cNvPr id="7" name="图片 6">
            <a:extLst>
              <a:ext uri="{FF2B5EF4-FFF2-40B4-BE49-F238E27FC236}">
                <a16:creationId xmlns:a16="http://schemas.microsoft.com/office/drawing/2014/main" id="{848A4BD2-B8D1-4C10-B02C-F646B542A447}"/>
              </a:ext>
            </a:extLst>
          </p:cNvPr>
          <p:cNvPicPr>
            <a:picLocks noChangeAspect="1"/>
          </p:cNvPicPr>
          <p:nvPr/>
        </p:nvPicPr>
        <p:blipFill>
          <a:blip r:embed="rId5"/>
          <a:stretch>
            <a:fillRect/>
          </a:stretch>
        </p:blipFill>
        <p:spPr>
          <a:xfrm>
            <a:off x="83820" y="4238223"/>
            <a:ext cx="4694596" cy="2444524"/>
          </a:xfrm>
          <a:prstGeom prst="rect">
            <a:avLst/>
          </a:prstGeom>
        </p:spPr>
      </p:pic>
      <p:pic>
        <p:nvPicPr>
          <p:cNvPr id="8" name="图片 7">
            <a:extLst>
              <a:ext uri="{FF2B5EF4-FFF2-40B4-BE49-F238E27FC236}">
                <a16:creationId xmlns:a16="http://schemas.microsoft.com/office/drawing/2014/main" id="{5E684682-D178-43CD-8466-34D372E28536}"/>
              </a:ext>
            </a:extLst>
          </p:cNvPr>
          <p:cNvPicPr>
            <a:picLocks noChangeAspect="1"/>
          </p:cNvPicPr>
          <p:nvPr/>
        </p:nvPicPr>
        <p:blipFill>
          <a:blip r:embed="rId6"/>
          <a:stretch>
            <a:fillRect/>
          </a:stretch>
        </p:blipFill>
        <p:spPr>
          <a:xfrm>
            <a:off x="6432483" y="1307135"/>
            <a:ext cx="4486977" cy="2569396"/>
          </a:xfrm>
          <a:prstGeom prst="rect">
            <a:avLst/>
          </a:prstGeom>
        </p:spPr>
      </p:pic>
      <p:pic>
        <p:nvPicPr>
          <p:cNvPr id="9" name="图片 8">
            <a:extLst>
              <a:ext uri="{FF2B5EF4-FFF2-40B4-BE49-F238E27FC236}">
                <a16:creationId xmlns:a16="http://schemas.microsoft.com/office/drawing/2014/main" id="{2C6A63CA-0816-4154-A557-2B0D6235D4A8}"/>
              </a:ext>
            </a:extLst>
          </p:cNvPr>
          <p:cNvPicPr>
            <a:picLocks noChangeAspect="1"/>
          </p:cNvPicPr>
          <p:nvPr/>
        </p:nvPicPr>
        <p:blipFill>
          <a:blip r:embed="rId7"/>
          <a:stretch>
            <a:fillRect/>
          </a:stretch>
        </p:blipFill>
        <p:spPr>
          <a:xfrm>
            <a:off x="4922520" y="3926310"/>
            <a:ext cx="7269480" cy="2900656"/>
          </a:xfrm>
          <a:prstGeom prst="rect">
            <a:avLst/>
          </a:prstGeom>
        </p:spPr>
      </p:pic>
      <p:sp>
        <p:nvSpPr>
          <p:cNvPr id="93" name="矩形 92">
            <a:extLst>
              <a:ext uri="{FF2B5EF4-FFF2-40B4-BE49-F238E27FC236}">
                <a16:creationId xmlns:a16="http://schemas.microsoft.com/office/drawing/2014/main" id="{F20AC1B7-18D1-4F6B-9B76-EC50AC53AAE8}"/>
              </a:ext>
            </a:extLst>
          </p:cNvPr>
          <p:cNvSpPr/>
          <p:nvPr/>
        </p:nvSpPr>
        <p:spPr>
          <a:xfrm>
            <a:off x="0" y="3722642"/>
            <a:ext cx="5491484" cy="523220"/>
          </a:xfrm>
          <a:prstGeom prst="rect">
            <a:avLst/>
          </a:prstGeom>
          <a:solidFill>
            <a:schemeClr val="bg1"/>
          </a:solidFill>
        </p:spPr>
        <p:txBody>
          <a:bodyPr wrap="square" rtlCol="0">
            <a:spAutoFit/>
          </a:bodyPr>
          <a:lstStyle/>
          <a:p>
            <a:pPr marL="285750" indent="-285750" algn="just">
              <a:buFont typeface="Wingdings" panose="05000000000000000000" pitchFamily="2" charset="2"/>
              <a:buChar char="p"/>
            </a:pPr>
            <a:r>
              <a:rPr lang="zh-CN" altLang="en-US"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除追问外，其余指标性能达到可以使用的标准 </a:t>
            </a:r>
            <a:r>
              <a:rPr lang="en-US" altLang="zh-CN" sz="1400" b="1" i="1">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Schema </a:t>
            </a:r>
            <a:r>
              <a:rPr lang="zh-CN" altLang="en-US" sz="1400" b="1" i="1">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校验失败 </a:t>
            </a:r>
            <a:r>
              <a:rPr lang="en-US" altLang="zh-CN" sz="1400" b="1" i="1">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4 </a:t>
            </a:r>
            <a:r>
              <a:rPr lang="zh-CN" altLang="en-US" sz="1400" b="1" i="1">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次（</a:t>
            </a:r>
            <a:r>
              <a:rPr lang="en-US" altLang="zh-CN" sz="1400" b="1" i="1">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B02_battery_storage 3 </a:t>
            </a:r>
            <a:r>
              <a:rPr lang="zh-CN" altLang="en-US" sz="1400" b="1" i="1">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次、</a:t>
            </a:r>
            <a:r>
              <a:rPr lang="en-US" altLang="zh-CN" sz="1400" b="1" i="1">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B05_pv_and_storage 1 </a:t>
            </a:r>
            <a:r>
              <a:rPr lang="zh-CN" altLang="en-US" sz="1400" b="1" i="1">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次）</a:t>
            </a:r>
          </a:p>
        </p:txBody>
      </p:sp>
      <p:sp>
        <p:nvSpPr>
          <p:cNvPr id="10" name="矩形 9">
            <a:extLst>
              <a:ext uri="{FF2B5EF4-FFF2-40B4-BE49-F238E27FC236}">
                <a16:creationId xmlns:a16="http://schemas.microsoft.com/office/drawing/2014/main" id="{1425103D-0B63-4CD9-B996-D83E6C2ABF32}"/>
              </a:ext>
            </a:extLst>
          </p:cNvPr>
          <p:cNvSpPr/>
          <p:nvPr/>
        </p:nvSpPr>
        <p:spPr>
          <a:xfrm>
            <a:off x="1584960" y="1548384"/>
            <a:ext cx="1688592" cy="217425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12" name="直接箭头连接符 11">
            <a:extLst>
              <a:ext uri="{FF2B5EF4-FFF2-40B4-BE49-F238E27FC236}">
                <a16:creationId xmlns:a16="http://schemas.microsoft.com/office/drawing/2014/main" id="{B4208975-D958-4F85-803E-8B1EF7F5698F}"/>
              </a:ext>
            </a:extLst>
          </p:cNvPr>
          <p:cNvCxnSpPr/>
          <p:nvPr/>
        </p:nvCxnSpPr>
        <p:spPr>
          <a:xfrm flipV="1">
            <a:off x="3224784" y="2249424"/>
            <a:ext cx="4059936" cy="731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椭圆 12">
            <a:extLst>
              <a:ext uri="{FF2B5EF4-FFF2-40B4-BE49-F238E27FC236}">
                <a16:creationId xmlns:a16="http://schemas.microsoft.com/office/drawing/2014/main" id="{E866B858-EB2E-440A-B9AE-B44D3EFE8C07}"/>
              </a:ext>
            </a:extLst>
          </p:cNvPr>
          <p:cNvSpPr/>
          <p:nvPr/>
        </p:nvSpPr>
        <p:spPr>
          <a:xfrm>
            <a:off x="6547104" y="1786128"/>
            <a:ext cx="4059936" cy="536448"/>
          </a:xfrm>
          <a:prstGeom prst="ellipse">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94" name="矩形 93">
            <a:extLst>
              <a:ext uri="{FF2B5EF4-FFF2-40B4-BE49-F238E27FC236}">
                <a16:creationId xmlns:a16="http://schemas.microsoft.com/office/drawing/2014/main" id="{E91A2AC0-B6A0-4964-85AC-5432BED3B46B}"/>
              </a:ext>
            </a:extLst>
          </p:cNvPr>
          <p:cNvSpPr/>
          <p:nvPr/>
        </p:nvSpPr>
        <p:spPr>
          <a:xfrm>
            <a:off x="4922520" y="2322576"/>
            <a:ext cx="1291426" cy="1384995"/>
          </a:xfrm>
          <a:prstGeom prst="rect">
            <a:avLst/>
          </a:prstGeom>
          <a:solidFill>
            <a:schemeClr val="bg1"/>
          </a:solidFill>
        </p:spPr>
        <p:txBody>
          <a:bodyPr wrap="square" rtlCol="0">
            <a:spAutoFit/>
          </a:bodyPr>
          <a:lstStyle/>
          <a:p>
            <a:pPr marL="285750" indent="-285750" algn="just">
              <a:buFont typeface="Wingdings" panose="05000000000000000000" pitchFamily="2" charset="2"/>
              <a:buChar char="p"/>
            </a:pPr>
            <a:r>
              <a:rPr lang="zh-CN" altLang="en-US"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分类的</a:t>
            </a:r>
            <a:r>
              <a:rPr lang="en-US" altLang="zh-CN"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Units</a:t>
            </a:r>
            <a:r>
              <a:rPr lang="zh-CN" altLang="en-US"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蓝图校验结果表明：</a:t>
            </a:r>
            <a:r>
              <a:rPr lang="zh-CN" altLang="en-US" sz="1400"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储能单元性能最弱？</a:t>
            </a:r>
            <a:endParaRPr lang="zh-CN" altLang="en-US" sz="1400" b="1" i="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5" name="矩形 94">
            <a:extLst>
              <a:ext uri="{FF2B5EF4-FFF2-40B4-BE49-F238E27FC236}">
                <a16:creationId xmlns:a16="http://schemas.microsoft.com/office/drawing/2014/main" id="{6850200C-B952-4AE6-B7A4-7AB71CF2D4E7}"/>
              </a:ext>
            </a:extLst>
          </p:cNvPr>
          <p:cNvSpPr/>
          <p:nvPr/>
        </p:nvSpPr>
        <p:spPr>
          <a:xfrm>
            <a:off x="0" y="6559338"/>
            <a:ext cx="7474527" cy="307777"/>
          </a:xfrm>
          <a:prstGeom prst="rect">
            <a:avLst/>
          </a:prstGeom>
          <a:solidFill>
            <a:schemeClr val="bg1"/>
          </a:solidFill>
        </p:spPr>
        <p:txBody>
          <a:bodyPr wrap="square" rtlCol="0">
            <a:spAutoFit/>
          </a:bodyPr>
          <a:lstStyle/>
          <a:p>
            <a:pPr marL="285750" indent="-285750" algn="just">
              <a:buFont typeface="Wingdings" panose="05000000000000000000" pitchFamily="2" charset="2"/>
              <a:buChar char="p"/>
            </a:pPr>
            <a:r>
              <a:rPr lang="zh-CN" altLang="en-US"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运行时间有梯子影响但大体符合预期，当前简单短文本任务烧</a:t>
            </a:r>
            <a:r>
              <a:rPr lang="en-US" altLang="zh-CN"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Token</a:t>
            </a:r>
            <a:r>
              <a:rPr lang="zh-CN" altLang="en-US" sz="14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成本暂时符合预期</a:t>
            </a:r>
            <a:endParaRPr lang="zh-CN" altLang="en-US" sz="1400" b="1" i="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00" name="直接箭头连接符 99">
            <a:extLst>
              <a:ext uri="{FF2B5EF4-FFF2-40B4-BE49-F238E27FC236}">
                <a16:creationId xmlns:a16="http://schemas.microsoft.com/office/drawing/2014/main" id="{9221B8C5-5A92-406F-820C-8DF78286E675}"/>
              </a:ext>
            </a:extLst>
          </p:cNvPr>
          <p:cNvCxnSpPr>
            <a:cxnSpLocks/>
          </p:cNvCxnSpPr>
          <p:nvPr/>
        </p:nvCxnSpPr>
        <p:spPr>
          <a:xfrm>
            <a:off x="3240815" y="2351590"/>
            <a:ext cx="5605312" cy="20052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1" name="矩形 100">
            <a:extLst>
              <a:ext uri="{FF2B5EF4-FFF2-40B4-BE49-F238E27FC236}">
                <a16:creationId xmlns:a16="http://schemas.microsoft.com/office/drawing/2014/main" id="{CEAF530B-9D18-42FF-861A-4C1414FD5964}"/>
              </a:ext>
            </a:extLst>
          </p:cNvPr>
          <p:cNvSpPr/>
          <p:nvPr/>
        </p:nvSpPr>
        <p:spPr>
          <a:xfrm>
            <a:off x="8919556" y="4928031"/>
            <a:ext cx="3106189" cy="523220"/>
          </a:xfrm>
          <a:prstGeom prst="rect">
            <a:avLst/>
          </a:prstGeom>
          <a:solidFill>
            <a:schemeClr val="bg1"/>
          </a:solidFill>
        </p:spPr>
        <p:txBody>
          <a:bodyPr wrap="square" rtlCol="0">
            <a:spAutoFit/>
          </a:bodyPr>
          <a:lstStyle/>
          <a:p>
            <a:pPr algn="ctr"/>
            <a:r>
              <a:rPr lang="zh-CN" altLang="en-US" sz="1400" b="1" i="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最关键的校验其实是核心语义我认为二次校验可以解决这一问题</a:t>
            </a:r>
          </a:p>
        </p:txBody>
      </p:sp>
      <p:pic>
        <p:nvPicPr>
          <p:cNvPr id="39" name="图片 38">
            <a:extLst>
              <a:ext uri="{FF2B5EF4-FFF2-40B4-BE49-F238E27FC236}">
                <a16:creationId xmlns:a16="http://schemas.microsoft.com/office/drawing/2014/main" id="{562D98AF-6B86-4B61-87D3-D65ED5E93C64}"/>
              </a:ext>
            </a:extLst>
          </p:cNvPr>
          <p:cNvPicPr>
            <a:picLocks noChangeAspect="1"/>
          </p:cNvPicPr>
          <p:nvPr/>
        </p:nvPicPr>
        <p:blipFill>
          <a:blip r:embed="rId8"/>
          <a:stretch>
            <a:fillRect/>
          </a:stretch>
        </p:blipFill>
        <p:spPr>
          <a:xfrm>
            <a:off x="585021" y="4371880"/>
            <a:ext cx="3736327" cy="1537017"/>
          </a:xfrm>
          <a:prstGeom prst="rect">
            <a:avLst/>
          </a:prstGeom>
        </p:spPr>
      </p:pic>
    </p:spTree>
    <p:custDataLst>
      <p:tags r:id="rId1"/>
    </p:custDataLst>
    <p:extLst>
      <p:ext uri="{BB962C8B-B14F-4D97-AF65-F5344CB8AC3E}">
        <p14:creationId xmlns:p14="http://schemas.microsoft.com/office/powerpoint/2010/main" val="132020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14885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1.3 </a:t>
            </a:r>
            <a:r>
              <a:rPr lang="zh-CN" altLang="en-US" sz="2800" spc="0">
                <a:solidFill>
                  <a:schemeClr val="tx1"/>
                </a:solidFill>
                <a:effectLst/>
                <a:sym typeface="微软雅黑" panose="020B0503020204020204" pitchFamily="34" charset="-122"/>
              </a:rPr>
              <a:t>现有的进展：市场仿真器</a:t>
            </a:r>
            <a:r>
              <a:rPr lang="en-US" altLang="zh-CN" sz="2800" spc="0">
                <a:solidFill>
                  <a:schemeClr val="tx1"/>
                </a:solidFill>
                <a:effectLst/>
                <a:sym typeface="微软雅黑" panose="020B0503020204020204" pitchFamily="34" charset="-122"/>
              </a:rPr>
              <a:t>—</a:t>
            </a:r>
            <a:r>
              <a:rPr lang="zh-CN" altLang="en-US" sz="2800" spc="0">
                <a:solidFill>
                  <a:schemeClr val="tx1"/>
                </a:solidFill>
                <a:effectLst/>
                <a:sym typeface="微软雅黑" panose="020B0503020204020204" pitchFamily="34" charset="-122"/>
              </a:rPr>
              <a:t>基于</a:t>
            </a:r>
            <a:r>
              <a:rPr lang="en-US" altLang="zh-CN" sz="2800" spc="0">
                <a:solidFill>
                  <a:schemeClr val="tx1"/>
                </a:solidFill>
                <a:effectLst/>
                <a:sym typeface="微软雅黑" panose="020B0503020204020204" pitchFamily="34" charset="-122"/>
              </a:rPr>
              <a:t>Pandapowers</a:t>
            </a:r>
            <a:r>
              <a:rPr lang="zh-CN" altLang="en-US" sz="2800" spc="0">
                <a:solidFill>
                  <a:schemeClr val="tx1"/>
                </a:solidFill>
                <a:effectLst/>
                <a:sym typeface="微软雅黑" panose="020B0503020204020204" pitchFamily="34" charset="-122"/>
              </a:rPr>
              <a:t>的三相不平衡仿真</a:t>
            </a:r>
          </a:p>
        </p:txBody>
      </p:sp>
      <p:grpSp>
        <p:nvGrpSpPr>
          <p:cNvPr id="83" name="组合 82">
            <a:extLst>
              <a:ext uri="{FF2B5EF4-FFF2-40B4-BE49-F238E27FC236}">
                <a16:creationId xmlns:a16="http://schemas.microsoft.com/office/drawing/2014/main" id="{935A8463-3490-4A4C-9FBE-C504EB783A9E}"/>
              </a:ext>
            </a:extLst>
          </p:cNvPr>
          <p:cNvGrpSpPr/>
          <p:nvPr/>
        </p:nvGrpSpPr>
        <p:grpSpPr>
          <a:xfrm>
            <a:off x="308924" y="734752"/>
            <a:ext cx="11574151" cy="522605"/>
            <a:chOff x="308924" y="734752"/>
            <a:chExt cx="11574151" cy="522605"/>
          </a:xfrm>
        </p:grpSpPr>
        <p:sp>
          <p:nvSpPr>
            <p:cNvPr id="84" name="矩形 22">
              <a:extLst>
                <a:ext uri="{FF2B5EF4-FFF2-40B4-BE49-F238E27FC236}">
                  <a16:creationId xmlns:a16="http://schemas.microsoft.com/office/drawing/2014/main" id="{8ACE45B6-93A6-4AE3-8868-C769AFD68E32}"/>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85" name="文本框 84">
              <a:extLst>
                <a:ext uri="{FF2B5EF4-FFF2-40B4-BE49-F238E27FC236}">
                  <a16:creationId xmlns:a16="http://schemas.microsoft.com/office/drawing/2014/main" id="{3EE57984-FF8B-4D82-A0D1-4E149A2F6C71}"/>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E03 5 Units IEEE 33-bus </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三相不平衡仿真器</a:t>
              </a:r>
              <a:endParaRPr sz="22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pic>
        <p:nvPicPr>
          <p:cNvPr id="10" name="图片 9">
            <a:extLst>
              <a:ext uri="{FF2B5EF4-FFF2-40B4-BE49-F238E27FC236}">
                <a16:creationId xmlns:a16="http://schemas.microsoft.com/office/drawing/2014/main" id="{456E8D84-0C0B-494E-BE89-B480663D6383}"/>
              </a:ext>
            </a:extLst>
          </p:cNvPr>
          <p:cNvPicPr>
            <a:picLocks noChangeAspect="1"/>
          </p:cNvPicPr>
          <p:nvPr/>
        </p:nvPicPr>
        <p:blipFill>
          <a:blip r:embed="rId4"/>
          <a:stretch>
            <a:fillRect/>
          </a:stretch>
        </p:blipFill>
        <p:spPr>
          <a:xfrm>
            <a:off x="101435" y="1631894"/>
            <a:ext cx="6181601" cy="2695592"/>
          </a:xfrm>
          <a:prstGeom prst="rect">
            <a:avLst/>
          </a:prstGeom>
        </p:spPr>
      </p:pic>
      <p:sp>
        <p:nvSpPr>
          <p:cNvPr id="2" name="矩形 1">
            <a:extLst>
              <a:ext uri="{FF2B5EF4-FFF2-40B4-BE49-F238E27FC236}">
                <a16:creationId xmlns:a16="http://schemas.microsoft.com/office/drawing/2014/main" id="{A8D96B83-8BBE-4B47-8B44-DC4C21360201}"/>
              </a:ext>
            </a:extLst>
          </p:cNvPr>
          <p:cNvSpPr/>
          <p:nvPr/>
        </p:nvSpPr>
        <p:spPr>
          <a:xfrm>
            <a:off x="101434" y="1324116"/>
            <a:ext cx="4120045" cy="307777"/>
          </a:xfrm>
          <a:prstGeom prst="rect">
            <a:avLst/>
          </a:prstGeom>
          <a:solidFill>
            <a:schemeClr val="bg1"/>
          </a:solidFill>
        </p:spPr>
        <p:txBody>
          <a:bodyPr wrap="square" rtlCol="0">
            <a:spAutoFit/>
          </a:bodyPr>
          <a:lstStyle/>
          <a:p>
            <a:pPr marL="285750" indent="-285750" algn="just">
              <a:buFont typeface="Wingdings" panose="05000000000000000000" pitchFamily="2" charset="2"/>
              <a:buChar char="n"/>
            </a:pPr>
            <a:r>
              <a:rPr lang="zh-CN" altLang="en-US" sz="1400" b="1">
                <a:latin typeface="Times New Roman" panose="02020603050405020304" pitchFamily="18" charset="0"/>
                <a:ea typeface="微软雅黑" panose="020B0503020204020204" pitchFamily="34" charset="-122"/>
                <a:cs typeface="Times New Roman" panose="02020603050405020304" pitchFamily="18" charset="0"/>
              </a:rPr>
              <a:t>五个</a:t>
            </a:r>
            <a:r>
              <a:rPr lang="en-US" altLang="zh-CN" sz="1400" b="1">
                <a:latin typeface="Times New Roman" panose="02020603050405020304" pitchFamily="18" charset="0"/>
                <a:ea typeface="微软雅黑" panose="020B0503020204020204" pitchFamily="34" charset="-122"/>
                <a:cs typeface="Times New Roman" panose="02020603050405020304" pitchFamily="18" charset="0"/>
              </a:rPr>
              <a:t>Units</a:t>
            </a:r>
            <a:r>
              <a:rPr lang="zh-CN" altLang="en-US" sz="1400" b="1">
                <a:latin typeface="Times New Roman" panose="02020603050405020304" pitchFamily="18" charset="0"/>
                <a:ea typeface="微软雅黑" panose="020B0503020204020204" pitchFamily="34" charset="-122"/>
                <a:cs typeface="Times New Roman" panose="02020603050405020304" pitchFamily="18" charset="0"/>
              </a:rPr>
              <a:t>分布在主干和两个远端支路</a:t>
            </a:r>
          </a:p>
        </p:txBody>
      </p:sp>
      <p:pic>
        <p:nvPicPr>
          <p:cNvPr id="3" name="图片 2">
            <a:extLst>
              <a:ext uri="{FF2B5EF4-FFF2-40B4-BE49-F238E27FC236}">
                <a16:creationId xmlns:a16="http://schemas.microsoft.com/office/drawing/2014/main" id="{90BD0EAA-1AC5-4805-BE1E-2993AADAD84B}"/>
              </a:ext>
            </a:extLst>
          </p:cNvPr>
          <p:cNvPicPr>
            <a:picLocks noChangeAspect="1"/>
          </p:cNvPicPr>
          <p:nvPr/>
        </p:nvPicPr>
        <p:blipFill>
          <a:blip r:embed="rId5"/>
          <a:stretch>
            <a:fillRect/>
          </a:stretch>
        </p:blipFill>
        <p:spPr>
          <a:xfrm>
            <a:off x="101434" y="4126344"/>
            <a:ext cx="4903155" cy="2373946"/>
          </a:xfrm>
          <a:prstGeom prst="rect">
            <a:avLst/>
          </a:prstGeom>
        </p:spPr>
      </p:pic>
      <p:sp>
        <p:nvSpPr>
          <p:cNvPr id="4" name="矩形 3">
            <a:extLst>
              <a:ext uri="{FF2B5EF4-FFF2-40B4-BE49-F238E27FC236}">
                <a16:creationId xmlns:a16="http://schemas.microsoft.com/office/drawing/2014/main" id="{8E757BAD-A30E-423C-91ED-64CF2C11A24D}"/>
              </a:ext>
            </a:extLst>
          </p:cNvPr>
          <p:cNvSpPr/>
          <p:nvPr/>
        </p:nvSpPr>
        <p:spPr>
          <a:xfrm>
            <a:off x="34635" y="6500290"/>
            <a:ext cx="6096000" cy="307777"/>
          </a:xfrm>
          <a:prstGeom prst="rect">
            <a:avLst/>
          </a:prstGeom>
          <a:solidFill>
            <a:schemeClr val="bg1"/>
          </a:solidFill>
        </p:spPr>
        <p:txBody>
          <a:bodyPr wrap="square" rtlCol="0">
            <a:spAutoFit/>
          </a:bodyPr>
          <a:lstStyle/>
          <a:p>
            <a:pPr marL="285750" indent="-285750" algn="just">
              <a:buFont typeface="Wingdings" panose="05000000000000000000" pitchFamily="2" charset="2"/>
              <a:buChar char="n"/>
            </a:pPr>
            <a:r>
              <a:rPr lang="zh-CN" altLang="en-US" sz="1400" b="1">
                <a:latin typeface="Times New Roman" panose="02020603050405020304" pitchFamily="18" charset="0"/>
                <a:ea typeface="微软雅黑" panose="020B0503020204020204" pitchFamily="34" charset="-122"/>
                <a:cs typeface="Times New Roman" panose="02020603050405020304" pitchFamily="18" charset="0"/>
              </a:rPr>
              <a:t>三相电压随电气距离增加而下降 </a:t>
            </a:r>
            <a:r>
              <a:rPr lang="en-US" altLang="zh-CN" sz="1400" b="1">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b="1">
                <a:latin typeface="Times New Roman" panose="02020603050405020304" pitchFamily="18" charset="0"/>
                <a:ea typeface="微软雅黑" panose="020B0503020204020204" pitchFamily="34" charset="-122"/>
                <a:cs typeface="Times New Roman" panose="02020603050405020304" pitchFamily="18" charset="0"/>
              </a:rPr>
              <a:t>分相功率配置产生了不平衡 </a:t>
            </a:r>
            <a:r>
              <a:rPr lang="en-US" altLang="zh-CN" sz="1400" b="1">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b="1">
                <a:latin typeface="Times New Roman" panose="02020603050405020304" pitchFamily="18" charset="0"/>
                <a:ea typeface="微软雅黑" panose="020B0503020204020204" pitchFamily="34" charset="-122"/>
                <a:cs typeface="Times New Roman" panose="02020603050405020304" pitchFamily="18" charset="0"/>
              </a:rPr>
              <a:t>潮流收敛；</a:t>
            </a:r>
          </a:p>
        </p:txBody>
      </p:sp>
      <p:pic>
        <p:nvPicPr>
          <p:cNvPr id="6" name="图片 5">
            <a:extLst>
              <a:ext uri="{FF2B5EF4-FFF2-40B4-BE49-F238E27FC236}">
                <a16:creationId xmlns:a16="http://schemas.microsoft.com/office/drawing/2014/main" id="{70500537-8F03-459B-B247-0A2F12B8775D}"/>
              </a:ext>
            </a:extLst>
          </p:cNvPr>
          <p:cNvPicPr>
            <a:picLocks noChangeAspect="1"/>
          </p:cNvPicPr>
          <p:nvPr/>
        </p:nvPicPr>
        <p:blipFill>
          <a:blip r:embed="rId6"/>
          <a:stretch>
            <a:fillRect/>
          </a:stretch>
        </p:blipFill>
        <p:spPr>
          <a:xfrm>
            <a:off x="6400800" y="1332007"/>
            <a:ext cx="5368636" cy="2794338"/>
          </a:xfrm>
          <a:prstGeom prst="rect">
            <a:avLst/>
          </a:prstGeom>
        </p:spPr>
      </p:pic>
      <p:sp>
        <p:nvSpPr>
          <p:cNvPr id="12" name="矩形 11">
            <a:extLst>
              <a:ext uri="{FF2B5EF4-FFF2-40B4-BE49-F238E27FC236}">
                <a16:creationId xmlns:a16="http://schemas.microsoft.com/office/drawing/2014/main" id="{3F867CBC-F40D-4A88-AADC-0A14B14D9F13}"/>
              </a:ext>
            </a:extLst>
          </p:cNvPr>
          <p:cNvSpPr/>
          <p:nvPr/>
        </p:nvSpPr>
        <p:spPr>
          <a:xfrm>
            <a:off x="6400800" y="4047106"/>
            <a:ext cx="5732318" cy="307777"/>
          </a:xfrm>
          <a:prstGeom prst="rect">
            <a:avLst/>
          </a:prstGeom>
          <a:solidFill>
            <a:schemeClr val="bg1"/>
          </a:solidFill>
        </p:spPr>
        <p:txBody>
          <a:bodyPr wrap="square" rtlCol="0">
            <a:spAutoFit/>
          </a:bodyPr>
          <a:lstStyle/>
          <a:p>
            <a:pPr marL="285750" indent="-285750" algn="just">
              <a:buFont typeface="Wingdings" panose="05000000000000000000" pitchFamily="2" charset="2"/>
              <a:buChar char="n"/>
            </a:pPr>
            <a:r>
              <a:rPr lang="zh-CN" altLang="en-US" sz="1400" b="1">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b="1">
                <a:latin typeface="Times New Roman" panose="02020603050405020304" pitchFamily="18" charset="0"/>
                <a:ea typeface="微软雅黑" panose="020B0503020204020204" pitchFamily="34" charset="-122"/>
                <a:cs typeface="Times New Roman" panose="02020603050405020304" pitchFamily="18" charset="0"/>
              </a:rPr>
              <a:t>Units </a:t>
            </a:r>
            <a:r>
              <a:rPr lang="zh-CN" altLang="en-US" sz="1400" b="1">
                <a:latin typeface="Times New Roman" panose="02020603050405020304" pitchFamily="18" charset="0"/>
                <a:ea typeface="微软雅黑" panose="020B0503020204020204" pitchFamily="34" charset="-122"/>
                <a:cs typeface="Times New Roman" panose="02020603050405020304" pitchFamily="18" charset="0"/>
              </a:rPr>
              <a:t>接入前后的电压变化以及节点不平衡度</a:t>
            </a:r>
          </a:p>
        </p:txBody>
      </p:sp>
      <p:pic>
        <p:nvPicPr>
          <p:cNvPr id="7" name="图片 6">
            <a:extLst>
              <a:ext uri="{FF2B5EF4-FFF2-40B4-BE49-F238E27FC236}">
                <a16:creationId xmlns:a16="http://schemas.microsoft.com/office/drawing/2014/main" id="{0600F532-515C-41B2-91BB-82341F7A0ACC}"/>
              </a:ext>
            </a:extLst>
          </p:cNvPr>
          <p:cNvPicPr>
            <a:picLocks noChangeAspect="1"/>
          </p:cNvPicPr>
          <p:nvPr/>
        </p:nvPicPr>
        <p:blipFill>
          <a:blip r:embed="rId7"/>
          <a:stretch>
            <a:fillRect/>
          </a:stretch>
        </p:blipFill>
        <p:spPr>
          <a:xfrm>
            <a:off x="6400800" y="4327486"/>
            <a:ext cx="5368636" cy="2249955"/>
          </a:xfrm>
          <a:prstGeom prst="rect">
            <a:avLst/>
          </a:prstGeom>
        </p:spPr>
      </p:pic>
      <p:sp>
        <p:nvSpPr>
          <p:cNvPr id="14" name="矩形 13">
            <a:extLst>
              <a:ext uri="{FF2B5EF4-FFF2-40B4-BE49-F238E27FC236}">
                <a16:creationId xmlns:a16="http://schemas.microsoft.com/office/drawing/2014/main" id="{CA7E6B9B-19F1-4559-A4A9-8D6D62655FBB}"/>
              </a:ext>
            </a:extLst>
          </p:cNvPr>
          <p:cNvSpPr/>
          <p:nvPr/>
        </p:nvSpPr>
        <p:spPr>
          <a:xfrm>
            <a:off x="6283036" y="6527013"/>
            <a:ext cx="5732318" cy="307777"/>
          </a:xfrm>
          <a:prstGeom prst="rect">
            <a:avLst/>
          </a:prstGeom>
          <a:solidFill>
            <a:schemeClr val="bg1"/>
          </a:solidFill>
        </p:spPr>
        <p:txBody>
          <a:bodyPr wrap="square" rtlCol="0">
            <a:spAutoFit/>
          </a:bodyPr>
          <a:lstStyle/>
          <a:p>
            <a:pPr marL="285750" indent="-285750" algn="just">
              <a:buFont typeface="Wingdings" panose="05000000000000000000" pitchFamily="2" charset="2"/>
              <a:buChar char="n"/>
            </a:pPr>
            <a:r>
              <a:rPr lang="zh-CN" altLang="en-US" sz="1400" b="1">
                <a:latin typeface="Times New Roman" panose="02020603050405020304" pitchFamily="18" charset="0"/>
                <a:ea typeface="微软雅黑" panose="020B0503020204020204" pitchFamily="34" charset="-122"/>
                <a:cs typeface="Times New Roman" panose="02020603050405020304" pitchFamily="18" charset="0"/>
              </a:rPr>
              <a:t>线路负载达标</a:t>
            </a:r>
          </a:p>
        </p:txBody>
      </p:sp>
    </p:spTree>
    <p:custDataLst>
      <p:tags r:id="rId1"/>
    </p:custDataLst>
    <p:extLst>
      <p:ext uri="{BB962C8B-B14F-4D97-AF65-F5344CB8AC3E}">
        <p14:creationId xmlns:p14="http://schemas.microsoft.com/office/powerpoint/2010/main" val="1677910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14885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1.4 </a:t>
            </a:r>
            <a:r>
              <a:rPr lang="zh-CN" altLang="en-US" sz="2800" spc="0">
                <a:solidFill>
                  <a:schemeClr val="tx1"/>
                </a:solidFill>
                <a:effectLst/>
                <a:sym typeface="微软雅黑" panose="020B0503020204020204" pitchFamily="34" charset="-122"/>
              </a:rPr>
              <a:t>讨论</a:t>
            </a:r>
            <a:r>
              <a:rPr lang="en-US" altLang="zh-CN" sz="2800" spc="0">
                <a:solidFill>
                  <a:schemeClr val="tx1"/>
                </a:solidFill>
                <a:effectLst/>
                <a:sym typeface="微软雅黑" panose="020B0503020204020204" pitchFamily="34" charset="-122"/>
              </a:rPr>
              <a:t>Todo</a:t>
            </a:r>
            <a:r>
              <a:rPr lang="zh-CN" altLang="en-US" sz="2800" spc="0">
                <a:solidFill>
                  <a:schemeClr val="tx1"/>
                </a:solidFill>
                <a:effectLst/>
                <a:sym typeface="微软雅黑" panose="020B0503020204020204" pitchFamily="34" charset="-122"/>
              </a:rPr>
              <a:t>清单</a:t>
            </a:r>
          </a:p>
        </p:txBody>
      </p:sp>
      <p:sp>
        <p:nvSpPr>
          <p:cNvPr id="8" name="矩形 7">
            <a:extLst>
              <a:ext uri="{FF2B5EF4-FFF2-40B4-BE49-F238E27FC236}">
                <a16:creationId xmlns:a16="http://schemas.microsoft.com/office/drawing/2014/main" id="{5D9ED8D4-1B17-4766-9571-34EC8EB6436D}"/>
              </a:ext>
            </a:extLst>
          </p:cNvPr>
          <p:cNvSpPr/>
          <p:nvPr/>
        </p:nvSpPr>
        <p:spPr>
          <a:xfrm>
            <a:off x="0" y="923289"/>
            <a:ext cx="12001500" cy="6601166"/>
          </a:xfrm>
          <a:prstGeom prst="rect">
            <a:avLst/>
          </a:prstGeom>
        </p:spPr>
        <p:txBody>
          <a:bodyPr wrap="square">
            <a:spAutoFit/>
          </a:bodyPr>
          <a:lstStyle/>
          <a:p>
            <a:pPr marL="800100" lvl="1" indent="-342900" algn="just">
              <a:lnSpc>
                <a:spcPct val="120000"/>
              </a:lnSpc>
              <a:buFont typeface="Wingdings" panose="05000000000000000000" pitchFamily="2" charset="2"/>
              <a:buChar char="n"/>
              <a:defRPr/>
            </a:pPr>
            <a:r>
              <a:rPr lang="en-US" altLang="zh-CN" sz="2000" b="1">
                <a:latin typeface="Times New Roman" panose="02020603050405020304" pitchFamily="18" charset="0"/>
                <a:ea typeface="微软雅黑" panose="020B0503020204020204" pitchFamily="34" charset="-122"/>
                <a:cs typeface="Times New Roman" panose="02020603050405020304" pitchFamily="18" charset="0"/>
                <a:sym typeface="+mn-lt"/>
              </a:rPr>
              <a:t>i Units</a:t>
            </a:r>
            <a:r>
              <a:rPr lang="zh-CN" altLang="en-US" sz="2000" b="1">
                <a:latin typeface="Times New Roman" panose="02020603050405020304" pitchFamily="18" charset="0"/>
                <a:ea typeface="微软雅黑" panose="020B0503020204020204" pitchFamily="34" charset="-122"/>
                <a:cs typeface="Times New Roman" panose="02020603050405020304" pitchFamily="18" charset="0"/>
                <a:sym typeface="+mn-lt"/>
              </a:rPr>
              <a:t>仿真器框架与数据</a:t>
            </a:r>
            <a:r>
              <a:rPr lang="en-US" altLang="zh-CN" sz="2000" b="1">
                <a:latin typeface="Times New Roman" panose="02020603050405020304" pitchFamily="18" charset="0"/>
                <a:ea typeface="微软雅黑" panose="020B0503020204020204" pitchFamily="34" charset="-122"/>
                <a:cs typeface="Times New Roman" panose="02020603050405020304" pitchFamily="18" charset="0"/>
                <a:sym typeface="+mn-lt"/>
              </a:rPr>
              <a:t>? </a:t>
            </a:r>
          </a:p>
          <a:p>
            <a:pPr lvl="1" algn="just">
              <a:lnSpc>
                <a:spcPct val="120000"/>
              </a:lnSpc>
              <a:defRPr/>
            </a:pP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这部分主要问题是，我们有没有数据来验证这个市场设计结果的有效性。总不能所有的数据都是</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AI Generated</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。我的设想是，如果我们有一个区域真实的市场组织（</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DSO</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Units</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）与其运行数据，我们就可以反过来把市场组织数据拿过来进行设计，然后证明我们的设计更好？</a:t>
            </a:r>
            <a:r>
              <a:rPr lang="en-US" altLang="zh-CN"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lt"/>
              </a:rPr>
              <a:t>国外开源数据 国内靠造</a:t>
            </a:r>
            <a:r>
              <a:rPr lang="en-US" altLang="zh-CN"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lt"/>
              </a:rPr>
              <a:t>)</a:t>
            </a:r>
          </a:p>
          <a:p>
            <a:pPr marL="800100" lvl="1" indent="-342900" algn="just">
              <a:lnSpc>
                <a:spcPct val="120000"/>
              </a:lnSpc>
              <a:buFont typeface="Wingdings" panose="05000000000000000000" pitchFamily="2" charset="2"/>
              <a:buChar char="n"/>
              <a:defRPr/>
            </a:pPr>
            <a:endParaRPr lang="en-US" altLang="zh-CN" sz="2000" b="1">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800100" lvl="1" indent="-342900" algn="just">
              <a:lnSpc>
                <a:spcPct val="120000"/>
              </a:lnSpc>
              <a:buFont typeface="Wingdings" panose="05000000000000000000" pitchFamily="2" charset="2"/>
              <a:buChar char="n"/>
              <a:defRPr/>
            </a:pPr>
            <a:r>
              <a:rPr lang="en-US" altLang="zh-CN" sz="2000" b="1">
                <a:latin typeface="Times New Roman" panose="02020603050405020304" pitchFamily="18" charset="0"/>
                <a:ea typeface="微软雅黑" panose="020B0503020204020204" pitchFamily="34" charset="-122"/>
                <a:cs typeface="Times New Roman" panose="02020603050405020304" pitchFamily="18" charset="0"/>
                <a:sym typeface="+mn-lt"/>
              </a:rPr>
              <a:t>ii GAMS</a:t>
            </a:r>
            <a:r>
              <a:rPr lang="zh-CN" altLang="en-US" sz="2000" b="1">
                <a:latin typeface="Times New Roman" panose="02020603050405020304" pitchFamily="18" charset="0"/>
                <a:ea typeface="微软雅黑" panose="020B0503020204020204" pitchFamily="34" charset="-122"/>
                <a:cs typeface="Times New Roman" panose="02020603050405020304" pitchFamily="18" charset="0"/>
                <a:sym typeface="+mn-lt"/>
              </a:rPr>
              <a:t>的</a:t>
            </a:r>
            <a:r>
              <a:rPr lang="en-US" altLang="zh-CN" sz="2000" b="1">
                <a:latin typeface="Times New Roman" panose="02020603050405020304" pitchFamily="18" charset="0"/>
                <a:ea typeface="微软雅黑" panose="020B0503020204020204" pitchFamily="34" charset="-122"/>
                <a:cs typeface="Times New Roman" panose="02020603050405020304" pitchFamily="18" charset="0"/>
                <a:sym typeface="+mn-lt"/>
              </a:rPr>
              <a:t>license</a:t>
            </a:r>
          </a:p>
          <a:p>
            <a:pPr lvl="1" algn="just">
              <a:lnSpc>
                <a:spcPct val="120000"/>
              </a:lnSpc>
              <a:defRPr/>
            </a:pP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目前本地测试只需要桌面</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GAMS</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（服务器</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GAMS</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已联系搞到），但好像找不到桌面版本的</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license</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了。或者</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Gurobi</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哪个更好？（我都是</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Pyomo</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模块化编写问题，只调用求解器）</a:t>
            </a:r>
            <a:r>
              <a:rPr lang="en-US" altLang="zh-CN"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Gurobi</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更好</a:t>
            </a:r>
            <a:r>
              <a:rPr lang="en-US" altLang="zh-CN"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mn-lt"/>
              </a:rPr>
              <a:t>)</a:t>
            </a:r>
            <a:endPar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p>
            <a:pPr lvl="1" algn="just">
              <a:lnSpc>
                <a:spcPct val="120000"/>
              </a:lnSpc>
              <a:defRPr/>
            </a:pPr>
            <a:endParaRPr lang="en-US" altLang="zh-CN" sz="2000" b="1">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800100" lvl="1" indent="-342900" algn="just">
              <a:lnSpc>
                <a:spcPct val="120000"/>
              </a:lnSpc>
              <a:buFont typeface="Wingdings" panose="05000000000000000000" pitchFamily="2" charset="2"/>
              <a:buChar char="n"/>
              <a:defRPr/>
            </a:pPr>
            <a:r>
              <a:rPr lang="en-US" altLang="zh-CN" sz="2000" b="1">
                <a:latin typeface="Times New Roman" panose="02020603050405020304" pitchFamily="18" charset="0"/>
                <a:ea typeface="微软雅黑" panose="020B0503020204020204" pitchFamily="34" charset="-122"/>
                <a:cs typeface="Times New Roman" panose="02020603050405020304" pitchFamily="18" charset="0"/>
                <a:sym typeface="+mn-lt"/>
              </a:rPr>
              <a:t>iii </a:t>
            </a:r>
            <a:r>
              <a:rPr lang="zh-CN" altLang="en-US" sz="2000" b="1">
                <a:latin typeface="Times New Roman" panose="02020603050405020304" pitchFamily="18" charset="0"/>
                <a:ea typeface="微软雅黑" panose="020B0503020204020204" pitchFamily="34" charset="-122"/>
                <a:cs typeface="Times New Roman" panose="02020603050405020304" pitchFamily="18" charset="0"/>
                <a:sym typeface="+mn-lt"/>
              </a:rPr>
              <a:t>软件平台？体系方法？文章怎么写</a:t>
            </a:r>
            <a:endParaRPr lang="en-US" altLang="zh-CN" sz="2000" b="1">
              <a:latin typeface="Times New Roman" panose="02020603050405020304" pitchFamily="18" charset="0"/>
              <a:ea typeface="微软雅黑" panose="020B0503020204020204" pitchFamily="34" charset="-122"/>
              <a:cs typeface="Times New Roman" panose="02020603050405020304" pitchFamily="18" charset="0"/>
              <a:sym typeface="+mn-lt"/>
            </a:endParaRPr>
          </a:p>
          <a:p>
            <a:pPr lvl="1" algn="just">
              <a:lnSpc>
                <a:spcPct val="120000"/>
              </a:lnSpc>
              <a:defRPr/>
            </a:pP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现在市场设计体系的文章的确很少，如果写成</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Platform</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（例如牛津），感觉工程属性太强不太好发；因此是否进行拆分？建立市场规则有向图（知识图谱）的可以单独拆出来？  （</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TSG</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偏向新的算法在特定领域 解决</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0 1 </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问题 对比的应该 </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power system LLM</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应用的写法  </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1.LLM</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框架解决的是海量配网针对性设计市场的问题 </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2.</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通过使用物理约束</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大模型等等将机制生成约束来实现大模型具备机制作用关系 ）</a:t>
            </a:r>
            <a:endPar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p>
            <a:pPr lvl="1" algn="just">
              <a:lnSpc>
                <a:spcPct val="120000"/>
              </a:lnSpc>
              <a:defRPr/>
            </a:pPr>
            <a:endPar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800100" lvl="1" indent="-342900" algn="just">
              <a:lnSpc>
                <a:spcPct val="120000"/>
              </a:lnSpc>
              <a:buFont typeface="Wingdings" panose="05000000000000000000" pitchFamily="2" charset="2"/>
              <a:buChar char="n"/>
              <a:defRPr/>
            </a:pPr>
            <a:r>
              <a:rPr lang="en-US" altLang="zh-CN" sz="2000" b="1">
                <a:latin typeface="Times New Roman" panose="02020603050405020304" pitchFamily="18" charset="0"/>
                <a:ea typeface="微软雅黑" panose="020B0503020204020204" pitchFamily="34" charset="-122"/>
                <a:cs typeface="Times New Roman" panose="02020603050405020304" pitchFamily="18" charset="0"/>
                <a:sym typeface="+mn-lt"/>
              </a:rPr>
              <a:t>Iv </a:t>
            </a:r>
            <a:r>
              <a:rPr lang="zh-CN" altLang="en-US" sz="2000" b="1">
                <a:latin typeface="Times New Roman" panose="02020603050405020304" pitchFamily="18" charset="0"/>
                <a:ea typeface="微软雅黑" panose="020B0503020204020204" pitchFamily="34" charset="-122"/>
                <a:cs typeface="Times New Roman" panose="02020603050405020304" pitchFamily="18" charset="0"/>
                <a:sym typeface="+mn-lt"/>
              </a:rPr>
              <a:t>是否</a:t>
            </a:r>
            <a:r>
              <a:rPr lang="en-US" altLang="zh-CN" sz="2000" b="1">
                <a:latin typeface="Times New Roman" panose="02020603050405020304" pitchFamily="18" charset="0"/>
                <a:ea typeface="微软雅黑" panose="020B0503020204020204" pitchFamily="34" charset="-122"/>
                <a:cs typeface="Times New Roman" panose="02020603050405020304" pitchFamily="18" charset="0"/>
                <a:sym typeface="+mn-lt"/>
              </a:rPr>
              <a:t>Prompt</a:t>
            </a:r>
            <a:r>
              <a:rPr lang="zh-CN" altLang="en-US" sz="2000" b="1">
                <a:latin typeface="Times New Roman" panose="02020603050405020304" pitchFamily="18" charset="0"/>
                <a:ea typeface="微软雅黑" panose="020B0503020204020204" pitchFamily="34" charset="-122"/>
                <a:cs typeface="Times New Roman" panose="02020603050405020304" pitchFamily="18" charset="0"/>
                <a:sym typeface="+mn-lt"/>
              </a:rPr>
              <a:t>工程？</a:t>
            </a:r>
            <a:endParaRPr lang="en-US" altLang="zh-CN" sz="2000" b="1">
              <a:latin typeface="Times New Roman" panose="02020603050405020304" pitchFamily="18" charset="0"/>
              <a:ea typeface="微软雅黑" panose="020B0503020204020204" pitchFamily="34" charset="-122"/>
              <a:cs typeface="Times New Roman" panose="02020603050405020304" pitchFamily="18" charset="0"/>
              <a:sym typeface="+mn-lt"/>
            </a:endParaRPr>
          </a:p>
          <a:p>
            <a:pPr lvl="1" algn="just">
              <a:lnSpc>
                <a:spcPct val="120000"/>
              </a:lnSpc>
              <a:defRPr/>
            </a:pP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目前的</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Demo</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验证结果表明，</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Prompt</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工程</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Based Agent</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可以用，我用二次校验的方法虽然烧</a:t>
            </a:r>
            <a:r>
              <a:rPr lang="en-US" altLang="zh-CN"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Token</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更多，但预期能解决偶发的</a:t>
            </a:r>
            <a:r>
              <a:rPr lang="zh-CN" altLang="en-US"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lt"/>
              </a:rPr>
              <a:t>核心语义校验不一致</a:t>
            </a: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问题。因此是否有必要进行微调模型（进度估计延后，性能可能更弱），以及确认实验室有没有微调的实验平台？ （不需要微调）</a:t>
            </a:r>
            <a:endParaRPr lang="zh-CN" altLang="en-US" sz="2000" b="1">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Tree>
    <p:custDataLst>
      <p:tags r:id="rId1"/>
    </p:custDataLst>
    <p:extLst>
      <p:ext uri="{BB962C8B-B14F-4D97-AF65-F5344CB8AC3E}">
        <p14:creationId xmlns:p14="http://schemas.microsoft.com/office/powerpoint/2010/main" val="2501486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14885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2.1 Review</a:t>
            </a:r>
            <a:r>
              <a:rPr lang="zh-CN" altLang="en-US" sz="2800" spc="0">
                <a:solidFill>
                  <a:schemeClr val="tx1"/>
                </a:solidFill>
                <a:effectLst/>
                <a:sym typeface="微软雅黑" panose="020B0503020204020204" pitchFamily="34" charset="-122"/>
              </a:rPr>
              <a:t>中的市场规则分层设计框架</a:t>
            </a:r>
          </a:p>
        </p:txBody>
      </p:sp>
      <p:grpSp>
        <p:nvGrpSpPr>
          <p:cNvPr id="83" name="组合 82">
            <a:extLst>
              <a:ext uri="{FF2B5EF4-FFF2-40B4-BE49-F238E27FC236}">
                <a16:creationId xmlns:a16="http://schemas.microsoft.com/office/drawing/2014/main" id="{935A8463-3490-4A4C-9FBE-C504EB783A9E}"/>
              </a:ext>
            </a:extLst>
          </p:cNvPr>
          <p:cNvGrpSpPr/>
          <p:nvPr/>
        </p:nvGrpSpPr>
        <p:grpSpPr>
          <a:xfrm>
            <a:off x="308924" y="734752"/>
            <a:ext cx="11574151" cy="522605"/>
            <a:chOff x="308924" y="734752"/>
            <a:chExt cx="11574151" cy="522605"/>
          </a:xfrm>
        </p:grpSpPr>
        <p:sp>
          <p:nvSpPr>
            <p:cNvPr id="84" name="矩形 22">
              <a:extLst>
                <a:ext uri="{FF2B5EF4-FFF2-40B4-BE49-F238E27FC236}">
                  <a16:creationId xmlns:a16="http://schemas.microsoft.com/office/drawing/2014/main" id="{8ACE45B6-93A6-4AE3-8868-C769AFD68E32}"/>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85" name="文本框 84">
              <a:extLst>
                <a:ext uri="{FF2B5EF4-FFF2-40B4-BE49-F238E27FC236}">
                  <a16:creationId xmlns:a16="http://schemas.microsoft.com/office/drawing/2014/main" id="{3EE57984-FF8B-4D82-A0D1-4E149A2F6C71}"/>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市场设计</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Review</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的观点，把 </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LFM/DEM </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展开为</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Taxonomy</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维度</a:t>
              </a:r>
            </a:p>
            <a:p>
              <a:pPr indent="0" algn="ctr">
                <a:lnSpc>
                  <a:spcPct val="100000"/>
                </a:lnSpc>
                <a:buFont typeface="Wingdings" panose="05000000000000000000" charset="0"/>
                <a:buNone/>
              </a:pPr>
              <a:endParaRPr sz="22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pic>
        <p:nvPicPr>
          <p:cNvPr id="2" name="图片 1">
            <a:extLst>
              <a:ext uri="{FF2B5EF4-FFF2-40B4-BE49-F238E27FC236}">
                <a16:creationId xmlns:a16="http://schemas.microsoft.com/office/drawing/2014/main" id="{AC78CCF7-180E-4F70-976E-8DDE5070D917}"/>
              </a:ext>
            </a:extLst>
          </p:cNvPr>
          <p:cNvPicPr>
            <a:picLocks noChangeAspect="1"/>
          </p:cNvPicPr>
          <p:nvPr/>
        </p:nvPicPr>
        <p:blipFill>
          <a:blip r:embed="rId4"/>
          <a:stretch>
            <a:fillRect/>
          </a:stretch>
        </p:blipFill>
        <p:spPr>
          <a:xfrm>
            <a:off x="50800" y="1686404"/>
            <a:ext cx="5893839" cy="4944604"/>
          </a:xfrm>
          <a:prstGeom prst="rect">
            <a:avLst/>
          </a:prstGeom>
        </p:spPr>
      </p:pic>
      <p:sp>
        <p:nvSpPr>
          <p:cNvPr id="4" name="箭头: 右 3">
            <a:extLst>
              <a:ext uri="{FF2B5EF4-FFF2-40B4-BE49-F238E27FC236}">
                <a16:creationId xmlns:a16="http://schemas.microsoft.com/office/drawing/2014/main" id="{5119084D-AC3E-4306-8574-997CFB58D158}"/>
              </a:ext>
            </a:extLst>
          </p:cNvPr>
          <p:cNvSpPr/>
          <p:nvPr/>
        </p:nvSpPr>
        <p:spPr>
          <a:xfrm>
            <a:off x="5919955" y="4158706"/>
            <a:ext cx="289261" cy="254000"/>
          </a:xfrm>
          <a:prstGeom prst="rightArrow">
            <a:avLst/>
          </a:prstGeom>
          <a:ln/>
        </p:spPr>
        <p:style>
          <a:lnRef idx="2">
            <a:schemeClr val="dk1">
              <a:shade val="50000"/>
            </a:schemeClr>
          </a:lnRef>
          <a:fillRef idx="1">
            <a:schemeClr val="dk1"/>
          </a:fillRef>
          <a:effectRef idx="0">
            <a:schemeClr val="dk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68" name="矩形 67">
            <a:extLst>
              <a:ext uri="{FF2B5EF4-FFF2-40B4-BE49-F238E27FC236}">
                <a16:creationId xmlns:a16="http://schemas.microsoft.com/office/drawing/2014/main" id="{15EA49F3-FD96-4810-83DB-DC1DD8246980}"/>
              </a:ext>
            </a:extLst>
          </p:cNvPr>
          <p:cNvSpPr/>
          <p:nvPr/>
        </p:nvSpPr>
        <p:spPr>
          <a:xfrm>
            <a:off x="50800" y="1356589"/>
            <a:ext cx="3738879" cy="338554"/>
          </a:xfrm>
          <a:prstGeom prst="rect">
            <a:avLst/>
          </a:prstGeom>
          <a:solidFill>
            <a:schemeClr val="bg1"/>
          </a:solidFill>
        </p:spPr>
        <p:txBody>
          <a:bodyPr wrap="square" rtlCol="0">
            <a:spAutoFit/>
          </a:bodyPr>
          <a:lstStyle/>
          <a:p>
            <a:pPr marL="285750" indent="-285750" algn="just">
              <a:buFont typeface="Wingdings" panose="05000000000000000000" pitchFamily="2" charset="2"/>
              <a:buChar char="p"/>
            </a:pPr>
            <a:r>
              <a:rPr lang="zh-CN" altLang="en-US"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建立一个</a:t>
            </a:r>
            <a:r>
              <a:rPr lang="en-US" altLang="zh-CN"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33</a:t>
            </a:r>
            <a:r>
              <a:rPr lang="zh-CN" altLang="en-US"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维度 </a:t>
            </a:r>
            <a:r>
              <a:rPr lang="en-US" altLang="zh-CN"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109</a:t>
            </a:r>
            <a:r>
              <a:rPr lang="zh-CN" altLang="en-US"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特性的分类表</a:t>
            </a:r>
            <a:endParaRPr lang="zh-CN" altLang="en-US" sz="1600"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5" name="ConstructionMethod">
            <a:extLst>
              <a:ext uri="{FF2B5EF4-FFF2-40B4-BE49-F238E27FC236}">
                <a16:creationId xmlns:a16="http://schemas.microsoft.com/office/drawing/2014/main" id="{C3F647A8-22CF-4072-BF1D-907AEBD0D9D6}"/>
              </a:ext>
            </a:extLst>
          </p:cNvPr>
          <p:cNvSpPr>
            <a:spLocks noGrp="1"/>
          </p:cNvSpPr>
          <p:nvPr/>
        </p:nvSpPr>
        <p:spPr>
          <a:xfrm>
            <a:off x="6658320" y="1680261"/>
            <a:ext cx="4911669" cy="921630"/>
          </a:xfrm>
          <a:prstGeom prst="rect">
            <a:avLst/>
          </a:prstGeom>
          <a:solidFill>
            <a:schemeClr val="bg1"/>
          </a:solidFill>
          <a:ln w="0">
            <a:noFill/>
            <a:prstDash val="solid"/>
          </a:ln>
        </p:spPr>
        <p:txBody>
          <a:bodyPr wrap="square" lIns="0" tIns="0" rIns="0" bIns="0" anchor="t">
            <a:noAutofit/>
          </a:bodyPr>
          <a:lstStyle/>
          <a:p>
            <a:pPr algn="ctr">
              <a:buNone/>
              <a:defRPr>
                <a:latin typeface="Microsoft YaHei"/>
                <a:ea typeface="Microsoft YaHei"/>
                <a:cs typeface="Microsoft YaHei"/>
              </a:defRPr>
            </a:pPr>
            <a:r>
              <a:rPr lang="zh-CN" altLang="en-US" sz="1800" b="1" i="0">
                <a:solidFill>
                  <a:srgbClr val="111827"/>
                </a:solidFill>
                <a:latin typeface="Microsoft YaHei"/>
                <a:ea typeface="Microsoft YaHei"/>
                <a:cs typeface="Microsoft YaHei"/>
              </a:rPr>
              <a:t>特性描述</a:t>
            </a:r>
          </a:p>
          <a:p>
            <a:pPr marL="285750" indent="-285750" algn="just">
              <a:buFont typeface="Wingdings" panose="05000000000000000000" pitchFamily="2" charset="2"/>
              <a:buChar char="n"/>
              <a:defRPr>
                <a:latin typeface="Microsoft YaHei"/>
                <a:ea typeface="Microsoft YaHei"/>
                <a:cs typeface="Microsoft YaHei"/>
              </a:defRPr>
            </a:pPr>
            <a:r>
              <a:rPr lang="en-US" altLang="zh-CN" sz="1200" b="1" i="0">
                <a:solidFill>
                  <a:srgbClr val="0C66BB"/>
                </a:solidFill>
                <a:latin typeface="Microsoft YaHei"/>
                <a:ea typeface="Microsoft YaHei"/>
                <a:cs typeface="Microsoft YaHei"/>
              </a:rPr>
              <a:t>40 </a:t>
            </a:r>
            <a:r>
              <a:rPr lang="zh-CN" altLang="en-US" sz="1200" b="1" i="0">
                <a:solidFill>
                  <a:srgbClr val="0C66BB"/>
                </a:solidFill>
                <a:latin typeface="Microsoft YaHei"/>
                <a:ea typeface="Microsoft YaHei"/>
                <a:cs typeface="Microsoft YaHei"/>
              </a:rPr>
              <a:t>篇市场设计研究论文 → </a:t>
            </a:r>
            <a:r>
              <a:rPr lang="en-US" altLang="zh-CN" sz="1200" b="1" i="0">
                <a:solidFill>
                  <a:srgbClr val="0C66BB"/>
                </a:solidFill>
                <a:latin typeface="Microsoft YaHei"/>
                <a:ea typeface="Microsoft YaHei"/>
                <a:cs typeface="Microsoft YaHei"/>
              </a:rPr>
              <a:t>13 </a:t>
            </a:r>
            <a:r>
              <a:rPr lang="zh-CN" altLang="en-US" sz="1200" b="1" i="0">
                <a:solidFill>
                  <a:srgbClr val="0C66BB"/>
                </a:solidFill>
                <a:latin typeface="Microsoft YaHei"/>
                <a:ea typeface="Microsoft YaHei"/>
                <a:cs typeface="Microsoft YaHei"/>
              </a:rPr>
              <a:t>个 </a:t>
            </a:r>
            <a:r>
              <a:rPr lang="en-US" altLang="zh-CN" sz="1200" b="1" i="0">
                <a:solidFill>
                  <a:srgbClr val="0C66BB"/>
                </a:solidFill>
                <a:latin typeface="Microsoft YaHei"/>
                <a:ea typeface="Microsoft YaHei"/>
                <a:cs typeface="Microsoft YaHei"/>
              </a:rPr>
              <a:t>EU LFM</a:t>
            </a:r>
            <a:r>
              <a:rPr lang="zh-CN" altLang="en-US" sz="1200" b="1" i="0">
                <a:solidFill>
                  <a:srgbClr val="0C66BB"/>
                </a:solidFill>
                <a:latin typeface="Microsoft YaHei"/>
                <a:ea typeface="Microsoft YaHei"/>
                <a:cs typeface="Microsoft YaHei"/>
              </a:rPr>
              <a:t>案例 → </a:t>
            </a:r>
            <a:r>
              <a:rPr lang="en-US" altLang="zh-CN" sz="1200" b="1" i="0">
                <a:solidFill>
                  <a:srgbClr val="0C66BB"/>
                </a:solidFill>
                <a:latin typeface="Microsoft YaHei"/>
                <a:ea typeface="Microsoft YaHei"/>
                <a:cs typeface="Microsoft YaHei"/>
              </a:rPr>
              <a:t>16 </a:t>
            </a:r>
            <a:r>
              <a:rPr lang="zh-CN" altLang="en-US" sz="1200" b="1" i="0">
                <a:solidFill>
                  <a:srgbClr val="0C66BB"/>
                </a:solidFill>
                <a:latin typeface="Microsoft YaHei"/>
                <a:ea typeface="Microsoft YaHei"/>
                <a:cs typeface="Microsoft YaHei"/>
              </a:rPr>
              <a:t>位专家访谈</a:t>
            </a:r>
            <a:endParaRPr lang="en-US" altLang="zh-CN" sz="1200" b="1" i="0">
              <a:solidFill>
                <a:srgbClr val="0C66BB"/>
              </a:solidFill>
              <a:latin typeface="Microsoft YaHei"/>
              <a:ea typeface="Microsoft YaHei"/>
              <a:cs typeface="Microsoft YaHei"/>
            </a:endParaRPr>
          </a:p>
          <a:p>
            <a:pPr algn="ctr">
              <a:defRPr>
                <a:latin typeface="Microsoft YaHei"/>
                <a:ea typeface="Microsoft YaHei"/>
                <a:cs typeface="Microsoft YaHei"/>
              </a:defRPr>
            </a:pPr>
            <a:r>
              <a:rPr lang="zh-CN" altLang="en-US" sz="1200" b="1">
                <a:solidFill>
                  <a:srgbClr val="C00000"/>
                </a:solidFill>
                <a:latin typeface="Microsoft YaHei"/>
                <a:ea typeface="Microsoft YaHei"/>
                <a:cs typeface="Microsoft YaHei"/>
              </a:rPr>
              <a:t>（最重要的语料，在此基础上修修补补）</a:t>
            </a:r>
            <a:endParaRPr lang="zh-CN" altLang="en-US" sz="1200" b="1" i="0">
              <a:solidFill>
                <a:srgbClr val="C00000"/>
              </a:solidFill>
              <a:latin typeface="Microsoft YaHei"/>
              <a:ea typeface="Microsoft YaHei"/>
              <a:cs typeface="Microsoft YaHei"/>
            </a:endParaRPr>
          </a:p>
          <a:p>
            <a:pPr marL="285750" indent="-285750" algn="just">
              <a:buFont typeface="Wingdings" panose="05000000000000000000" pitchFamily="2" charset="2"/>
              <a:buChar char="n"/>
              <a:defRPr>
                <a:latin typeface="Microsoft YaHei"/>
                <a:ea typeface="Microsoft YaHei"/>
                <a:cs typeface="Microsoft YaHei"/>
              </a:defRPr>
            </a:pPr>
            <a:r>
              <a:rPr sz="1200" b="1" i="0">
                <a:solidFill>
                  <a:srgbClr val="5F6B7A"/>
                </a:solidFill>
                <a:latin typeface="Microsoft YaHei"/>
                <a:ea typeface="Microsoft YaHei"/>
                <a:cs typeface="Microsoft YaHei"/>
              </a:rPr>
              <a:t>每个 characteristic 标注 Ex / NEx，只说明维度内的冲突或可多选</a:t>
            </a:r>
          </a:p>
        </p:txBody>
      </p:sp>
      <p:sp>
        <p:nvSpPr>
          <p:cNvPr id="76" name="Taxonomy45113">
            <a:extLst>
              <a:ext uri="{FF2B5EF4-FFF2-40B4-BE49-F238E27FC236}">
                <a16:creationId xmlns:a16="http://schemas.microsoft.com/office/drawing/2014/main" id="{02EDF5D9-5828-413D-9F6E-DAC1E9C59968}"/>
              </a:ext>
            </a:extLst>
          </p:cNvPr>
          <p:cNvSpPr>
            <a:spLocks noGrp="1"/>
          </p:cNvSpPr>
          <p:nvPr/>
        </p:nvSpPr>
        <p:spPr>
          <a:xfrm>
            <a:off x="6923405" y="4412706"/>
            <a:ext cx="2190750" cy="781050"/>
          </a:xfrm>
          <a:prstGeom prst="rect">
            <a:avLst/>
          </a:prstGeom>
          <a:noFill/>
          <a:ln w="0">
            <a:noFill/>
            <a:prstDash val="solid"/>
          </a:ln>
        </p:spPr>
        <p:txBody>
          <a:bodyPr wrap="square" lIns="0" tIns="0" rIns="0" bIns="0" anchor="ctr">
            <a:normAutofit fontScale="88214"/>
          </a:bodyPr>
          <a:lstStyle/>
          <a:p>
            <a:pPr algn="l">
              <a:buNone/>
              <a:defRPr>
                <a:latin typeface="Arial"/>
                <a:ea typeface="Arial"/>
                <a:cs typeface="Arial"/>
              </a:defRPr>
            </a:pPr>
            <a:r>
              <a:rPr sz="2000" b="1" i="0">
                <a:solidFill>
                  <a:srgbClr val="8B1E2D"/>
                </a:solidFill>
                <a:latin typeface="Arial"/>
                <a:ea typeface="Arial"/>
                <a:cs typeface="Arial"/>
              </a:rPr>
              <a:t>45  dimensions</a:t>
            </a:r>
          </a:p>
          <a:p>
            <a:pPr algn="l">
              <a:buNone/>
              <a:defRPr>
                <a:latin typeface="Arial"/>
                <a:ea typeface="Arial"/>
                <a:cs typeface="Arial"/>
              </a:defRPr>
            </a:pPr>
            <a:r>
              <a:rPr sz="2000" b="1" i="0">
                <a:solidFill>
                  <a:srgbClr val="8B1E2D"/>
                </a:solidFill>
                <a:latin typeface="Arial"/>
                <a:ea typeface="Arial"/>
                <a:cs typeface="Arial"/>
              </a:rPr>
              <a:t>113  characteristics</a:t>
            </a:r>
          </a:p>
        </p:txBody>
      </p:sp>
      <p:sp>
        <p:nvSpPr>
          <p:cNvPr id="77" name="SgamCounts">
            <a:extLst>
              <a:ext uri="{FF2B5EF4-FFF2-40B4-BE49-F238E27FC236}">
                <a16:creationId xmlns:a16="http://schemas.microsoft.com/office/drawing/2014/main" id="{4F54DE51-AC1E-4985-AE38-328A86629A80}"/>
              </a:ext>
            </a:extLst>
          </p:cNvPr>
          <p:cNvSpPr>
            <a:spLocks noGrp="1"/>
          </p:cNvSpPr>
          <p:nvPr/>
        </p:nvSpPr>
        <p:spPr>
          <a:xfrm>
            <a:off x="9171305" y="4441281"/>
            <a:ext cx="1905000" cy="733425"/>
          </a:xfrm>
          <a:prstGeom prst="rect">
            <a:avLst/>
          </a:prstGeom>
          <a:noFill/>
          <a:ln w="0">
            <a:noFill/>
            <a:prstDash val="solid"/>
          </a:ln>
        </p:spPr>
        <p:txBody>
          <a:bodyPr wrap="square" lIns="0" tIns="0" rIns="0" bIns="0" anchor="ctr">
            <a:normAutofit fontScale="78796" lnSpcReduction="20000"/>
          </a:bodyPr>
          <a:lstStyle/>
          <a:p>
            <a:pPr algn="l">
              <a:buNone/>
              <a:defRPr>
                <a:latin typeface="Arial"/>
                <a:ea typeface="Arial"/>
                <a:cs typeface="Arial"/>
              </a:defRPr>
            </a:pPr>
            <a:r>
              <a:rPr sz="1350" b="1" i="0">
                <a:solidFill>
                  <a:srgbClr val="111827"/>
                </a:solidFill>
                <a:latin typeface="Arial"/>
                <a:ea typeface="Arial"/>
                <a:cs typeface="Arial"/>
              </a:rPr>
              <a:t>Business</a:t>
            </a:r>
            <a:r>
              <a:rPr sz="1350" b="0" i="0">
                <a:solidFill>
                  <a:srgbClr val="5F6B7A"/>
                </a:solidFill>
                <a:latin typeface="Arial"/>
                <a:ea typeface="Arial"/>
                <a:cs typeface="Arial"/>
              </a:rPr>
              <a:t> 21 / 50</a:t>
            </a:r>
          </a:p>
          <a:p>
            <a:pPr algn="l">
              <a:buNone/>
              <a:defRPr>
                <a:latin typeface="Arial"/>
                <a:ea typeface="Arial"/>
                <a:cs typeface="Arial"/>
              </a:defRPr>
            </a:pPr>
            <a:r>
              <a:rPr sz="1350" b="0" i="0">
                <a:solidFill>
                  <a:srgbClr val="5F6B7A"/>
                </a:solidFill>
                <a:latin typeface="Arial"/>
                <a:ea typeface="Arial"/>
                <a:cs typeface="Arial"/>
              </a:rPr>
              <a:t>Function 7 / 20  ·  Information 3 / 11</a:t>
            </a:r>
          </a:p>
          <a:p>
            <a:pPr algn="l">
              <a:buNone/>
              <a:defRPr>
                <a:latin typeface="Arial"/>
                <a:ea typeface="Arial"/>
                <a:cs typeface="Arial"/>
              </a:defRPr>
            </a:pPr>
            <a:r>
              <a:rPr sz="1350" b="0" i="0">
                <a:solidFill>
                  <a:srgbClr val="5F6B7A"/>
                </a:solidFill>
                <a:latin typeface="Arial"/>
                <a:ea typeface="Arial"/>
                <a:cs typeface="Arial"/>
              </a:rPr>
              <a:t>Communication 8 / 16  ·  Component 6 / 16</a:t>
            </a:r>
          </a:p>
        </p:txBody>
      </p:sp>
      <p:pic>
        <p:nvPicPr>
          <p:cNvPr id="78" name="图片 77">
            <a:extLst>
              <a:ext uri="{FF2B5EF4-FFF2-40B4-BE49-F238E27FC236}">
                <a16:creationId xmlns:a16="http://schemas.microsoft.com/office/drawing/2014/main" id="{871F21F3-9DA0-4FDB-865E-6767FB72B61B}"/>
              </a:ext>
            </a:extLst>
          </p:cNvPr>
          <p:cNvPicPr>
            <a:picLocks noChangeAspect="1"/>
          </p:cNvPicPr>
          <p:nvPr/>
        </p:nvPicPr>
        <p:blipFill>
          <a:blip r:embed="rId5"/>
          <a:stretch/>
        </p:blipFill>
        <p:spPr>
          <a:xfrm>
            <a:off x="7799705" y="5222331"/>
            <a:ext cx="2381250" cy="1190625"/>
          </a:xfrm>
          <a:prstGeom prst="rect">
            <a:avLst/>
          </a:prstGeom>
        </p:spPr>
      </p:pic>
      <p:sp>
        <p:nvSpPr>
          <p:cNvPr id="79" name="Taxonomy33109">
            <a:extLst>
              <a:ext uri="{FF2B5EF4-FFF2-40B4-BE49-F238E27FC236}">
                <a16:creationId xmlns:a16="http://schemas.microsoft.com/office/drawing/2014/main" id="{CA04D514-D54C-4886-8F8E-C3ED056BA9C8}"/>
              </a:ext>
            </a:extLst>
          </p:cNvPr>
          <p:cNvSpPr>
            <a:spLocks noGrp="1"/>
          </p:cNvSpPr>
          <p:nvPr/>
        </p:nvSpPr>
        <p:spPr>
          <a:xfrm>
            <a:off x="6923405" y="2799857"/>
            <a:ext cx="4095750" cy="952500"/>
          </a:xfrm>
          <a:prstGeom prst="rect">
            <a:avLst/>
          </a:prstGeom>
          <a:noFill/>
          <a:ln w="0">
            <a:noFill/>
            <a:prstDash val="solid"/>
          </a:ln>
        </p:spPr>
        <p:txBody>
          <a:bodyPr wrap="square" lIns="0" tIns="0" rIns="0" bIns="0" anchor="ctr">
            <a:normAutofit fontScale="93523"/>
          </a:bodyPr>
          <a:lstStyle/>
          <a:p>
            <a:pPr algn="l">
              <a:buNone/>
              <a:defRPr>
                <a:latin typeface="Arial"/>
                <a:ea typeface="Arial"/>
                <a:cs typeface="Arial"/>
              </a:defRPr>
            </a:pPr>
            <a:r>
              <a:rPr sz="2000" b="1" i="0">
                <a:solidFill>
                  <a:srgbClr val="17365D"/>
                </a:solidFill>
                <a:latin typeface="Arial"/>
                <a:ea typeface="Arial"/>
                <a:cs typeface="Arial"/>
              </a:rPr>
              <a:t>33  dimensions</a:t>
            </a:r>
          </a:p>
          <a:p>
            <a:pPr algn="l">
              <a:buNone/>
              <a:defRPr>
                <a:latin typeface="Arial"/>
                <a:ea typeface="Arial"/>
                <a:cs typeface="Arial"/>
              </a:defRPr>
            </a:pPr>
            <a:r>
              <a:rPr sz="2000" b="1" i="0">
                <a:solidFill>
                  <a:srgbClr val="17365D"/>
                </a:solidFill>
                <a:latin typeface="Arial"/>
                <a:ea typeface="Arial"/>
                <a:cs typeface="Arial"/>
              </a:rPr>
              <a:t>109  characteristics</a:t>
            </a:r>
          </a:p>
        </p:txBody>
      </p:sp>
      <p:sp>
        <p:nvSpPr>
          <p:cNvPr id="80" name="FiveCategories">
            <a:extLst>
              <a:ext uri="{FF2B5EF4-FFF2-40B4-BE49-F238E27FC236}">
                <a16:creationId xmlns:a16="http://schemas.microsoft.com/office/drawing/2014/main" id="{6188C7BE-403F-44F1-A24C-46E9D2C62916}"/>
              </a:ext>
            </a:extLst>
          </p:cNvPr>
          <p:cNvSpPr>
            <a:spLocks noGrp="1"/>
          </p:cNvSpPr>
          <p:nvPr/>
        </p:nvSpPr>
        <p:spPr>
          <a:xfrm>
            <a:off x="6932930" y="3790457"/>
            <a:ext cx="4124325" cy="228600"/>
          </a:xfrm>
          <a:prstGeom prst="rect">
            <a:avLst/>
          </a:prstGeom>
          <a:noFill/>
          <a:ln w="0">
            <a:noFill/>
            <a:prstDash val="solid"/>
          </a:ln>
        </p:spPr>
        <p:txBody>
          <a:bodyPr wrap="none" lIns="0" tIns="0" rIns="0" bIns="0" anchor="t">
            <a:normAutofit/>
          </a:bodyPr>
          <a:lstStyle/>
          <a:p>
            <a:pPr algn="l">
              <a:buNone/>
              <a:defRPr sz="1163" b="1">
                <a:solidFill>
                  <a:srgbClr val="111827"/>
                </a:solidFill>
                <a:latin typeface="Arial"/>
                <a:ea typeface="Arial"/>
                <a:cs typeface="Arial"/>
              </a:defRPr>
            </a:pPr>
            <a:r>
              <a:rPr sz="1163" b="1">
                <a:solidFill>
                  <a:srgbClr val="111827"/>
                </a:solidFill>
                <a:latin typeface="Arial"/>
                <a:ea typeface="Arial"/>
                <a:cs typeface="Arial"/>
              </a:rPr>
              <a:t>Objective  ·  Participant  ·  Platform  ·  Product  ·  Trade</a:t>
            </a:r>
          </a:p>
        </p:txBody>
      </p:sp>
    </p:spTree>
    <p:custDataLst>
      <p:tags r:id="rId1"/>
    </p:custDataLst>
    <p:extLst>
      <p:ext uri="{BB962C8B-B14F-4D97-AF65-F5344CB8AC3E}">
        <p14:creationId xmlns:p14="http://schemas.microsoft.com/office/powerpoint/2010/main" val="2857395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14885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2.1 Review</a:t>
            </a:r>
            <a:r>
              <a:rPr lang="zh-CN" altLang="en-US" sz="2800" spc="0">
                <a:solidFill>
                  <a:schemeClr val="tx1"/>
                </a:solidFill>
                <a:effectLst/>
                <a:sym typeface="微软雅黑" panose="020B0503020204020204" pitchFamily="34" charset="-122"/>
              </a:rPr>
              <a:t>中的市场规则分层设计框架</a:t>
            </a:r>
          </a:p>
        </p:txBody>
      </p:sp>
      <p:grpSp>
        <p:nvGrpSpPr>
          <p:cNvPr id="83" name="组合 82">
            <a:extLst>
              <a:ext uri="{FF2B5EF4-FFF2-40B4-BE49-F238E27FC236}">
                <a16:creationId xmlns:a16="http://schemas.microsoft.com/office/drawing/2014/main" id="{935A8463-3490-4A4C-9FBE-C504EB783A9E}"/>
              </a:ext>
            </a:extLst>
          </p:cNvPr>
          <p:cNvGrpSpPr/>
          <p:nvPr/>
        </p:nvGrpSpPr>
        <p:grpSpPr>
          <a:xfrm>
            <a:off x="308924" y="734752"/>
            <a:ext cx="11574151" cy="522605"/>
            <a:chOff x="308924" y="734752"/>
            <a:chExt cx="11574151" cy="522605"/>
          </a:xfrm>
        </p:grpSpPr>
        <p:sp>
          <p:nvSpPr>
            <p:cNvPr id="84" name="矩形 22">
              <a:extLst>
                <a:ext uri="{FF2B5EF4-FFF2-40B4-BE49-F238E27FC236}">
                  <a16:creationId xmlns:a16="http://schemas.microsoft.com/office/drawing/2014/main" id="{8ACE45B6-93A6-4AE3-8868-C769AFD68E32}"/>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85" name="文本框 84">
              <a:extLst>
                <a:ext uri="{FF2B5EF4-FFF2-40B4-BE49-F238E27FC236}">
                  <a16:creationId xmlns:a16="http://schemas.microsoft.com/office/drawing/2014/main" id="{3EE57984-FF8B-4D82-A0D1-4E149A2F6C71}"/>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从分类学出发的设计思路：通过不同维度描述一个市场，但是如何打通维度之间约束？</a:t>
              </a:r>
              <a:endParaRPr sz="22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sp>
        <p:nvSpPr>
          <p:cNvPr id="68" name="矩形 67">
            <a:extLst>
              <a:ext uri="{FF2B5EF4-FFF2-40B4-BE49-F238E27FC236}">
                <a16:creationId xmlns:a16="http://schemas.microsoft.com/office/drawing/2014/main" id="{15EA49F3-FD96-4810-83DB-DC1DD8246980}"/>
              </a:ext>
            </a:extLst>
          </p:cNvPr>
          <p:cNvSpPr/>
          <p:nvPr/>
        </p:nvSpPr>
        <p:spPr>
          <a:xfrm>
            <a:off x="50800" y="1356589"/>
            <a:ext cx="3738879" cy="338554"/>
          </a:xfrm>
          <a:prstGeom prst="rect">
            <a:avLst/>
          </a:prstGeom>
          <a:solidFill>
            <a:schemeClr val="bg1"/>
          </a:solidFill>
        </p:spPr>
        <p:txBody>
          <a:bodyPr wrap="square" rtlCol="0">
            <a:spAutoFit/>
          </a:bodyPr>
          <a:lstStyle/>
          <a:p>
            <a:pPr marL="285750" indent="-285750" algn="just">
              <a:buFont typeface="Wingdings" panose="05000000000000000000" pitchFamily="2" charset="2"/>
              <a:buChar char="p"/>
            </a:pPr>
            <a:r>
              <a:rPr lang="zh-CN" altLang="en-US"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用这个分类表来描述</a:t>
            </a:r>
            <a:r>
              <a:rPr lang="en-US" altLang="zh-CN"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NorFlex LFM</a:t>
            </a:r>
            <a:endParaRPr lang="zh-CN" altLang="en-US" sz="1600"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9" name="矩形 68">
            <a:extLst>
              <a:ext uri="{FF2B5EF4-FFF2-40B4-BE49-F238E27FC236}">
                <a16:creationId xmlns:a16="http://schemas.microsoft.com/office/drawing/2014/main" id="{C9C4B155-A06D-41D2-95D5-79CCD8AB23DD}"/>
              </a:ext>
            </a:extLst>
          </p:cNvPr>
          <p:cNvSpPr/>
          <p:nvPr/>
        </p:nvSpPr>
        <p:spPr>
          <a:xfrm>
            <a:off x="5930579" y="1356589"/>
            <a:ext cx="5596403" cy="338554"/>
          </a:xfrm>
          <a:prstGeom prst="rect">
            <a:avLst/>
          </a:prstGeom>
          <a:solidFill>
            <a:schemeClr val="bg1"/>
          </a:solidFill>
        </p:spPr>
        <p:txBody>
          <a:bodyPr wrap="square" rtlCol="0">
            <a:spAutoFit/>
          </a:bodyPr>
          <a:lstStyle/>
          <a:p>
            <a:pPr marL="285750" indent="-285750" algn="just">
              <a:buFont typeface="Wingdings" panose="05000000000000000000" pitchFamily="2" charset="2"/>
              <a:buChar char="p"/>
            </a:pPr>
            <a:r>
              <a:rPr lang="zh-CN" altLang="en-US"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描述一个低碳管理的未来能源市场</a:t>
            </a:r>
            <a:r>
              <a:rPr lang="en-US" altLang="zh-CN"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设计？但没有验证</a:t>
            </a:r>
            <a:r>
              <a:rPr lang="en-US" altLang="zh-CN"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 name="图片 2">
            <a:extLst>
              <a:ext uri="{FF2B5EF4-FFF2-40B4-BE49-F238E27FC236}">
                <a16:creationId xmlns:a16="http://schemas.microsoft.com/office/drawing/2014/main" id="{75EBFDBD-E4AC-4692-BDBF-5A8DFB32FA21}"/>
              </a:ext>
            </a:extLst>
          </p:cNvPr>
          <p:cNvPicPr>
            <a:picLocks noChangeAspect="1"/>
          </p:cNvPicPr>
          <p:nvPr/>
        </p:nvPicPr>
        <p:blipFill>
          <a:blip r:embed="rId4"/>
          <a:stretch>
            <a:fillRect/>
          </a:stretch>
        </p:blipFill>
        <p:spPr>
          <a:xfrm>
            <a:off x="50800" y="1794375"/>
            <a:ext cx="5879779" cy="4944604"/>
          </a:xfrm>
          <a:prstGeom prst="rect">
            <a:avLst/>
          </a:prstGeom>
        </p:spPr>
      </p:pic>
      <p:pic>
        <p:nvPicPr>
          <p:cNvPr id="7" name="图片 6">
            <a:extLst>
              <a:ext uri="{FF2B5EF4-FFF2-40B4-BE49-F238E27FC236}">
                <a16:creationId xmlns:a16="http://schemas.microsoft.com/office/drawing/2014/main" id="{9A5174EB-E702-445A-B840-1054934EBE29}"/>
              </a:ext>
            </a:extLst>
          </p:cNvPr>
          <p:cNvPicPr>
            <a:picLocks noChangeAspect="1"/>
          </p:cNvPicPr>
          <p:nvPr/>
        </p:nvPicPr>
        <p:blipFill>
          <a:blip r:embed="rId5"/>
          <a:stretch>
            <a:fillRect/>
          </a:stretch>
        </p:blipFill>
        <p:spPr>
          <a:xfrm>
            <a:off x="6010597" y="1794375"/>
            <a:ext cx="5879779" cy="4938656"/>
          </a:xfrm>
          <a:prstGeom prst="rect">
            <a:avLst/>
          </a:prstGeom>
        </p:spPr>
      </p:pic>
      <p:sp>
        <p:nvSpPr>
          <p:cNvPr id="8" name="矩形: 圆角 7">
            <a:extLst>
              <a:ext uri="{FF2B5EF4-FFF2-40B4-BE49-F238E27FC236}">
                <a16:creationId xmlns:a16="http://schemas.microsoft.com/office/drawing/2014/main" id="{7F4BC0B6-7A35-4036-B8CD-1176554BCA9E}"/>
              </a:ext>
            </a:extLst>
          </p:cNvPr>
          <p:cNvSpPr/>
          <p:nvPr/>
        </p:nvSpPr>
        <p:spPr>
          <a:xfrm>
            <a:off x="1475232" y="3816096"/>
            <a:ext cx="4114800" cy="1633728"/>
          </a:xfrm>
          <a:prstGeom prst="roundRect">
            <a:avLst>
              <a:gd name="adj" fmla="val 5100"/>
            </a:avLst>
          </a:prstGeom>
          <a:noFill/>
          <a:ln w="1905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20" name="矩形: 圆角 19">
            <a:extLst>
              <a:ext uri="{FF2B5EF4-FFF2-40B4-BE49-F238E27FC236}">
                <a16:creationId xmlns:a16="http://schemas.microsoft.com/office/drawing/2014/main" id="{377BEA4C-7CCA-413A-9E6C-53BD932C04B1}"/>
              </a:ext>
            </a:extLst>
          </p:cNvPr>
          <p:cNvSpPr/>
          <p:nvPr/>
        </p:nvSpPr>
        <p:spPr>
          <a:xfrm>
            <a:off x="6047172" y="2412890"/>
            <a:ext cx="5791259" cy="482710"/>
          </a:xfrm>
          <a:prstGeom prst="roundRect">
            <a:avLst>
              <a:gd name="adj" fmla="val 5100"/>
            </a:avLst>
          </a:prstGeom>
          <a:noFill/>
          <a:ln w="1905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9" name="文本框 8">
            <a:extLst>
              <a:ext uri="{FF2B5EF4-FFF2-40B4-BE49-F238E27FC236}">
                <a16:creationId xmlns:a16="http://schemas.microsoft.com/office/drawing/2014/main" id="{0C729908-A3D4-4CA7-9366-DED0036C614A}"/>
              </a:ext>
            </a:extLst>
          </p:cNvPr>
          <p:cNvSpPr txBox="1"/>
          <p:nvPr/>
        </p:nvSpPr>
        <p:spPr>
          <a:xfrm>
            <a:off x="7459070" y="2500356"/>
            <a:ext cx="3151825" cy="307777"/>
          </a:xfrm>
          <a:prstGeom prst="rect">
            <a:avLst/>
          </a:prstGeom>
          <a:solidFill>
            <a:schemeClr val="bg1"/>
          </a:solidFill>
        </p:spPr>
        <p:txBody>
          <a:bodyPr wrap="none" rtlCol="0">
            <a:spAutoFit/>
          </a:bodyPr>
          <a:lstStyle/>
          <a:p>
            <a:r>
              <a:rPr lang="en-US" altLang="zh-CN" sz="1400" b="1">
                <a:solidFill>
                  <a:srgbClr val="C00000"/>
                </a:solidFill>
                <a:latin typeface="微软雅黑" panose="020B0503020204020204" pitchFamily="34" charset="-122"/>
                <a:ea typeface="微软雅黑" panose="020B0503020204020204" pitchFamily="34" charset="-122"/>
              </a:rPr>
              <a:t>1.</a:t>
            </a:r>
            <a:r>
              <a:rPr lang="zh-CN" altLang="en-US" sz="1400" b="1">
                <a:solidFill>
                  <a:srgbClr val="C00000"/>
                </a:solidFill>
                <a:latin typeface="微软雅黑" panose="020B0503020204020204" pitchFamily="34" charset="-122"/>
                <a:ea typeface="微软雅黑" panose="020B0503020204020204" pitchFamily="34" charset="-122"/>
              </a:rPr>
              <a:t>异质化</a:t>
            </a:r>
            <a:r>
              <a:rPr lang="en-US" altLang="zh-CN" sz="1400" b="1">
                <a:solidFill>
                  <a:srgbClr val="C00000"/>
                </a:solidFill>
                <a:latin typeface="微软雅黑" panose="020B0503020204020204" pitchFamily="34" charset="-122"/>
                <a:ea typeface="微软雅黑" panose="020B0503020204020204" pitchFamily="34" charset="-122"/>
              </a:rPr>
              <a:t>Units</a:t>
            </a:r>
            <a:r>
              <a:rPr lang="zh-CN" altLang="en-US" sz="1400" b="1">
                <a:solidFill>
                  <a:srgbClr val="C00000"/>
                </a:solidFill>
                <a:latin typeface="微软雅黑" panose="020B0503020204020204" pitchFamily="34" charset="-122"/>
                <a:ea typeface="微软雅黑" panose="020B0503020204020204" pitchFamily="34" charset="-122"/>
              </a:rPr>
              <a:t>会极大的扩张这个维度</a:t>
            </a:r>
          </a:p>
        </p:txBody>
      </p:sp>
      <p:cxnSp>
        <p:nvCxnSpPr>
          <p:cNvPr id="11" name="直接箭头连接符 10">
            <a:extLst>
              <a:ext uri="{FF2B5EF4-FFF2-40B4-BE49-F238E27FC236}">
                <a16:creationId xmlns:a16="http://schemas.microsoft.com/office/drawing/2014/main" id="{A4B437FD-33BF-4B34-BFAB-3F6586702CA3}"/>
              </a:ext>
            </a:extLst>
          </p:cNvPr>
          <p:cNvCxnSpPr/>
          <p:nvPr/>
        </p:nvCxnSpPr>
        <p:spPr>
          <a:xfrm flipH="1">
            <a:off x="5590032" y="2895600"/>
            <a:ext cx="457140" cy="920496"/>
          </a:xfrm>
          <a:prstGeom prst="straightConnector1">
            <a:avLst/>
          </a:prstGeom>
          <a:ln w="1905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B39AB5F2-772C-468A-B5CF-C06E139A9F49}"/>
              </a:ext>
            </a:extLst>
          </p:cNvPr>
          <p:cNvSpPr txBox="1"/>
          <p:nvPr/>
        </p:nvSpPr>
        <p:spPr>
          <a:xfrm>
            <a:off x="1475232" y="4749780"/>
            <a:ext cx="3846374" cy="307777"/>
          </a:xfrm>
          <a:prstGeom prst="rect">
            <a:avLst/>
          </a:prstGeom>
          <a:solidFill>
            <a:schemeClr val="bg1"/>
          </a:solidFill>
        </p:spPr>
        <p:txBody>
          <a:bodyPr wrap="none" rtlCol="0">
            <a:spAutoFit/>
          </a:bodyPr>
          <a:lstStyle/>
          <a:p>
            <a:r>
              <a:rPr lang="en-US" altLang="zh-CN" sz="1400" b="1">
                <a:solidFill>
                  <a:srgbClr val="C00000"/>
                </a:solidFill>
                <a:latin typeface="微软雅黑" panose="020B0503020204020204" pitchFamily="34" charset="-122"/>
                <a:ea typeface="微软雅黑" panose="020B0503020204020204" pitchFamily="34" charset="-122"/>
              </a:rPr>
              <a:t>2. </a:t>
            </a:r>
            <a:r>
              <a:rPr lang="zh-CN" altLang="en-US" sz="1400" b="1">
                <a:solidFill>
                  <a:srgbClr val="C00000"/>
                </a:solidFill>
                <a:latin typeface="微软雅黑" panose="020B0503020204020204" pitchFamily="34" charset="-122"/>
                <a:ea typeface="微软雅黑" panose="020B0503020204020204" pitchFamily="34" charset="-122"/>
              </a:rPr>
              <a:t>产品配置应当取决于</a:t>
            </a:r>
            <a:r>
              <a:rPr lang="en-US" altLang="zh-CN" sz="1400" b="1">
                <a:solidFill>
                  <a:srgbClr val="C00000"/>
                </a:solidFill>
                <a:latin typeface="微软雅黑" panose="020B0503020204020204" pitchFamily="34" charset="-122"/>
                <a:ea typeface="微软雅黑" panose="020B0503020204020204" pitchFamily="34" charset="-122"/>
              </a:rPr>
              <a:t>Units</a:t>
            </a:r>
            <a:r>
              <a:rPr lang="zh-CN" altLang="en-US" sz="1400" b="1">
                <a:solidFill>
                  <a:srgbClr val="C00000"/>
                </a:solidFill>
                <a:latin typeface="微软雅黑" panose="020B0503020204020204" pitchFamily="34" charset="-122"/>
                <a:ea typeface="微软雅黑" panose="020B0503020204020204" pitchFamily="34" charset="-122"/>
              </a:rPr>
              <a:t>组成和市场目标</a:t>
            </a:r>
          </a:p>
        </p:txBody>
      </p:sp>
      <p:sp>
        <p:nvSpPr>
          <p:cNvPr id="25" name="矩形: 圆角 24">
            <a:extLst>
              <a:ext uri="{FF2B5EF4-FFF2-40B4-BE49-F238E27FC236}">
                <a16:creationId xmlns:a16="http://schemas.microsoft.com/office/drawing/2014/main" id="{F06CB787-91A4-4207-835F-A83DAA756009}"/>
              </a:ext>
            </a:extLst>
          </p:cNvPr>
          <p:cNvSpPr/>
          <p:nvPr/>
        </p:nvSpPr>
        <p:spPr>
          <a:xfrm>
            <a:off x="117764" y="1946048"/>
            <a:ext cx="5472269" cy="482710"/>
          </a:xfrm>
          <a:prstGeom prst="roundRect">
            <a:avLst>
              <a:gd name="adj" fmla="val 5100"/>
            </a:avLst>
          </a:prstGeom>
          <a:noFill/>
          <a:ln w="1905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26" name="文本框 25">
            <a:extLst>
              <a:ext uri="{FF2B5EF4-FFF2-40B4-BE49-F238E27FC236}">
                <a16:creationId xmlns:a16="http://schemas.microsoft.com/office/drawing/2014/main" id="{CFE57631-4374-4639-8D58-D1E6B7D97E63}"/>
              </a:ext>
            </a:extLst>
          </p:cNvPr>
          <p:cNvSpPr txBox="1"/>
          <p:nvPr/>
        </p:nvSpPr>
        <p:spPr>
          <a:xfrm>
            <a:off x="1620792" y="1640486"/>
            <a:ext cx="2736647" cy="307777"/>
          </a:xfrm>
          <a:prstGeom prst="rect">
            <a:avLst/>
          </a:prstGeom>
          <a:solidFill>
            <a:schemeClr val="bg1"/>
          </a:solidFill>
        </p:spPr>
        <p:txBody>
          <a:bodyPr wrap="none" rtlCol="0">
            <a:spAutoFit/>
          </a:bodyPr>
          <a:lstStyle/>
          <a:p>
            <a:r>
              <a:rPr lang="zh-CN" altLang="en-US" sz="1400" b="1">
                <a:solidFill>
                  <a:srgbClr val="C00000"/>
                </a:solidFill>
                <a:latin typeface="微软雅黑" panose="020B0503020204020204" pitchFamily="34" charset="-122"/>
                <a:ea typeface="微软雅黑" panose="020B0503020204020204" pitchFamily="34" charset="-122"/>
              </a:rPr>
              <a:t>暂定市场目标是</a:t>
            </a:r>
            <a:r>
              <a:rPr lang="en-US" altLang="zh-CN" sz="1400" b="1">
                <a:solidFill>
                  <a:srgbClr val="C00000"/>
                </a:solidFill>
                <a:latin typeface="微软雅黑" panose="020B0503020204020204" pitchFamily="34" charset="-122"/>
                <a:ea typeface="微软雅黑" panose="020B0503020204020204" pitchFamily="34" charset="-122"/>
              </a:rPr>
              <a:t>DSO</a:t>
            </a:r>
            <a:r>
              <a:rPr lang="zh-CN" altLang="en-US" sz="1400" b="1">
                <a:solidFill>
                  <a:srgbClr val="C00000"/>
                </a:solidFill>
                <a:latin typeface="微软雅黑" panose="020B0503020204020204" pitchFamily="34" charset="-122"/>
                <a:ea typeface="微软雅黑" panose="020B0503020204020204" pitchFamily="34" charset="-122"/>
              </a:rPr>
              <a:t>设计的输入</a:t>
            </a:r>
          </a:p>
        </p:txBody>
      </p:sp>
      <p:cxnSp>
        <p:nvCxnSpPr>
          <p:cNvPr id="27" name="直接箭头连接符 26">
            <a:extLst>
              <a:ext uri="{FF2B5EF4-FFF2-40B4-BE49-F238E27FC236}">
                <a16:creationId xmlns:a16="http://schemas.microsoft.com/office/drawing/2014/main" id="{87CDBCB6-CB2D-4ED1-A4DF-FEA33F8D1289}"/>
              </a:ext>
            </a:extLst>
          </p:cNvPr>
          <p:cNvCxnSpPr>
            <a:cxnSpLocks/>
          </p:cNvCxnSpPr>
          <p:nvPr/>
        </p:nvCxnSpPr>
        <p:spPr>
          <a:xfrm>
            <a:off x="5590032" y="5449824"/>
            <a:ext cx="949313" cy="403721"/>
          </a:xfrm>
          <a:prstGeom prst="straightConnector1">
            <a:avLst/>
          </a:prstGeom>
          <a:ln w="1905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29" name="矩形: 圆角 28">
            <a:extLst>
              <a:ext uri="{FF2B5EF4-FFF2-40B4-BE49-F238E27FC236}">
                <a16:creationId xmlns:a16="http://schemas.microsoft.com/office/drawing/2014/main" id="{ADC3A166-DBE6-4572-ACB6-DF815A0EF55A}"/>
              </a:ext>
            </a:extLst>
          </p:cNvPr>
          <p:cNvSpPr/>
          <p:nvPr/>
        </p:nvSpPr>
        <p:spPr>
          <a:xfrm>
            <a:off x="6539345" y="5449823"/>
            <a:ext cx="5299086" cy="1136073"/>
          </a:xfrm>
          <a:prstGeom prst="roundRect">
            <a:avLst>
              <a:gd name="adj" fmla="val 5100"/>
            </a:avLst>
          </a:prstGeom>
          <a:noFill/>
          <a:ln w="1905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0" name="文本框 29">
            <a:extLst>
              <a:ext uri="{FF2B5EF4-FFF2-40B4-BE49-F238E27FC236}">
                <a16:creationId xmlns:a16="http://schemas.microsoft.com/office/drawing/2014/main" id="{2CAEF8B6-DF2A-4A03-AC5D-F0606C6ECDD5}"/>
              </a:ext>
            </a:extLst>
          </p:cNvPr>
          <p:cNvSpPr txBox="1"/>
          <p:nvPr/>
        </p:nvSpPr>
        <p:spPr>
          <a:xfrm>
            <a:off x="7265701" y="5092430"/>
            <a:ext cx="3536546" cy="307777"/>
          </a:xfrm>
          <a:prstGeom prst="rect">
            <a:avLst/>
          </a:prstGeom>
          <a:solidFill>
            <a:schemeClr val="bg1"/>
          </a:solidFill>
        </p:spPr>
        <p:txBody>
          <a:bodyPr wrap="none" rtlCol="0">
            <a:spAutoFit/>
          </a:bodyPr>
          <a:lstStyle/>
          <a:p>
            <a:r>
              <a:rPr lang="en-US" altLang="zh-CN" sz="1400" b="1">
                <a:solidFill>
                  <a:srgbClr val="C00000"/>
                </a:solidFill>
                <a:latin typeface="微软雅黑" panose="020B0503020204020204" pitchFamily="34" charset="-122"/>
                <a:ea typeface="微软雅黑" panose="020B0503020204020204" pitchFamily="34" charset="-122"/>
              </a:rPr>
              <a:t>3. </a:t>
            </a:r>
            <a:r>
              <a:rPr lang="zh-CN" altLang="en-US" sz="1400" b="1">
                <a:solidFill>
                  <a:srgbClr val="C00000"/>
                </a:solidFill>
                <a:latin typeface="微软雅黑" panose="020B0503020204020204" pitchFamily="34" charset="-122"/>
                <a:ea typeface="微软雅黑" panose="020B0503020204020204" pitchFamily="34" charset="-122"/>
              </a:rPr>
              <a:t>基于产品</a:t>
            </a:r>
            <a:r>
              <a:rPr lang="en-US" altLang="zh-CN" sz="1400" b="1">
                <a:solidFill>
                  <a:srgbClr val="C00000"/>
                </a:solidFill>
                <a:latin typeface="微软雅黑" panose="020B0503020204020204" pitchFamily="34" charset="-122"/>
                <a:ea typeface="微软雅黑" panose="020B0503020204020204" pitchFamily="34" charset="-122"/>
              </a:rPr>
              <a:t>/</a:t>
            </a:r>
            <a:r>
              <a:rPr lang="zh-CN" altLang="en-US" sz="1400" b="1">
                <a:solidFill>
                  <a:srgbClr val="C00000"/>
                </a:solidFill>
                <a:latin typeface="微软雅黑" panose="020B0503020204020204" pitchFamily="34" charset="-122"/>
                <a:ea typeface="微软雅黑" panose="020B0503020204020204" pitchFamily="34" charset="-122"/>
              </a:rPr>
              <a:t>目标，哪种交易流程性能最好</a:t>
            </a:r>
          </a:p>
        </p:txBody>
      </p:sp>
    </p:spTree>
    <p:custDataLst>
      <p:tags r:id="rId1"/>
    </p:custDataLst>
    <p:extLst>
      <p:ext uri="{BB962C8B-B14F-4D97-AF65-F5344CB8AC3E}">
        <p14:creationId xmlns:p14="http://schemas.microsoft.com/office/powerpoint/2010/main" val="3945962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14885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2.1 Review</a:t>
            </a:r>
            <a:r>
              <a:rPr lang="zh-CN" altLang="en-US" sz="2800" spc="0">
                <a:solidFill>
                  <a:schemeClr val="tx1"/>
                </a:solidFill>
                <a:effectLst/>
                <a:sym typeface="微软雅黑" panose="020B0503020204020204" pitchFamily="34" charset="-122"/>
              </a:rPr>
              <a:t>中的市场规则分层设计框架</a:t>
            </a:r>
          </a:p>
        </p:txBody>
      </p:sp>
      <p:grpSp>
        <p:nvGrpSpPr>
          <p:cNvPr id="83" name="组合 82">
            <a:extLst>
              <a:ext uri="{FF2B5EF4-FFF2-40B4-BE49-F238E27FC236}">
                <a16:creationId xmlns:a16="http://schemas.microsoft.com/office/drawing/2014/main" id="{935A8463-3490-4A4C-9FBE-C504EB783A9E}"/>
              </a:ext>
            </a:extLst>
          </p:cNvPr>
          <p:cNvGrpSpPr/>
          <p:nvPr/>
        </p:nvGrpSpPr>
        <p:grpSpPr>
          <a:xfrm>
            <a:off x="308924" y="734752"/>
            <a:ext cx="11574151" cy="522605"/>
            <a:chOff x="308924" y="734752"/>
            <a:chExt cx="11574151" cy="522605"/>
          </a:xfrm>
        </p:grpSpPr>
        <p:sp>
          <p:nvSpPr>
            <p:cNvPr id="84" name="矩形 22">
              <a:extLst>
                <a:ext uri="{FF2B5EF4-FFF2-40B4-BE49-F238E27FC236}">
                  <a16:creationId xmlns:a16="http://schemas.microsoft.com/office/drawing/2014/main" id="{8ACE45B6-93A6-4AE3-8868-C769AFD68E32}"/>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85" name="文本框 84">
              <a:extLst>
                <a:ext uri="{FF2B5EF4-FFF2-40B4-BE49-F238E27FC236}">
                  <a16:creationId xmlns:a16="http://schemas.microsoft.com/office/drawing/2014/main" id="{3EE57984-FF8B-4D82-A0D1-4E149A2F6C71}"/>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市场设计</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Decoding SGAM </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五层 </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taxonomy </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覆盖市场、功能与 </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ICT</a:t>
              </a:r>
              <a:endParaRPr sz="22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pic>
        <p:nvPicPr>
          <p:cNvPr id="15" name="图片 14">
            <a:extLst>
              <a:ext uri="{FF2B5EF4-FFF2-40B4-BE49-F238E27FC236}">
                <a16:creationId xmlns:a16="http://schemas.microsoft.com/office/drawing/2014/main" id="{A5A676B9-A854-447E-9145-9F44DD63F3D8}"/>
              </a:ext>
            </a:extLst>
          </p:cNvPr>
          <p:cNvPicPr>
            <a:picLocks noChangeAspect="1"/>
          </p:cNvPicPr>
          <p:nvPr/>
        </p:nvPicPr>
        <p:blipFill>
          <a:blip r:embed="rId4"/>
          <a:stretch/>
        </p:blipFill>
        <p:spPr>
          <a:xfrm>
            <a:off x="175094" y="1680261"/>
            <a:ext cx="4807151" cy="2662422"/>
          </a:xfrm>
          <a:prstGeom prst="rect">
            <a:avLst/>
          </a:prstGeom>
        </p:spPr>
      </p:pic>
      <p:pic>
        <p:nvPicPr>
          <p:cNvPr id="3" name="图片 2">
            <a:extLst>
              <a:ext uri="{FF2B5EF4-FFF2-40B4-BE49-F238E27FC236}">
                <a16:creationId xmlns:a16="http://schemas.microsoft.com/office/drawing/2014/main" id="{2ACC2E38-514C-46C0-A705-425B8904820A}"/>
              </a:ext>
            </a:extLst>
          </p:cNvPr>
          <p:cNvPicPr>
            <a:picLocks noChangeAspect="1"/>
          </p:cNvPicPr>
          <p:nvPr/>
        </p:nvPicPr>
        <p:blipFill>
          <a:blip r:embed="rId5"/>
          <a:stretch>
            <a:fillRect/>
          </a:stretch>
        </p:blipFill>
        <p:spPr>
          <a:xfrm>
            <a:off x="0" y="4146583"/>
            <a:ext cx="5457622" cy="2511327"/>
          </a:xfrm>
          <a:prstGeom prst="rect">
            <a:avLst/>
          </a:prstGeom>
        </p:spPr>
      </p:pic>
      <p:pic>
        <p:nvPicPr>
          <p:cNvPr id="59" name="图片 58">
            <a:extLst>
              <a:ext uri="{FF2B5EF4-FFF2-40B4-BE49-F238E27FC236}">
                <a16:creationId xmlns:a16="http://schemas.microsoft.com/office/drawing/2014/main" id="{177158CE-0538-4254-9122-DDBEB89CD12D}"/>
              </a:ext>
            </a:extLst>
          </p:cNvPr>
          <p:cNvPicPr>
            <a:picLocks noChangeAspect="1"/>
          </p:cNvPicPr>
          <p:nvPr/>
        </p:nvPicPr>
        <p:blipFill>
          <a:blip r:embed="rId6"/>
          <a:stretch/>
        </p:blipFill>
        <p:spPr>
          <a:xfrm>
            <a:off x="5365731" y="1499576"/>
            <a:ext cx="6651175" cy="3542151"/>
          </a:xfrm>
          <a:prstGeom prst="rect">
            <a:avLst/>
          </a:prstGeom>
        </p:spPr>
      </p:pic>
      <p:sp>
        <p:nvSpPr>
          <p:cNvPr id="6" name="矩形: 圆角 5">
            <a:extLst>
              <a:ext uri="{FF2B5EF4-FFF2-40B4-BE49-F238E27FC236}">
                <a16:creationId xmlns:a16="http://schemas.microsoft.com/office/drawing/2014/main" id="{B32006E8-E9BA-4A04-ACF1-EC842F09BA26}"/>
              </a:ext>
            </a:extLst>
          </p:cNvPr>
          <p:cNvSpPr/>
          <p:nvPr/>
        </p:nvSpPr>
        <p:spPr>
          <a:xfrm>
            <a:off x="5457622" y="3708797"/>
            <a:ext cx="6425453" cy="1213723"/>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68" name="矩形 67">
            <a:extLst>
              <a:ext uri="{FF2B5EF4-FFF2-40B4-BE49-F238E27FC236}">
                <a16:creationId xmlns:a16="http://schemas.microsoft.com/office/drawing/2014/main" id="{15EA49F3-FD96-4810-83DB-DC1DD8246980}"/>
              </a:ext>
            </a:extLst>
          </p:cNvPr>
          <p:cNvSpPr/>
          <p:nvPr/>
        </p:nvSpPr>
        <p:spPr>
          <a:xfrm>
            <a:off x="50800" y="1356589"/>
            <a:ext cx="9999980" cy="338554"/>
          </a:xfrm>
          <a:prstGeom prst="rect">
            <a:avLst/>
          </a:prstGeom>
          <a:solidFill>
            <a:schemeClr val="bg1"/>
          </a:solidFill>
        </p:spPr>
        <p:txBody>
          <a:bodyPr wrap="square" rtlCol="0">
            <a:spAutoFit/>
          </a:bodyPr>
          <a:lstStyle/>
          <a:p>
            <a:pPr marL="285750" indent="-285750" algn="just">
              <a:buFont typeface="Wingdings" panose="05000000000000000000" pitchFamily="2" charset="2"/>
              <a:buChar char="p"/>
            </a:pPr>
            <a:r>
              <a:rPr lang="zh-CN" altLang="en-US"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在此间基础上，还描述执行功能、信息对象、通信协议和配网</a:t>
            </a:r>
            <a:r>
              <a:rPr lang="en-US" altLang="zh-CN"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设备</a:t>
            </a:r>
            <a:r>
              <a:rPr lang="en-US" altLang="zh-CN"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工具。适用于</a:t>
            </a:r>
            <a:r>
              <a:rPr lang="en-US" altLang="zh-CN"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EU </a:t>
            </a:r>
            <a:r>
              <a:rPr lang="zh-CN" altLang="en-US"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配电侧拥塞管理 </a:t>
            </a:r>
            <a:r>
              <a:rPr lang="en-US" altLang="zh-CN" sz="1600" b="1">
                <a:solidFill>
                  <a:srgbClr val="0C66BB"/>
                </a:solidFill>
                <a:latin typeface="Times New Roman" panose="02020603050405020304" pitchFamily="18" charset="0"/>
                <a:ea typeface="微软雅黑" panose="020B0503020204020204" pitchFamily="34" charset="-122"/>
                <a:cs typeface="Times New Roman" panose="02020603050405020304" pitchFamily="18" charset="0"/>
              </a:rPr>
              <a:t>LFM</a:t>
            </a:r>
            <a:endParaRPr lang="zh-CN" altLang="en-US" sz="1600"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665E6876-3E27-4705-9DCE-005A5050A88F}"/>
              </a:ext>
            </a:extLst>
          </p:cNvPr>
          <p:cNvSpPr/>
          <p:nvPr/>
        </p:nvSpPr>
        <p:spPr>
          <a:xfrm>
            <a:off x="5622348" y="5032914"/>
            <a:ext cx="6096000" cy="646331"/>
          </a:xfrm>
          <a:prstGeom prst="rect">
            <a:avLst/>
          </a:prstGeom>
        </p:spPr>
        <p:txBody>
          <a:bodyPr>
            <a:spAutoFit/>
          </a:bodyPr>
          <a:lstStyle/>
          <a:p>
            <a:pPr algn="just"/>
            <a:r>
              <a:rPr lang="zh-CN" altLang="en-US" sz="1200" i="1">
                <a:latin typeface="微软雅黑" panose="020B0503020204020204" pitchFamily="34" charset="-122"/>
                <a:ea typeface="微软雅黑" panose="020B0503020204020204" pitchFamily="34" charset="-122"/>
              </a:rPr>
              <a:t>论文围绕配电侧拥塞管理 </a:t>
            </a:r>
            <a:r>
              <a:rPr lang="en-US" altLang="zh-CN" sz="1200" i="1">
                <a:latin typeface="微软雅黑" panose="020B0503020204020204" pitchFamily="34" charset="-122"/>
                <a:ea typeface="微软雅黑" panose="020B0503020204020204" pitchFamily="34" charset="-122"/>
              </a:rPr>
              <a:t>LFM</a:t>
            </a:r>
            <a:r>
              <a:rPr lang="zh-CN" altLang="en-US" sz="1200" i="1">
                <a:latin typeface="微软雅黑" panose="020B0503020204020204" pitchFamily="34" charset="-122"/>
                <a:ea typeface="微软雅黑" panose="020B0503020204020204" pitchFamily="34" charset="-122"/>
              </a:rPr>
              <a:t>，以 </a:t>
            </a:r>
            <a:r>
              <a:rPr lang="en-US" altLang="zh-CN" sz="1200" b="1" i="1">
                <a:latin typeface="微软雅黑" panose="020B0503020204020204" pitchFamily="34" charset="-122"/>
                <a:ea typeface="微软雅黑" panose="020B0503020204020204" pitchFamily="34" charset="-122"/>
              </a:rPr>
              <a:t>Smart Grid Architecture Model</a:t>
            </a:r>
            <a:r>
              <a:rPr lang="zh-CN" altLang="en-US" sz="1200" b="1" i="1">
                <a:latin typeface="微软雅黑" panose="020B0503020204020204" pitchFamily="34" charset="-122"/>
                <a:ea typeface="微软雅黑" panose="020B0503020204020204" pitchFamily="34" charset="-122"/>
              </a:rPr>
              <a:t>（</a:t>
            </a:r>
            <a:r>
              <a:rPr lang="en-US" altLang="zh-CN" sz="1200" b="1" i="1">
                <a:latin typeface="微软雅黑" panose="020B0503020204020204" pitchFamily="34" charset="-122"/>
                <a:ea typeface="微软雅黑" panose="020B0503020204020204" pitchFamily="34" charset="-122"/>
              </a:rPr>
              <a:t>SGAM</a:t>
            </a:r>
            <a:r>
              <a:rPr lang="zh-CN" altLang="en-US" sz="1200" b="1" i="1">
                <a:latin typeface="微软雅黑" panose="020B0503020204020204" pitchFamily="34" charset="-122"/>
                <a:ea typeface="微软雅黑" panose="020B0503020204020204" pitchFamily="34" charset="-122"/>
              </a:rPr>
              <a:t>）</a:t>
            </a:r>
            <a:r>
              <a:rPr lang="zh-CN" altLang="en-US" sz="1200" i="1">
                <a:latin typeface="微软雅黑" panose="020B0503020204020204" pitchFamily="34" charset="-122"/>
                <a:ea typeface="微软雅黑" panose="020B0503020204020204" pitchFamily="34" charset="-122"/>
              </a:rPr>
              <a:t>作为目标，构造 </a:t>
            </a:r>
            <a:r>
              <a:rPr lang="en-US" altLang="zh-CN" sz="1200" i="1">
                <a:latin typeface="微软雅黑" panose="020B0503020204020204" pitchFamily="34" charset="-122"/>
                <a:ea typeface="微软雅黑" panose="020B0503020204020204" pitchFamily="34" charset="-122"/>
              </a:rPr>
              <a:t>Business</a:t>
            </a:r>
            <a:r>
              <a:rPr lang="zh-CN" altLang="en-US" sz="1200" i="1">
                <a:latin typeface="微软雅黑" panose="020B0503020204020204" pitchFamily="34" charset="-122"/>
                <a:ea typeface="微软雅黑" panose="020B0503020204020204" pitchFamily="34" charset="-122"/>
              </a:rPr>
              <a:t>、</a:t>
            </a:r>
            <a:r>
              <a:rPr lang="en-US" altLang="zh-CN" sz="1200" i="1">
                <a:latin typeface="微软雅黑" panose="020B0503020204020204" pitchFamily="34" charset="-122"/>
                <a:ea typeface="微软雅黑" panose="020B0503020204020204" pitchFamily="34" charset="-122"/>
              </a:rPr>
              <a:t>Function</a:t>
            </a:r>
            <a:r>
              <a:rPr lang="zh-CN" altLang="en-US" sz="1200" i="1">
                <a:latin typeface="微软雅黑" panose="020B0503020204020204" pitchFamily="34" charset="-122"/>
                <a:ea typeface="微软雅黑" panose="020B0503020204020204" pitchFamily="34" charset="-122"/>
              </a:rPr>
              <a:t>、</a:t>
            </a:r>
            <a:r>
              <a:rPr lang="en-US" altLang="zh-CN" sz="1200" i="1">
                <a:latin typeface="微软雅黑" panose="020B0503020204020204" pitchFamily="34" charset="-122"/>
                <a:ea typeface="微软雅黑" panose="020B0503020204020204" pitchFamily="34" charset="-122"/>
              </a:rPr>
              <a:t>Information</a:t>
            </a:r>
            <a:r>
              <a:rPr lang="zh-CN" altLang="en-US" sz="1200" i="1">
                <a:latin typeface="微软雅黑" panose="020B0503020204020204" pitchFamily="34" charset="-122"/>
                <a:ea typeface="微软雅黑" panose="020B0503020204020204" pitchFamily="34" charset="-122"/>
              </a:rPr>
              <a:t>、</a:t>
            </a:r>
            <a:r>
              <a:rPr lang="en-US" altLang="zh-CN" sz="1200" i="1">
                <a:latin typeface="微软雅黑" panose="020B0503020204020204" pitchFamily="34" charset="-122"/>
                <a:ea typeface="微软雅黑" panose="020B0503020204020204" pitchFamily="34" charset="-122"/>
              </a:rPr>
              <a:t>Communication</a:t>
            </a:r>
            <a:r>
              <a:rPr lang="zh-CN" altLang="en-US" sz="1200" i="1">
                <a:latin typeface="微软雅黑" panose="020B0503020204020204" pitchFamily="34" charset="-122"/>
                <a:ea typeface="微软雅黑" panose="020B0503020204020204" pitchFamily="34" charset="-122"/>
              </a:rPr>
              <a:t>、</a:t>
            </a:r>
            <a:r>
              <a:rPr lang="en-US" altLang="zh-CN" sz="1200" i="1">
                <a:latin typeface="微软雅黑" panose="020B0503020204020204" pitchFamily="34" charset="-122"/>
                <a:ea typeface="微软雅黑" panose="020B0503020204020204" pitchFamily="34" charset="-122"/>
              </a:rPr>
              <a:t>Component </a:t>
            </a:r>
            <a:r>
              <a:rPr lang="zh-CN" altLang="en-US" sz="1200" i="1">
                <a:latin typeface="微软雅黑" panose="020B0503020204020204" pitchFamily="34" charset="-122"/>
                <a:ea typeface="微软雅黑" panose="020B0503020204020204" pitchFamily="34" charset="-122"/>
              </a:rPr>
              <a:t>五层 </a:t>
            </a:r>
            <a:r>
              <a:rPr lang="en-US" altLang="zh-CN" sz="1200" i="1">
                <a:latin typeface="微软雅黑" panose="020B0503020204020204" pitchFamily="34" charset="-122"/>
                <a:ea typeface="微软雅黑" panose="020B0503020204020204" pitchFamily="34" charset="-122"/>
              </a:rPr>
              <a:t>taxonomy</a:t>
            </a:r>
            <a:endParaRPr lang="zh-CN" altLang="en-US" sz="1200" i="1">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3854629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14885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2.1 Review</a:t>
            </a:r>
            <a:r>
              <a:rPr lang="zh-CN" altLang="en-US" sz="2800" spc="0">
                <a:solidFill>
                  <a:schemeClr val="tx1"/>
                </a:solidFill>
                <a:effectLst/>
                <a:sym typeface="微软雅黑" panose="020B0503020204020204" pitchFamily="34" charset="-122"/>
              </a:rPr>
              <a:t>中的市场规则分层设计框架</a:t>
            </a:r>
          </a:p>
        </p:txBody>
      </p:sp>
      <p:grpSp>
        <p:nvGrpSpPr>
          <p:cNvPr id="83" name="组合 82">
            <a:extLst>
              <a:ext uri="{FF2B5EF4-FFF2-40B4-BE49-F238E27FC236}">
                <a16:creationId xmlns:a16="http://schemas.microsoft.com/office/drawing/2014/main" id="{935A8463-3490-4A4C-9FBE-C504EB783A9E}"/>
              </a:ext>
            </a:extLst>
          </p:cNvPr>
          <p:cNvGrpSpPr/>
          <p:nvPr/>
        </p:nvGrpSpPr>
        <p:grpSpPr>
          <a:xfrm>
            <a:off x="308924" y="734752"/>
            <a:ext cx="11574151" cy="522605"/>
            <a:chOff x="308924" y="734752"/>
            <a:chExt cx="11574151" cy="522605"/>
          </a:xfrm>
        </p:grpSpPr>
        <p:sp>
          <p:nvSpPr>
            <p:cNvPr id="84" name="矩形 22">
              <a:extLst>
                <a:ext uri="{FF2B5EF4-FFF2-40B4-BE49-F238E27FC236}">
                  <a16:creationId xmlns:a16="http://schemas.microsoft.com/office/drawing/2014/main" id="{8ACE45B6-93A6-4AE3-8868-C769AFD68E32}"/>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85" name="文本框 84">
              <a:extLst>
                <a:ext uri="{FF2B5EF4-FFF2-40B4-BE49-F238E27FC236}">
                  <a16:creationId xmlns:a16="http://schemas.microsoft.com/office/drawing/2014/main" id="{3EE57984-FF8B-4D82-A0D1-4E149A2F6C71}"/>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与前述分类学文献相似的互斥标记</a:t>
              </a:r>
              <a:endParaRPr sz="2200" b="1"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sp>
        <p:nvSpPr>
          <p:cNvPr id="14" name="矩形 13">
            <a:extLst>
              <a:ext uri="{FF2B5EF4-FFF2-40B4-BE49-F238E27FC236}">
                <a16:creationId xmlns:a16="http://schemas.microsoft.com/office/drawing/2014/main" id="{E2C3BAF7-47C2-43EE-827F-C387502058ED}"/>
              </a:ext>
            </a:extLst>
          </p:cNvPr>
          <p:cNvSpPr>
            <a:spLocks noGrp="1"/>
          </p:cNvSpPr>
          <p:nvPr/>
        </p:nvSpPr>
        <p:spPr>
          <a:xfrm>
            <a:off x="308924" y="1324116"/>
            <a:ext cx="11001375" cy="228600"/>
          </a:xfrm>
          <a:prstGeom prst="rect">
            <a:avLst/>
          </a:prstGeom>
          <a:noFill/>
          <a:ln w="0">
            <a:noFill/>
            <a:prstDash val="solid"/>
          </a:ln>
        </p:spPr>
        <p:txBody>
          <a:bodyPr wrap="none" lIns="0" tIns="0" rIns="0" bIns="0" anchor="t">
            <a:normAutofit/>
          </a:bodyPr>
          <a:lstStyle/>
          <a:p>
            <a:pPr algn="l">
              <a:lnSpc>
                <a:spcPct val="102000"/>
              </a:lnSpc>
              <a:buNone/>
              <a:defRPr sz="1350" b="0">
                <a:solidFill>
                  <a:srgbClr val="4B5563"/>
                </a:solidFill>
                <a:latin typeface="Microsoft YaHei"/>
                <a:ea typeface="Microsoft YaHei"/>
                <a:cs typeface="Microsoft YaHei"/>
              </a:defRPr>
            </a:pPr>
            <a:r>
              <a:rPr sz="1350" b="0">
                <a:solidFill>
                  <a:srgbClr val="4B5563"/>
                </a:solidFill>
                <a:latin typeface="Microsoft YaHei"/>
                <a:ea typeface="Microsoft YaHei"/>
                <a:cs typeface="Microsoft YaHei"/>
              </a:rPr>
              <a:t>ETDP 经 16 次人工迭代生成 taxonomy；ME 列只说明同一维度可否多选。 </a:t>
            </a:r>
          </a:p>
        </p:txBody>
      </p:sp>
      <p:sp>
        <p:nvSpPr>
          <p:cNvPr id="16" name="直接连接符 15">
            <a:extLst>
              <a:ext uri="{FF2B5EF4-FFF2-40B4-BE49-F238E27FC236}">
                <a16:creationId xmlns:a16="http://schemas.microsoft.com/office/drawing/2014/main" id="{87CE8C79-15DF-4E1D-B058-44A70A18CA43}"/>
              </a:ext>
            </a:extLst>
          </p:cNvPr>
          <p:cNvSpPr>
            <a:spLocks noGrp="1"/>
          </p:cNvSpPr>
          <p:nvPr/>
        </p:nvSpPr>
        <p:spPr>
          <a:xfrm>
            <a:off x="308924" y="1614810"/>
            <a:ext cx="1104900" cy="0"/>
          </a:xfrm>
          <a:prstGeom prst="line">
            <a:avLst/>
          </a:prstGeom>
          <a:noFill/>
          <a:ln w="47625">
            <a:solidFill>
              <a:srgbClr val="8B1E2D"/>
            </a:solidFill>
            <a:prstDash val="solid"/>
          </a:ln>
        </p:spPr>
      </p:sp>
      <p:sp>
        <p:nvSpPr>
          <p:cNvPr id="17" name="矩形 16">
            <a:extLst>
              <a:ext uri="{FF2B5EF4-FFF2-40B4-BE49-F238E27FC236}">
                <a16:creationId xmlns:a16="http://schemas.microsoft.com/office/drawing/2014/main" id="{D8D64406-8B07-43A6-8C65-26A843645FE7}"/>
              </a:ext>
            </a:extLst>
          </p:cNvPr>
          <p:cNvSpPr>
            <a:spLocks noGrp="1"/>
          </p:cNvSpPr>
          <p:nvPr/>
        </p:nvSpPr>
        <p:spPr>
          <a:xfrm>
            <a:off x="308924" y="1738635"/>
            <a:ext cx="4581525" cy="4676775"/>
          </a:xfrm>
          <a:prstGeom prst="rect">
            <a:avLst/>
          </a:prstGeom>
          <a:solidFill>
            <a:srgbClr val="FAFAFA"/>
          </a:solidFill>
          <a:ln w="9525">
            <a:solidFill>
              <a:srgbClr val="B9C0C9"/>
            </a:solidFill>
            <a:prstDash val="solid"/>
          </a:ln>
        </p:spPr>
      </p:sp>
      <p:pic>
        <p:nvPicPr>
          <p:cNvPr id="18" name="图片 17">
            <a:extLst>
              <a:ext uri="{FF2B5EF4-FFF2-40B4-BE49-F238E27FC236}">
                <a16:creationId xmlns:a16="http://schemas.microsoft.com/office/drawing/2014/main" id="{16D1AAB9-CC2F-45BC-9736-2A306E8422A3}"/>
              </a:ext>
            </a:extLst>
          </p:cNvPr>
          <p:cNvPicPr>
            <a:picLocks noChangeAspect="1"/>
          </p:cNvPicPr>
          <p:nvPr/>
        </p:nvPicPr>
        <p:blipFill>
          <a:blip r:embed="rId4"/>
          <a:stretch/>
        </p:blipFill>
        <p:spPr>
          <a:xfrm>
            <a:off x="1077060" y="1814835"/>
            <a:ext cx="3045252" cy="4524375"/>
          </a:xfrm>
          <a:prstGeom prst="rect">
            <a:avLst/>
          </a:prstGeom>
        </p:spPr>
      </p:pic>
      <p:sp>
        <p:nvSpPr>
          <p:cNvPr id="19" name="Caption_Fig. A.1. Ex">
            <a:extLst>
              <a:ext uri="{FF2B5EF4-FFF2-40B4-BE49-F238E27FC236}">
                <a16:creationId xmlns:a16="http://schemas.microsoft.com/office/drawing/2014/main" id="{75045267-56BA-4B50-97BB-10403101C894}"/>
              </a:ext>
            </a:extLst>
          </p:cNvPr>
          <p:cNvSpPr>
            <a:spLocks noGrp="1"/>
          </p:cNvSpPr>
          <p:nvPr/>
        </p:nvSpPr>
        <p:spPr>
          <a:xfrm>
            <a:off x="385124" y="6424935"/>
            <a:ext cx="4429125" cy="209550"/>
          </a:xfrm>
          <a:prstGeom prst="rect">
            <a:avLst/>
          </a:prstGeom>
          <a:noFill/>
          <a:ln w="0">
            <a:noFill/>
            <a:prstDash val="solid"/>
          </a:ln>
        </p:spPr>
        <p:txBody>
          <a:bodyPr wrap="none" lIns="0" tIns="0" rIns="0" bIns="0" anchor="t">
            <a:normAutofit fontScale="95004"/>
          </a:bodyPr>
          <a:lstStyle/>
          <a:p>
            <a:pPr algn="l">
              <a:lnSpc>
                <a:spcPct val="102000"/>
              </a:lnSpc>
              <a:buNone/>
              <a:defRPr sz="975" b="0">
                <a:solidFill>
                  <a:srgbClr val="6B7280"/>
                </a:solidFill>
                <a:latin typeface="Times New Roman"/>
                <a:ea typeface="Times New Roman"/>
                <a:cs typeface="Times New Roman"/>
              </a:defRPr>
            </a:pPr>
            <a:r>
              <a:rPr sz="975" b="0">
                <a:solidFill>
                  <a:srgbClr val="6B7280"/>
                </a:solidFill>
                <a:latin typeface="Times New Roman"/>
                <a:ea typeface="Times New Roman"/>
                <a:cs typeface="Times New Roman"/>
              </a:rPr>
              <a:t>Fig. A.1. Extended taxonomy design process (ETDP) — Potenciano Menci &amp; Valarezo, 2024</a:t>
            </a:r>
          </a:p>
        </p:txBody>
      </p:sp>
      <p:pic>
        <p:nvPicPr>
          <p:cNvPr id="22" name="图片 21">
            <a:extLst>
              <a:ext uri="{FF2B5EF4-FFF2-40B4-BE49-F238E27FC236}">
                <a16:creationId xmlns:a16="http://schemas.microsoft.com/office/drawing/2014/main" id="{6A5FC3E9-86E2-4469-8F28-0CB0B28B8856}"/>
              </a:ext>
            </a:extLst>
          </p:cNvPr>
          <p:cNvPicPr>
            <a:picLocks noChangeAspect="1"/>
          </p:cNvPicPr>
          <p:nvPr/>
        </p:nvPicPr>
        <p:blipFill>
          <a:blip r:embed="rId5"/>
          <a:stretch/>
        </p:blipFill>
        <p:spPr>
          <a:xfrm>
            <a:off x="5119659" y="1642014"/>
            <a:ext cx="6438033" cy="3437255"/>
          </a:xfrm>
          <a:prstGeom prst="rect">
            <a:avLst/>
          </a:prstGeom>
        </p:spPr>
      </p:pic>
      <p:sp>
        <p:nvSpPr>
          <p:cNvPr id="2" name="矩形 1">
            <a:extLst>
              <a:ext uri="{FF2B5EF4-FFF2-40B4-BE49-F238E27FC236}">
                <a16:creationId xmlns:a16="http://schemas.microsoft.com/office/drawing/2014/main" id="{0C236E83-DEFD-4FB8-A1B8-77EAC8B084A8}"/>
              </a:ext>
            </a:extLst>
          </p:cNvPr>
          <p:cNvSpPr/>
          <p:nvPr/>
        </p:nvSpPr>
        <p:spPr>
          <a:xfrm>
            <a:off x="308923" y="5521999"/>
            <a:ext cx="4581525" cy="830997"/>
          </a:xfrm>
          <a:prstGeom prst="rect">
            <a:avLst/>
          </a:prstGeom>
        </p:spPr>
        <p:txBody>
          <a:bodyPr wrap="square">
            <a:spAutoFit/>
          </a:bodyPr>
          <a:lstStyle/>
          <a:p>
            <a:pPr algn="just"/>
            <a:r>
              <a:rPr lang="en-US" altLang="zh-CN" sz="1200" b="1" i="1">
                <a:latin typeface="微软雅黑" panose="020B0503020204020204" pitchFamily="34" charset="-122"/>
                <a:ea typeface="微软雅黑" panose="020B0503020204020204" pitchFamily="34" charset="-122"/>
              </a:rPr>
              <a:t>Extended Taxonomy Design Process</a:t>
            </a:r>
            <a:r>
              <a:rPr lang="zh-CN" altLang="en-US" sz="1200" b="1" i="1">
                <a:latin typeface="微软雅黑" panose="020B0503020204020204" pitchFamily="34" charset="-122"/>
                <a:ea typeface="微软雅黑" panose="020B0503020204020204" pitchFamily="34" charset="-122"/>
              </a:rPr>
              <a:t>（</a:t>
            </a:r>
            <a:r>
              <a:rPr lang="en-US" altLang="zh-CN" sz="1200" b="1" i="1">
                <a:latin typeface="微软雅黑" panose="020B0503020204020204" pitchFamily="34" charset="-122"/>
                <a:ea typeface="微软雅黑" panose="020B0503020204020204" pitchFamily="34" charset="-122"/>
              </a:rPr>
              <a:t>ETDP</a:t>
            </a:r>
            <a:r>
              <a:rPr lang="zh-CN" altLang="en-US" sz="1200" b="1" i="1">
                <a:latin typeface="微软雅黑" panose="020B0503020204020204" pitchFamily="34" charset="-122"/>
                <a:ea typeface="微软雅黑" panose="020B0503020204020204" pitchFamily="34" charset="-122"/>
              </a:rPr>
              <a:t>）</a:t>
            </a:r>
            <a:r>
              <a:rPr lang="en-US" altLang="zh-CN" sz="1200" i="1">
                <a:latin typeface="微软雅黑" panose="020B0503020204020204" pitchFamily="34" charset="-122"/>
                <a:ea typeface="微软雅黑" panose="020B0503020204020204" pitchFamily="34" charset="-122"/>
                <a:sym typeface="Wingdings" panose="05000000000000000000" pitchFamily="2" charset="2"/>
              </a:rPr>
              <a:t></a:t>
            </a:r>
            <a:r>
              <a:rPr lang="zh-CN" altLang="en-US" sz="1200" i="1">
                <a:latin typeface="微软雅黑" panose="020B0503020204020204" pitchFamily="34" charset="-122"/>
                <a:ea typeface="微软雅黑" panose="020B0503020204020204" pitchFamily="34" charset="-122"/>
              </a:rPr>
              <a:t>在 </a:t>
            </a:r>
            <a:r>
              <a:rPr lang="en-US" altLang="zh-CN" sz="1200" i="1">
                <a:latin typeface="微软雅黑" panose="020B0503020204020204" pitchFamily="34" charset="-122"/>
                <a:ea typeface="微软雅黑" panose="020B0503020204020204" pitchFamily="34" charset="-122"/>
              </a:rPr>
              <a:t>conceptual-to-empirical </a:t>
            </a:r>
            <a:r>
              <a:rPr lang="zh-CN" altLang="en-US" sz="1200" i="1">
                <a:latin typeface="微软雅黑" panose="020B0503020204020204" pitchFamily="34" charset="-122"/>
                <a:ea typeface="微软雅黑" panose="020B0503020204020204" pitchFamily="34" charset="-122"/>
              </a:rPr>
              <a:t>与 </a:t>
            </a:r>
            <a:r>
              <a:rPr lang="en-US" altLang="zh-CN" sz="1200" i="1">
                <a:latin typeface="微软雅黑" panose="020B0503020204020204" pitchFamily="34" charset="-122"/>
                <a:ea typeface="微软雅黑" panose="020B0503020204020204" pitchFamily="34" charset="-122"/>
              </a:rPr>
              <a:t>empirical-to-conceptual </a:t>
            </a:r>
            <a:r>
              <a:rPr lang="zh-CN" altLang="en-US" sz="1200" i="1">
                <a:latin typeface="微软雅黑" panose="020B0503020204020204" pitchFamily="34" charset="-122"/>
                <a:ea typeface="微软雅黑" panose="020B0503020204020204" pitchFamily="34" charset="-122"/>
              </a:rPr>
              <a:t>路径之间迭代</a:t>
            </a:r>
            <a:r>
              <a:rPr lang="en-US" altLang="zh-CN" sz="1200" i="1">
                <a:latin typeface="微软雅黑" panose="020B0503020204020204" pitchFamily="34" charset="-122"/>
                <a:ea typeface="微软雅黑" panose="020B0503020204020204" pitchFamily="34" charset="-122"/>
                <a:sym typeface="Wingdings" panose="05000000000000000000" pitchFamily="2" charset="2"/>
              </a:rPr>
              <a:t></a:t>
            </a:r>
            <a:r>
              <a:rPr lang="zh-CN" altLang="en-US" sz="1200" i="1">
                <a:latin typeface="微软雅黑" panose="020B0503020204020204" pitchFamily="34" charset="-122"/>
                <a:ea typeface="微软雅黑" panose="020B0503020204020204" pitchFamily="34" charset="-122"/>
              </a:rPr>
              <a:t>共 </a:t>
            </a:r>
            <a:r>
              <a:rPr lang="en-US" altLang="zh-CN" sz="1200" i="1">
                <a:latin typeface="微软雅黑" panose="020B0503020204020204" pitchFamily="34" charset="-122"/>
                <a:ea typeface="微软雅黑" panose="020B0503020204020204" pitchFamily="34" charset="-122"/>
              </a:rPr>
              <a:t>16 </a:t>
            </a:r>
            <a:r>
              <a:rPr lang="zh-CN" altLang="en-US" sz="1200" i="1">
                <a:latin typeface="微软雅黑" panose="020B0503020204020204" pitchFamily="34" charset="-122"/>
                <a:ea typeface="微软雅黑" panose="020B0503020204020204" pitchFamily="34" charset="-122"/>
              </a:rPr>
              <a:t>个版本：</a:t>
            </a:r>
            <a:r>
              <a:rPr lang="zh-CN" altLang="en-US" sz="1200" b="1" i="1">
                <a:solidFill>
                  <a:srgbClr val="C00000"/>
                </a:solidFill>
                <a:latin typeface="微软雅黑" panose="020B0503020204020204" pitchFamily="34" charset="-122"/>
                <a:ea typeface="微软雅黑" panose="020B0503020204020204" pitchFamily="34" charset="-122"/>
              </a:rPr>
              <a:t>初始文献</a:t>
            </a:r>
            <a:r>
              <a:rPr lang="en-US" altLang="zh-CN" sz="1200" b="1" i="1">
                <a:solidFill>
                  <a:srgbClr val="C00000"/>
                </a:solidFill>
                <a:latin typeface="微软雅黑" panose="020B0503020204020204" pitchFamily="34" charset="-122"/>
                <a:ea typeface="微软雅黑" panose="020B0503020204020204" pitchFamily="34" charset="-122"/>
              </a:rPr>
              <a:t>/</a:t>
            </a:r>
            <a:r>
              <a:rPr lang="zh-CN" altLang="en-US" sz="1200" b="1" i="1">
                <a:solidFill>
                  <a:srgbClr val="C00000"/>
                </a:solidFill>
                <a:latin typeface="微软雅黑" panose="020B0503020204020204" pitchFamily="34" charset="-122"/>
                <a:ea typeface="微软雅黑" panose="020B0503020204020204" pitchFamily="34" charset="-122"/>
              </a:rPr>
              <a:t>项目资料形成 </a:t>
            </a:r>
            <a:r>
              <a:rPr lang="en-US" altLang="zh-CN" sz="1200" b="1" i="1">
                <a:solidFill>
                  <a:srgbClr val="C00000"/>
                </a:solidFill>
                <a:latin typeface="微软雅黑" panose="020B0503020204020204" pitchFamily="34" charset="-122"/>
                <a:ea typeface="微软雅黑" panose="020B0503020204020204" pitchFamily="34" charset="-122"/>
              </a:rPr>
              <a:t>V1</a:t>
            </a:r>
            <a:r>
              <a:rPr lang="zh-CN" altLang="en-US" sz="1200" i="1">
                <a:latin typeface="微软雅黑" panose="020B0503020204020204" pitchFamily="34" charset="-122"/>
                <a:ea typeface="微软雅黑" panose="020B0503020204020204" pitchFamily="34" charset="-122"/>
              </a:rPr>
              <a:t>，随后通过 </a:t>
            </a:r>
            <a:r>
              <a:rPr lang="en-US" altLang="zh-CN" sz="1200" i="1">
                <a:latin typeface="微软雅黑" panose="020B0503020204020204" pitchFamily="34" charset="-122"/>
                <a:ea typeface="微软雅黑" panose="020B0503020204020204" pitchFamily="34" charset="-122"/>
              </a:rPr>
              <a:t>28 </a:t>
            </a:r>
            <a:r>
              <a:rPr lang="zh-CN" altLang="en-US" sz="1200" i="1">
                <a:latin typeface="微软雅黑" panose="020B0503020204020204" pitchFamily="34" charset="-122"/>
                <a:ea typeface="微软雅黑" panose="020B0503020204020204" pitchFamily="34" charset="-122"/>
              </a:rPr>
              <a:t>位专家访谈和跨国 </a:t>
            </a:r>
            <a:r>
              <a:rPr lang="en-US" altLang="zh-CN" sz="1200" i="1">
                <a:latin typeface="微软雅黑" panose="020B0503020204020204" pitchFamily="34" charset="-122"/>
                <a:ea typeface="微软雅黑" panose="020B0503020204020204" pitchFamily="34" charset="-122"/>
              </a:rPr>
              <a:t>use cases </a:t>
            </a:r>
            <a:r>
              <a:rPr lang="zh-CN" altLang="en-US" sz="1200" i="1">
                <a:latin typeface="微软雅黑" panose="020B0503020204020204" pitchFamily="34" charset="-122"/>
                <a:ea typeface="微软雅黑" panose="020B0503020204020204" pitchFamily="34" charset="-122"/>
              </a:rPr>
              <a:t>修订</a:t>
            </a:r>
          </a:p>
        </p:txBody>
      </p:sp>
      <p:sp>
        <p:nvSpPr>
          <p:cNvPr id="4" name="矩形 3">
            <a:extLst>
              <a:ext uri="{FF2B5EF4-FFF2-40B4-BE49-F238E27FC236}">
                <a16:creationId xmlns:a16="http://schemas.microsoft.com/office/drawing/2014/main" id="{14957EED-CC50-4C8D-9F94-4418334DADE9}"/>
              </a:ext>
            </a:extLst>
          </p:cNvPr>
          <p:cNvSpPr/>
          <p:nvPr/>
        </p:nvSpPr>
        <p:spPr>
          <a:xfrm>
            <a:off x="5461692" y="5168567"/>
            <a:ext cx="6096000" cy="1200329"/>
          </a:xfrm>
          <a:prstGeom prst="rect">
            <a:avLst/>
          </a:prstGeom>
        </p:spPr>
        <p:txBody>
          <a:bodyPr wrap="square">
            <a:spAutoFit/>
          </a:bodyPr>
          <a:lstStyle/>
          <a:p>
            <a:pPr algn="just"/>
            <a:r>
              <a:rPr lang="en-US" altLang="zh-CN" sz="1200" b="1" i="1">
                <a:latin typeface="微软雅黑" panose="020B0503020204020204" pitchFamily="34" charset="-122"/>
                <a:ea typeface="微软雅黑" panose="020B0503020204020204" pitchFamily="34" charset="-122"/>
              </a:rPr>
              <a:t>.ME </a:t>
            </a:r>
            <a:r>
              <a:rPr lang="zh-CN" altLang="en-US" sz="1200" b="1" i="1">
                <a:latin typeface="微软雅黑" panose="020B0503020204020204" pitchFamily="34" charset="-122"/>
                <a:ea typeface="微软雅黑" panose="020B0503020204020204" pitchFamily="34" charset="-122"/>
              </a:rPr>
              <a:t>互斥列</a:t>
            </a:r>
            <a:r>
              <a:rPr lang="en-US" altLang="zh-CN" sz="1200" i="1">
                <a:latin typeface="微软雅黑" panose="020B0503020204020204" pitchFamily="34" charset="-122"/>
                <a:ea typeface="微软雅黑" panose="020B0503020204020204" pitchFamily="34" charset="-122"/>
                <a:sym typeface="Wingdings" panose="05000000000000000000" pitchFamily="2" charset="2"/>
              </a:rPr>
              <a:t></a:t>
            </a:r>
            <a:r>
              <a:rPr lang="zh-CN" altLang="en-US" sz="1200" i="1">
                <a:latin typeface="微软雅黑" panose="020B0503020204020204" pitchFamily="34" charset="-122"/>
                <a:ea typeface="微软雅黑" panose="020B0503020204020204" pitchFamily="34" charset="-122"/>
              </a:rPr>
              <a:t>每个维度增加 </a:t>
            </a:r>
            <a:r>
              <a:rPr lang="en-US" altLang="zh-CN" sz="1200" b="1" i="1">
                <a:latin typeface="微软雅黑" panose="020B0503020204020204" pitchFamily="34" charset="-122"/>
                <a:ea typeface="微软雅黑" panose="020B0503020204020204" pitchFamily="34" charset="-122"/>
              </a:rPr>
              <a:t>mutually exclusive marker</a:t>
            </a:r>
            <a:r>
              <a:rPr lang="zh-CN" altLang="en-US" sz="1200" i="1">
                <a:latin typeface="微软雅黑" panose="020B0503020204020204" pitchFamily="34" charset="-122"/>
                <a:ea typeface="微软雅黑" panose="020B0503020204020204" pitchFamily="34" charset="-122"/>
              </a:rPr>
              <a:t>。</a:t>
            </a:r>
            <a:r>
              <a:rPr lang="en-US" altLang="zh-CN" sz="1200" i="1">
                <a:latin typeface="微软雅黑" panose="020B0503020204020204" pitchFamily="34" charset="-122"/>
                <a:ea typeface="微软雅黑" panose="020B0503020204020204" pitchFamily="34" charset="-122"/>
              </a:rPr>
              <a:t>ME=Yes </a:t>
            </a:r>
            <a:r>
              <a:rPr lang="zh-CN" altLang="en-US" sz="1200" i="1">
                <a:latin typeface="微软雅黑" panose="020B0503020204020204" pitchFamily="34" charset="-122"/>
                <a:ea typeface="微软雅黑" panose="020B0503020204020204" pitchFamily="34" charset="-122"/>
              </a:rPr>
              <a:t>表示一个对象在该维度只能取一个特征；</a:t>
            </a:r>
            <a:r>
              <a:rPr lang="en-US" altLang="zh-CN" sz="1200" i="1">
                <a:latin typeface="微软雅黑" panose="020B0503020204020204" pitchFamily="34" charset="-122"/>
                <a:ea typeface="微软雅黑" panose="020B0503020204020204" pitchFamily="34" charset="-122"/>
              </a:rPr>
              <a:t>ME=No </a:t>
            </a:r>
            <a:r>
              <a:rPr lang="zh-CN" altLang="en-US" sz="1200" i="1">
                <a:latin typeface="微软雅黑" panose="020B0503020204020204" pitchFamily="34" charset="-122"/>
                <a:ea typeface="微软雅黑" panose="020B0503020204020204" pitchFamily="34" charset="-122"/>
              </a:rPr>
              <a:t>表示多个特征可以并存。它降低了列出所有组合的需要，但只是维度内的选择基数。</a:t>
            </a:r>
          </a:p>
          <a:p>
            <a:pPr algn="just"/>
            <a:endParaRPr lang="en-US" altLang="zh-CN" sz="1200" i="1">
              <a:latin typeface="微软雅黑" panose="020B0503020204020204" pitchFamily="34" charset="-122"/>
              <a:ea typeface="微软雅黑" panose="020B0503020204020204" pitchFamily="34" charset="-122"/>
            </a:endParaRPr>
          </a:p>
          <a:p>
            <a:pPr algn="just"/>
            <a:r>
              <a:rPr lang="zh-CN" altLang="en-US" sz="1200" b="1" i="1">
                <a:solidFill>
                  <a:srgbClr val="C00000"/>
                </a:solidFill>
                <a:latin typeface="微软雅黑" panose="020B0503020204020204" pitchFamily="34" charset="-122"/>
                <a:ea typeface="微软雅黑" panose="020B0503020204020204" pitchFamily="34" charset="-122"/>
              </a:rPr>
              <a:t>他没有校验逻辑冲突？</a:t>
            </a:r>
            <a:r>
              <a:rPr lang="en-US" altLang="zh-CN" sz="1200" b="1" i="1">
                <a:solidFill>
                  <a:srgbClr val="C00000"/>
                </a:solidFill>
                <a:latin typeface="微软雅黑" panose="020B0503020204020204" pitchFamily="34" charset="-122"/>
                <a:ea typeface="微软雅黑" panose="020B0503020204020204" pitchFamily="34" charset="-122"/>
                <a:sym typeface="Wingdings" panose="05000000000000000000" pitchFamily="2" charset="2"/>
              </a:rPr>
              <a:t> </a:t>
            </a:r>
            <a:r>
              <a:rPr lang="en-US" altLang="zh-CN" sz="1200" i="1">
                <a:latin typeface="微软雅黑" panose="020B0503020204020204" pitchFamily="34" charset="-122"/>
                <a:ea typeface="微软雅黑" panose="020B0503020204020204" pitchFamily="34" charset="-122"/>
              </a:rPr>
              <a:t>objective ending conditions </a:t>
            </a:r>
            <a:r>
              <a:rPr lang="zh-CN" altLang="en-US" sz="1200" i="1">
                <a:latin typeface="微软雅黑" panose="020B0503020204020204" pitchFamily="34" charset="-122"/>
                <a:ea typeface="微软雅黑" panose="020B0503020204020204" pitchFamily="34" charset="-122"/>
              </a:rPr>
              <a:t>似乎只检查维度</a:t>
            </a:r>
            <a:r>
              <a:rPr lang="en-US" altLang="zh-CN" sz="1200" i="1">
                <a:latin typeface="微软雅黑" panose="020B0503020204020204" pitchFamily="34" charset="-122"/>
                <a:ea typeface="微软雅黑" panose="020B0503020204020204" pitchFamily="34" charset="-122"/>
              </a:rPr>
              <a:t>/</a:t>
            </a:r>
            <a:r>
              <a:rPr lang="zh-CN" altLang="en-US" sz="1200" i="1">
                <a:latin typeface="微软雅黑" panose="020B0503020204020204" pitchFamily="34" charset="-122"/>
                <a:ea typeface="微软雅黑" panose="020B0503020204020204" pitchFamily="34" charset="-122"/>
              </a:rPr>
              <a:t>特征是否唯一、组合描述是否重复；</a:t>
            </a:r>
          </a:p>
        </p:txBody>
      </p:sp>
      <p:pic>
        <p:nvPicPr>
          <p:cNvPr id="34" name="图片 33">
            <a:extLst>
              <a:ext uri="{FF2B5EF4-FFF2-40B4-BE49-F238E27FC236}">
                <a16:creationId xmlns:a16="http://schemas.microsoft.com/office/drawing/2014/main" id="{5C6196BC-7552-4FB5-9F9C-95F9D95892CC}"/>
              </a:ext>
            </a:extLst>
          </p:cNvPr>
          <p:cNvPicPr>
            <a:picLocks noChangeAspect="1"/>
          </p:cNvPicPr>
          <p:nvPr/>
        </p:nvPicPr>
        <p:blipFill>
          <a:blip r:embed="rId6"/>
          <a:stretch/>
        </p:blipFill>
        <p:spPr>
          <a:xfrm>
            <a:off x="182945" y="1691011"/>
            <a:ext cx="6191250" cy="3454939"/>
          </a:xfrm>
          <a:prstGeom prst="rect">
            <a:avLst/>
          </a:prstGeom>
        </p:spPr>
      </p:pic>
    </p:spTree>
    <p:custDataLst>
      <p:tags r:id="rId1"/>
    </p:custDataLst>
    <p:extLst>
      <p:ext uri="{BB962C8B-B14F-4D97-AF65-F5344CB8AC3E}">
        <p14:creationId xmlns:p14="http://schemas.microsoft.com/office/powerpoint/2010/main" val="3604198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14885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2.1 Review</a:t>
            </a:r>
            <a:r>
              <a:rPr lang="zh-CN" altLang="en-US" sz="2800" spc="0">
                <a:solidFill>
                  <a:schemeClr val="tx1"/>
                </a:solidFill>
                <a:effectLst/>
                <a:sym typeface="微软雅黑" panose="020B0503020204020204" pitchFamily="34" charset="-122"/>
              </a:rPr>
              <a:t>中的市场规则分层设计框架</a:t>
            </a:r>
          </a:p>
        </p:txBody>
      </p:sp>
      <p:grpSp>
        <p:nvGrpSpPr>
          <p:cNvPr id="83" name="组合 82">
            <a:extLst>
              <a:ext uri="{FF2B5EF4-FFF2-40B4-BE49-F238E27FC236}">
                <a16:creationId xmlns:a16="http://schemas.microsoft.com/office/drawing/2014/main" id="{935A8463-3490-4A4C-9FBE-C504EB783A9E}"/>
              </a:ext>
            </a:extLst>
          </p:cNvPr>
          <p:cNvGrpSpPr/>
          <p:nvPr/>
        </p:nvGrpSpPr>
        <p:grpSpPr>
          <a:xfrm>
            <a:off x="308924" y="734752"/>
            <a:ext cx="11574151" cy="522605"/>
            <a:chOff x="308924" y="734752"/>
            <a:chExt cx="11574151" cy="522605"/>
          </a:xfrm>
        </p:grpSpPr>
        <p:sp>
          <p:nvSpPr>
            <p:cNvPr id="84" name="矩形 22">
              <a:extLst>
                <a:ext uri="{FF2B5EF4-FFF2-40B4-BE49-F238E27FC236}">
                  <a16:creationId xmlns:a16="http://schemas.microsoft.com/office/drawing/2014/main" id="{8ACE45B6-93A6-4AE3-8868-C769AFD68E32}"/>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85" name="文本框 84">
              <a:extLst>
                <a:ext uri="{FF2B5EF4-FFF2-40B4-BE49-F238E27FC236}">
                  <a16:creationId xmlns:a16="http://schemas.microsoft.com/office/drawing/2014/main" id="{3EE57984-FF8B-4D82-A0D1-4E149A2F6C71}"/>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通过专家评价与实际市场案例（构筑）来验证分类学设计的有效性</a:t>
              </a:r>
              <a:endParaRPr sz="2200" b="1"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sp>
        <p:nvSpPr>
          <p:cNvPr id="15" name="矩形 14">
            <a:extLst>
              <a:ext uri="{FF2B5EF4-FFF2-40B4-BE49-F238E27FC236}">
                <a16:creationId xmlns:a16="http://schemas.microsoft.com/office/drawing/2014/main" id="{2C864133-AFFD-4A01-BFFA-03AF1BFA78EF}"/>
              </a:ext>
            </a:extLst>
          </p:cNvPr>
          <p:cNvSpPr>
            <a:spLocks noGrp="1"/>
          </p:cNvSpPr>
          <p:nvPr/>
        </p:nvSpPr>
        <p:spPr>
          <a:xfrm>
            <a:off x="514350" y="1428750"/>
            <a:ext cx="6343650" cy="3962400"/>
          </a:xfrm>
          <a:prstGeom prst="rect">
            <a:avLst/>
          </a:prstGeom>
          <a:solidFill>
            <a:srgbClr val="FAFAFA"/>
          </a:solidFill>
          <a:ln w="9525">
            <a:solidFill>
              <a:srgbClr val="B9C0C9"/>
            </a:solidFill>
            <a:prstDash val="solid"/>
          </a:ln>
        </p:spPr>
      </p:sp>
      <p:pic>
        <p:nvPicPr>
          <p:cNvPr id="20" name="图片 19">
            <a:extLst>
              <a:ext uri="{FF2B5EF4-FFF2-40B4-BE49-F238E27FC236}">
                <a16:creationId xmlns:a16="http://schemas.microsoft.com/office/drawing/2014/main" id="{811705FD-12F9-4345-B607-7929F9DB192E}"/>
              </a:ext>
            </a:extLst>
          </p:cNvPr>
          <p:cNvPicPr>
            <a:picLocks noChangeAspect="1"/>
          </p:cNvPicPr>
          <p:nvPr/>
        </p:nvPicPr>
        <p:blipFill>
          <a:blip r:embed="rId4"/>
          <a:stretch/>
        </p:blipFill>
        <p:spPr>
          <a:xfrm>
            <a:off x="590550" y="1682481"/>
            <a:ext cx="6191250" cy="3454939"/>
          </a:xfrm>
          <a:prstGeom prst="rect">
            <a:avLst/>
          </a:prstGeom>
        </p:spPr>
      </p:pic>
      <p:sp>
        <p:nvSpPr>
          <p:cNvPr id="21" name="Caption_Table B.1. Q">
            <a:extLst>
              <a:ext uri="{FF2B5EF4-FFF2-40B4-BE49-F238E27FC236}">
                <a16:creationId xmlns:a16="http://schemas.microsoft.com/office/drawing/2014/main" id="{7BE454E3-5CB7-4AD6-A0A3-40F3B96A5D10}"/>
              </a:ext>
            </a:extLst>
          </p:cNvPr>
          <p:cNvSpPr>
            <a:spLocks noGrp="1"/>
          </p:cNvSpPr>
          <p:nvPr/>
        </p:nvSpPr>
        <p:spPr>
          <a:xfrm>
            <a:off x="590550" y="5400675"/>
            <a:ext cx="6191250" cy="209550"/>
          </a:xfrm>
          <a:prstGeom prst="rect">
            <a:avLst/>
          </a:prstGeom>
          <a:noFill/>
          <a:ln w="0">
            <a:noFill/>
            <a:prstDash val="solid"/>
          </a:ln>
        </p:spPr>
        <p:txBody>
          <a:bodyPr wrap="none" lIns="0" tIns="0" rIns="0" bIns="0" anchor="t">
            <a:normAutofit/>
          </a:bodyPr>
          <a:lstStyle/>
          <a:p>
            <a:pPr algn="l">
              <a:lnSpc>
                <a:spcPct val="102000"/>
              </a:lnSpc>
              <a:buNone/>
              <a:defRPr sz="975" b="0">
                <a:solidFill>
                  <a:srgbClr val="6B7280"/>
                </a:solidFill>
                <a:latin typeface="Times New Roman"/>
                <a:ea typeface="Times New Roman"/>
                <a:cs typeface="Times New Roman"/>
              </a:defRPr>
            </a:pPr>
            <a:r>
              <a:rPr sz="975" b="0">
                <a:solidFill>
                  <a:srgbClr val="6B7280"/>
                </a:solidFill>
                <a:latin typeface="Times New Roman"/>
                <a:ea typeface="Times New Roman"/>
                <a:cs typeface="Times New Roman"/>
              </a:rPr>
              <a:t>Table B.1. Qualitative evaluation questions — Potenciano Menci &amp; Valarezo, 2024</a:t>
            </a:r>
          </a:p>
        </p:txBody>
      </p:sp>
      <p:sp>
        <p:nvSpPr>
          <p:cNvPr id="23" name="矩形 22">
            <a:extLst>
              <a:ext uri="{FF2B5EF4-FFF2-40B4-BE49-F238E27FC236}">
                <a16:creationId xmlns:a16="http://schemas.microsoft.com/office/drawing/2014/main" id="{148D8753-BE97-4A5A-A6C6-946B8DD88898}"/>
              </a:ext>
            </a:extLst>
          </p:cNvPr>
          <p:cNvSpPr>
            <a:spLocks noGrp="1"/>
          </p:cNvSpPr>
          <p:nvPr/>
        </p:nvSpPr>
        <p:spPr>
          <a:xfrm>
            <a:off x="7200900" y="1504950"/>
            <a:ext cx="4333875" cy="304800"/>
          </a:xfrm>
          <a:prstGeom prst="rect">
            <a:avLst/>
          </a:prstGeom>
          <a:noFill/>
          <a:ln w="0">
            <a:noFill/>
            <a:prstDash val="solid"/>
          </a:ln>
        </p:spPr>
        <p:txBody>
          <a:bodyPr wrap="none" lIns="0" tIns="0" rIns="0" bIns="0" anchor="t">
            <a:normAutofit fontScale="96829"/>
          </a:bodyPr>
          <a:lstStyle/>
          <a:p>
            <a:pPr algn="l">
              <a:lnSpc>
                <a:spcPct val="102000"/>
              </a:lnSpc>
              <a:buNone/>
              <a:defRPr sz="2025" b="1">
                <a:solidFill>
                  <a:srgbClr val="17365D"/>
                </a:solidFill>
                <a:latin typeface="Microsoft YaHei"/>
                <a:ea typeface="Microsoft YaHei"/>
                <a:cs typeface="Microsoft YaHei"/>
              </a:defRPr>
            </a:pPr>
            <a:r>
              <a:rPr sz="2025" b="1">
                <a:solidFill>
                  <a:srgbClr val="17365D"/>
                </a:solidFill>
                <a:latin typeface="Microsoft YaHei"/>
                <a:ea typeface="Microsoft YaHei"/>
                <a:cs typeface="Microsoft YaHei"/>
              </a:rPr>
              <a:t>两阶段验证</a:t>
            </a:r>
          </a:p>
        </p:txBody>
      </p:sp>
      <p:sp>
        <p:nvSpPr>
          <p:cNvPr id="24" name="直接连接符 23">
            <a:extLst>
              <a:ext uri="{FF2B5EF4-FFF2-40B4-BE49-F238E27FC236}">
                <a16:creationId xmlns:a16="http://schemas.microsoft.com/office/drawing/2014/main" id="{ACE3E03A-8122-4926-BC17-8360049C0BF1}"/>
              </a:ext>
            </a:extLst>
          </p:cNvPr>
          <p:cNvSpPr>
            <a:spLocks noGrp="1"/>
          </p:cNvSpPr>
          <p:nvPr/>
        </p:nvSpPr>
        <p:spPr>
          <a:xfrm>
            <a:off x="7200900" y="2619375"/>
            <a:ext cx="4333875" cy="0"/>
          </a:xfrm>
          <a:prstGeom prst="line">
            <a:avLst/>
          </a:prstGeom>
          <a:noFill/>
          <a:ln w="9525">
            <a:solidFill>
              <a:srgbClr val="D7DDE5"/>
            </a:solidFill>
            <a:prstDash val="solid"/>
          </a:ln>
        </p:spPr>
      </p:sp>
      <p:sp>
        <p:nvSpPr>
          <p:cNvPr id="25" name="矩形 24">
            <a:extLst>
              <a:ext uri="{FF2B5EF4-FFF2-40B4-BE49-F238E27FC236}">
                <a16:creationId xmlns:a16="http://schemas.microsoft.com/office/drawing/2014/main" id="{4FB3FDEB-B7EF-4A90-91D7-4100FA309B2F}"/>
              </a:ext>
            </a:extLst>
          </p:cNvPr>
          <p:cNvSpPr>
            <a:spLocks noGrp="1"/>
          </p:cNvSpPr>
          <p:nvPr/>
        </p:nvSpPr>
        <p:spPr>
          <a:xfrm>
            <a:off x="7200900" y="1952625"/>
            <a:ext cx="1428750" cy="266700"/>
          </a:xfrm>
          <a:prstGeom prst="rect">
            <a:avLst/>
          </a:prstGeom>
          <a:noFill/>
          <a:ln w="0">
            <a:noFill/>
            <a:prstDash val="solid"/>
          </a:ln>
        </p:spPr>
        <p:txBody>
          <a:bodyPr wrap="none" lIns="0" tIns="0" rIns="0" bIns="0" anchor="t">
            <a:normAutofit/>
          </a:bodyPr>
          <a:lstStyle/>
          <a:p>
            <a:pPr algn="l">
              <a:lnSpc>
                <a:spcPct val="102000"/>
              </a:lnSpc>
              <a:buNone/>
              <a:defRPr sz="1425" b="1">
                <a:solidFill>
                  <a:srgbClr val="17365D"/>
                </a:solidFill>
                <a:latin typeface="Arial"/>
                <a:ea typeface="Arial"/>
                <a:cs typeface="Arial"/>
              </a:defRPr>
            </a:pPr>
            <a:r>
              <a:rPr sz="1425" b="1">
                <a:solidFill>
                  <a:srgbClr val="17365D"/>
                </a:solidFill>
                <a:latin typeface="Arial"/>
                <a:ea typeface="Arial"/>
                <a:cs typeface="Arial"/>
              </a:rPr>
              <a:t>Stage 1</a:t>
            </a:r>
          </a:p>
        </p:txBody>
      </p:sp>
      <p:sp>
        <p:nvSpPr>
          <p:cNvPr id="26" name="矩形 25">
            <a:extLst>
              <a:ext uri="{FF2B5EF4-FFF2-40B4-BE49-F238E27FC236}">
                <a16:creationId xmlns:a16="http://schemas.microsoft.com/office/drawing/2014/main" id="{C204BCDF-53F2-4F7D-BAAE-A92B40840B90}"/>
              </a:ext>
            </a:extLst>
          </p:cNvPr>
          <p:cNvSpPr>
            <a:spLocks noGrp="1"/>
          </p:cNvSpPr>
          <p:nvPr/>
        </p:nvSpPr>
        <p:spPr>
          <a:xfrm>
            <a:off x="8677275" y="1952625"/>
            <a:ext cx="2857500" cy="638175"/>
          </a:xfrm>
          <a:prstGeom prst="rect">
            <a:avLst/>
          </a:prstGeom>
          <a:noFill/>
          <a:ln w="0">
            <a:noFill/>
            <a:prstDash val="solid"/>
          </a:ln>
        </p:spPr>
        <p:txBody>
          <a:bodyPr wrap="square" lIns="0" tIns="0" rIns="0" bIns="0" anchor="t">
            <a:normAutofit lnSpcReduction="10000"/>
          </a:bodyPr>
          <a:lstStyle/>
          <a:p>
            <a:pPr algn="l">
              <a:lnSpc>
                <a:spcPct val="102000"/>
              </a:lnSpc>
              <a:buNone/>
              <a:defRPr sz="1500" b="0">
                <a:solidFill>
                  <a:srgbClr val="111111"/>
                </a:solidFill>
                <a:latin typeface="Microsoft YaHei"/>
                <a:ea typeface="Microsoft YaHei"/>
                <a:cs typeface="Microsoft YaHei"/>
              </a:defRPr>
            </a:pPr>
            <a:r>
              <a:rPr sz="1500" b="0">
                <a:solidFill>
                  <a:srgbClr val="111111"/>
                </a:solidFill>
                <a:latin typeface="Microsoft YaHei"/>
                <a:ea typeface="Microsoft YaHei"/>
                <a:cs typeface="Microsoft YaHei"/>
              </a:rPr>
              <a:t>访谈中的中期反馈 + I=12/I=14 的跨国实例化，用于修订 taxonomy。</a:t>
            </a:r>
          </a:p>
        </p:txBody>
      </p:sp>
      <p:sp>
        <p:nvSpPr>
          <p:cNvPr id="27" name="直接连接符 26">
            <a:extLst>
              <a:ext uri="{FF2B5EF4-FFF2-40B4-BE49-F238E27FC236}">
                <a16:creationId xmlns:a16="http://schemas.microsoft.com/office/drawing/2014/main" id="{212A86CF-02AF-43EF-ABB7-656700426AA8}"/>
              </a:ext>
            </a:extLst>
          </p:cNvPr>
          <p:cNvSpPr>
            <a:spLocks noGrp="1"/>
          </p:cNvSpPr>
          <p:nvPr/>
        </p:nvSpPr>
        <p:spPr>
          <a:xfrm>
            <a:off x="7200900" y="3457575"/>
            <a:ext cx="4333875" cy="0"/>
          </a:xfrm>
          <a:prstGeom prst="line">
            <a:avLst/>
          </a:prstGeom>
          <a:noFill/>
          <a:ln w="9525">
            <a:solidFill>
              <a:srgbClr val="D7DDE5"/>
            </a:solidFill>
            <a:prstDash val="solid"/>
          </a:ln>
        </p:spPr>
      </p:sp>
      <p:sp>
        <p:nvSpPr>
          <p:cNvPr id="28" name="矩形 27">
            <a:extLst>
              <a:ext uri="{FF2B5EF4-FFF2-40B4-BE49-F238E27FC236}">
                <a16:creationId xmlns:a16="http://schemas.microsoft.com/office/drawing/2014/main" id="{3058386F-3561-4707-B086-4A62F3E6B463}"/>
              </a:ext>
            </a:extLst>
          </p:cNvPr>
          <p:cNvSpPr>
            <a:spLocks noGrp="1"/>
          </p:cNvSpPr>
          <p:nvPr/>
        </p:nvSpPr>
        <p:spPr>
          <a:xfrm>
            <a:off x="7200900" y="2714625"/>
            <a:ext cx="1428750" cy="266700"/>
          </a:xfrm>
          <a:prstGeom prst="rect">
            <a:avLst/>
          </a:prstGeom>
          <a:noFill/>
          <a:ln w="0">
            <a:noFill/>
            <a:prstDash val="solid"/>
          </a:ln>
        </p:spPr>
        <p:txBody>
          <a:bodyPr wrap="none" lIns="0" tIns="0" rIns="0" bIns="0" anchor="t">
            <a:normAutofit/>
          </a:bodyPr>
          <a:lstStyle/>
          <a:p>
            <a:pPr algn="l">
              <a:lnSpc>
                <a:spcPct val="102000"/>
              </a:lnSpc>
              <a:buNone/>
              <a:defRPr sz="1425" b="1">
                <a:solidFill>
                  <a:srgbClr val="8B1E2D"/>
                </a:solidFill>
                <a:latin typeface="Arial"/>
                <a:ea typeface="Arial"/>
                <a:cs typeface="Arial"/>
              </a:defRPr>
            </a:pPr>
            <a:r>
              <a:rPr sz="1425" b="1">
                <a:solidFill>
                  <a:srgbClr val="8B1E2D"/>
                </a:solidFill>
                <a:latin typeface="Arial"/>
                <a:ea typeface="Arial"/>
                <a:cs typeface="Arial"/>
              </a:rPr>
              <a:t>Stage 2</a:t>
            </a:r>
          </a:p>
        </p:txBody>
      </p:sp>
      <p:sp>
        <p:nvSpPr>
          <p:cNvPr id="29" name="矩形 28">
            <a:extLst>
              <a:ext uri="{FF2B5EF4-FFF2-40B4-BE49-F238E27FC236}">
                <a16:creationId xmlns:a16="http://schemas.microsoft.com/office/drawing/2014/main" id="{2BA83B53-2AB6-41D4-A9F1-C2998DFA14C4}"/>
              </a:ext>
            </a:extLst>
          </p:cNvPr>
          <p:cNvSpPr>
            <a:spLocks noGrp="1"/>
          </p:cNvSpPr>
          <p:nvPr/>
        </p:nvSpPr>
        <p:spPr>
          <a:xfrm>
            <a:off x="8677275" y="2714625"/>
            <a:ext cx="2857500" cy="714375"/>
          </a:xfrm>
          <a:prstGeom prst="rect">
            <a:avLst/>
          </a:prstGeom>
          <a:noFill/>
          <a:ln w="0">
            <a:noFill/>
            <a:prstDash val="solid"/>
          </a:ln>
        </p:spPr>
        <p:txBody>
          <a:bodyPr wrap="square" lIns="0" tIns="0" rIns="0" bIns="0" anchor="t">
            <a:normAutofit/>
          </a:bodyPr>
          <a:lstStyle/>
          <a:p>
            <a:pPr algn="l">
              <a:lnSpc>
                <a:spcPct val="102000"/>
              </a:lnSpc>
              <a:buNone/>
              <a:defRPr sz="1500" b="0">
                <a:solidFill>
                  <a:srgbClr val="111111"/>
                </a:solidFill>
                <a:latin typeface="Microsoft YaHei"/>
                <a:ea typeface="Microsoft YaHei"/>
                <a:cs typeface="Microsoft YaHei"/>
              </a:defRPr>
            </a:pPr>
            <a:r>
              <a:rPr sz="1500" b="0">
                <a:solidFill>
                  <a:srgbClr val="111111"/>
                </a:solidFill>
                <a:latin typeface="Microsoft YaHei"/>
                <a:ea typeface="Microsoft YaHei"/>
                <a:cs typeface="Microsoft YaHei"/>
              </a:rPr>
              <a:t>I=16 后以开放问题评价完整性、易用性、简洁性、现实忠实度、一致性与鲁棒性。</a:t>
            </a:r>
          </a:p>
        </p:txBody>
      </p:sp>
      <p:sp>
        <p:nvSpPr>
          <p:cNvPr id="30" name="矩形 29">
            <a:extLst>
              <a:ext uri="{FF2B5EF4-FFF2-40B4-BE49-F238E27FC236}">
                <a16:creationId xmlns:a16="http://schemas.microsoft.com/office/drawing/2014/main" id="{84DCD50B-E48C-47D0-8961-A38DD77D80C0}"/>
              </a:ext>
            </a:extLst>
          </p:cNvPr>
          <p:cNvSpPr>
            <a:spLocks noGrp="1"/>
          </p:cNvSpPr>
          <p:nvPr/>
        </p:nvSpPr>
        <p:spPr>
          <a:xfrm>
            <a:off x="7200900" y="3676650"/>
            <a:ext cx="4333875" cy="266700"/>
          </a:xfrm>
          <a:prstGeom prst="rect">
            <a:avLst/>
          </a:prstGeom>
          <a:noFill/>
          <a:ln w="0">
            <a:noFill/>
            <a:prstDash val="solid"/>
          </a:ln>
        </p:spPr>
        <p:txBody>
          <a:bodyPr wrap="none" lIns="0" tIns="0" rIns="0" bIns="0" anchor="t">
            <a:normAutofit fontScale="95316"/>
          </a:bodyPr>
          <a:lstStyle/>
          <a:p>
            <a:pPr algn="l">
              <a:lnSpc>
                <a:spcPct val="102000"/>
              </a:lnSpc>
              <a:buNone/>
              <a:defRPr sz="1800" b="1">
                <a:solidFill>
                  <a:srgbClr val="111111"/>
                </a:solidFill>
                <a:latin typeface="Microsoft YaHei"/>
                <a:ea typeface="Microsoft YaHei"/>
                <a:cs typeface="Microsoft YaHei"/>
              </a:defRPr>
            </a:pPr>
            <a:r>
              <a:rPr sz="1800" b="1">
                <a:solidFill>
                  <a:srgbClr val="111111"/>
                </a:solidFill>
                <a:latin typeface="Microsoft YaHei"/>
                <a:ea typeface="Microsoft YaHei"/>
                <a:cs typeface="Microsoft YaHei"/>
              </a:rPr>
              <a:t>现实对象覆盖</a:t>
            </a:r>
          </a:p>
        </p:txBody>
      </p:sp>
      <p:sp>
        <p:nvSpPr>
          <p:cNvPr id="31" name="矩形 30">
            <a:extLst>
              <a:ext uri="{FF2B5EF4-FFF2-40B4-BE49-F238E27FC236}">
                <a16:creationId xmlns:a16="http://schemas.microsoft.com/office/drawing/2014/main" id="{16FE40D4-CFA2-40C1-B27D-6961FACD0C0E}"/>
              </a:ext>
            </a:extLst>
          </p:cNvPr>
          <p:cNvSpPr>
            <a:spLocks noGrp="1"/>
          </p:cNvSpPr>
          <p:nvPr/>
        </p:nvSpPr>
        <p:spPr>
          <a:xfrm>
            <a:off x="7334250" y="4048125"/>
            <a:ext cx="4095750" cy="1257300"/>
          </a:xfrm>
          <a:prstGeom prst="rect">
            <a:avLst/>
          </a:prstGeom>
          <a:noFill/>
          <a:ln w="0">
            <a:noFill/>
            <a:prstDash val="solid"/>
          </a:ln>
        </p:spPr>
        <p:txBody>
          <a:bodyPr wrap="square" lIns="0" tIns="0" rIns="0" bIns="0" anchor="t">
            <a:normAutofit/>
          </a:bodyPr>
          <a:lstStyle/>
          <a:p>
            <a:pPr algn="l">
              <a:lnSpc>
                <a:spcPct val="102000"/>
              </a:lnSpc>
              <a:buNone/>
              <a:defRPr sz="1425" b="0">
                <a:solidFill>
                  <a:srgbClr val="4B5563"/>
                </a:solidFill>
                <a:latin typeface="Microsoft YaHei"/>
                <a:ea typeface="Microsoft YaHei"/>
                <a:cs typeface="Microsoft YaHei"/>
              </a:defRPr>
            </a:pPr>
            <a:r>
              <a:rPr sz="1425" b="0">
                <a:solidFill>
                  <a:srgbClr val="4B5563"/>
                </a:solidFill>
                <a:latin typeface="Microsoft YaHei"/>
                <a:ea typeface="Microsoft YaHei"/>
                <a:cs typeface="Microsoft YaHei"/>
              </a:rPr>
              <a:t>• 完整实例：Piclo / Electricity North West
• 附加实例：Flexible Power / NGED（UK）
• GOPACS / Enexis（Netherlands）
• OMIE（Spain）
• 28 位专家均为正面评价，3 位提出小修改</a:t>
            </a:r>
          </a:p>
        </p:txBody>
      </p:sp>
      <p:pic>
        <p:nvPicPr>
          <p:cNvPr id="6" name="图片 5">
            <a:extLst>
              <a:ext uri="{FF2B5EF4-FFF2-40B4-BE49-F238E27FC236}">
                <a16:creationId xmlns:a16="http://schemas.microsoft.com/office/drawing/2014/main" id="{60E000C9-F8B4-478E-A0D1-98D77BF094C1}"/>
              </a:ext>
            </a:extLst>
          </p:cNvPr>
          <p:cNvPicPr>
            <a:picLocks noChangeAspect="1"/>
          </p:cNvPicPr>
          <p:nvPr/>
        </p:nvPicPr>
        <p:blipFill>
          <a:blip r:embed="rId5"/>
          <a:stretch>
            <a:fillRect/>
          </a:stretch>
        </p:blipFill>
        <p:spPr>
          <a:xfrm>
            <a:off x="221609" y="1324116"/>
            <a:ext cx="11653520" cy="5418166"/>
          </a:xfrm>
          <a:prstGeom prst="rect">
            <a:avLst/>
          </a:prstGeom>
        </p:spPr>
      </p:pic>
    </p:spTree>
    <p:custDataLst>
      <p:tags r:id="rId1"/>
    </p:custDataLst>
    <p:extLst>
      <p:ext uri="{BB962C8B-B14F-4D97-AF65-F5344CB8AC3E}">
        <p14:creationId xmlns:p14="http://schemas.microsoft.com/office/powerpoint/2010/main" val="2971097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14885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2.1 Review</a:t>
            </a:r>
            <a:r>
              <a:rPr lang="zh-CN" altLang="en-US" sz="2800" spc="0">
                <a:solidFill>
                  <a:schemeClr val="tx1"/>
                </a:solidFill>
                <a:effectLst/>
                <a:sym typeface="微软雅黑" panose="020B0503020204020204" pitchFamily="34" charset="-122"/>
              </a:rPr>
              <a:t>中的市场规则分层设计框架</a:t>
            </a:r>
          </a:p>
        </p:txBody>
      </p:sp>
      <p:grpSp>
        <p:nvGrpSpPr>
          <p:cNvPr id="83" name="组合 82">
            <a:extLst>
              <a:ext uri="{FF2B5EF4-FFF2-40B4-BE49-F238E27FC236}">
                <a16:creationId xmlns:a16="http://schemas.microsoft.com/office/drawing/2014/main" id="{935A8463-3490-4A4C-9FBE-C504EB783A9E}"/>
              </a:ext>
            </a:extLst>
          </p:cNvPr>
          <p:cNvGrpSpPr/>
          <p:nvPr/>
        </p:nvGrpSpPr>
        <p:grpSpPr>
          <a:xfrm>
            <a:off x="308924" y="734752"/>
            <a:ext cx="11574151" cy="522605"/>
            <a:chOff x="308924" y="734752"/>
            <a:chExt cx="11574151" cy="522605"/>
          </a:xfrm>
        </p:grpSpPr>
        <p:sp>
          <p:nvSpPr>
            <p:cNvPr id="84" name="矩形 22">
              <a:extLst>
                <a:ext uri="{FF2B5EF4-FFF2-40B4-BE49-F238E27FC236}">
                  <a16:creationId xmlns:a16="http://schemas.microsoft.com/office/drawing/2014/main" id="{8ACE45B6-93A6-4AE3-8868-C769AFD68E32}"/>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85" name="文本框 84">
              <a:extLst>
                <a:ext uri="{FF2B5EF4-FFF2-40B4-BE49-F238E27FC236}">
                  <a16:creationId xmlns:a16="http://schemas.microsoft.com/office/drawing/2014/main" id="{3EE57984-FF8B-4D82-A0D1-4E149A2F6C71}"/>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2022 ICEEM, OFFIS</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：用形态表把分类维度转成可选择的备选设计空间，再进行跨维度校验</a:t>
              </a:r>
              <a:endParaRPr sz="22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sp>
        <p:nvSpPr>
          <p:cNvPr id="6" name="Subtitle_2">
            <a:extLst>
              <a:ext uri="{FF2B5EF4-FFF2-40B4-BE49-F238E27FC236}">
                <a16:creationId xmlns:a16="http://schemas.microsoft.com/office/drawing/2014/main" id="{172DD32B-7A86-4B90-96C8-C2DEA623C972}"/>
              </a:ext>
            </a:extLst>
          </p:cNvPr>
          <p:cNvSpPr>
            <a:spLocks noGrp="1"/>
          </p:cNvSpPr>
          <p:nvPr/>
        </p:nvSpPr>
        <p:spPr>
          <a:xfrm>
            <a:off x="308924" y="1388918"/>
            <a:ext cx="11096625" cy="285750"/>
          </a:xfrm>
          <a:prstGeom prst="rect">
            <a:avLst/>
          </a:prstGeom>
          <a:noFill/>
          <a:ln w="0">
            <a:noFill/>
            <a:prstDash val="solid"/>
          </a:ln>
        </p:spPr>
        <p:txBody>
          <a:bodyPr wrap="none" lIns="0" tIns="0" rIns="0" bIns="0" anchor="t">
            <a:normAutofit/>
          </a:bodyPr>
          <a:lstStyle/>
          <a:p>
            <a:pPr algn="l">
              <a:buNone/>
              <a:defRPr sz="1275" b="0">
                <a:solidFill>
                  <a:srgbClr val="5F6B7A"/>
                </a:solidFill>
                <a:latin typeface="Microsoft YaHei"/>
                <a:ea typeface="Microsoft YaHei"/>
                <a:cs typeface="Microsoft YaHei"/>
              </a:defRPr>
            </a:pPr>
            <a:r>
              <a:rPr sz="1400" b="1">
                <a:solidFill>
                  <a:srgbClr val="5F6B7A"/>
                </a:solidFill>
                <a:latin typeface="Microsoft YaHei"/>
                <a:ea typeface="Microsoft YaHei"/>
                <a:cs typeface="Microsoft YaHei"/>
              </a:rPr>
              <a:t>General Morphological Analysis 先列出全部选项，再用 Cross-Consistency Assessment 排除逻辑冲突组合。</a:t>
            </a:r>
          </a:p>
        </p:txBody>
      </p:sp>
      <p:pic>
        <p:nvPicPr>
          <p:cNvPr id="2" name="图片 1">
            <a:extLst>
              <a:ext uri="{FF2B5EF4-FFF2-40B4-BE49-F238E27FC236}">
                <a16:creationId xmlns:a16="http://schemas.microsoft.com/office/drawing/2014/main" id="{AB768B90-BE2F-452A-BB36-565F38BE828B}"/>
              </a:ext>
            </a:extLst>
          </p:cNvPr>
          <p:cNvPicPr>
            <a:picLocks noChangeAspect="1"/>
          </p:cNvPicPr>
          <p:nvPr/>
        </p:nvPicPr>
        <p:blipFill>
          <a:blip r:embed="rId4"/>
          <a:stretch>
            <a:fillRect/>
          </a:stretch>
        </p:blipFill>
        <p:spPr>
          <a:xfrm>
            <a:off x="0" y="1695190"/>
            <a:ext cx="3987717" cy="3421841"/>
          </a:xfrm>
          <a:prstGeom prst="rect">
            <a:avLst/>
          </a:prstGeom>
        </p:spPr>
      </p:pic>
      <p:pic>
        <p:nvPicPr>
          <p:cNvPr id="3" name="图片 2">
            <a:extLst>
              <a:ext uri="{FF2B5EF4-FFF2-40B4-BE49-F238E27FC236}">
                <a16:creationId xmlns:a16="http://schemas.microsoft.com/office/drawing/2014/main" id="{C90D061E-3C21-4381-AC34-257ED56F90CF}"/>
              </a:ext>
            </a:extLst>
          </p:cNvPr>
          <p:cNvPicPr>
            <a:picLocks noChangeAspect="1"/>
          </p:cNvPicPr>
          <p:nvPr/>
        </p:nvPicPr>
        <p:blipFill>
          <a:blip r:embed="rId5"/>
          <a:stretch>
            <a:fillRect/>
          </a:stretch>
        </p:blipFill>
        <p:spPr>
          <a:xfrm>
            <a:off x="4159167" y="1990835"/>
            <a:ext cx="2934915" cy="3068677"/>
          </a:xfrm>
          <a:prstGeom prst="rect">
            <a:avLst/>
          </a:prstGeom>
        </p:spPr>
      </p:pic>
      <p:sp>
        <p:nvSpPr>
          <p:cNvPr id="59" name="直接连接符 58">
            <a:extLst>
              <a:ext uri="{FF2B5EF4-FFF2-40B4-BE49-F238E27FC236}">
                <a16:creationId xmlns:a16="http://schemas.microsoft.com/office/drawing/2014/main" id="{90123E9A-3C38-4465-A139-98C9DFB92CD8}"/>
              </a:ext>
            </a:extLst>
          </p:cNvPr>
          <p:cNvSpPr>
            <a:spLocks noGrp="1"/>
          </p:cNvSpPr>
          <p:nvPr/>
        </p:nvSpPr>
        <p:spPr>
          <a:xfrm>
            <a:off x="6189024" y="2953674"/>
            <a:ext cx="5476875" cy="0"/>
          </a:xfrm>
          <a:prstGeom prst="line">
            <a:avLst/>
          </a:prstGeom>
          <a:noFill/>
          <a:ln w="9525">
            <a:solidFill>
              <a:srgbClr val="D7DDE5"/>
            </a:solidFill>
            <a:prstDash val="solid"/>
          </a:ln>
        </p:spPr>
      </p:sp>
      <p:sp>
        <p:nvSpPr>
          <p:cNvPr id="60" name="矩形 59">
            <a:extLst>
              <a:ext uri="{FF2B5EF4-FFF2-40B4-BE49-F238E27FC236}">
                <a16:creationId xmlns:a16="http://schemas.microsoft.com/office/drawing/2014/main" id="{B00A5E53-AC02-4793-ABE8-D0B029C84D42}"/>
              </a:ext>
            </a:extLst>
          </p:cNvPr>
          <p:cNvSpPr>
            <a:spLocks noGrp="1"/>
          </p:cNvSpPr>
          <p:nvPr/>
        </p:nvSpPr>
        <p:spPr>
          <a:xfrm>
            <a:off x="7665399" y="1936693"/>
            <a:ext cx="1428750" cy="266700"/>
          </a:xfrm>
          <a:prstGeom prst="rect">
            <a:avLst/>
          </a:prstGeom>
          <a:noFill/>
          <a:ln w="0">
            <a:noFill/>
            <a:prstDash val="solid"/>
          </a:ln>
        </p:spPr>
        <p:txBody>
          <a:bodyPr wrap="none" lIns="0" tIns="0" rIns="0" bIns="0" anchor="t">
            <a:normAutofit/>
          </a:bodyPr>
          <a:lstStyle/>
          <a:p>
            <a:pPr algn="l">
              <a:lnSpc>
                <a:spcPct val="102000"/>
              </a:lnSpc>
              <a:buNone/>
              <a:defRPr sz="1425" b="1">
                <a:solidFill>
                  <a:srgbClr val="17365D"/>
                </a:solidFill>
                <a:latin typeface="Arial"/>
                <a:ea typeface="Arial"/>
                <a:cs typeface="Arial"/>
              </a:defRPr>
            </a:pPr>
            <a:r>
              <a:rPr sz="1425" b="1">
                <a:solidFill>
                  <a:srgbClr val="17365D"/>
                </a:solidFill>
                <a:latin typeface="Arial"/>
                <a:ea typeface="Arial"/>
                <a:cs typeface="Arial"/>
              </a:rPr>
              <a:t>Layer 1</a:t>
            </a:r>
          </a:p>
        </p:txBody>
      </p:sp>
      <p:sp>
        <p:nvSpPr>
          <p:cNvPr id="61" name="矩形 60">
            <a:extLst>
              <a:ext uri="{FF2B5EF4-FFF2-40B4-BE49-F238E27FC236}">
                <a16:creationId xmlns:a16="http://schemas.microsoft.com/office/drawing/2014/main" id="{8B55B3E6-F523-4A78-9AB1-AA296D70AB74}"/>
              </a:ext>
            </a:extLst>
          </p:cNvPr>
          <p:cNvSpPr>
            <a:spLocks noGrp="1"/>
          </p:cNvSpPr>
          <p:nvPr/>
        </p:nvSpPr>
        <p:spPr>
          <a:xfrm>
            <a:off x="7665399" y="2210724"/>
            <a:ext cx="4000500" cy="714375"/>
          </a:xfrm>
          <a:prstGeom prst="rect">
            <a:avLst/>
          </a:prstGeom>
          <a:noFill/>
          <a:ln w="0">
            <a:noFill/>
            <a:prstDash val="solid"/>
          </a:ln>
        </p:spPr>
        <p:txBody>
          <a:bodyPr wrap="square" lIns="0" tIns="0" rIns="0" bIns="0" anchor="t">
            <a:normAutofit/>
          </a:bodyPr>
          <a:lstStyle/>
          <a:p>
            <a:pPr algn="l">
              <a:lnSpc>
                <a:spcPct val="102000"/>
              </a:lnSpc>
              <a:buNone/>
              <a:defRPr sz="1500" b="0">
                <a:solidFill>
                  <a:srgbClr val="111111"/>
                </a:solidFill>
                <a:latin typeface="Microsoft YaHei"/>
                <a:ea typeface="Microsoft YaHei"/>
                <a:cs typeface="Microsoft YaHei"/>
              </a:defRPr>
            </a:pPr>
            <a:r>
              <a:rPr sz="1500" b="0">
                <a:solidFill>
                  <a:srgbClr val="111111"/>
                </a:solidFill>
                <a:latin typeface="Microsoft YaHei"/>
                <a:ea typeface="Microsoft YaHei"/>
                <a:cs typeface="Microsoft YaHei"/>
              </a:rPr>
              <a:t>7 个类别：竞争程度、市场结构、出清机制、价格形成、定价机制、产品、时间尺度；共 3,840 个简单组合。</a:t>
            </a:r>
          </a:p>
        </p:txBody>
      </p:sp>
      <p:sp>
        <p:nvSpPr>
          <p:cNvPr id="62" name="直接连接符 61">
            <a:extLst>
              <a:ext uri="{FF2B5EF4-FFF2-40B4-BE49-F238E27FC236}">
                <a16:creationId xmlns:a16="http://schemas.microsoft.com/office/drawing/2014/main" id="{C7412846-EBC7-4E41-995D-7F0704835063}"/>
              </a:ext>
            </a:extLst>
          </p:cNvPr>
          <p:cNvSpPr>
            <a:spLocks noGrp="1"/>
          </p:cNvSpPr>
          <p:nvPr/>
        </p:nvSpPr>
        <p:spPr>
          <a:xfrm>
            <a:off x="6189024" y="3791874"/>
            <a:ext cx="5476875" cy="0"/>
          </a:xfrm>
          <a:prstGeom prst="line">
            <a:avLst/>
          </a:prstGeom>
          <a:noFill/>
          <a:ln w="9525">
            <a:solidFill>
              <a:srgbClr val="D7DDE5"/>
            </a:solidFill>
            <a:prstDash val="solid"/>
          </a:ln>
        </p:spPr>
      </p:sp>
      <p:sp>
        <p:nvSpPr>
          <p:cNvPr id="63" name="矩形 62">
            <a:extLst>
              <a:ext uri="{FF2B5EF4-FFF2-40B4-BE49-F238E27FC236}">
                <a16:creationId xmlns:a16="http://schemas.microsoft.com/office/drawing/2014/main" id="{1CC745AF-8611-4707-BE3E-58C9D5B9A94D}"/>
              </a:ext>
            </a:extLst>
          </p:cNvPr>
          <p:cNvSpPr>
            <a:spLocks noGrp="1"/>
          </p:cNvSpPr>
          <p:nvPr/>
        </p:nvSpPr>
        <p:spPr>
          <a:xfrm>
            <a:off x="7665399" y="3037160"/>
            <a:ext cx="1428750" cy="266700"/>
          </a:xfrm>
          <a:prstGeom prst="rect">
            <a:avLst/>
          </a:prstGeom>
          <a:noFill/>
          <a:ln w="0">
            <a:noFill/>
            <a:prstDash val="solid"/>
          </a:ln>
        </p:spPr>
        <p:txBody>
          <a:bodyPr wrap="none" lIns="0" tIns="0" rIns="0" bIns="0" anchor="t">
            <a:normAutofit/>
          </a:bodyPr>
          <a:lstStyle/>
          <a:p>
            <a:pPr algn="l">
              <a:lnSpc>
                <a:spcPct val="102000"/>
              </a:lnSpc>
              <a:buNone/>
              <a:defRPr sz="1425" b="1">
                <a:solidFill>
                  <a:srgbClr val="8B1E2D"/>
                </a:solidFill>
                <a:latin typeface="Arial"/>
                <a:ea typeface="Arial"/>
                <a:cs typeface="Arial"/>
              </a:defRPr>
            </a:pPr>
            <a:r>
              <a:rPr sz="1425" b="1">
                <a:solidFill>
                  <a:srgbClr val="8B1E2D"/>
                </a:solidFill>
                <a:latin typeface="Arial"/>
                <a:ea typeface="Arial"/>
                <a:cs typeface="Arial"/>
              </a:rPr>
              <a:t>Layer 2</a:t>
            </a:r>
          </a:p>
        </p:txBody>
      </p:sp>
      <p:sp>
        <p:nvSpPr>
          <p:cNvPr id="64" name="矩形 63">
            <a:extLst>
              <a:ext uri="{FF2B5EF4-FFF2-40B4-BE49-F238E27FC236}">
                <a16:creationId xmlns:a16="http://schemas.microsoft.com/office/drawing/2014/main" id="{EA352162-40F0-4C7C-8B16-976405940AAD}"/>
              </a:ext>
            </a:extLst>
          </p:cNvPr>
          <p:cNvSpPr>
            <a:spLocks noGrp="1"/>
          </p:cNvSpPr>
          <p:nvPr/>
        </p:nvSpPr>
        <p:spPr>
          <a:xfrm>
            <a:off x="7665399" y="3311191"/>
            <a:ext cx="4000500" cy="714375"/>
          </a:xfrm>
          <a:prstGeom prst="rect">
            <a:avLst/>
          </a:prstGeom>
          <a:noFill/>
          <a:ln w="0">
            <a:noFill/>
            <a:prstDash val="solid"/>
          </a:ln>
        </p:spPr>
        <p:txBody>
          <a:bodyPr wrap="square" lIns="0" tIns="0" rIns="0" bIns="0" anchor="t">
            <a:normAutofit/>
          </a:bodyPr>
          <a:lstStyle/>
          <a:p>
            <a:pPr algn="l">
              <a:lnSpc>
                <a:spcPct val="102000"/>
              </a:lnSpc>
              <a:buNone/>
              <a:defRPr sz="1500" b="0">
                <a:solidFill>
                  <a:srgbClr val="111111"/>
                </a:solidFill>
                <a:latin typeface="Microsoft YaHei"/>
                <a:ea typeface="Microsoft YaHei"/>
                <a:cs typeface="Microsoft YaHei"/>
              </a:defRPr>
            </a:pPr>
            <a:r>
              <a:rPr sz="1500" b="0">
                <a:solidFill>
                  <a:srgbClr val="111111"/>
                </a:solidFill>
                <a:latin typeface="Microsoft YaHei"/>
                <a:ea typeface="Microsoft YaHei"/>
                <a:cs typeface="Microsoft YaHei"/>
              </a:rPr>
              <a:t>2 个类别：容量补偿机制与辅助服务/灵活性；共 49 个简单组合，用于表示“拟引入的新规则”。</a:t>
            </a:r>
          </a:p>
        </p:txBody>
      </p:sp>
      <p:sp>
        <p:nvSpPr>
          <p:cNvPr id="65" name="直接连接符 64">
            <a:extLst>
              <a:ext uri="{FF2B5EF4-FFF2-40B4-BE49-F238E27FC236}">
                <a16:creationId xmlns:a16="http://schemas.microsoft.com/office/drawing/2014/main" id="{553A6C63-33AF-4B1D-A630-B297AB121634}"/>
              </a:ext>
            </a:extLst>
          </p:cNvPr>
          <p:cNvSpPr>
            <a:spLocks noGrp="1"/>
          </p:cNvSpPr>
          <p:nvPr/>
        </p:nvSpPr>
        <p:spPr>
          <a:xfrm>
            <a:off x="6189024" y="4601499"/>
            <a:ext cx="5476875" cy="0"/>
          </a:xfrm>
          <a:prstGeom prst="line">
            <a:avLst/>
          </a:prstGeom>
          <a:noFill/>
          <a:ln w="9525">
            <a:solidFill>
              <a:srgbClr val="D7DDE5"/>
            </a:solidFill>
            <a:prstDash val="solid"/>
          </a:ln>
        </p:spPr>
      </p:sp>
      <p:sp>
        <p:nvSpPr>
          <p:cNvPr id="66" name="矩形 65">
            <a:extLst>
              <a:ext uri="{FF2B5EF4-FFF2-40B4-BE49-F238E27FC236}">
                <a16:creationId xmlns:a16="http://schemas.microsoft.com/office/drawing/2014/main" id="{679E7DE2-898F-491B-9A63-2663CF41DD35}"/>
              </a:ext>
            </a:extLst>
          </p:cNvPr>
          <p:cNvSpPr>
            <a:spLocks noGrp="1"/>
          </p:cNvSpPr>
          <p:nvPr/>
        </p:nvSpPr>
        <p:spPr>
          <a:xfrm>
            <a:off x="7665399" y="4137629"/>
            <a:ext cx="1428750" cy="266700"/>
          </a:xfrm>
          <a:prstGeom prst="rect">
            <a:avLst/>
          </a:prstGeom>
          <a:noFill/>
          <a:ln w="0">
            <a:noFill/>
            <a:prstDash val="solid"/>
          </a:ln>
        </p:spPr>
        <p:txBody>
          <a:bodyPr wrap="none" lIns="0" tIns="0" rIns="0" bIns="0" anchor="t">
            <a:normAutofit/>
          </a:bodyPr>
          <a:lstStyle/>
          <a:p>
            <a:pPr algn="l">
              <a:lnSpc>
                <a:spcPct val="102000"/>
              </a:lnSpc>
              <a:buNone/>
              <a:defRPr sz="1425" b="1">
                <a:solidFill>
                  <a:srgbClr val="111111"/>
                </a:solidFill>
                <a:latin typeface="Arial"/>
                <a:ea typeface="Arial"/>
                <a:cs typeface="Arial"/>
              </a:defRPr>
            </a:pPr>
            <a:r>
              <a:rPr sz="1425" b="1">
                <a:solidFill>
                  <a:srgbClr val="111111"/>
                </a:solidFill>
                <a:latin typeface="Arial"/>
                <a:ea typeface="Arial"/>
                <a:cs typeface="Arial"/>
              </a:rPr>
              <a:t>Actor plane</a:t>
            </a:r>
          </a:p>
        </p:txBody>
      </p:sp>
      <p:sp>
        <p:nvSpPr>
          <p:cNvPr id="67" name="矩形 66">
            <a:extLst>
              <a:ext uri="{FF2B5EF4-FFF2-40B4-BE49-F238E27FC236}">
                <a16:creationId xmlns:a16="http://schemas.microsoft.com/office/drawing/2014/main" id="{F6C84247-633F-41F5-8F20-6A73896BE110}"/>
              </a:ext>
            </a:extLst>
          </p:cNvPr>
          <p:cNvSpPr>
            <a:spLocks noGrp="1"/>
          </p:cNvSpPr>
          <p:nvPr/>
        </p:nvSpPr>
        <p:spPr>
          <a:xfrm>
            <a:off x="7665399" y="4411660"/>
            <a:ext cx="4000500" cy="685800"/>
          </a:xfrm>
          <a:prstGeom prst="rect">
            <a:avLst/>
          </a:prstGeom>
          <a:noFill/>
          <a:ln w="0">
            <a:noFill/>
            <a:prstDash val="solid"/>
          </a:ln>
        </p:spPr>
        <p:txBody>
          <a:bodyPr wrap="square" lIns="0" tIns="0" rIns="0" bIns="0" anchor="t">
            <a:normAutofit/>
          </a:bodyPr>
          <a:lstStyle/>
          <a:p>
            <a:pPr algn="l">
              <a:lnSpc>
                <a:spcPct val="102000"/>
              </a:lnSpc>
              <a:buNone/>
              <a:defRPr sz="1500" b="0">
                <a:solidFill>
                  <a:srgbClr val="111111"/>
                </a:solidFill>
                <a:latin typeface="Microsoft YaHei"/>
                <a:ea typeface="Microsoft YaHei"/>
                <a:cs typeface="Microsoft YaHei"/>
              </a:defRPr>
            </a:pPr>
            <a:r>
              <a:rPr sz="1500" b="0">
                <a:solidFill>
                  <a:srgbClr val="111111"/>
                </a:solidFill>
                <a:latin typeface="Microsoft YaHei"/>
                <a:ea typeface="Microsoft YaHei"/>
                <a:cs typeface="Microsoft YaHei"/>
              </a:rPr>
              <a:t>角色平面检查现有参与者是否支持新规则；例如缺少聚合商时，灵活性辅助服务难以落地。</a:t>
            </a:r>
          </a:p>
        </p:txBody>
      </p:sp>
      <p:sp>
        <p:nvSpPr>
          <p:cNvPr id="20" name="直接连接符 19">
            <a:extLst>
              <a:ext uri="{FF2B5EF4-FFF2-40B4-BE49-F238E27FC236}">
                <a16:creationId xmlns:a16="http://schemas.microsoft.com/office/drawing/2014/main" id="{6936DC36-B225-4BC9-84D5-AC6B93494965}"/>
              </a:ext>
            </a:extLst>
          </p:cNvPr>
          <p:cNvSpPr>
            <a:spLocks noGrp="1"/>
          </p:cNvSpPr>
          <p:nvPr/>
        </p:nvSpPr>
        <p:spPr>
          <a:xfrm>
            <a:off x="6334766" y="6798116"/>
            <a:ext cx="4762500" cy="0"/>
          </a:xfrm>
          <a:prstGeom prst="line">
            <a:avLst/>
          </a:prstGeom>
          <a:noFill/>
          <a:ln w="9525">
            <a:solidFill>
              <a:srgbClr val="D7DDE5"/>
            </a:solidFill>
            <a:prstDash val="solid"/>
          </a:ln>
        </p:spPr>
      </p:sp>
      <p:sp>
        <p:nvSpPr>
          <p:cNvPr id="23" name="直接连接符 22">
            <a:extLst>
              <a:ext uri="{FF2B5EF4-FFF2-40B4-BE49-F238E27FC236}">
                <a16:creationId xmlns:a16="http://schemas.microsoft.com/office/drawing/2014/main" id="{C3F6E1B4-2DFC-4517-9F19-0BE8FD32313B}"/>
              </a:ext>
            </a:extLst>
          </p:cNvPr>
          <p:cNvSpPr>
            <a:spLocks noGrp="1"/>
          </p:cNvSpPr>
          <p:nvPr/>
        </p:nvSpPr>
        <p:spPr>
          <a:xfrm>
            <a:off x="6334766" y="7350566"/>
            <a:ext cx="4762500" cy="0"/>
          </a:xfrm>
          <a:prstGeom prst="line">
            <a:avLst/>
          </a:prstGeom>
          <a:noFill/>
          <a:ln w="9525">
            <a:solidFill>
              <a:srgbClr val="D7DDE5"/>
            </a:solidFill>
            <a:prstDash val="solid"/>
          </a:ln>
        </p:spPr>
      </p:sp>
      <p:sp>
        <p:nvSpPr>
          <p:cNvPr id="26" name="直接连接符 25">
            <a:extLst>
              <a:ext uri="{FF2B5EF4-FFF2-40B4-BE49-F238E27FC236}">
                <a16:creationId xmlns:a16="http://schemas.microsoft.com/office/drawing/2014/main" id="{25B50CFC-B64F-478A-8975-65ABB79668DD}"/>
              </a:ext>
            </a:extLst>
          </p:cNvPr>
          <p:cNvSpPr>
            <a:spLocks noGrp="1"/>
          </p:cNvSpPr>
          <p:nvPr/>
        </p:nvSpPr>
        <p:spPr>
          <a:xfrm>
            <a:off x="6334766" y="7903016"/>
            <a:ext cx="4762500" cy="0"/>
          </a:xfrm>
          <a:prstGeom prst="line">
            <a:avLst/>
          </a:prstGeom>
          <a:noFill/>
          <a:ln w="9525">
            <a:solidFill>
              <a:srgbClr val="D7DDE5"/>
            </a:solidFill>
            <a:prstDash val="solid"/>
          </a:ln>
        </p:spPr>
      </p:sp>
      <p:grpSp>
        <p:nvGrpSpPr>
          <p:cNvPr id="9" name="组合 8">
            <a:extLst>
              <a:ext uri="{FF2B5EF4-FFF2-40B4-BE49-F238E27FC236}">
                <a16:creationId xmlns:a16="http://schemas.microsoft.com/office/drawing/2014/main" id="{1D1641BA-E0AE-429F-A6C1-8AC1E4F8EFA5}"/>
              </a:ext>
            </a:extLst>
          </p:cNvPr>
          <p:cNvGrpSpPr/>
          <p:nvPr/>
        </p:nvGrpSpPr>
        <p:grpSpPr>
          <a:xfrm>
            <a:off x="1037280" y="3046432"/>
            <a:ext cx="11031534" cy="3666795"/>
            <a:chOff x="967832" y="3163991"/>
            <a:chExt cx="11031534" cy="3666795"/>
          </a:xfrm>
        </p:grpSpPr>
        <p:pic>
          <p:nvPicPr>
            <p:cNvPr id="7" name="图片 6">
              <a:extLst>
                <a:ext uri="{FF2B5EF4-FFF2-40B4-BE49-F238E27FC236}">
                  <a16:creationId xmlns:a16="http://schemas.microsoft.com/office/drawing/2014/main" id="{4990807A-195F-46FE-87CD-244C8CE844C2}"/>
                </a:ext>
              </a:extLst>
            </p:cNvPr>
            <p:cNvPicPr>
              <a:picLocks noChangeAspect="1"/>
            </p:cNvPicPr>
            <p:nvPr/>
          </p:nvPicPr>
          <p:blipFill>
            <a:blip r:embed="rId6"/>
            <a:stretch>
              <a:fillRect/>
            </a:stretch>
          </p:blipFill>
          <p:spPr>
            <a:xfrm>
              <a:off x="967832" y="3163991"/>
              <a:ext cx="4935534" cy="3666795"/>
            </a:xfrm>
            <a:prstGeom prst="rect">
              <a:avLst/>
            </a:prstGeom>
          </p:spPr>
        </p:pic>
        <p:sp>
          <p:nvSpPr>
            <p:cNvPr id="8" name="矩形 7">
              <a:extLst>
                <a:ext uri="{FF2B5EF4-FFF2-40B4-BE49-F238E27FC236}">
                  <a16:creationId xmlns:a16="http://schemas.microsoft.com/office/drawing/2014/main" id="{0B5D3C58-E72B-47D6-B5B3-60369E82E7D7}"/>
                </a:ext>
              </a:extLst>
            </p:cNvPr>
            <p:cNvSpPr/>
            <p:nvPr/>
          </p:nvSpPr>
          <p:spPr>
            <a:xfrm>
              <a:off x="5903366" y="5587042"/>
              <a:ext cx="6096000" cy="1200329"/>
            </a:xfrm>
            <a:prstGeom prst="rect">
              <a:avLst/>
            </a:prstGeom>
          </p:spPr>
          <p:txBody>
            <a:bodyPr>
              <a:spAutoFit/>
            </a:bodyPr>
            <a:lstStyle/>
            <a:p>
              <a:pPr algn="just"/>
              <a:r>
                <a:rPr lang="zh-CN" altLang="en-US" b="1">
                  <a:solidFill>
                    <a:srgbClr val="4B5563"/>
                  </a:solidFill>
                  <a:latin typeface="Microsoft YaHei"/>
                  <a:ea typeface="Microsoft YaHei"/>
                  <a:cs typeface="Microsoft YaHei"/>
                </a:rPr>
                <a:t>如何得到的？</a:t>
              </a:r>
              <a:r>
                <a:rPr lang="en-US" altLang="zh-CN" b="1">
                  <a:solidFill>
                    <a:srgbClr val="4B5563"/>
                  </a:solidFill>
                  <a:latin typeface="Microsoft YaHei"/>
                  <a:ea typeface="Microsoft YaHei"/>
                  <a:cs typeface="Microsoft YaHei"/>
                </a:rPr>
                <a:t>A</a:t>
              </a:r>
              <a:r>
                <a:rPr lang="zh-CN" altLang="en-US" b="1">
                  <a:solidFill>
                    <a:srgbClr val="4B5563"/>
                  </a:solidFill>
                  <a:latin typeface="Microsoft YaHei"/>
                  <a:ea typeface="Microsoft YaHei"/>
                  <a:cs typeface="Microsoft YaHei"/>
                </a:rPr>
                <a:t>：矩阵在 </a:t>
              </a:r>
              <a:r>
                <a:rPr lang="en-US" altLang="zh-CN" b="1">
                  <a:solidFill>
                    <a:srgbClr val="4B5563"/>
                  </a:solidFill>
                  <a:latin typeface="Microsoft YaHei"/>
                  <a:ea typeface="Microsoft YaHei"/>
                  <a:cs typeface="Microsoft YaHei"/>
                </a:rPr>
                <a:t>Excel </a:t>
              </a:r>
              <a:r>
                <a:rPr lang="zh-CN" altLang="en-US" b="1">
                  <a:solidFill>
                    <a:srgbClr val="4B5563"/>
                  </a:solidFill>
                  <a:latin typeface="Microsoft YaHei"/>
                  <a:ea typeface="Microsoft YaHei"/>
                  <a:cs typeface="Microsoft YaHei"/>
                </a:rPr>
                <a:t>中按文献、法规与专家判断得到</a:t>
              </a:r>
              <a:endParaRPr lang="en-US" altLang="zh-CN" b="1">
                <a:solidFill>
                  <a:srgbClr val="4B5563"/>
                </a:solidFill>
                <a:latin typeface="Microsoft YaHei"/>
                <a:ea typeface="Microsoft YaHei"/>
                <a:cs typeface="Microsoft YaHei"/>
              </a:endParaRPr>
            </a:p>
            <a:p>
              <a:pPr algn="just"/>
              <a:r>
                <a:rPr lang="zh-CN" altLang="en-US" b="1">
                  <a:solidFill>
                    <a:srgbClr val="4B5563"/>
                  </a:solidFill>
                  <a:latin typeface="Microsoft YaHei"/>
                  <a:ea typeface="Microsoft YaHei"/>
                  <a:cs typeface="Microsoft YaHei"/>
                </a:rPr>
                <a:t>两两可行，那三个会不会冲突？</a:t>
              </a:r>
              <a:r>
                <a:rPr lang="en-US" altLang="zh-CN" b="1">
                  <a:solidFill>
                    <a:srgbClr val="4B5563"/>
                  </a:solidFill>
                  <a:latin typeface="Microsoft YaHei"/>
                  <a:ea typeface="Microsoft YaHei"/>
                  <a:cs typeface="Microsoft YaHei"/>
                </a:rPr>
                <a:t>A</a:t>
              </a:r>
              <a:r>
                <a:rPr lang="zh-CN" altLang="en-US" b="1">
                  <a:solidFill>
                    <a:srgbClr val="4B5563"/>
                  </a:solidFill>
                  <a:latin typeface="Microsoft YaHei"/>
                  <a:ea typeface="Microsoft YaHei"/>
                  <a:cs typeface="Microsoft YaHei"/>
                </a:rPr>
                <a:t>：不知道
物理校验？不计算潮流、电压、容量或动态可执行性。</a:t>
              </a:r>
              <a:endParaRPr lang="zh-CN" altLang="en-US" b="1"/>
            </a:p>
          </p:txBody>
        </p:sp>
      </p:grpSp>
    </p:spTree>
    <p:custDataLst>
      <p:tags r:id="rId1"/>
    </p:custDataLst>
    <p:extLst>
      <p:ext uri="{BB962C8B-B14F-4D97-AF65-F5344CB8AC3E}">
        <p14:creationId xmlns:p14="http://schemas.microsoft.com/office/powerpoint/2010/main" val="32706811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14885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2.1 Review</a:t>
            </a:r>
            <a:r>
              <a:rPr lang="zh-CN" altLang="en-US" sz="2800" spc="0">
                <a:solidFill>
                  <a:schemeClr val="tx1"/>
                </a:solidFill>
                <a:effectLst/>
                <a:sym typeface="微软雅黑" panose="020B0503020204020204" pitchFamily="34" charset="-122"/>
              </a:rPr>
              <a:t>中的市场规则分层设计框架</a:t>
            </a:r>
          </a:p>
        </p:txBody>
      </p:sp>
      <p:grpSp>
        <p:nvGrpSpPr>
          <p:cNvPr id="83" name="组合 82">
            <a:extLst>
              <a:ext uri="{FF2B5EF4-FFF2-40B4-BE49-F238E27FC236}">
                <a16:creationId xmlns:a16="http://schemas.microsoft.com/office/drawing/2014/main" id="{935A8463-3490-4A4C-9FBE-C504EB783A9E}"/>
              </a:ext>
            </a:extLst>
          </p:cNvPr>
          <p:cNvGrpSpPr/>
          <p:nvPr/>
        </p:nvGrpSpPr>
        <p:grpSpPr>
          <a:xfrm>
            <a:off x="308924" y="734752"/>
            <a:ext cx="11574151" cy="522605"/>
            <a:chOff x="308924" y="734752"/>
            <a:chExt cx="11574151" cy="522605"/>
          </a:xfrm>
        </p:grpSpPr>
        <p:sp>
          <p:nvSpPr>
            <p:cNvPr id="84" name="矩形 22">
              <a:extLst>
                <a:ext uri="{FF2B5EF4-FFF2-40B4-BE49-F238E27FC236}">
                  <a16:creationId xmlns:a16="http://schemas.microsoft.com/office/drawing/2014/main" id="{8ACE45B6-93A6-4AE3-8868-C769AFD68E32}"/>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85" name="文本框 84">
              <a:extLst>
                <a:ext uri="{FF2B5EF4-FFF2-40B4-BE49-F238E27FC236}">
                  <a16:creationId xmlns:a16="http://schemas.microsoft.com/office/drawing/2014/main" id="{3EE57984-FF8B-4D82-A0D1-4E149A2F6C71}"/>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2022 ICEEM, OFFIS</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：用形态表把分类维度转成可选择的备选设计空间，再进行跨维度校验</a:t>
              </a:r>
              <a:endParaRPr sz="22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sp>
        <p:nvSpPr>
          <p:cNvPr id="6" name="Subtitle_2">
            <a:extLst>
              <a:ext uri="{FF2B5EF4-FFF2-40B4-BE49-F238E27FC236}">
                <a16:creationId xmlns:a16="http://schemas.microsoft.com/office/drawing/2014/main" id="{172DD32B-7A86-4B90-96C8-C2DEA623C972}"/>
              </a:ext>
            </a:extLst>
          </p:cNvPr>
          <p:cNvSpPr>
            <a:spLocks noGrp="1"/>
          </p:cNvSpPr>
          <p:nvPr/>
        </p:nvSpPr>
        <p:spPr>
          <a:xfrm>
            <a:off x="308924" y="1388918"/>
            <a:ext cx="11096625" cy="285750"/>
          </a:xfrm>
          <a:prstGeom prst="rect">
            <a:avLst/>
          </a:prstGeom>
          <a:noFill/>
          <a:ln w="0">
            <a:noFill/>
            <a:prstDash val="solid"/>
          </a:ln>
        </p:spPr>
        <p:txBody>
          <a:bodyPr wrap="none" lIns="0" tIns="0" rIns="0" bIns="0" anchor="t">
            <a:normAutofit/>
          </a:bodyPr>
          <a:lstStyle/>
          <a:p>
            <a:pPr>
              <a:defRPr sz="1275" b="0">
                <a:solidFill>
                  <a:srgbClr val="5F6B7A"/>
                </a:solidFill>
                <a:latin typeface="Microsoft YaHei"/>
                <a:ea typeface="Microsoft YaHei"/>
                <a:cs typeface="Microsoft YaHei"/>
              </a:defRPr>
            </a:pPr>
            <a:r>
              <a:rPr lang="zh-CN" altLang="en-US" sz="1400" b="1">
                <a:solidFill>
                  <a:srgbClr val="5F6B7A"/>
                </a:solidFill>
                <a:latin typeface="Microsoft YaHei"/>
                <a:ea typeface="Microsoft YaHei"/>
                <a:cs typeface="Microsoft YaHei"/>
              </a:rPr>
              <a:t>欧洲市场配置与巴拿马案例验证了该框架能够发现一些市场设计缺口</a:t>
            </a:r>
          </a:p>
        </p:txBody>
      </p:sp>
      <p:sp>
        <p:nvSpPr>
          <p:cNvPr id="26" name="直接连接符 25">
            <a:extLst>
              <a:ext uri="{FF2B5EF4-FFF2-40B4-BE49-F238E27FC236}">
                <a16:creationId xmlns:a16="http://schemas.microsoft.com/office/drawing/2014/main" id="{25B50CFC-B64F-478A-8975-65ABB79668DD}"/>
              </a:ext>
            </a:extLst>
          </p:cNvPr>
          <p:cNvSpPr>
            <a:spLocks noGrp="1"/>
          </p:cNvSpPr>
          <p:nvPr/>
        </p:nvSpPr>
        <p:spPr>
          <a:xfrm>
            <a:off x="6334766" y="7903016"/>
            <a:ext cx="4762500" cy="0"/>
          </a:xfrm>
          <a:prstGeom prst="line">
            <a:avLst/>
          </a:prstGeom>
          <a:noFill/>
          <a:ln w="9525">
            <a:solidFill>
              <a:srgbClr val="D7DDE5"/>
            </a:solidFill>
            <a:prstDash val="solid"/>
          </a:ln>
        </p:spPr>
      </p:sp>
      <p:sp>
        <p:nvSpPr>
          <p:cNvPr id="24" name="直接连接符 23">
            <a:extLst>
              <a:ext uri="{FF2B5EF4-FFF2-40B4-BE49-F238E27FC236}">
                <a16:creationId xmlns:a16="http://schemas.microsoft.com/office/drawing/2014/main" id="{F893EE07-AFE5-4C16-9679-A8ADB5E75656}"/>
              </a:ext>
            </a:extLst>
          </p:cNvPr>
          <p:cNvSpPr>
            <a:spLocks noGrp="1"/>
          </p:cNvSpPr>
          <p:nvPr/>
        </p:nvSpPr>
        <p:spPr>
          <a:xfrm>
            <a:off x="289874" y="1715097"/>
            <a:ext cx="1104900" cy="0"/>
          </a:xfrm>
          <a:prstGeom prst="line">
            <a:avLst/>
          </a:prstGeom>
          <a:noFill/>
          <a:ln w="47625">
            <a:solidFill>
              <a:srgbClr val="8B1E2D"/>
            </a:solidFill>
            <a:prstDash val="solid"/>
          </a:ln>
        </p:spPr>
      </p:sp>
      <p:sp>
        <p:nvSpPr>
          <p:cNvPr id="25" name="矩形 24">
            <a:extLst>
              <a:ext uri="{FF2B5EF4-FFF2-40B4-BE49-F238E27FC236}">
                <a16:creationId xmlns:a16="http://schemas.microsoft.com/office/drawing/2014/main" id="{467FDFD1-8197-4650-9239-63B5159167A8}"/>
              </a:ext>
            </a:extLst>
          </p:cNvPr>
          <p:cNvSpPr>
            <a:spLocks noGrp="1"/>
          </p:cNvSpPr>
          <p:nvPr/>
        </p:nvSpPr>
        <p:spPr>
          <a:xfrm>
            <a:off x="308924" y="1905597"/>
            <a:ext cx="5867400" cy="2105025"/>
          </a:xfrm>
          <a:prstGeom prst="rect">
            <a:avLst/>
          </a:prstGeom>
          <a:solidFill>
            <a:srgbClr val="FAFAFA"/>
          </a:solidFill>
          <a:ln w="9525">
            <a:solidFill>
              <a:srgbClr val="B9C0C9"/>
            </a:solidFill>
            <a:prstDash val="solid"/>
          </a:ln>
        </p:spPr>
      </p:sp>
      <p:pic>
        <p:nvPicPr>
          <p:cNvPr id="27" name="图片 26">
            <a:extLst>
              <a:ext uri="{FF2B5EF4-FFF2-40B4-BE49-F238E27FC236}">
                <a16:creationId xmlns:a16="http://schemas.microsoft.com/office/drawing/2014/main" id="{CBA36C41-EB0D-49C1-80AC-7293BC3694D7}"/>
              </a:ext>
            </a:extLst>
          </p:cNvPr>
          <p:cNvPicPr>
            <a:picLocks noChangeAspect="1"/>
          </p:cNvPicPr>
          <p:nvPr/>
        </p:nvPicPr>
        <p:blipFill>
          <a:blip r:embed="rId4"/>
          <a:stretch/>
        </p:blipFill>
        <p:spPr>
          <a:xfrm>
            <a:off x="1208640" y="1981797"/>
            <a:ext cx="4067969" cy="1952625"/>
          </a:xfrm>
          <a:prstGeom prst="rect">
            <a:avLst/>
          </a:prstGeom>
        </p:spPr>
      </p:pic>
      <p:sp>
        <p:nvSpPr>
          <p:cNvPr id="28" name="Caption_Table III. S">
            <a:extLst>
              <a:ext uri="{FF2B5EF4-FFF2-40B4-BE49-F238E27FC236}">
                <a16:creationId xmlns:a16="http://schemas.microsoft.com/office/drawing/2014/main" id="{7138DBBC-019D-402E-8CF9-AFAEA599F712}"/>
              </a:ext>
            </a:extLst>
          </p:cNvPr>
          <p:cNvSpPr>
            <a:spLocks noGrp="1"/>
          </p:cNvSpPr>
          <p:nvPr/>
        </p:nvSpPr>
        <p:spPr>
          <a:xfrm>
            <a:off x="385124" y="4020147"/>
            <a:ext cx="5715000" cy="209550"/>
          </a:xfrm>
          <a:prstGeom prst="rect">
            <a:avLst/>
          </a:prstGeom>
          <a:noFill/>
          <a:ln w="0">
            <a:noFill/>
            <a:prstDash val="solid"/>
          </a:ln>
        </p:spPr>
        <p:txBody>
          <a:bodyPr wrap="none" lIns="0" tIns="0" rIns="0" bIns="0" anchor="t">
            <a:normAutofit/>
          </a:bodyPr>
          <a:lstStyle/>
          <a:p>
            <a:pPr algn="l">
              <a:lnSpc>
                <a:spcPct val="102000"/>
              </a:lnSpc>
              <a:buNone/>
              <a:defRPr sz="975" b="0">
                <a:solidFill>
                  <a:srgbClr val="6B7280"/>
                </a:solidFill>
                <a:latin typeface="Times New Roman"/>
                <a:ea typeface="Times New Roman"/>
                <a:cs typeface="Times New Roman"/>
              </a:defRPr>
            </a:pPr>
            <a:r>
              <a:rPr sz="975" b="0">
                <a:solidFill>
                  <a:srgbClr val="6B7280"/>
                </a:solidFill>
                <a:latin typeface="Times New Roman"/>
                <a:ea typeface="Times New Roman"/>
                <a:cs typeface="Times New Roman"/>
              </a:rPr>
              <a:t>Table III. Search-space reduction — Acosta et al., 2022</a:t>
            </a:r>
          </a:p>
        </p:txBody>
      </p:sp>
      <p:sp>
        <p:nvSpPr>
          <p:cNvPr id="29" name="矩形 28">
            <a:extLst>
              <a:ext uri="{FF2B5EF4-FFF2-40B4-BE49-F238E27FC236}">
                <a16:creationId xmlns:a16="http://schemas.microsoft.com/office/drawing/2014/main" id="{1B9E49CF-91D1-4E81-9CDE-FAD87665BAFB}"/>
              </a:ext>
            </a:extLst>
          </p:cNvPr>
          <p:cNvSpPr>
            <a:spLocks noGrp="1"/>
          </p:cNvSpPr>
          <p:nvPr/>
        </p:nvSpPr>
        <p:spPr>
          <a:xfrm>
            <a:off x="308924" y="4286847"/>
            <a:ext cx="5867400" cy="2105025"/>
          </a:xfrm>
          <a:prstGeom prst="rect">
            <a:avLst/>
          </a:prstGeom>
          <a:solidFill>
            <a:srgbClr val="FAFAFA"/>
          </a:solidFill>
          <a:ln w="9525">
            <a:solidFill>
              <a:srgbClr val="B9C0C9"/>
            </a:solidFill>
            <a:prstDash val="solid"/>
          </a:ln>
        </p:spPr>
      </p:sp>
      <p:pic>
        <p:nvPicPr>
          <p:cNvPr id="30" name="图片 29">
            <a:extLst>
              <a:ext uri="{FF2B5EF4-FFF2-40B4-BE49-F238E27FC236}">
                <a16:creationId xmlns:a16="http://schemas.microsoft.com/office/drawing/2014/main" id="{022F3691-9E64-4448-95B2-23F054E31257}"/>
              </a:ext>
            </a:extLst>
          </p:cNvPr>
          <p:cNvPicPr>
            <a:picLocks noChangeAspect="1"/>
          </p:cNvPicPr>
          <p:nvPr/>
        </p:nvPicPr>
        <p:blipFill>
          <a:blip r:embed="rId5"/>
          <a:stretch/>
        </p:blipFill>
        <p:spPr>
          <a:xfrm>
            <a:off x="769299" y="4363047"/>
            <a:ext cx="4946650" cy="1952625"/>
          </a:xfrm>
          <a:prstGeom prst="rect">
            <a:avLst/>
          </a:prstGeom>
        </p:spPr>
      </p:pic>
      <p:sp>
        <p:nvSpPr>
          <p:cNvPr id="31" name="Caption_Table IV. Eu">
            <a:extLst>
              <a:ext uri="{FF2B5EF4-FFF2-40B4-BE49-F238E27FC236}">
                <a16:creationId xmlns:a16="http://schemas.microsoft.com/office/drawing/2014/main" id="{56C968AF-353D-41F4-A466-EE940874C29C}"/>
              </a:ext>
            </a:extLst>
          </p:cNvPr>
          <p:cNvSpPr>
            <a:spLocks noGrp="1"/>
          </p:cNvSpPr>
          <p:nvPr/>
        </p:nvSpPr>
        <p:spPr>
          <a:xfrm>
            <a:off x="385124" y="6401397"/>
            <a:ext cx="5715000" cy="209550"/>
          </a:xfrm>
          <a:prstGeom prst="rect">
            <a:avLst/>
          </a:prstGeom>
          <a:noFill/>
          <a:ln w="0">
            <a:noFill/>
            <a:prstDash val="solid"/>
          </a:ln>
        </p:spPr>
        <p:txBody>
          <a:bodyPr wrap="none" lIns="0" tIns="0" rIns="0" bIns="0" anchor="t">
            <a:normAutofit/>
          </a:bodyPr>
          <a:lstStyle/>
          <a:p>
            <a:pPr algn="l">
              <a:lnSpc>
                <a:spcPct val="102000"/>
              </a:lnSpc>
              <a:buNone/>
              <a:defRPr sz="975" b="0">
                <a:solidFill>
                  <a:srgbClr val="6B7280"/>
                </a:solidFill>
                <a:latin typeface="Times New Roman"/>
                <a:ea typeface="Times New Roman"/>
                <a:cs typeface="Times New Roman"/>
              </a:defRPr>
            </a:pPr>
            <a:r>
              <a:rPr sz="975" b="0">
                <a:solidFill>
                  <a:srgbClr val="6B7280"/>
                </a:solidFill>
                <a:latin typeface="Times New Roman"/>
                <a:ea typeface="Times New Roman"/>
                <a:cs typeface="Times New Roman"/>
              </a:rPr>
              <a:t>Table IV. European vs. Panamanian use-case classification — Acosta et al., 2022</a:t>
            </a:r>
          </a:p>
        </p:txBody>
      </p:sp>
      <p:sp>
        <p:nvSpPr>
          <p:cNvPr id="36" name="MorphLabel">
            <a:extLst>
              <a:ext uri="{FF2B5EF4-FFF2-40B4-BE49-F238E27FC236}">
                <a16:creationId xmlns:a16="http://schemas.microsoft.com/office/drawing/2014/main" id="{9F41101F-6F88-48B0-ADD6-1FD2B62A55AD}"/>
              </a:ext>
            </a:extLst>
          </p:cNvPr>
          <p:cNvSpPr>
            <a:spLocks noGrp="1"/>
          </p:cNvSpPr>
          <p:nvPr/>
        </p:nvSpPr>
        <p:spPr>
          <a:xfrm>
            <a:off x="7621905" y="1971338"/>
            <a:ext cx="3714750" cy="224750"/>
          </a:xfrm>
          <a:prstGeom prst="rect">
            <a:avLst/>
          </a:prstGeom>
          <a:noFill/>
          <a:ln w="0">
            <a:noFill/>
            <a:prstDash val="solid"/>
          </a:ln>
        </p:spPr>
        <p:txBody>
          <a:bodyPr wrap="none" lIns="0" tIns="0" rIns="0" bIns="0" anchor="t">
            <a:normAutofit/>
          </a:bodyPr>
          <a:lstStyle/>
          <a:p>
            <a:pPr algn="ctr">
              <a:buNone/>
              <a:defRPr sz="1200" b="1">
                <a:solidFill>
                  <a:srgbClr val="111827"/>
                </a:solidFill>
                <a:latin typeface="Microsoft YaHei"/>
                <a:ea typeface="Microsoft YaHei"/>
                <a:cs typeface="Microsoft YaHei"/>
              </a:defRPr>
            </a:pPr>
            <a:r>
              <a:rPr lang="zh-CN" altLang="en-US" sz="1200" b="1">
                <a:solidFill>
                  <a:srgbClr val="111827"/>
                </a:solidFill>
                <a:latin typeface="Microsoft YaHei"/>
                <a:ea typeface="Microsoft YaHei"/>
                <a:cs typeface="Microsoft YaHei"/>
              </a:rPr>
              <a:t>示意图</a:t>
            </a:r>
            <a:endParaRPr sz="1200" b="1">
              <a:solidFill>
                <a:srgbClr val="111827"/>
              </a:solidFill>
              <a:latin typeface="Microsoft YaHei"/>
              <a:ea typeface="Microsoft YaHei"/>
              <a:cs typeface="Microsoft YaHei"/>
            </a:endParaRPr>
          </a:p>
        </p:txBody>
      </p:sp>
      <p:sp>
        <p:nvSpPr>
          <p:cNvPr id="37" name="Dim_0">
            <a:extLst>
              <a:ext uri="{FF2B5EF4-FFF2-40B4-BE49-F238E27FC236}">
                <a16:creationId xmlns:a16="http://schemas.microsoft.com/office/drawing/2014/main" id="{1447E5EF-335B-485B-855C-D646D180F68D}"/>
              </a:ext>
            </a:extLst>
          </p:cNvPr>
          <p:cNvSpPr>
            <a:spLocks noGrp="1"/>
          </p:cNvSpPr>
          <p:nvPr/>
        </p:nvSpPr>
        <p:spPr>
          <a:xfrm>
            <a:off x="6421755" y="2365342"/>
            <a:ext cx="1200150" cy="299667"/>
          </a:xfrm>
          <a:prstGeom prst="rect">
            <a:avLst/>
          </a:prstGeom>
          <a:noFill/>
          <a:ln w="0">
            <a:noFill/>
            <a:prstDash val="solid"/>
          </a:ln>
        </p:spPr>
        <p:txBody>
          <a:bodyPr wrap="none" lIns="0" tIns="0" rIns="0" bIns="0" anchor="ctr">
            <a:normAutofit/>
          </a:bodyPr>
          <a:lstStyle/>
          <a:p>
            <a:pPr algn="l">
              <a:buNone/>
              <a:defRPr sz="1238" b="1">
                <a:solidFill>
                  <a:srgbClr val="111827"/>
                </a:solidFill>
                <a:latin typeface="Microsoft YaHei"/>
                <a:ea typeface="Microsoft YaHei"/>
                <a:cs typeface="Microsoft YaHei"/>
              </a:defRPr>
            </a:pPr>
            <a:r>
              <a:rPr sz="1238" b="1">
                <a:solidFill>
                  <a:srgbClr val="111827"/>
                </a:solidFill>
                <a:latin typeface="Microsoft YaHei"/>
                <a:ea typeface="Microsoft YaHei"/>
                <a:cs typeface="Microsoft YaHei"/>
              </a:rPr>
              <a:t>市场范围</a:t>
            </a:r>
          </a:p>
        </p:txBody>
      </p:sp>
      <p:sp>
        <p:nvSpPr>
          <p:cNvPr id="38" name="MorphCell_0_0">
            <a:extLst>
              <a:ext uri="{FF2B5EF4-FFF2-40B4-BE49-F238E27FC236}">
                <a16:creationId xmlns:a16="http://schemas.microsoft.com/office/drawing/2014/main" id="{320F8A1A-7675-4847-AB67-9132D78F5FD4}"/>
              </a:ext>
            </a:extLst>
          </p:cNvPr>
          <p:cNvSpPr>
            <a:spLocks noGrp="1"/>
          </p:cNvSpPr>
          <p:nvPr/>
        </p:nvSpPr>
        <p:spPr>
          <a:xfrm>
            <a:off x="7183755" y="2365342"/>
            <a:ext cx="1143000" cy="430771"/>
          </a:xfrm>
          <a:prstGeom prst="roundRect">
            <a:avLst>
              <a:gd name="adj" fmla="val 10870"/>
            </a:avLst>
          </a:prstGeom>
          <a:solidFill>
            <a:srgbClr val="FFFFFF"/>
          </a:solidFill>
          <a:ln w="9525">
            <a:solidFill>
              <a:srgbClr val="D7DBE2"/>
            </a:solidFill>
            <a:prstDash val="solid"/>
          </a:ln>
        </p:spPr>
      </p:sp>
      <p:sp>
        <p:nvSpPr>
          <p:cNvPr id="39" name="MorphText_0_0">
            <a:extLst>
              <a:ext uri="{FF2B5EF4-FFF2-40B4-BE49-F238E27FC236}">
                <a16:creationId xmlns:a16="http://schemas.microsoft.com/office/drawing/2014/main" id="{2E1D7937-6032-4063-9F87-38F659F66B1B}"/>
              </a:ext>
            </a:extLst>
          </p:cNvPr>
          <p:cNvSpPr>
            <a:spLocks noGrp="1"/>
          </p:cNvSpPr>
          <p:nvPr/>
        </p:nvSpPr>
        <p:spPr>
          <a:xfrm>
            <a:off x="7250430" y="2470117"/>
            <a:ext cx="1009650" cy="224750"/>
          </a:xfrm>
          <a:prstGeom prst="rect">
            <a:avLst/>
          </a:prstGeom>
          <a:noFill/>
          <a:ln w="0">
            <a:noFill/>
            <a:prstDash val="solid"/>
          </a:ln>
        </p:spPr>
        <p:txBody>
          <a:bodyPr wrap="none" lIns="0" tIns="0" rIns="0" bIns="0" anchor="t">
            <a:normAutofit/>
          </a:bodyPr>
          <a:lstStyle/>
          <a:p>
            <a:pPr algn="ctr">
              <a:buNone/>
              <a:defRPr sz="1125" b="0">
                <a:solidFill>
                  <a:srgbClr val="5F6B7A"/>
                </a:solidFill>
                <a:latin typeface="Microsoft YaHei"/>
                <a:ea typeface="Microsoft YaHei"/>
                <a:cs typeface="Microsoft YaHei"/>
              </a:defRPr>
            </a:pPr>
            <a:r>
              <a:rPr sz="1125" b="0">
                <a:solidFill>
                  <a:srgbClr val="5F6B7A"/>
                </a:solidFill>
                <a:latin typeface="Microsoft YaHei"/>
                <a:ea typeface="Microsoft YaHei"/>
                <a:cs typeface="Microsoft YaHei"/>
              </a:rPr>
              <a:t>批发市场</a:t>
            </a:r>
          </a:p>
        </p:txBody>
      </p:sp>
      <p:sp>
        <p:nvSpPr>
          <p:cNvPr id="40" name="MorphCell_0_1">
            <a:extLst>
              <a:ext uri="{FF2B5EF4-FFF2-40B4-BE49-F238E27FC236}">
                <a16:creationId xmlns:a16="http://schemas.microsoft.com/office/drawing/2014/main" id="{974C17D7-06B6-447D-9831-6AA0292A7C34}"/>
              </a:ext>
            </a:extLst>
          </p:cNvPr>
          <p:cNvSpPr>
            <a:spLocks noGrp="1"/>
          </p:cNvSpPr>
          <p:nvPr/>
        </p:nvSpPr>
        <p:spPr>
          <a:xfrm>
            <a:off x="8441055" y="2365342"/>
            <a:ext cx="1143000" cy="430771"/>
          </a:xfrm>
          <a:prstGeom prst="roundRect">
            <a:avLst>
              <a:gd name="adj" fmla="val 10870"/>
            </a:avLst>
          </a:prstGeom>
          <a:solidFill>
            <a:srgbClr val="E9EFF7"/>
          </a:solidFill>
          <a:ln w="17145">
            <a:solidFill>
              <a:srgbClr val="17365D"/>
            </a:solidFill>
            <a:prstDash val="solid"/>
          </a:ln>
        </p:spPr>
      </p:sp>
      <p:sp>
        <p:nvSpPr>
          <p:cNvPr id="41" name="MorphText_0_1">
            <a:extLst>
              <a:ext uri="{FF2B5EF4-FFF2-40B4-BE49-F238E27FC236}">
                <a16:creationId xmlns:a16="http://schemas.microsoft.com/office/drawing/2014/main" id="{E5557F29-E056-4545-8A20-3AEEF41DB3EC}"/>
              </a:ext>
            </a:extLst>
          </p:cNvPr>
          <p:cNvSpPr>
            <a:spLocks noGrp="1"/>
          </p:cNvSpPr>
          <p:nvPr/>
        </p:nvSpPr>
        <p:spPr>
          <a:xfrm>
            <a:off x="8507730" y="2470117"/>
            <a:ext cx="1009650" cy="224750"/>
          </a:xfrm>
          <a:prstGeom prst="rect">
            <a:avLst/>
          </a:prstGeom>
          <a:noFill/>
          <a:ln w="0">
            <a:noFill/>
            <a:prstDash val="solid"/>
          </a:ln>
        </p:spPr>
        <p:txBody>
          <a:bodyPr wrap="none" lIns="0" tIns="0" rIns="0" bIns="0" anchor="t">
            <a:normAutofit/>
          </a:bodyPr>
          <a:lstStyle/>
          <a:p>
            <a:pPr algn="ctr">
              <a:buNone/>
              <a:defRPr sz="1125" b="1">
                <a:solidFill>
                  <a:srgbClr val="3D8DFF"/>
                </a:solidFill>
                <a:latin typeface="Microsoft YaHei"/>
                <a:ea typeface="Microsoft YaHei"/>
                <a:cs typeface="Microsoft YaHei"/>
              </a:defRPr>
            </a:pPr>
            <a:r>
              <a:rPr sz="1125" b="1">
                <a:solidFill>
                  <a:srgbClr val="17365D"/>
                </a:solidFill>
                <a:latin typeface="Microsoft YaHei"/>
                <a:ea typeface="Microsoft YaHei"/>
                <a:cs typeface="Microsoft YaHei"/>
              </a:rPr>
              <a:t>本地能源</a:t>
            </a:r>
          </a:p>
        </p:txBody>
      </p:sp>
      <p:sp>
        <p:nvSpPr>
          <p:cNvPr id="42" name="MorphCell_0_2">
            <a:extLst>
              <a:ext uri="{FF2B5EF4-FFF2-40B4-BE49-F238E27FC236}">
                <a16:creationId xmlns:a16="http://schemas.microsoft.com/office/drawing/2014/main" id="{6749F756-8970-406E-917C-504E52F43819}"/>
              </a:ext>
            </a:extLst>
          </p:cNvPr>
          <p:cNvSpPr>
            <a:spLocks noGrp="1"/>
          </p:cNvSpPr>
          <p:nvPr/>
        </p:nvSpPr>
        <p:spPr>
          <a:xfrm>
            <a:off x="9698355" y="2365342"/>
            <a:ext cx="1143000" cy="430771"/>
          </a:xfrm>
          <a:prstGeom prst="roundRect">
            <a:avLst>
              <a:gd name="adj" fmla="val 10870"/>
            </a:avLst>
          </a:prstGeom>
          <a:solidFill>
            <a:srgbClr val="FFFFFF"/>
          </a:solidFill>
          <a:ln w="9525">
            <a:solidFill>
              <a:srgbClr val="D7DBE2"/>
            </a:solidFill>
            <a:prstDash val="solid"/>
          </a:ln>
        </p:spPr>
      </p:sp>
      <p:sp>
        <p:nvSpPr>
          <p:cNvPr id="43" name="MorphText_0_2">
            <a:extLst>
              <a:ext uri="{FF2B5EF4-FFF2-40B4-BE49-F238E27FC236}">
                <a16:creationId xmlns:a16="http://schemas.microsoft.com/office/drawing/2014/main" id="{068B0826-FC5C-4FC3-8AC3-A2C9219F8F7B}"/>
              </a:ext>
            </a:extLst>
          </p:cNvPr>
          <p:cNvSpPr>
            <a:spLocks noGrp="1"/>
          </p:cNvSpPr>
          <p:nvPr/>
        </p:nvSpPr>
        <p:spPr>
          <a:xfrm>
            <a:off x="9765030" y="2470117"/>
            <a:ext cx="1009650" cy="224750"/>
          </a:xfrm>
          <a:prstGeom prst="rect">
            <a:avLst/>
          </a:prstGeom>
          <a:noFill/>
          <a:ln w="0">
            <a:noFill/>
            <a:prstDash val="solid"/>
          </a:ln>
        </p:spPr>
        <p:txBody>
          <a:bodyPr wrap="none" lIns="0" tIns="0" rIns="0" bIns="0" anchor="t">
            <a:normAutofit/>
          </a:bodyPr>
          <a:lstStyle/>
          <a:p>
            <a:pPr algn="ctr">
              <a:buNone/>
              <a:defRPr sz="1125" b="0">
                <a:solidFill>
                  <a:srgbClr val="5F6B7A"/>
                </a:solidFill>
                <a:latin typeface="Microsoft YaHei"/>
                <a:ea typeface="Microsoft YaHei"/>
                <a:cs typeface="Microsoft YaHei"/>
              </a:defRPr>
            </a:pPr>
            <a:r>
              <a:rPr sz="1125" b="0">
                <a:solidFill>
                  <a:srgbClr val="5F6B7A"/>
                </a:solidFill>
                <a:latin typeface="Microsoft YaHei"/>
                <a:ea typeface="Microsoft YaHei"/>
                <a:cs typeface="Microsoft YaHei"/>
              </a:rPr>
              <a:t>灵活性</a:t>
            </a:r>
          </a:p>
        </p:txBody>
      </p:sp>
      <p:sp>
        <p:nvSpPr>
          <p:cNvPr id="44" name="MorphCell_0_3">
            <a:extLst>
              <a:ext uri="{FF2B5EF4-FFF2-40B4-BE49-F238E27FC236}">
                <a16:creationId xmlns:a16="http://schemas.microsoft.com/office/drawing/2014/main" id="{B377813E-4E21-4248-85E9-1BE090F7C337}"/>
              </a:ext>
            </a:extLst>
          </p:cNvPr>
          <p:cNvSpPr>
            <a:spLocks noGrp="1"/>
          </p:cNvSpPr>
          <p:nvPr/>
        </p:nvSpPr>
        <p:spPr>
          <a:xfrm>
            <a:off x="10955655" y="2365342"/>
            <a:ext cx="1143000" cy="430771"/>
          </a:xfrm>
          <a:prstGeom prst="roundRect">
            <a:avLst>
              <a:gd name="adj" fmla="val 10870"/>
            </a:avLst>
          </a:prstGeom>
          <a:solidFill>
            <a:srgbClr val="FFFFFF"/>
          </a:solidFill>
          <a:ln w="9525">
            <a:solidFill>
              <a:srgbClr val="D7DBE2"/>
            </a:solidFill>
            <a:prstDash val="solid"/>
          </a:ln>
        </p:spPr>
      </p:sp>
      <p:sp>
        <p:nvSpPr>
          <p:cNvPr id="45" name="MorphText_0_3">
            <a:extLst>
              <a:ext uri="{FF2B5EF4-FFF2-40B4-BE49-F238E27FC236}">
                <a16:creationId xmlns:a16="http://schemas.microsoft.com/office/drawing/2014/main" id="{EE468F42-96DC-4F22-A451-00DEE1B8796F}"/>
              </a:ext>
            </a:extLst>
          </p:cNvPr>
          <p:cNvSpPr>
            <a:spLocks noGrp="1"/>
          </p:cNvSpPr>
          <p:nvPr/>
        </p:nvSpPr>
        <p:spPr>
          <a:xfrm>
            <a:off x="11022330" y="2470117"/>
            <a:ext cx="1009650" cy="224750"/>
          </a:xfrm>
          <a:prstGeom prst="rect">
            <a:avLst/>
          </a:prstGeom>
          <a:noFill/>
          <a:ln w="0">
            <a:noFill/>
            <a:prstDash val="solid"/>
          </a:ln>
        </p:spPr>
        <p:txBody>
          <a:bodyPr wrap="none" lIns="0" tIns="0" rIns="0" bIns="0" anchor="t">
            <a:normAutofit/>
          </a:bodyPr>
          <a:lstStyle/>
          <a:p>
            <a:pPr algn="ctr">
              <a:buNone/>
              <a:defRPr sz="1125" b="0">
                <a:solidFill>
                  <a:srgbClr val="5F6B7A"/>
                </a:solidFill>
                <a:latin typeface="Arial"/>
                <a:ea typeface="Arial"/>
                <a:cs typeface="Arial"/>
              </a:defRPr>
            </a:pPr>
            <a:r>
              <a:rPr sz="1125" b="0">
                <a:solidFill>
                  <a:srgbClr val="5F6B7A"/>
                </a:solidFill>
                <a:latin typeface="Arial"/>
                <a:ea typeface="Arial"/>
                <a:cs typeface="Arial"/>
              </a:rPr>
              <a:t>P2P</a:t>
            </a:r>
          </a:p>
        </p:txBody>
      </p:sp>
      <p:sp>
        <p:nvSpPr>
          <p:cNvPr id="46" name="Dim_1">
            <a:extLst>
              <a:ext uri="{FF2B5EF4-FFF2-40B4-BE49-F238E27FC236}">
                <a16:creationId xmlns:a16="http://schemas.microsoft.com/office/drawing/2014/main" id="{E2F3C158-1342-4481-8D0E-59A50374A06F}"/>
              </a:ext>
            </a:extLst>
          </p:cNvPr>
          <p:cNvSpPr>
            <a:spLocks noGrp="1"/>
          </p:cNvSpPr>
          <p:nvPr/>
        </p:nvSpPr>
        <p:spPr>
          <a:xfrm>
            <a:off x="6421755" y="3003517"/>
            <a:ext cx="1200150" cy="299667"/>
          </a:xfrm>
          <a:prstGeom prst="rect">
            <a:avLst/>
          </a:prstGeom>
          <a:noFill/>
          <a:ln w="0">
            <a:noFill/>
            <a:prstDash val="solid"/>
          </a:ln>
        </p:spPr>
        <p:txBody>
          <a:bodyPr wrap="none" lIns="0" tIns="0" rIns="0" bIns="0" anchor="ctr">
            <a:normAutofit/>
          </a:bodyPr>
          <a:lstStyle/>
          <a:p>
            <a:pPr algn="l">
              <a:buNone/>
              <a:defRPr sz="1238" b="1">
                <a:solidFill>
                  <a:srgbClr val="111827"/>
                </a:solidFill>
                <a:latin typeface="Microsoft YaHei"/>
                <a:ea typeface="Microsoft YaHei"/>
                <a:cs typeface="Microsoft YaHei"/>
              </a:defRPr>
            </a:pPr>
            <a:r>
              <a:rPr sz="1238" b="1">
                <a:solidFill>
                  <a:srgbClr val="111827"/>
                </a:solidFill>
                <a:latin typeface="Microsoft YaHei"/>
                <a:ea typeface="Microsoft YaHei"/>
                <a:cs typeface="Microsoft YaHei"/>
              </a:rPr>
              <a:t>交易时序</a:t>
            </a:r>
          </a:p>
        </p:txBody>
      </p:sp>
      <p:sp>
        <p:nvSpPr>
          <p:cNvPr id="47" name="MorphCell_1_0">
            <a:extLst>
              <a:ext uri="{FF2B5EF4-FFF2-40B4-BE49-F238E27FC236}">
                <a16:creationId xmlns:a16="http://schemas.microsoft.com/office/drawing/2014/main" id="{596BAE97-650D-4EBD-A352-2612964FCC27}"/>
              </a:ext>
            </a:extLst>
          </p:cNvPr>
          <p:cNvSpPr>
            <a:spLocks noGrp="1"/>
          </p:cNvSpPr>
          <p:nvPr/>
        </p:nvSpPr>
        <p:spPr>
          <a:xfrm>
            <a:off x="7183755" y="3003517"/>
            <a:ext cx="1143000" cy="430771"/>
          </a:xfrm>
          <a:prstGeom prst="roundRect">
            <a:avLst>
              <a:gd name="adj" fmla="val 10870"/>
            </a:avLst>
          </a:prstGeom>
          <a:solidFill>
            <a:srgbClr val="FFFFFF"/>
          </a:solidFill>
          <a:ln w="9525">
            <a:solidFill>
              <a:srgbClr val="D7DBE2"/>
            </a:solidFill>
            <a:prstDash val="solid"/>
          </a:ln>
        </p:spPr>
      </p:sp>
      <p:sp>
        <p:nvSpPr>
          <p:cNvPr id="48" name="MorphText_1_0">
            <a:extLst>
              <a:ext uri="{FF2B5EF4-FFF2-40B4-BE49-F238E27FC236}">
                <a16:creationId xmlns:a16="http://schemas.microsoft.com/office/drawing/2014/main" id="{1193977B-62D7-48F7-924E-E6DF4A72BC23}"/>
              </a:ext>
            </a:extLst>
          </p:cNvPr>
          <p:cNvSpPr>
            <a:spLocks noGrp="1"/>
          </p:cNvSpPr>
          <p:nvPr/>
        </p:nvSpPr>
        <p:spPr>
          <a:xfrm>
            <a:off x="7250430" y="3108292"/>
            <a:ext cx="1009650" cy="224750"/>
          </a:xfrm>
          <a:prstGeom prst="rect">
            <a:avLst/>
          </a:prstGeom>
          <a:noFill/>
          <a:ln w="0">
            <a:noFill/>
            <a:prstDash val="solid"/>
          </a:ln>
        </p:spPr>
        <p:txBody>
          <a:bodyPr wrap="none" lIns="0" tIns="0" rIns="0" bIns="0" anchor="t">
            <a:normAutofit/>
          </a:bodyPr>
          <a:lstStyle/>
          <a:p>
            <a:pPr algn="ctr">
              <a:buNone/>
              <a:defRPr sz="1125" b="0">
                <a:solidFill>
                  <a:srgbClr val="5F6B7A"/>
                </a:solidFill>
                <a:latin typeface="Microsoft YaHei"/>
                <a:ea typeface="Microsoft YaHei"/>
                <a:cs typeface="Microsoft YaHei"/>
              </a:defRPr>
            </a:pPr>
            <a:r>
              <a:rPr sz="1125" b="0">
                <a:solidFill>
                  <a:srgbClr val="5F6B7A"/>
                </a:solidFill>
                <a:latin typeface="Microsoft YaHei"/>
                <a:ea typeface="Microsoft YaHei"/>
                <a:cs typeface="Microsoft YaHei"/>
              </a:rPr>
              <a:t>日前</a:t>
            </a:r>
          </a:p>
        </p:txBody>
      </p:sp>
      <p:sp>
        <p:nvSpPr>
          <p:cNvPr id="49" name="MorphCell_1_1">
            <a:extLst>
              <a:ext uri="{FF2B5EF4-FFF2-40B4-BE49-F238E27FC236}">
                <a16:creationId xmlns:a16="http://schemas.microsoft.com/office/drawing/2014/main" id="{DCDF79B2-CAD7-44DC-B42A-BD4C63354E06}"/>
              </a:ext>
            </a:extLst>
          </p:cNvPr>
          <p:cNvSpPr>
            <a:spLocks noGrp="1"/>
          </p:cNvSpPr>
          <p:nvPr/>
        </p:nvSpPr>
        <p:spPr>
          <a:xfrm>
            <a:off x="8441055" y="3003517"/>
            <a:ext cx="1143000" cy="430771"/>
          </a:xfrm>
          <a:prstGeom prst="roundRect">
            <a:avLst>
              <a:gd name="adj" fmla="val 10870"/>
            </a:avLst>
          </a:prstGeom>
          <a:solidFill>
            <a:srgbClr val="FFFFFF"/>
          </a:solidFill>
          <a:ln w="9525">
            <a:solidFill>
              <a:srgbClr val="D7DBE2"/>
            </a:solidFill>
            <a:prstDash val="solid"/>
          </a:ln>
        </p:spPr>
      </p:sp>
      <p:sp>
        <p:nvSpPr>
          <p:cNvPr id="50" name="MorphText_1_1">
            <a:extLst>
              <a:ext uri="{FF2B5EF4-FFF2-40B4-BE49-F238E27FC236}">
                <a16:creationId xmlns:a16="http://schemas.microsoft.com/office/drawing/2014/main" id="{C83B8B47-FB8C-416A-8101-C5A3F535AE48}"/>
              </a:ext>
            </a:extLst>
          </p:cNvPr>
          <p:cNvSpPr>
            <a:spLocks noGrp="1"/>
          </p:cNvSpPr>
          <p:nvPr/>
        </p:nvSpPr>
        <p:spPr>
          <a:xfrm>
            <a:off x="8507730" y="3108292"/>
            <a:ext cx="1009650" cy="224750"/>
          </a:xfrm>
          <a:prstGeom prst="rect">
            <a:avLst/>
          </a:prstGeom>
          <a:noFill/>
          <a:ln w="0">
            <a:noFill/>
            <a:prstDash val="solid"/>
          </a:ln>
        </p:spPr>
        <p:txBody>
          <a:bodyPr wrap="none" lIns="0" tIns="0" rIns="0" bIns="0" anchor="t">
            <a:normAutofit/>
          </a:bodyPr>
          <a:lstStyle/>
          <a:p>
            <a:pPr algn="ctr">
              <a:buNone/>
              <a:defRPr sz="1125" b="0">
                <a:solidFill>
                  <a:srgbClr val="5F6B7A"/>
                </a:solidFill>
                <a:latin typeface="Microsoft YaHei"/>
                <a:ea typeface="Microsoft YaHei"/>
                <a:cs typeface="Microsoft YaHei"/>
              </a:defRPr>
            </a:pPr>
            <a:r>
              <a:rPr sz="1125" b="0">
                <a:solidFill>
                  <a:srgbClr val="5F6B7A"/>
                </a:solidFill>
                <a:latin typeface="Microsoft YaHei"/>
                <a:ea typeface="Microsoft YaHei"/>
                <a:cs typeface="Microsoft YaHei"/>
              </a:rPr>
              <a:t>日内</a:t>
            </a:r>
          </a:p>
        </p:txBody>
      </p:sp>
      <p:sp>
        <p:nvSpPr>
          <p:cNvPr id="51" name="MorphCell_1_2">
            <a:extLst>
              <a:ext uri="{FF2B5EF4-FFF2-40B4-BE49-F238E27FC236}">
                <a16:creationId xmlns:a16="http://schemas.microsoft.com/office/drawing/2014/main" id="{716DCAF2-2252-4AC9-BF33-BBBDA0924706}"/>
              </a:ext>
            </a:extLst>
          </p:cNvPr>
          <p:cNvSpPr>
            <a:spLocks noGrp="1"/>
          </p:cNvSpPr>
          <p:nvPr/>
        </p:nvSpPr>
        <p:spPr>
          <a:xfrm>
            <a:off x="9698355" y="3003517"/>
            <a:ext cx="1143000" cy="430771"/>
          </a:xfrm>
          <a:prstGeom prst="roundRect">
            <a:avLst>
              <a:gd name="adj" fmla="val 10870"/>
            </a:avLst>
          </a:prstGeom>
          <a:solidFill>
            <a:srgbClr val="E9EFF7"/>
          </a:solidFill>
          <a:ln w="17145">
            <a:solidFill>
              <a:srgbClr val="17365D"/>
            </a:solidFill>
            <a:prstDash val="solid"/>
          </a:ln>
        </p:spPr>
      </p:sp>
      <p:sp>
        <p:nvSpPr>
          <p:cNvPr id="52" name="MorphText_1_2">
            <a:extLst>
              <a:ext uri="{FF2B5EF4-FFF2-40B4-BE49-F238E27FC236}">
                <a16:creationId xmlns:a16="http://schemas.microsoft.com/office/drawing/2014/main" id="{40EEE544-3525-4E9E-8B4C-F43B4DD6859B}"/>
              </a:ext>
            </a:extLst>
          </p:cNvPr>
          <p:cNvSpPr>
            <a:spLocks noGrp="1"/>
          </p:cNvSpPr>
          <p:nvPr/>
        </p:nvSpPr>
        <p:spPr>
          <a:xfrm>
            <a:off x="9765030" y="3108292"/>
            <a:ext cx="1009650" cy="224750"/>
          </a:xfrm>
          <a:prstGeom prst="rect">
            <a:avLst/>
          </a:prstGeom>
          <a:noFill/>
          <a:ln w="0">
            <a:noFill/>
            <a:prstDash val="solid"/>
          </a:ln>
        </p:spPr>
        <p:txBody>
          <a:bodyPr wrap="none" lIns="0" tIns="0" rIns="0" bIns="0" anchor="t">
            <a:normAutofit/>
          </a:bodyPr>
          <a:lstStyle/>
          <a:p>
            <a:pPr algn="ctr">
              <a:buNone/>
              <a:defRPr sz="1125" b="1">
                <a:solidFill>
                  <a:srgbClr val="3D8DFF"/>
                </a:solidFill>
                <a:latin typeface="Microsoft YaHei"/>
                <a:ea typeface="Microsoft YaHei"/>
                <a:cs typeface="Microsoft YaHei"/>
              </a:defRPr>
            </a:pPr>
            <a:r>
              <a:rPr sz="1125" b="1">
                <a:solidFill>
                  <a:srgbClr val="17365D"/>
                </a:solidFill>
                <a:latin typeface="Microsoft YaHei"/>
                <a:ea typeface="Microsoft YaHei"/>
                <a:cs typeface="Microsoft YaHei"/>
              </a:rPr>
              <a:t>实时</a:t>
            </a:r>
          </a:p>
        </p:txBody>
      </p:sp>
      <p:sp>
        <p:nvSpPr>
          <p:cNvPr id="53" name="MorphCell_1_3">
            <a:extLst>
              <a:ext uri="{FF2B5EF4-FFF2-40B4-BE49-F238E27FC236}">
                <a16:creationId xmlns:a16="http://schemas.microsoft.com/office/drawing/2014/main" id="{6DCFA0DC-233C-483C-9511-3DAABD3A3C59}"/>
              </a:ext>
            </a:extLst>
          </p:cNvPr>
          <p:cNvSpPr>
            <a:spLocks noGrp="1"/>
          </p:cNvSpPr>
          <p:nvPr/>
        </p:nvSpPr>
        <p:spPr>
          <a:xfrm>
            <a:off x="10955655" y="3003517"/>
            <a:ext cx="1143000" cy="430771"/>
          </a:xfrm>
          <a:prstGeom prst="roundRect">
            <a:avLst>
              <a:gd name="adj" fmla="val 10870"/>
            </a:avLst>
          </a:prstGeom>
          <a:solidFill>
            <a:srgbClr val="FFFFFF"/>
          </a:solidFill>
          <a:ln w="9525">
            <a:solidFill>
              <a:srgbClr val="D7DBE2"/>
            </a:solidFill>
            <a:prstDash val="solid"/>
          </a:ln>
        </p:spPr>
      </p:sp>
      <p:sp>
        <p:nvSpPr>
          <p:cNvPr id="54" name="MorphText_1_3">
            <a:extLst>
              <a:ext uri="{FF2B5EF4-FFF2-40B4-BE49-F238E27FC236}">
                <a16:creationId xmlns:a16="http://schemas.microsoft.com/office/drawing/2014/main" id="{1D0E402E-C0C0-4D5A-9283-CBA53C0434BF}"/>
              </a:ext>
            </a:extLst>
          </p:cNvPr>
          <p:cNvSpPr>
            <a:spLocks noGrp="1"/>
          </p:cNvSpPr>
          <p:nvPr/>
        </p:nvSpPr>
        <p:spPr>
          <a:xfrm>
            <a:off x="11022330" y="3108292"/>
            <a:ext cx="1009650" cy="224750"/>
          </a:xfrm>
          <a:prstGeom prst="rect">
            <a:avLst/>
          </a:prstGeom>
          <a:noFill/>
          <a:ln w="0">
            <a:noFill/>
            <a:prstDash val="solid"/>
          </a:ln>
        </p:spPr>
        <p:txBody>
          <a:bodyPr wrap="none" lIns="0" tIns="0" rIns="0" bIns="0" anchor="t">
            <a:normAutofit/>
          </a:bodyPr>
          <a:lstStyle/>
          <a:p>
            <a:pPr algn="ctr">
              <a:buNone/>
              <a:defRPr sz="1125" b="0">
                <a:solidFill>
                  <a:srgbClr val="5F6B7A"/>
                </a:solidFill>
                <a:latin typeface="Microsoft YaHei"/>
                <a:ea typeface="Microsoft YaHei"/>
                <a:cs typeface="Microsoft YaHei"/>
              </a:defRPr>
            </a:pPr>
            <a:r>
              <a:rPr sz="1125" b="0">
                <a:solidFill>
                  <a:srgbClr val="5F6B7A"/>
                </a:solidFill>
                <a:latin typeface="Microsoft YaHei"/>
                <a:ea typeface="Microsoft YaHei"/>
                <a:cs typeface="Microsoft YaHei"/>
              </a:rPr>
              <a:t>长期</a:t>
            </a:r>
          </a:p>
        </p:txBody>
      </p:sp>
      <p:sp>
        <p:nvSpPr>
          <p:cNvPr id="55" name="Dim_2">
            <a:extLst>
              <a:ext uri="{FF2B5EF4-FFF2-40B4-BE49-F238E27FC236}">
                <a16:creationId xmlns:a16="http://schemas.microsoft.com/office/drawing/2014/main" id="{5B83EB9E-E015-4EA7-A02C-D0A6AD4271AD}"/>
              </a:ext>
            </a:extLst>
          </p:cNvPr>
          <p:cNvSpPr>
            <a:spLocks noGrp="1"/>
          </p:cNvSpPr>
          <p:nvPr/>
        </p:nvSpPr>
        <p:spPr>
          <a:xfrm>
            <a:off x="6421755" y="3641692"/>
            <a:ext cx="1200150" cy="299667"/>
          </a:xfrm>
          <a:prstGeom prst="rect">
            <a:avLst/>
          </a:prstGeom>
          <a:noFill/>
          <a:ln w="0">
            <a:noFill/>
            <a:prstDash val="solid"/>
          </a:ln>
        </p:spPr>
        <p:txBody>
          <a:bodyPr wrap="none" lIns="0" tIns="0" rIns="0" bIns="0" anchor="ctr">
            <a:normAutofit/>
          </a:bodyPr>
          <a:lstStyle/>
          <a:p>
            <a:pPr algn="l">
              <a:buNone/>
              <a:defRPr sz="1238" b="1">
                <a:solidFill>
                  <a:srgbClr val="111827"/>
                </a:solidFill>
                <a:latin typeface="Microsoft YaHei"/>
                <a:ea typeface="Microsoft YaHei"/>
                <a:cs typeface="Microsoft YaHei"/>
              </a:defRPr>
            </a:pPr>
            <a:r>
              <a:rPr sz="1238" b="1">
                <a:solidFill>
                  <a:srgbClr val="111827"/>
                </a:solidFill>
                <a:latin typeface="Microsoft YaHei"/>
                <a:ea typeface="Microsoft YaHei"/>
                <a:cs typeface="Microsoft YaHei"/>
              </a:rPr>
              <a:t>交易产品</a:t>
            </a:r>
          </a:p>
        </p:txBody>
      </p:sp>
      <p:sp>
        <p:nvSpPr>
          <p:cNvPr id="56" name="MorphCell_2_0">
            <a:extLst>
              <a:ext uri="{FF2B5EF4-FFF2-40B4-BE49-F238E27FC236}">
                <a16:creationId xmlns:a16="http://schemas.microsoft.com/office/drawing/2014/main" id="{33A43FDA-F6A0-4EAC-9131-CE20228C9DE2}"/>
              </a:ext>
            </a:extLst>
          </p:cNvPr>
          <p:cNvSpPr>
            <a:spLocks noGrp="1"/>
          </p:cNvSpPr>
          <p:nvPr/>
        </p:nvSpPr>
        <p:spPr>
          <a:xfrm>
            <a:off x="7183755" y="3641692"/>
            <a:ext cx="1143000" cy="430771"/>
          </a:xfrm>
          <a:prstGeom prst="roundRect">
            <a:avLst>
              <a:gd name="adj" fmla="val 10870"/>
            </a:avLst>
          </a:prstGeom>
          <a:solidFill>
            <a:srgbClr val="FFFFFF"/>
          </a:solidFill>
          <a:ln w="9525">
            <a:solidFill>
              <a:srgbClr val="D7DBE2"/>
            </a:solidFill>
            <a:prstDash val="solid"/>
          </a:ln>
        </p:spPr>
      </p:sp>
      <p:sp>
        <p:nvSpPr>
          <p:cNvPr id="57" name="MorphText_2_0">
            <a:extLst>
              <a:ext uri="{FF2B5EF4-FFF2-40B4-BE49-F238E27FC236}">
                <a16:creationId xmlns:a16="http://schemas.microsoft.com/office/drawing/2014/main" id="{B1D77B90-45A9-4912-83EA-6B3E793F487D}"/>
              </a:ext>
            </a:extLst>
          </p:cNvPr>
          <p:cNvSpPr>
            <a:spLocks noGrp="1"/>
          </p:cNvSpPr>
          <p:nvPr/>
        </p:nvSpPr>
        <p:spPr>
          <a:xfrm>
            <a:off x="7250430" y="3746467"/>
            <a:ext cx="1009650" cy="224750"/>
          </a:xfrm>
          <a:prstGeom prst="rect">
            <a:avLst/>
          </a:prstGeom>
          <a:noFill/>
          <a:ln w="0">
            <a:noFill/>
            <a:prstDash val="solid"/>
          </a:ln>
        </p:spPr>
        <p:txBody>
          <a:bodyPr wrap="none" lIns="0" tIns="0" rIns="0" bIns="0" anchor="t">
            <a:normAutofit/>
          </a:bodyPr>
          <a:lstStyle/>
          <a:p>
            <a:pPr algn="ctr">
              <a:buNone/>
              <a:defRPr sz="1125" b="0">
                <a:solidFill>
                  <a:srgbClr val="5F6B7A"/>
                </a:solidFill>
                <a:latin typeface="Microsoft YaHei"/>
                <a:ea typeface="Microsoft YaHei"/>
                <a:cs typeface="Microsoft YaHei"/>
              </a:defRPr>
            </a:pPr>
            <a:r>
              <a:rPr sz="1125" b="0">
                <a:solidFill>
                  <a:srgbClr val="5F6B7A"/>
                </a:solidFill>
                <a:latin typeface="Microsoft YaHei"/>
                <a:ea typeface="Microsoft YaHei"/>
                <a:cs typeface="Microsoft YaHei"/>
              </a:rPr>
              <a:t>电能量</a:t>
            </a:r>
          </a:p>
        </p:txBody>
      </p:sp>
      <p:sp>
        <p:nvSpPr>
          <p:cNvPr id="58" name="MorphCell_2_1">
            <a:extLst>
              <a:ext uri="{FF2B5EF4-FFF2-40B4-BE49-F238E27FC236}">
                <a16:creationId xmlns:a16="http://schemas.microsoft.com/office/drawing/2014/main" id="{E7A38943-7BDE-4D06-AC70-4F0C8400559B}"/>
              </a:ext>
            </a:extLst>
          </p:cNvPr>
          <p:cNvSpPr>
            <a:spLocks noGrp="1"/>
          </p:cNvSpPr>
          <p:nvPr/>
        </p:nvSpPr>
        <p:spPr>
          <a:xfrm>
            <a:off x="8441055" y="3641692"/>
            <a:ext cx="1143000" cy="430771"/>
          </a:xfrm>
          <a:prstGeom prst="roundRect">
            <a:avLst>
              <a:gd name="adj" fmla="val 10870"/>
            </a:avLst>
          </a:prstGeom>
          <a:solidFill>
            <a:srgbClr val="E9EFF7"/>
          </a:solidFill>
          <a:ln w="17145">
            <a:solidFill>
              <a:srgbClr val="17365D"/>
            </a:solidFill>
            <a:prstDash val="solid"/>
          </a:ln>
        </p:spPr>
      </p:sp>
      <p:sp>
        <p:nvSpPr>
          <p:cNvPr id="68" name="MorphText_2_1">
            <a:extLst>
              <a:ext uri="{FF2B5EF4-FFF2-40B4-BE49-F238E27FC236}">
                <a16:creationId xmlns:a16="http://schemas.microsoft.com/office/drawing/2014/main" id="{49860B4A-2767-4B56-A86D-1A835259D279}"/>
              </a:ext>
            </a:extLst>
          </p:cNvPr>
          <p:cNvSpPr>
            <a:spLocks noGrp="1"/>
          </p:cNvSpPr>
          <p:nvPr/>
        </p:nvSpPr>
        <p:spPr>
          <a:xfrm>
            <a:off x="8507730" y="3746467"/>
            <a:ext cx="1009650" cy="224750"/>
          </a:xfrm>
          <a:prstGeom prst="rect">
            <a:avLst/>
          </a:prstGeom>
          <a:noFill/>
          <a:ln w="0">
            <a:noFill/>
            <a:prstDash val="solid"/>
          </a:ln>
        </p:spPr>
        <p:txBody>
          <a:bodyPr wrap="none" lIns="0" tIns="0" rIns="0" bIns="0" anchor="t">
            <a:normAutofit/>
          </a:bodyPr>
          <a:lstStyle/>
          <a:p>
            <a:pPr algn="ctr">
              <a:buNone/>
              <a:defRPr sz="1125" b="1">
                <a:solidFill>
                  <a:srgbClr val="3D8DFF"/>
                </a:solidFill>
                <a:latin typeface="Microsoft YaHei"/>
                <a:ea typeface="Microsoft YaHei"/>
                <a:cs typeface="Microsoft YaHei"/>
              </a:defRPr>
            </a:pPr>
            <a:r>
              <a:rPr sz="1125" b="1">
                <a:solidFill>
                  <a:srgbClr val="17365D"/>
                </a:solidFill>
                <a:latin typeface="Microsoft YaHei"/>
                <a:ea typeface="Microsoft YaHei"/>
                <a:cs typeface="Microsoft YaHei"/>
              </a:rPr>
              <a:t>容量</a:t>
            </a:r>
          </a:p>
        </p:txBody>
      </p:sp>
      <p:sp>
        <p:nvSpPr>
          <p:cNvPr id="69" name="MorphCell_2_2">
            <a:extLst>
              <a:ext uri="{FF2B5EF4-FFF2-40B4-BE49-F238E27FC236}">
                <a16:creationId xmlns:a16="http://schemas.microsoft.com/office/drawing/2014/main" id="{3D6EA895-60DA-4B38-8746-41D2D71C72EF}"/>
              </a:ext>
            </a:extLst>
          </p:cNvPr>
          <p:cNvSpPr>
            <a:spLocks noGrp="1"/>
          </p:cNvSpPr>
          <p:nvPr/>
        </p:nvSpPr>
        <p:spPr>
          <a:xfrm>
            <a:off x="9698355" y="3641692"/>
            <a:ext cx="1143000" cy="430771"/>
          </a:xfrm>
          <a:prstGeom prst="roundRect">
            <a:avLst>
              <a:gd name="adj" fmla="val 10870"/>
            </a:avLst>
          </a:prstGeom>
          <a:solidFill>
            <a:srgbClr val="FFFFFF"/>
          </a:solidFill>
          <a:ln w="9525">
            <a:solidFill>
              <a:srgbClr val="D7DBE2"/>
            </a:solidFill>
            <a:prstDash val="solid"/>
          </a:ln>
        </p:spPr>
      </p:sp>
      <p:sp>
        <p:nvSpPr>
          <p:cNvPr id="70" name="MorphText_2_2">
            <a:extLst>
              <a:ext uri="{FF2B5EF4-FFF2-40B4-BE49-F238E27FC236}">
                <a16:creationId xmlns:a16="http://schemas.microsoft.com/office/drawing/2014/main" id="{AB93D654-9C8E-404A-AA70-107B7CFA9D3B}"/>
              </a:ext>
            </a:extLst>
          </p:cNvPr>
          <p:cNvSpPr>
            <a:spLocks noGrp="1"/>
          </p:cNvSpPr>
          <p:nvPr/>
        </p:nvSpPr>
        <p:spPr>
          <a:xfrm>
            <a:off x="9765030" y="3746467"/>
            <a:ext cx="1009650" cy="224750"/>
          </a:xfrm>
          <a:prstGeom prst="rect">
            <a:avLst/>
          </a:prstGeom>
          <a:noFill/>
          <a:ln w="0">
            <a:noFill/>
            <a:prstDash val="solid"/>
          </a:ln>
        </p:spPr>
        <p:txBody>
          <a:bodyPr wrap="none" lIns="0" tIns="0" rIns="0" bIns="0" anchor="t">
            <a:normAutofit/>
          </a:bodyPr>
          <a:lstStyle/>
          <a:p>
            <a:pPr algn="ctr">
              <a:buNone/>
              <a:defRPr sz="1125" b="0">
                <a:solidFill>
                  <a:srgbClr val="5F6B7A"/>
                </a:solidFill>
                <a:latin typeface="Microsoft YaHei"/>
                <a:ea typeface="Microsoft YaHei"/>
                <a:cs typeface="Microsoft YaHei"/>
              </a:defRPr>
            </a:pPr>
            <a:r>
              <a:rPr sz="1125" b="0">
                <a:solidFill>
                  <a:srgbClr val="5F6B7A"/>
                </a:solidFill>
                <a:latin typeface="Microsoft YaHei"/>
                <a:ea typeface="Microsoft YaHei"/>
                <a:cs typeface="Microsoft YaHei"/>
              </a:rPr>
              <a:t>备用</a:t>
            </a:r>
          </a:p>
        </p:txBody>
      </p:sp>
      <p:sp>
        <p:nvSpPr>
          <p:cNvPr id="71" name="MorphCell_2_3">
            <a:extLst>
              <a:ext uri="{FF2B5EF4-FFF2-40B4-BE49-F238E27FC236}">
                <a16:creationId xmlns:a16="http://schemas.microsoft.com/office/drawing/2014/main" id="{A11A568B-5B12-4F27-ABA3-FE6DB3E15C10}"/>
              </a:ext>
            </a:extLst>
          </p:cNvPr>
          <p:cNvSpPr>
            <a:spLocks noGrp="1"/>
          </p:cNvSpPr>
          <p:nvPr/>
        </p:nvSpPr>
        <p:spPr>
          <a:xfrm>
            <a:off x="10955655" y="3641692"/>
            <a:ext cx="1143000" cy="430771"/>
          </a:xfrm>
          <a:prstGeom prst="roundRect">
            <a:avLst>
              <a:gd name="adj" fmla="val 10870"/>
            </a:avLst>
          </a:prstGeom>
          <a:solidFill>
            <a:srgbClr val="FFFFFF"/>
          </a:solidFill>
          <a:ln w="9525">
            <a:solidFill>
              <a:srgbClr val="D7DBE2"/>
            </a:solidFill>
            <a:prstDash val="solid"/>
          </a:ln>
        </p:spPr>
      </p:sp>
      <p:sp>
        <p:nvSpPr>
          <p:cNvPr id="72" name="MorphText_2_3">
            <a:extLst>
              <a:ext uri="{FF2B5EF4-FFF2-40B4-BE49-F238E27FC236}">
                <a16:creationId xmlns:a16="http://schemas.microsoft.com/office/drawing/2014/main" id="{8E127917-F53B-4E13-B81A-DAAD79A4AF43}"/>
              </a:ext>
            </a:extLst>
          </p:cNvPr>
          <p:cNvSpPr>
            <a:spLocks noGrp="1"/>
          </p:cNvSpPr>
          <p:nvPr/>
        </p:nvSpPr>
        <p:spPr>
          <a:xfrm>
            <a:off x="11022330" y="3746467"/>
            <a:ext cx="1009650" cy="224750"/>
          </a:xfrm>
          <a:prstGeom prst="rect">
            <a:avLst/>
          </a:prstGeom>
          <a:noFill/>
          <a:ln w="0">
            <a:noFill/>
            <a:prstDash val="solid"/>
          </a:ln>
        </p:spPr>
        <p:txBody>
          <a:bodyPr wrap="none" lIns="0" tIns="0" rIns="0" bIns="0" anchor="t">
            <a:normAutofit/>
          </a:bodyPr>
          <a:lstStyle/>
          <a:p>
            <a:pPr algn="ctr">
              <a:buNone/>
              <a:defRPr sz="1125" b="0">
                <a:solidFill>
                  <a:srgbClr val="5F6B7A"/>
                </a:solidFill>
                <a:latin typeface="Microsoft YaHei"/>
                <a:ea typeface="Microsoft YaHei"/>
                <a:cs typeface="Microsoft YaHei"/>
              </a:defRPr>
            </a:pPr>
            <a:r>
              <a:rPr sz="1125" b="0">
                <a:solidFill>
                  <a:srgbClr val="5F6B7A"/>
                </a:solidFill>
                <a:latin typeface="Microsoft YaHei"/>
                <a:ea typeface="Microsoft YaHei"/>
                <a:cs typeface="Microsoft YaHei"/>
              </a:rPr>
              <a:t>拥塞管理</a:t>
            </a:r>
          </a:p>
        </p:txBody>
      </p:sp>
      <p:sp>
        <p:nvSpPr>
          <p:cNvPr id="73" name="Dim_3">
            <a:extLst>
              <a:ext uri="{FF2B5EF4-FFF2-40B4-BE49-F238E27FC236}">
                <a16:creationId xmlns:a16="http://schemas.microsoft.com/office/drawing/2014/main" id="{C54DC171-9FED-4606-BFA3-33D133D44433}"/>
              </a:ext>
            </a:extLst>
          </p:cNvPr>
          <p:cNvSpPr>
            <a:spLocks noGrp="1"/>
          </p:cNvSpPr>
          <p:nvPr/>
        </p:nvSpPr>
        <p:spPr>
          <a:xfrm>
            <a:off x="6421755" y="4279867"/>
            <a:ext cx="1200150" cy="299667"/>
          </a:xfrm>
          <a:prstGeom prst="rect">
            <a:avLst/>
          </a:prstGeom>
          <a:noFill/>
          <a:ln w="0">
            <a:noFill/>
            <a:prstDash val="solid"/>
          </a:ln>
        </p:spPr>
        <p:txBody>
          <a:bodyPr wrap="none" lIns="0" tIns="0" rIns="0" bIns="0" anchor="ctr">
            <a:normAutofit/>
          </a:bodyPr>
          <a:lstStyle/>
          <a:p>
            <a:pPr algn="l">
              <a:buNone/>
              <a:defRPr sz="1238" b="1">
                <a:solidFill>
                  <a:srgbClr val="111827"/>
                </a:solidFill>
                <a:latin typeface="Microsoft YaHei"/>
                <a:ea typeface="Microsoft YaHei"/>
                <a:cs typeface="Microsoft YaHei"/>
              </a:defRPr>
            </a:pPr>
            <a:r>
              <a:rPr sz="1238" b="1">
                <a:solidFill>
                  <a:srgbClr val="111827"/>
                </a:solidFill>
                <a:latin typeface="Microsoft YaHei"/>
                <a:ea typeface="Microsoft YaHei"/>
                <a:cs typeface="Microsoft YaHei"/>
              </a:rPr>
              <a:t>配置方式</a:t>
            </a:r>
          </a:p>
        </p:txBody>
      </p:sp>
      <p:sp>
        <p:nvSpPr>
          <p:cNvPr id="74" name="MorphCell_3_0">
            <a:extLst>
              <a:ext uri="{FF2B5EF4-FFF2-40B4-BE49-F238E27FC236}">
                <a16:creationId xmlns:a16="http://schemas.microsoft.com/office/drawing/2014/main" id="{3193F6A1-42A1-4926-A657-88F4C559CA6A}"/>
              </a:ext>
            </a:extLst>
          </p:cNvPr>
          <p:cNvSpPr>
            <a:spLocks noGrp="1"/>
          </p:cNvSpPr>
          <p:nvPr/>
        </p:nvSpPr>
        <p:spPr>
          <a:xfrm>
            <a:off x="7183755" y="4279867"/>
            <a:ext cx="1143000" cy="430771"/>
          </a:xfrm>
          <a:prstGeom prst="roundRect">
            <a:avLst>
              <a:gd name="adj" fmla="val 10870"/>
            </a:avLst>
          </a:prstGeom>
          <a:solidFill>
            <a:srgbClr val="FFFFFF"/>
          </a:solidFill>
          <a:ln w="9525">
            <a:solidFill>
              <a:srgbClr val="D7DBE2"/>
            </a:solidFill>
            <a:prstDash val="solid"/>
          </a:ln>
        </p:spPr>
      </p:sp>
      <p:sp>
        <p:nvSpPr>
          <p:cNvPr id="75" name="MorphText_3_0">
            <a:extLst>
              <a:ext uri="{FF2B5EF4-FFF2-40B4-BE49-F238E27FC236}">
                <a16:creationId xmlns:a16="http://schemas.microsoft.com/office/drawing/2014/main" id="{6BA919A8-9AA2-42C2-A684-618B49197A43}"/>
              </a:ext>
            </a:extLst>
          </p:cNvPr>
          <p:cNvSpPr>
            <a:spLocks noGrp="1"/>
          </p:cNvSpPr>
          <p:nvPr/>
        </p:nvSpPr>
        <p:spPr>
          <a:xfrm>
            <a:off x="7250430" y="4384642"/>
            <a:ext cx="1009650" cy="224750"/>
          </a:xfrm>
          <a:prstGeom prst="rect">
            <a:avLst/>
          </a:prstGeom>
          <a:noFill/>
          <a:ln w="0">
            <a:noFill/>
            <a:prstDash val="solid"/>
          </a:ln>
        </p:spPr>
        <p:txBody>
          <a:bodyPr wrap="none" lIns="0" tIns="0" rIns="0" bIns="0" anchor="t">
            <a:normAutofit/>
          </a:bodyPr>
          <a:lstStyle/>
          <a:p>
            <a:pPr algn="ctr">
              <a:buNone/>
              <a:defRPr sz="1125" b="0">
                <a:solidFill>
                  <a:srgbClr val="5F6B7A"/>
                </a:solidFill>
                <a:latin typeface="Microsoft YaHei"/>
                <a:ea typeface="Microsoft YaHei"/>
                <a:cs typeface="Microsoft YaHei"/>
              </a:defRPr>
            </a:pPr>
            <a:r>
              <a:rPr sz="1125" b="0">
                <a:solidFill>
                  <a:srgbClr val="5F6B7A"/>
                </a:solidFill>
                <a:latin typeface="Microsoft YaHei"/>
                <a:ea typeface="Microsoft YaHei"/>
                <a:cs typeface="Microsoft YaHei"/>
              </a:rPr>
              <a:t>集中拍卖</a:t>
            </a:r>
          </a:p>
        </p:txBody>
      </p:sp>
      <p:sp>
        <p:nvSpPr>
          <p:cNvPr id="76" name="MorphCell_3_1">
            <a:extLst>
              <a:ext uri="{FF2B5EF4-FFF2-40B4-BE49-F238E27FC236}">
                <a16:creationId xmlns:a16="http://schemas.microsoft.com/office/drawing/2014/main" id="{65337675-85F3-42F0-81BE-04505F5D561A}"/>
              </a:ext>
            </a:extLst>
          </p:cNvPr>
          <p:cNvSpPr>
            <a:spLocks noGrp="1"/>
          </p:cNvSpPr>
          <p:nvPr/>
        </p:nvSpPr>
        <p:spPr>
          <a:xfrm>
            <a:off x="8441055" y="4279867"/>
            <a:ext cx="1143000" cy="430771"/>
          </a:xfrm>
          <a:prstGeom prst="roundRect">
            <a:avLst>
              <a:gd name="adj" fmla="val 10870"/>
            </a:avLst>
          </a:prstGeom>
          <a:solidFill>
            <a:srgbClr val="FFFFFF"/>
          </a:solidFill>
          <a:ln w="9525">
            <a:solidFill>
              <a:srgbClr val="D7DBE2"/>
            </a:solidFill>
            <a:prstDash val="solid"/>
          </a:ln>
        </p:spPr>
      </p:sp>
      <p:sp>
        <p:nvSpPr>
          <p:cNvPr id="77" name="MorphText_3_1">
            <a:extLst>
              <a:ext uri="{FF2B5EF4-FFF2-40B4-BE49-F238E27FC236}">
                <a16:creationId xmlns:a16="http://schemas.microsoft.com/office/drawing/2014/main" id="{349DC6A9-A622-4107-AE7B-52B14CF4169D}"/>
              </a:ext>
            </a:extLst>
          </p:cNvPr>
          <p:cNvSpPr>
            <a:spLocks noGrp="1"/>
          </p:cNvSpPr>
          <p:nvPr/>
        </p:nvSpPr>
        <p:spPr>
          <a:xfrm>
            <a:off x="8507730" y="4384642"/>
            <a:ext cx="1009650" cy="224750"/>
          </a:xfrm>
          <a:prstGeom prst="rect">
            <a:avLst/>
          </a:prstGeom>
          <a:noFill/>
          <a:ln w="0">
            <a:noFill/>
            <a:prstDash val="solid"/>
          </a:ln>
        </p:spPr>
        <p:txBody>
          <a:bodyPr wrap="none" lIns="0" tIns="0" rIns="0" bIns="0" anchor="t">
            <a:normAutofit/>
          </a:bodyPr>
          <a:lstStyle/>
          <a:p>
            <a:pPr algn="ctr">
              <a:buNone/>
              <a:defRPr sz="1125" b="0">
                <a:solidFill>
                  <a:srgbClr val="5F6B7A"/>
                </a:solidFill>
                <a:latin typeface="Microsoft YaHei"/>
                <a:ea typeface="Microsoft YaHei"/>
                <a:cs typeface="Microsoft YaHei"/>
              </a:defRPr>
            </a:pPr>
            <a:r>
              <a:rPr sz="1125" b="0">
                <a:solidFill>
                  <a:srgbClr val="5F6B7A"/>
                </a:solidFill>
                <a:latin typeface="Microsoft YaHei"/>
                <a:ea typeface="Microsoft YaHei"/>
                <a:cs typeface="Microsoft YaHei"/>
              </a:rPr>
              <a:t>连续交易</a:t>
            </a:r>
          </a:p>
        </p:txBody>
      </p:sp>
      <p:sp>
        <p:nvSpPr>
          <p:cNvPr id="78" name="MorphCell_3_2">
            <a:extLst>
              <a:ext uri="{FF2B5EF4-FFF2-40B4-BE49-F238E27FC236}">
                <a16:creationId xmlns:a16="http://schemas.microsoft.com/office/drawing/2014/main" id="{76BB7A04-F29A-4DFA-B797-6B47329309B3}"/>
              </a:ext>
            </a:extLst>
          </p:cNvPr>
          <p:cNvSpPr>
            <a:spLocks noGrp="1"/>
          </p:cNvSpPr>
          <p:nvPr/>
        </p:nvSpPr>
        <p:spPr>
          <a:xfrm>
            <a:off x="9698355" y="4279867"/>
            <a:ext cx="1143000" cy="430771"/>
          </a:xfrm>
          <a:prstGeom prst="roundRect">
            <a:avLst>
              <a:gd name="adj" fmla="val 10870"/>
            </a:avLst>
          </a:prstGeom>
          <a:solidFill>
            <a:srgbClr val="FFFFFF"/>
          </a:solidFill>
          <a:ln w="9525">
            <a:solidFill>
              <a:srgbClr val="D7DBE2"/>
            </a:solidFill>
            <a:prstDash val="solid"/>
          </a:ln>
        </p:spPr>
      </p:sp>
      <p:sp>
        <p:nvSpPr>
          <p:cNvPr id="79" name="MorphText_3_2">
            <a:extLst>
              <a:ext uri="{FF2B5EF4-FFF2-40B4-BE49-F238E27FC236}">
                <a16:creationId xmlns:a16="http://schemas.microsoft.com/office/drawing/2014/main" id="{7FDD2DAB-4A67-4004-A763-83CA64F82BA8}"/>
              </a:ext>
            </a:extLst>
          </p:cNvPr>
          <p:cNvSpPr>
            <a:spLocks noGrp="1"/>
          </p:cNvSpPr>
          <p:nvPr/>
        </p:nvSpPr>
        <p:spPr>
          <a:xfrm>
            <a:off x="9765030" y="4384642"/>
            <a:ext cx="1009650" cy="224750"/>
          </a:xfrm>
          <a:prstGeom prst="rect">
            <a:avLst/>
          </a:prstGeom>
          <a:noFill/>
          <a:ln w="0">
            <a:noFill/>
            <a:prstDash val="solid"/>
          </a:ln>
        </p:spPr>
        <p:txBody>
          <a:bodyPr wrap="none" lIns="0" tIns="0" rIns="0" bIns="0" anchor="t">
            <a:normAutofit/>
          </a:bodyPr>
          <a:lstStyle/>
          <a:p>
            <a:pPr algn="ctr">
              <a:buNone/>
              <a:defRPr sz="1125" b="0">
                <a:solidFill>
                  <a:srgbClr val="5F6B7A"/>
                </a:solidFill>
                <a:latin typeface="Microsoft YaHei"/>
                <a:ea typeface="Microsoft YaHei"/>
                <a:cs typeface="Microsoft YaHei"/>
              </a:defRPr>
            </a:pPr>
            <a:r>
              <a:rPr sz="1125" b="0">
                <a:solidFill>
                  <a:srgbClr val="5F6B7A"/>
                </a:solidFill>
                <a:latin typeface="Microsoft YaHei"/>
                <a:ea typeface="Microsoft YaHei"/>
                <a:cs typeface="Microsoft YaHei"/>
              </a:rPr>
              <a:t>双边</a:t>
            </a:r>
          </a:p>
        </p:txBody>
      </p:sp>
      <p:sp>
        <p:nvSpPr>
          <p:cNvPr id="80" name="MorphCell_3_3">
            <a:extLst>
              <a:ext uri="{FF2B5EF4-FFF2-40B4-BE49-F238E27FC236}">
                <a16:creationId xmlns:a16="http://schemas.microsoft.com/office/drawing/2014/main" id="{EE9DF649-AA21-45CF-83F3-E916B0310467}"/>
              </a:ext>
            </a:extLst>
          </p:cNvPr>
          <p:cNvSpPr>
            <a:spLocks noGrp="1"/>
          </p:cNvSpPr>
          <p:nvPr/>
        </p:nvSpPr>
        <p:spPr>
          <a:xfrm>
            <a:off x="10955655" y="4279867"/>
            <a:ext cx="1143000" cy="430771"/>
          </a:xfrm>
          <a:prstGeom prst="roundRect">
            <a:avLst>
              <a:gd name="adj" fmla="val 10870"/>
            </a:avLst>
          </a:prstGeom>
          <a:solidFill>
            <a:srgbClr val="E9EFF7"/>
          </a:solidFill>
          <a:ln w="17145">
            <a:solidFill>
              <a:srgbClr val="17365D"/>
            </a:solidFill>
            <a:prstDash val="solid"/>
          </a:ln>
        </p:spPr>
      </p:sp>
      <p:sp>
        <p:nvSpPr>
          <p:cNvPr id="81" name="MorphText_3_3">
            <a:extLst>
              <a:ext uri="{FF2B5EF4-FFF2-40B4-BE49-F238E27FC236}">
                <a16:creationId xmlns:a16="http://schemas.microsoft.com/office/drawing/2014/main" id="{ED19F872-B42D-48BB-B7CA-B20C868540CB}"/>
              </a:ext>
            </a:extLst>
          </p:cNvPr>
          <p:cNvSpPr>
            <a:spLocks noGrp="1"/>
          </p:cNvSpPr>
          <p:nvPr/>
        </p:nvSpPr>
        <p:spPr>
          <a:xfrm>
            <a:off x="11022330" y="4384642"/>
            <a:ext cx="1009650" cy="224750"/>
          </a:xfrm>
          <a:prstGeom prst="rect">
            <a:avLst/>
          </a:prstGeom>
          <a:noFill/>
          <a:ln w="0">
            <a:noFill/>
            <a:prstDash val="solid"/>
          </a:ln>
        </p:spPr>
        <p:txBody>
          <a:bodyPr wrap="none" lIns="0" tIns="0" rIns="0" bIns="0" anchor="t">
            <a:normAutofit/>
          </a:bodyPr>
          <a:lstStyle/>
          <a:p>
            <a:pPr algn="ctr">
              <a:buNone/>
              <a:defRPr sz="1125" b="1">
                <a:solidFill>
                  <a:srgbClr val="3D8DFF"/>
                </a:solidFill>
                <a:latin typeface="Microsoft YaHei"/>
                <a:ea typeface="Microsoft YaHei"/>
                <a:cs typeface="Microsoft YaHei"/>
              </a:defRPr>
            </a:pPr>
            <a:r>
              <a:rPr sz="1125" b="1">
                <a:solidFill>
                  <a:srgbClr val="17365D"/>
                </a:solidFill>
                <a:latin typeface="Microsoft YaHei"/>
                <a:ea typeface="Microsoft YaHei"/>
                <a:cs typeface="Microsoft YaHei"/>
              </a:rPr>
              <a:t>优化出清</a:t>
            </a:r>
          </a:p>
        </p:txBody>
      </p:sp>
      <p:sp>
        <p:nvSpPr>
          <p:cNvPr id="82" name="Dim_4">
            <a:extLst>
              <a:ext uri="{FF2B5EF4-FFF2-40B4-BE49-F238E27FC236}">
                <a16:creationId xmlns:a16="http://schemas.microsoft.com/office/drawing/2014/main" id="{F9570BA4-8C3F-465D-A634-26C35DEC385F}"/>
              </a:ext>
            </a:extLst>
          </p:cNvPr>
          <p:cNvSpPr>
            <a:spLocks noGrp="1"/>
          </p:cNvSpPr>
          <p:nvPr/>
        </p:nvSpPr>
        <p:spPr>
          <a:xfrm>
            <a:off x="6421755" y="4918042"/>
            <a:ext cx="1200150" cy="299667"/>
          </a:xfrm>
          <a:prstGeom prst="rect">
            <a:avLst/>
          </a:prstGeom>
          <a:noFill/>
          <a:ln w="0">
            <a:noFill/>
            <a:prstDash val="solid"/>
          </a:ln>
        </p:spPr>
        <p:txBody>
          <a:bodyPr wrap="none" lIns="0" tIns="0" rIns="0" bIns="0" anchor="ctr">
            <a:normAutofit/>
          </a:bodyPr>
          <a:lstStyle/>
          <a:p>
            <a:pPr algn="l">
              <a:buNone/>
              <a:defRPr sz="1238" b="1">
                <a:solidFill>
                  <a:srgbClr val="111827"/>
                </a:solidFill>
                <a:latin typeface="Microsoft YaHei"/>
                <a:ea typeface="Microsoft YaHei"/>
                <a:cs typeface="Microsoft YaHei"/>
              </a:defRPr>
            </a:pPr>
            <a:r>
              <a:rPr sz="1238" b="1">
                <a:solidFill>
                  <a:srgbClr val="111827"/>
                </a:solidFill>
                <a:latin typeface="Microsoft YaHei"/>
                <a:ea typeface="Microsoft YaHei"/>
                <a:cs typeface="Microsoft YaHei"/>
              </a:rPr>
              <a:t>定价方式</a:t>
            </a:r>
          </a:p>
        </p:txBody>
      </p:sp>
      <p:sp>
        <p:nvSpPr>
          <p:cNvPr id="86" name="MorphCell_4_0">
            <a:extLst>
              <a:ext uri="{FF2B5EF4-FFF2-40B4-BE49-F238E27FC236}">
                <a16:creationId xmlns:a16="http://schemas.microsoft.com/office/drawing/2014/main" id="{478D1077-8658-476D-9A0F-EB3F2FB48C64}"/>
              </a:ext>
            </a:extLst>
          </p:cNvPr>
          <p:cNvSpPr>
            <a:spLocks noGrp="1"/>
          </p:cNvSpPr>
          <p:nvPr/>
        </p:nvSpPr>
        <p:spPr>
          <a:xfrm>
            <a:off x="7183755" y="4918042"/>
            <a:ext cx="1143000" cy="430771"/>
          </a:xfrm>
          <a:prstGeom prst="roundRect">
            <a:avLst>
              <a:gd name="adj" fmla="val 10870"/>
            </a:avLst>
          </a:prstGeom>
          <a:solidFill>
            <a:srgbClr val="FFFFFF"/>
          </a:solidFill>
          <a:ln w="9525">
            <a:solidFill>
              <a:srgbClr val="D7DBE2"/>
            </a:solidFill>
            <a:prstDash val="solid"/>
          </a:ln>
        </p:spPr>
      </p:sp>
      <p:sp>
        <p:nvSpPr>
          <p:cNvPr id="87" name="MorphText_4_0">
            <a:extLst>
              <a:ext uri="{FF2B5EF4-FFF2-40B4-BE49-F238E27FC236}">
                <a16:creationId xmlns:a16="http://schemas.microsoft.com/office/drawing/2014/main" id="{DD3B17AE-10A0-47C1-AE8F-B747BA616247}"/>
              </a:ext>
            </a:extLst>
          </p:cNvPr>
          <p:cNvSpPr>
            <a:spLocks noGrp="1"/>
          </p:cNvSpPr>
          <p:nvPr/>
        </p:nvSpPr>
        <p:spPr>
          <a:xfrm>
            <a:off x="7250430" y="5022817"/>
            <a:ext cx="1009650" cy="224750"/>
          </a:xfrm>
          <a:prstGeom prst="rect">
            <a:avLst/>
          </a:prstGeom>
          <a:noFill/>
          <a:ln w="0">
            <a:noFill/>
            <a:prstDash val="solid"/>
          </a:ln>
        </p:spPr>
        <p:txBody>
          <a:bodyPr wrap="none" lIns="0" tIns="0" rIns="0" bIns="0" anchor="t">
            <a:normAutofit/>
          </a:bodyPr>
          <a:lstStyle/>
          <a:p>
            <a:pPr algn="ctr">
              <a:buNone/>
              <a:defRPr sz="1125" b="0">
                <a:solidFill>
                  <a:srgbClr val="5F6B7A"/>
                </a:solidFill>
                <a:latin typeface="Microsoft YaHei"/>
                <a:ea typeface="Microsoft YaHei"/>
                <a:cs typeface="Microsoft YaHei"/>
              </a:defRPr>
            </a:pPr>
            <a:r>
              <a:rPr sz="1125" b="0">
                <a:solidFill>
                  <a:srgbClr val="5F6B7A"/>
                </a:solidFill>
                <a:latin typeface="Microsoft YaHei"/>
                <a:ea typeface="Microsoft YaHei"/>
                <a:cs typeface="Microsoft YaHei"/>
              </a:rPr>
              <a:t>统一价格</a:t>
            </a:r>
          </a:p>
        </p:txBody>
      </p:sp>
      <p:sp>
        <p:nvSpPr>
          <p:cNvPr id="88" name="MorphCell_4_1">
            <a:extLst>
              <a:ext uri="{FF2B5EF4-FFF2-40B4-BE49-F238E27FC236}">
                <a16:creationId xmlns:a16="http://schemas.microsoft.com/office/drawing/2014/main" id="{6EB7E5A5-EBE6-41CA-A77C-3E59803100B8}"/>
              </a:ext>
            </a:extLst>
          </p:cNvPr>
          <p:cNvSpPr>
            <a:spLocks noGrp="1"/>
          </p:cNvSpPr>
          <p:nvPr/>
        </p:nvSpPr>
        <p:spPr>
          <a:xfrm>
            <a:off x="8441055" y="4918042"/>
            <a:ext cx="1143000" cy="430771"/>
          </a:xfrm>
          <a:prstGeom prst="roundRect">
            <a:avLst>
              <a:gd name="adj" fmla="val 10870"/>
            </a:avLst>
          </a:prstGeom>
          <a:solidFill>
            <a:srgbClr val="FFFFFF"/>
          </a:solidFill>
          <a:ln w="9525">
            <a:solidFill>
              <a:srgbClr val="D7DBE2"/>
            </a:solidFill>
            <a:prstDash val="solid"/>
          </a:ln>
        </p:spPr>
      </p:sp>
      <p:sp>
        <p:nvSpPr>
          <p:cNvPr id="89" name="MorphText_4_1">
            <a:extLst>
              <a:ext uri="{FF2B5EF4-FFF2-40B4-BE49-F238E27FC236}">
                <a16:creationId xmlns:a16="http://schemas.microsoft.com/office/drawing/2014/main" id="{3313A818-EE7B-4A5D-A09D-B24464FDD8CD}"/>
              </a:ext>
            </a:extLst>
          </p:cNvPr>
          <p:cNvSpPr>
            <a:spLocks noGrp="1"/>
          </p:cNvSpPr>
          <p:nvPr/>
        </p:nvSpPr>
        <p:spPr>
          <a:xfrm>
            <a:off x="8507730" y="5022817"/>
            <a:ext cx="1009650" cy="224750"/>
          </a:xfrm>
          <a:prstGeom prst="rect">
            <a:avLst/>
          </a:prstGeom>
          <a:noFill/>
          <a:ln w="0">
            <a:noFill/>
            <a:prstDash val="solid"/>
          </a:ln>
        </p:spPr>
        <p:txBody>
          <a:bodyPr wrap="none" lIns="0" tIns="0" rIns="0" bIns="0" anchor="t">
            <a:normAutofit/>
          </a:bodyPr>
          <a:lstStyle/>
          <a:p>
            <a:pPr algn="ctr">
              <a:buNone/>
              <a:defRPr sz="1125" b="0">
                <a:solidFill>
                  <a:srgbClr val="5F6B7A"/>
                </a:solidFill>
                <a:latin typeface="Microsoft YaHei"/>
                <a:ea typeface="Microsoft YaHei"/>
                <a:cs typeface="Microsoft YaHei"/>
              </a:defRPr>
            </a:pPr>
            <a:r>
              <a:rPr sz="1125" b="0">
                <a:solidFill>
                  <a:srgbClr val="5F6B7A"/>
                </a:solidFill>
                <a:latin typeface="Microsoft YaHei"/>
                <a:ea typeface="Microsoft YaHei"/>
                <a:cs typeface="Microsoft YaHei"/>
              </a:rPr>
              <a:t>按报价</a:t>
            </a:r>
          </a:p>
        </p:txBody>
      </p:sp>
      <p:sp>
        <p:nvSpPr>
          <p:cNvPr id="90" name="MorphCell_4_2">
            <a:extLst>
              <a:ext uri="{FF2B5EF4-FFF2-40B4-BE49-F238E27FC236}">
                <a16:creationId xmlns:a16="http://schemas.microsoft.com/office/drawing/2014/main" id="{9B260097-3C1D-4C13-8DAD-0F2371987BBF}"/>
              </a:ext>
            </a:extLst>
          </p:cNvPr>
          <p:cNvSpPr>
            <a:spLocks noGrp="1"/>
          </p:cNvSpPr>
          <p:nvPr/>
        </p:nvSpPr>
        <p:spPr>
          <a:xfrm>
            <a:off x="9698355" y="4918042"/>
            <a:ext cx="1143000" cy="430771"/>
          </a:xfrm>
          <a:prstGeom prst="roundRect">
            <a:avLst>
              <a:gd name="adj" fmla="val 10870"/>
            </a:avLst>
          </a:prstGeom>
          <a:solidFill>
            <a:srgbClr val="E9EFF7"/>
          </a:solidFill>
          <a:ln w="17145">
            <a:solidFill>
              <a:srgbClr val="17365D"/>
            </a:solidFill>
            <a:prstDash val="solid"/>
          </a:ln>
        </p:spPr>
      </p:sp>
      <p:sp>
        <p:nvSpPr>
          <p:cNvPr id="91" name="MorphText_4_2">
            <a:extLst>
              <a:ext uri="{FF2B5EF4-FFF2-40B4-BE49-F238E27FC236}">
                <a16:creationId xmlns:a16="http://schemas.microsoft.com/office/drawing/2014/main" id="{420FF041-336D-4FC0-B098-BB0B298B3CFA}"/>
              </a:ext>
            </a:extLst>
          </p:cNvPr>
          <p:cNvSpPr>
            <a:spLocks noGrp="1"/>
          </p:cNvSpPr>
          <p:nvPr/>
        </p:nvSpPr>
        <p:spPr>
          <a:xfrm>
            <a:off x="9765030" y="5022817"/>
            <a:ext cx="1009650" cy="224750"/>
          </a:xfrm>
          <a:prstGeom prst="rect">
            <a:avLst/>
          </a:prstGeom>
          <a:noFill/>
          <a:ln w="0">
            <a:noFill/>
            <a:prstDash val="solid"/>
          </a:ln>
        </p:spPr>
        <p:txBody>
          <a:bodyPr wrap="none" lIns="0" tIns="0" rIns="0" bIns="0" anchor="t">
            <a:normAutofit/>
          </a:bodyPr>
          <a:lstStyle/>
          <a:p>
            <a:pPr algn="ctr">
              <a:buNone/>
              <a:defRPr sz="1125" b="1">
                <a:solidFill>
                  <a:srgbClr val="3D8DFF"/>
                </a:solidFill>
                <a:latin typeface="Microsoft YaHei"/>
                <a:ea typeface="Microsoft YaHei"/>
                <a:cs typeface="Microsoft YaHei"/>
              </a:defRPr>
            </a:pPr>
            <a:r>
              <a:rPr sz="1125" b="1">
                <a:solidFill>
                  <a:srgbClr val="17365D"/>
                </a:solidFill>
                <a:latin typeface="Microsoft YaHei"/>
                <a:ea typeface="Microsoft YaHei"/>
                <a:cs typeface="Microsoft YaHei"/>
              </a:rPr>
              <a:t>协商价格</a:t>
            </a:r>
          </a:p>
        </p:txBody>
      </p:sp>
      <p:sp>
        <p:nvSpPr>
          <p:cNvPr id="92" name="MorphCell_4_3">
            <a:extLst>
              <a:ext uri="{FF2B5EF4-FFF2-40B4-BE49-F238E27FC236}">
                <a16:creationId xmlns:a16="http://schemas.microsoft.com/office/drawing/2014/main" id="{4726FDFA-983F-4F9E-AA28-85B80D77F639}"/>
              </a:ext>
            </a:extLst>
          </p:cNvPr>
          <p:cNvSpPr>
            <a:spLocks noGrp="1"/>
          </p:cNvSpPr>
          <p:nvPr/>
        </p:nvSpPr>
        <p:spPr>
          <a:xfrm>
            <a:off x="10955655" y="4918042"/>
            <a:ext cx="1143000" cy="430771"/>
          </a:xfrm>
          <a:prstGeom prst="roundRect">
            <a:avLst>
              <a:gd name="adj" fmla="val 10870"/>
            </a:avLst>
          </a:prstGeom>
          <a:solidFill>
            <a:srgbClr val="FFFFFF"/>
          </a:solidFill>
          <a:ln w="9525">
            <a:solidFill>
              <a:srgbClr val="D7DBE2"/>
            </a:solidFill>
            <a:prstDash val="solid"/>
          </a:ln>
        </p:spPr>
      </p:sp>
      <p:sp>
        <p:nvSpPr>
          <p:cNvPr id="93" name="MorphText_4_3">
            <a:extLst>
              <a:ext uri="{FF2B5EF4-FFF2-40B4-BE49-F238E27FC236}">
                <a16:creationId xmlns:a16="http://schemas.microsoft.com/office/drawing/2014/main" id="{1D964B2F-0185-41F7-8B16-BA906DCBCDC6}"/>
              </a:ext>
            </a:extLst>
          </p:cNvPr>
          <p:cNvSpPr>
            <a:spLocks noGrp="1"/>
          </p:cNvSpPr>
          <p:nvPr/>
        </p:nvSpPr>
        <p:spPr>
          <a:xfrm>
            <a:off x="11022330" y="5022817"/>
            <a:ext cx="1009650" cy="224750"/>
          </a:xfrm>
          <a:prstGeom prst="rect">
            <a:avLst/>
          </a:prstGeom>
          <a:noFill/>
          <a:ln w="0">
            <a:noFill/>
            <a:prstDash val="solid"/>
          </a:ln>
        </p:spPr>
        <p:txBody>
          <a:bodyPr wrap="none" lIns="0" tIns="0" rIns="0" bIns="0" anchor="t">
            <a:normAutofit/>
          </a:bodyPr>
          <a:lstStyle/>
          <a:p>
            <a:pPr algn="ctr">
              <a:buNone/>
              <a:defRPr sz="1125" b="0">
                <a:solidFill>
                  <a:srgbClr val="5F6B7A"/>
                </a:solidFill>
                <a:latin typeface="Microsoft YaHei"/>
                <a:ea typeface="Microsoft YaHei"/>
                <a:cs typeface="Microsoft YaHei"/>
              </a:defRPr>
            </a:pPr>
            <a:r>
              <a:rPr sz="1125" b="0">
                <a:solidFill>
                  <a:srgbClr val="5F6B7A"/>
                </a:solidFill>
                <a:latin typeface="Microsoft YaHei"/>
                <a:ea typeface="Microsoft YaHei"/>
                <a:cs typeface="Microsoft YaHei"/>
              </a:rPr>
              <a:t>节点/分区</a:t>
            </a:r>
          </a:p>
        </p:txBody>
      </p:sp>
    </p:spTree>
    <p:custDataLst>
      <p:tags r:id="rId1"/>
    </p:custDataLst>
    <p:extLst>
      <p:ext uri="{BB962C8B-B14F-4D97-AF65-F5344CB8AC3E}">
        <p14:creationId xmlns:p14="http://schemas.microsoft.com/office/powerpoint/2010/main" val="3264451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14885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2.2 </a:t>
            </a:r>
            <a:r>
              <a:rPr lang="zh-CN" altLang="en-US" sz="2800" spc="0">
                <a:solidFill>
                  <a:schemeClr val="tx1"/>
                </a:solidFill>
                <a:effectLst/>
                <a:sym typeface="微软雅黑" panose="020B0503020204020204" pitchFamily="34" charset="-122"/>
              </a:rPr>
              <a:t>商业化平台是怎么干的</a:t>
            </a:r>
          </a:p>
        </p:txBody>
      </p:sp>
      <p:grpSp>
        <p:nvGrpSpPr>
          <p:cNvPr id="83" name="组合 82">
            <a:extLst>
              <a:ext uri="{FF2B5EF4-FFF2-40B4-BE49-F238E27FC236}">
                <a16:creationId xmlns:a16="http://schemas.microsoft.com/office/drawing/2014/main" id="{935A8463-3490-4A4C-9FBE-C504EB783A9E}"/>
              </a:ext>
            </a:extLst>
          </p:cNvPr>
          <p:cNvGrpSpPr/>
          <p:nvPr/>
        </p:nvGrpSpPr>
        <p:grpSpPr>
          <a:xfrm>
            <a:off x="308924" y="734752"/>
            <a:ext cx="11574151" cy="522605"/>
            <a:chOff x="308924" y="734752"/>
            <a:chExt cx="11574151" cy="522605"/>
          </a:xfrm>
        </p:grpSpPr>
        <p:sp>
          <p:nvSpPr>
            <p:cNvPr id="84" name="矩形 22">
              <a:extLst>
                <a:ext uri="{FF2B5EF4-FFF2-40B4-BE49-F238E27FC236}">
                  <a16:creationId xmlns:a16="http://schemas.microsoft.com/office/drawing/2014/main" id="{8ACE45B6-93A6-4AE3-8868-C769AFD68E32}"/>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85" name="文本框 84">
              <a:extLst>
                <a:ext uri="{FF2B5EF4-FFF2-40B4-BE49-F238E27FC236}">
                  <a16:creationId xmlns:a16="http://schemas.microsoft.com/office/drawing/2014/main" id="{3EE57984-FF8B-4D82-A0D1-4E149A2F6C71}"/>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en-US" altLang="zh-CN" sz="2000" b="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rPr>
                <a:t>Market Abstraction </a:t>
              </a:r>
              <a:r>
                <a:rPr lang="en-US" altLang="zh-CN" sz="20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of Energy Markets and Policies – Application in an Agent-Based Modeling Toolbox</a:t>
              </a:r>
              <a:endParaRPr sz="20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pic>
        <p:nvPicPr>
          <p:cNvPr id="7" name="图片 6">
            <a:extLst>
              <a:ext uri="{FF2B5EF4-FFF2-40B4-BE49-F238E27FC236}">
                <a16:creationId xmlns:a16="http://schemas.microsoft.com/office/drawing/2014/main" id="{BF3E9DE3-CF11-4C19-973B-C64BF9EB618A}"/>
              </a:ext>
            </a:extLst>
          </p:cNvPr>
          <p:cNvPicPr>
            <a:picLocks noChangeAspect="1"/>
          </p:cNvPicPr>
          <p:nvPr/>
        </p:nvPicPr>
        <p:blipFill>
          <a:blip r:embed="rId4"/>
          <a:stretch>
            <a:fillRect/>
          </a:stretch>
        </p:blipFill>
        <p:spPr>
          <a:xfrm>
            <a:off x="24809" y="1526731"/>
            <a:ext cx="6888275" cy="4507725"/>
          </a:xfrm>
          <a:prstGeom prst="rect">
            <a:avLst/>
          </a:prstGeom>
        </p:spPr>
      </p:pic>
      <p:pic>
        <p:nvPicPr>
          <p:cNvPr id="8" name="图片 7">
            <a:extLst>
              <a:ext uri="{FF2B5EF4-FFF2-40B4-BE49-F238E27FC236}">
                <a16:creationId xmlns:a16="http://schemas.microsoft.com/office/drawing/2014/main" id="{40E7F451-25D3-46A3-92C1-DF0BCCC91938}"/>
              </a:ext>
            </a:extLst>
          </p:cNvPr>
          <p:cNvPicPr>
            <a:picLocks noChangeAspect="1"/>
          </p:cNvPicPr>
          <p:nvPr/>
        </p:nvPicPr>
        <p:blipFill>
          <a:blip r:embed="rId5"/>
          <a:stretch>
            <a:fillRect/>
          </a:stretch>
        </p:blipFill>
        <p:spPr>
          <a:xfrm>
            <a:off x="6913084" y="2560581"/>
            <a:ext cx="5108587" cy="2763259"/>
          </a:xfrm>
          <a:prstGeom prst="rect">
            <a:avLst/>
          </a:prstGeom>
        </p:spPr>
      </p:pic>
      <p:sp>
        <p:nvSpPr>
          <p:cNvPr id="9" name="箭头: 右 8">
            <a:extLst>
              <a:ext uri="{FF2B5EF4-FFF2-40B4-BE49-F238E27FC236}">
                <a16:creationId xmlns:a16="http://schemas.microsoft.com/office/drawing/2014/main" id="{F854567A-8BDC-4295-969B-FFECD6A63C93}"/>
              </a:ext>
            </a:extLst>
          </p:cNvPr>
          <p:cNvSpPr/>
          <p:nvPr/>
        </p:nvSpPr>
        <p:spPr>
          <a:xfrm>
            <a:off x="6797040" y="3667760"/>
            <a:ext cx="345440" cy="304800"/>
          </a:xfrm>
          <a:prstGeom prst="rightArrow">
            <a:avLst/>
          </a:prstGeom>
          <a:ln/>
        </p:spPr>
        <p:style>
          <a:lnRef idx="0">
            <a:schemeClr val="accent5"/>
          </a:lnRef>
          <a:fillRef idx="3">
            <a:schemeClr val="accent5"/>
          </a:fillRef>
          <a:effectRef idx="3">
            <a:schemeClr val="accent5"/>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60" name="组合 59">
            <a:extLst>
              <a:ext uri="{FF2B5EF4-FFF2-40B4-BE49-F238E27FC236}">
                <a16:creationId xmlns:a16="http://schemas.microsoft.com/office/drawing/2014/main" id="{090FCC94-2F87-4020-AFFB-BCECB8333345}"/>
              </a:ext>
            </a:extLst>
          </p:cNvPr>
          <p:cNvGrpSpPr/>
          <p:nvPr/>
        </p:nvGrpSpPr>
        <p:grpSpPr>
          <a:xfrm>
            <a:off x="24809" y="1288243"/>
            <a:ext cx="12192000" cy="5630191"/>
            <a:chOff x="24809" y="1288243"/>
            <a:chExt cx="12192000" cy="5630191"/>
          </a:xfrm>
        </p:grpSpPr>
        <p:pic>
          <p:nvPicPr>
            <p:cNvPr id="10" name="图片 9">
              <a:extLst>
                <a:ext uri="{FF2B5EF4-FFF2-40B4-BE49-F238E27FC236}">
                  <a16:creationId xmlns:a16="http://schemas.microsoft.com/office/drawing/2014/main" id="{67493FB3-BA84-41D1-A74F-66F3B0CF330B}"/>
                </a:ext>
              </a:extLst>
            </p:cNvPr>
            <p:cNvPicPr>
              <a:picLocks noChangeAspect="1"/>
            </p:cNvPicPr>
            <p:nvPr/>
          </p:nvPicPr>
          <p:blipFill>
            <a:blip r:embed="rId6"/>
            <a:stretch>
              <a:fillRect/>
            </a:stretch>
          </p:blipFill>
          <p:spPr>
            <a:xfrm>
              <a:off x="24809" y="3429000"/>
              <a:ext cx="12192000" cy="3489434"/>
            </a:xfrm>
            <a:prstGeom prst="rect">
              <a:avLst/>
            </a:prstGeom>
          </p:spPr>
        </p:pic>
        <p:pic>
          <p:nvPicPr>
            <p:cNvPr id="59" name="图片 58">
              <a:extLst>
                <a:ext uri="{FF2B5EF4-FFF2-40B4-BE49-F238E27FC236}">
                  <a16:creationId xmlns:a16="http://schemas.microsoft.com/office/drawing/2014/main" id="{EBE63A99-BDC3-45B6-88B4-8A85C41CB195}"/>
                </a:ext>
              </a:extLst>
            </p:cNvPr>
            <p:cNvPicPr>
              <a:picLocks noChangeAspect="1"/>
            </p:cNvPicPr>
            <p:nvPr/>
          </p:nvPicPr>
          <p:blipFill>
            <a:blip r:embed="rId7"/>
            <a:stretch>
              <a:fillRect/>
            </a:stretch>
          </p:blipFill>
          <p:spPr>
            <a:xfrm>
              <a:off x="43049" y="1288243"/>
              <a:ext cx="4541342" cy="2140757"/>
            </a:xfrm>
            <a:prstGeom prst="rect">
              <a:avLst/>
            </a:prstGeom>
          </p:spPr>
        </p:pic>
      </p:grpSp>
      <p:sp>
        <p:nvSpPr>
          <p:cNvPr id="105" name="矩形 104">
            <a:extLst>
              <a:ext uri="{FF2B5EF4-FFF2-40B4-BE49-F238E27FC236}">
                <a16:creationId xmlns:a16="http://schemas.microsoft.com/office/drawing/2014/main" id="{50CFC757-2AD0-44E6-8400-9D9AA9F665B2}"/>
              </a:ext>
            </a:extLst>
          </p:cNvPr>
          <p:cNvSpPr/>
          <p:nvPr/>
        </p:nvSpPr>
        <p:spPr>
          <a:xfrm>
            <a:off x="6845959" y="1455334"/>
            <a:ext cx="5235867" cy="1200329"/>
          </a:xfrm>
          <a:prstGeom prst="rect">
            <a:avLst/>
          </a:prstGeom>
        </p:spPr>
        <p:txBody>
          <a:bodyPr wrap="square">
            <a:spAutoFit/>
          </a:bodyPr>
          <a:lstStyle/>
          <a:p>
            <a:pPr marL="285750" indent="-285750" algn="just">
              <a:buFont typeface="Wingdings" panose="05000000000000000000" pitchFamily="2" charset="2"/>
              <a:buChar char="p"/>
            </a:pPr>
            <a:r>
              <a:rPr lang="zh-CN" altLang="en-US" b="1">
                <a:latin typeface="微软雅黑" panose="020B0503020204020204" pitchFamily="34" charset="-122"/>
                <a:ea typeface="微软雅黑" panose="020B0503020204020204" pitchFamily="34" charset="-122"/>
              </a:rPr>
              <a:t>从现有仿真工具、</a:t>
            </a:r>
            <a:r>
              <a:rPr lang="en-US" altLang="zh-CN" b="1">
                <a:latin typeface="微软雅黑" panose="020B0503020204020204" pitchFamily="34" charset="-122"/>
                <a:ea typeface="微软雅黑" panose="020B0503020204020204" pitchFamily="34" charset="-122"/>
              </a:rPr>
              <a:t>categorization </a:t>
            </a:r>
            <a:r>
              <a:rPr lang="zh-CN" altLang="en-US" b="1">
                <a:latin typeface="微软雅黑" panose="020B0503020204020204" pitchFamily="34" charset="-122"/>
                <a:ea typeface="微软雅黑" panose="020B0503020204020204" pitchFamily="34" charset="-122"/>
              </a:rPr>
              <a:t>与 </a:t>
            </a:r>
            <a:r>
              <a:rPr lang="en-US" altLang="zh-CN" b="1">
                <a:latin typeface="微软雅黑" panose="020B0503020204020204" pitchFamily="34" charset="-122"/>
                <a:ea typeface="微软雅黑" panose="020B0503020204020204" pitchFamily="34" charset="-122"/>
              </a:rPr>
              <a:t>ontologies </a:t>
            </a:r>
            <a:r>
              <a:rPr lang="zh-CN" altLang="en-US" b="1">
                <a:latin typeface="微软雅黑" panose="020B0503020204020204" pitchFamily="34" charset="-122"/>
                <a:ea typeface="微软雅黑" panose="020B0503020204020204" pitchFamily="34" charset="-122"/>
              </a:rPr>
              <a:t>中提取市场参数，形成 </a:t>
            </a:r>
            <a:r>
              <a:rPr lang="en-US" altLang="zh-CN" b="1">
                <a:latin typeface="微软雅黑" panose="020B0503020204020204" pitchFamily="34" charset="-122"/>
                <a:ea typeface="微软雅黑" panose="020B0503020204020204" pitchFamily="34" charset="-122"/>
              </a:rPr>
              <a:t>Market Abstraction</a:t>
            </a:r>
            <a:r>
              <a:rPr lang="en-US" altLang="zh-CN" b="1">
                <a:latin typeface="微软雅黑" panose="020B0503020204020204" pitchFamily="34" charset="-122"/>
                <a:ea typeface="微软雅黑" panose="020B0503020204020204" pitchFamily="34" charset="-122"/>
                <a:sym typeface="Wingdings" panose="05000000000000000000" pitchFamily="2" charset="2"/>
              </a:rPr>
              <a:t></a:t>
            </a:r>
            <a:r>
              <a:rPr lang="zh-CN" altLang="en-US" b="1">
                <a:latin typeface="微软雅黑" panose="020B0503020204020204" pitchFamily="34" charset="-122"/>
                <a:ea typeface="微软雅黑" panose="020B0503020204020204" pitchFamily="34" charset="-122"/>
              </a:rPr>
              <a:t>接入 </a:t>
            </a:r>
            <a:r>
              <a:rPr lang="en-US" altLang="zh-CN" b="1">
                <a:solidFill>
                  <a:srgbClr val="C00000"/>
                </a:solidFill>
                <a:latin typeface="微软雅黑" panose="020B0503020204020204" pitchFamily="34" charset="-122"/>
                <a:ea typeface="微软雅黑" panose="020B0503020204020204" pitchFamily="34" charset="-122"/>
              </a:rPr>
              <a:t>agent-based modeling toolbox</a:t>
            </a:r>
            <a:endParaRPr lang="zh-CN" altLang="en-US" b="1">
              <a:solidFill>
                <a:srgbClr val="C00000"/>
              </a:solidFill>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4093758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14885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2.2 </a:t>
            </a:r>
            <a:r>
              <a:rPr lang="zh-CN" altLang="en-US" sz="2800" spc="0">
                <a:solidFill>
                  <a:schemeClr val="tx1"/>
                </a:solidFill>
                <a:effectLst/>
                <a:sym typeface="微软雅黑" panose="020B0503020204020204" pitchFamily="34" charset="-122"/>
              </a:rPr>
              <a:t>商业化平台是怎么干的</a:t>
            </a:r>
          </a:p>
        </p:txBody>
      </p:sp>
      <p:grpSp>
        <p:nvGrpSpPr>
          <p:cNvPr id="83" name="组合 82">
            <a:extLst>
              <a:ext uri="{FF2B5EF4-FFF2-40B4-BE49-F238E27FC236}">
                <a16:creationId xmlns:a16="http://schemas.microsoft.com/office/drawing/2014/main" id="{935A8463-3490-4A4C-9FBE-C504EB783A9E}"/>
              </a:ext>
            </a:extLst>
          </p:cNvPr>
          <p:cNvGrpSpPr/>
          <p:nvPr/>
        </p:nvGrpSpPr>
        <p:grpSpPr>
          <a:xfrm>
            <a:off x="308924" y="734752"/>
            <a:ext cx="11574151" cy="522605"/>
            <a:chOff x="308924" y="734752"/>
            <a:chExt cx="11574151" cy="522605"/>
          </a:xfrm>
        </p:grpSpPr>
        <p:sp>
          <p:nvSpPr>
            <p:cNvPr id="84" name="矩形 22">
              <a:extLst>
                <a:ext uri="{FF2B5EF4-FFF2-40B4-BE49-F238E27FC236}">
                  <a16:creationId xmlns:a16="http://schemas.microsoft.com/office/drawing/2014/main" id="{8ACE45B6-93A6-4AE3-8868-C769AFD68E32}"/>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85" name="文本框 84">
              <a:extLst>
                <a:ext uri="{FF2B5EF4-FFF2-40B4-BE49-F238E27FC236}">
                  <a16:creationId xmlns:a16="http://schemas.microsoft.com/office/drawing/2014/main" id="{3EE57984-FF8B-4D82-A0D1-4E149A2F6C71}"/>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商业化市场设计平台把规则参数化，由专家进行配置，并将配置直接部署为可运行市场</a:t>
              </a:r>
            </a:p>
            <a:p>
              <a:pPr indent="0" algn="ctr">
                <a:lnSpc>
                  <a:spcPct val="100000"/>
                </a:lnSpc>
                <a:buFont typeface="Wingdings" panose="05000000000000000000" charset="0"/>
                <a:buNone/>
              </a:pPr>
              <a:endParaRPr sz="22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sp>
        <p:nvSpPr>
          <p:cNvPr id="13" name="LaneBack_0">
            <a:extLst>
              <a:ext uri="{FF2B5EF4-FFF2-40B4-BE49-F238E27FC236}">
                <a16:creationId xmlns:a16="http://schemas.microsoft.com/office/drawing/2014/main" id="{DF3F3435-FA36-4610-8F04-CE0FE7DCB7A0}"/>
              </a:ext>
            </a:extLst>
          </p:cNvPr>
          <p:cNvSpPr>
            <a:spLocks noGrp="1"/>
          </p:cNvSpPr>
          <p:nvPr/>
        </p:nvSpPr>
        <p:spPr>
          <a:xfrm>
            <a:off x="398615" y="2942590"/>
            <a:ext cx="11049000" cy="1162050"/>
          </a:xfrm>
          <a:prstGeom prst="roundRect">
            <a:avLst>
              <a:gd name="adj" fmla="val 4918"/>
            </a:avLst>
          </a:prstGeom>
          <a:solidFill>
            <a:srgbClr val="FAFAFB"/>
          </a:solidFill>
          <a:ln w="9525">
            <a:solidFill>
              <a:srgbClr val="D7DBE2"/>
            </a:solidFill>
            <a:prstDash val="solid"/>
          </a:ln>
        </p:spPr>
      </p:sp>
      <p:sp>
        <p:nvSpPr>
          <p:cNvPr id="14" name="LaneNameBox_0">
            <a:extLst>
              <a:ext uri="{FF2B5EF4-FFF2-40B4-BE49-F238E27FC236}">
                <a16:creationId xmlns:a16="http://schemas.microsoft.com/office/drawing/2014/main" id="{7DCB35BA-59FE-4AC7-B208-6C629B91947C}"/>
              </a:ext>
            </a:extLst>
          </p:cNvPr>
          <p:cNvSpPr>
            <a:spLocks noGrp="1"/>
          </p:cNvSpPr>
          <p:nvPr/>
        </p:nvSpPr>
        <p:spPr>
          <a:xfrm>
            <a:off x="531965" y="3114040"/>
            <a:ext cx="2000250" cy="800100"/>
          </a:xfrm>
          <a:prstGeom prst="roundRect">
            <a:avLst>
              <a:gd name="adj" fmla="val 5952"/>
            </a:avLst>
          </a:prstGeom>
          <a:solidFill>
            <a:srgbClr val="E9EFF7"/>
          </a:solidFill>
          <a:ln w="11430">
            <a:solidFill>
              <a:srgbClr val="17365D"/>
            </a:solidFill>
            <a:prstDash val="solid"/>
          </a:ln>
        </p:spPr>
      </p:sp>
      <p:sp>
        <p:nvSpPr>
          <p:cNvPr id="15" name="LaneName_0">
            <a:extLst>
              <a:ext uri="{FF2B5EF4-FFF2-40B4-BE49-F238E27FC236}">
                <a16:creationId xmlns:a16="http://schemas.microsoft.com/office/drawing/2014/main" id="{1F403B87-589C-495E-AA3A-418200C50416}"/>
              </a:ext>
            </a:extLst>
          </p:cNvPr>
          <p:cNvSpPr>
            <a:spLocks noGrp="1"/>
          </p:cNvSpPr>
          <p:nvPr/>
        </p:nvSpPr>
        <p:spPr>
          <a:xfrm>
            <a:off x="665315" y="3237865"/>
            <a:ext cx="1752600" cy="285750"/>
          </a:xfrm>
          <a:prstGeom prst="rect">
            <a:avLst/>
          </a:prstGeom>
          <a:noFill/>
          <a:ln w="0">
            <a:noFill/>
            <a:prstDash val="solid"/>
          </a:ln>
        </p:spPr>
        <p:txBody>
          <a:bodyPr wrap="none" lIns="0" tIns="0" rIns="0" bIns="0" anchor="t">
            <a:normAutofit/>
          </a:bodyPr>
          <a:lstStyle/>
          <a:p>
            <a:pPr algn="l">
              <a:buNone/>
              <a:defRPr sz="1500" b="1">
                <a:solidFill>
                  <a:srgbClr val="17365D"/>
                </a:solidFill>
                <a:latin typeface="Arial"/>
                <a:ea typeface="Arial"/>
                <a:cs typeface="Arial"/>
              </a:defRPr>
            </a:pPr>
            <a:r>
              <a:rPr sz="1500" b="1">
                <a:solidFill>
                  <a:srgbClr val="17365D"/>
                </a:solidFill>
                <a:latin typeface="Arial"/>
                <a:ea typeface="Arial"/>
                <a:cs typeface="Arial"/>
              </a:rPr>
              <a:t>ElectronConnect</a:t>
            </a:r>
          </a:p>
        </p:txBody>
      </p:sp>
      <p:sp>
        <p:nvSpPr>
          <p:cNvPr id="16" name="LaneSub_0">
            <a:extLst>
              <a:ext uri="{FF2B5EF4-FFF2-40B4-BE49-F238E27FC236}">
                <a16:creationId xmlns:a16="http://schemas.microsoft.com/office/drawing/2014/main" id="{01C46019-01FA-4F25-8ABA-43FB4691F608}"/>
              </a:ext>
            </a:extLst>
          </p:cNvPr>
          <p:cNvSpPr>
            <a:spLocks noGrp="1"/>
          </p:cNvSpPr>
          <p:nvPr/>
        </p:nvSpPr>
        <p:spPr>
          <a:xfrm>
            <a:off x="665315" y="3580765"/>
            <a:ext cx="1752600" cy="209550"/>
          </a:xfrm>
          <a:prstGeom prst="rect">
            <a:avLst/>
          </a:prstGeom>
          <a:noFill/>
          <a:ln w="0">
            <a:noFill/>
            <a:prstDash val="solid"/>
          </a:ln>
        </p:spPr>
        <p:txBody>
          <a:bodyPr wrap="none" lIns="0" tIns="0" rIns="0" bIns="0" anchor="t">
            <a:normAutofit/>
          </a:bodyPr>
          <a:lstStyle/>
          <a:p>
            <a:pPr algn="l">
              <a:buNone/>
              <a:defRPr sz="998" b="0">
                <a:solidFill>
                  <a:srgbClr val="5F6B7A"/>
                </a:solidFill>
                <a:latin typeface="Microsoft YaHei"/>
                <a:ea typeface="Microsoft YaHei"/>
                <a:cs typeface="Microsoft YaHei"/>
              </a:defRPr>
            </a:pPr>
            <a:r>
              <a:rPr sz="998" b="0">
                <a:solidFill>
                  <a:srgbClr val="5F6B7A"/>
                </a:solidFill>
                <a:latin typeface="Microsoft YaHei"/>
                <a:ea typeface="Microsoft YaHei"/>
                <a:cs typeface="Microsoft YaHei"/>
              </a:rPr>
              <a:t>配置式设计；人工定规则</a:t>
            </a:r>
          </a:p>
        </p:txBody>
      </p:sp>
      <p:sp>
        <p:nvSpPr>
          <p:cNvPr id="17" name="LaneArrow_0_0">
            <a:extLst>
              <a:ext uri="{FF2B5EF4-FFF2-40B4-BE49-F238E27FC236}">
                <a16:creationId xmlns:a16="http://schemas.microsoft.com/office/drawing/2014/main" id="{DDA54B27-C9A6-4391-A362-3C44E95EDBCD}"/>
              </a:ext>
            </a:extLst>
          </p:cNvPr>
          <p:cNvSpPr>
            <a:spLocks noGrp="1"/>
          </p:cNvSpPr>
          <p:nvPr/>
        </p:nvSpPr>
        <p:spPr>
          <a:xfrm>
            <a:off x="4151465" y="3514090"/>
            <a:ext cx="104775" cy="0"/>
          </a:xfrm>
          <a:prstGeom prst="line">
            <a:avLst/>
          </a:prstGeom>
          <a:noFill/>
          <a:ln w="19050">
            <a:solidFill>
              <a:srgbClr val="17365D"/>
            </a:solidFill>
            <a:prstDash val="solid"/>
          </a:ln>
        </p:spPr>
      </p:sp>
      <p:sp>
        <p:nvSpPr>
          <p:cNvPr id="18" name="LaneArrow_0_1">
            <a:extLst>
              <a:ext uri="{FF2B5EF4-FFF2-40B4-BE49-F238E27FC236}">
                <a16:creationId xmlns:a16="http://schemas.microsoft.com/office/drawing/2014/main" id="{A27945E9-1749-4069-93B3-D27F28EE5895}"/>
              </a:ext>
            </a:extLst>
          </p:cNvPr>
          <p:cNvSpPr>
            <a:spLocks noGrp="1"/>
          </p:cNvSpPr>
          <p:nvPr/>
        </p:nvSpPr>
        <p:spPr>
          <a:xfrm>
            <a:off x="5551640" y="3514090"/>
            <a:ext cx="104775" cy="0"/>
          </a:xfrm>
          <a:prstGeom prst="line">
            <a:avLst/>
          </a:prstGeom>
          <a:noFill/>
          <a:ln w="19050">
            <a:solidFill>
              <a:srgbClr val="17365D"/>
            </a:solidFill>
            <a:prstDash val="solid"/>
          </a:ln>
        </p:spPr>
      </p:sp>
      <p:sp>
        <p:nvSpPr>
          <p:cNvPr id="19" name="LaneArrow_0_2">
            <a:extLst>
              <a:ext uri="{FF2B5EF4-FFF2-40B4-BE49-F238E27FC236}">
                <a16:creationId xmlns:a16="http://schemas.microsoft.com/office/drawing/2014/main" id="{B57C2826-05B8-4C8D-96B9-D29CE8DA2F9E}"/>
              </a:ext>
            </a:extLst>
          </p:cNvPr>
          <p:cNvSpPr>
            <a:spLocks noGrp="1"/>
          </p:cNvSpPr>
          <p:nvPr/>
        </p:nvSpPr>
        <p:spPr>
          <a:xfrm>
            <a:off x="6951815" y="3514090"/>
            <a:ext cx="104775" cy="0"/>
          </a:xfrm>
          <a:prstGeom prst="line">
            <a:avLst/>
          </a:prstGeom>
          <a:noFill/>
          <a:ln w="19050">
            <a:solidFill>
              <a:srgbClr val="17365D"/>
            </a:solidFill>
            <a:prstDash val="solid"/>
          </a:ln>
        </p:spPr>
      </p:sp>
      <p:sp>
        <p:nvSpPr>
          <p:cNvPr id="20" name="LaneArrow_0_3">
            <a:extLst>
              <a:ext uri="{FF2B5EF4-FFF2-40B4-BE49-F238E27FC236}">
                <a16:creationId xmlns:a16="http://schemas.microsoft.com/office/drawing/2014/main" id="{B6A27628-1427-4454-80E2-75FAAB2511C1}"/>
              </a:ext>
            </a:extLst>
          </p:cNvPr>
          <p:cNvSpPr>
            <a:spLocks noGrp="1"/>
          </p:cNvSpPr>
          <p:nvPr/>
        </p:nvSpPr>
        <p:spPr>
          <a:xfrm>
            <a:off x="8351990" y="3514090"/>
            <a:ext cx="104775" cy="0"/>
          </a:xfrm>
          <a:prstGeom prst="line">
            <a:avLst/>
          </a:prstGeom>
          <a:noFill/>
          <a:ln w="19050">
            <a:solidFill>
              <a:srgbClr val="8B1E2D"/>
            </a:solidFill>
            <a:prstDash val="solid"/>
          </a:ln>
        </p:spPr>
      </p:sp>
      <p:sp>
        <p:nvSpPr>
          <p:cNvPr id="21" name="LaneArrow_0_4">
            <a:extLst>
              <a:ext uri="{FF2B5EF4-FFF2-40B4-BE49-F238E27FC236}">
                <a16:creationId xmlns:a16="http://schemas.microsoft.com/office/drawing/2014/main" id="{9FDE39B0-DC48-4C37-902E-F13C78B979BD}"/>
              </a:ext>
            </a:extLst>
          </p:cNvPr>
          <p:cNvSpPr>
            <a:spLocks noGrp="1"/>
          </p:cNvSpPr>
          <p:nvPr/>
        </p:nvSpPr>
        <p:spPr>
          <a:xfrm>
            <a:off x="9752165" y="3514090"/>
            <a:ext cx="104775" cy="0"/>
          </a:xfrm>
          <a:prstGeom prst="line">
            <a:avLst/>
          </a:prstGeom>
          <a:noFill/>
          <a:ln w="19050">
            <a:solidFill>
              <a:srgbClr val="8B1E2D"/>
            </a:solidFill>
            <a:prstDash val="solid"/>
          </a:ln>
        </p:spPr>
      </p:sp>
      <p:sp>
        <p:nvSpPr>
          <p:cNvPr id="22" name="LaneStep_0_0">
            <a:extLst>
              <a:ext uri="{FF2B5EF4-FFF2-40B4-BE49-F238E27FC236}">
                <a16:creationId xmlns:a16="http://schemas.microsoft.com/office/drawing/2014/main" id="{DE0DF006-47ED-4586-BB0E-A38760D4764D}"/>
              </a:ext>
            </a:extLst>
          </p:cNvPr>
          <p:cNvSpPr>
            <a:spLocks noGrp="1"/>
          </p:cNvSpPr>
          <p:nvPr/>
        </p:nvSpPr>
        <p:spPr>
          <a:xfrm>
            <a:off x="2856065" y="3247390"/>
            <a:ext cx="1295400" cy="533400"/>
          </a:xfrm>
          <a:prstGeom prst="roundRect">
            <a:avLst>
              <a:gd name="adj" fmla="val 8929"/>
            </a:avLst>
          </a:prstGeom>
          <a:solidFill>
            <a:srgbClr val="E9EFF7"/>
          </a:solidFill>
          <a:ln w="11430">
            <a:solidFill>
              <a:srgbClr val="17365D"/>
            </a:solidFill>
            <a:prstDash val="solid"/>
          </a:ln>
        </p:spPr>
      </p:sp>
      <p:sp>
        <p:nvSpPr>
          <p:cNvPr id="23" name="LaneStepText_0_0">
            <a:extLst>
              <a:ext uri="{FF2B5EF4-FFF2-40B4-BE49-F238E27FC236}">
                <a16:creationId xmlns:a16="http://schemas.microsoft.com/office/drawing/2014/main" id="{1B8BE711-6862-4510-A7C7-8011DEABE6F8}"/>
              </a:ext>
            </a:extLst>
          </p:cNvPr>
          <p:cNvSpPr>
            <a:spLocks noGrp="1"/>
          </p:cNvSpPr>
          <p:nvPr/>
        </p:nvSpPr>
        <p:spPr>
          <a:xfrm>
            <a:off x="2922740" y="3304540"/>
            <a:ext cx="1162050" cy="419100"/>
          </a:xfrm>
          <a:prstGeom prst="rect">
            <a:avLst/>
          </a:prstGeom>
          <a:noFill/>
          <a:ln w="0">
            <a:noFill/>
            <a:prstDash val="solid"/>
          </a:ln>
        </p:spPr>
        <p:txBody>
          <a:bodyPr wrap="square" lIns="0" tIns="0" rIns="0" bIns="0" anchor="ctr">
            <a:normAutofit/>
          </a:bodyPr>
          <a:lstStyle/>
          <a:p>
            <a:pPr algn="ctr">
              <a:buNone/>
              <a:defRPr sz="1005" b="1">
                <a:solidFill>
                  <a:srgbClr val="17365D"/>
                </a:solidFill>
                <a:latin typeface="Microsoft YaHei"/>
                <a:ea typeface="Microsoft YaHei"/>
                <a:cs typeface="Microsoft YaHei"/>
              </a:defRPr>
            </a:pPr>
            <a:r>
              <a:rPr sz="1005" b="1">
                <a:solidFill>
                  <a:srgbClr val="17365D"/>
                </a:solidFill>
                <a:latin typeface="Microsoft YaHei"/>
                <a:ea typeface="Microsoft YaHei"/>
                <a:cs typeface="Microsoft YaHei"/>
              </a:rPr>
              <a:t>市场用例</a:t>
            </a:r>
          </a:p>
          <a:p>
            <a:pPr algn="ctr">
              <a:buNone/>
              <a:defRPr sz="1005" b="1">
                <a:solidFill>
                  <a:srgbClr val="17365D"/>
                </a:solidFill>
                <a:latin typeface="Microsoft YaHei"/>
                <a:ea typeface="Microsoft YaHei"/>
                <a:cs typeface="Microsoft YaHei"/>
              </a:defRPr>
            </a:pPr>
            <a:r>
              <a:rPr sz="1005" b="1">
                <a:solidFill>
                  <a:srgbClr val="17365D"/>
                </a:solidFill>
                <a:latin typeface="Microsoft YaHei"/>
                <a:ea typeface="Microsoft YaHei"/>
                <a:cs typeface="Microsoft YaHei"/>
              </a:rPr>
              <a:t>模板选择</a:t>
            </a:r>
          </a:p>
        </p:txBody>
      </p:sp>
      <p:sp>
        <p:nvSpPr>
          <p:cNvPr id="24" name="LaneStep_0_1">
            <a:extLst>
              <a:ext uri="{FF2B5EF4-FFF2-40B4-BE49-F238E27FC236}">
                <a16:creationId xmlns:a16="http://schemas.microsoft.com/office/drawing/2014/main" id="{A0F9142B-3A0D-4A56-9341-AF9A010710F4}"/>
              </a:ext>
            </a:extLst>
          </p:cNvPr>
          <p:cNvSpPr>
            <a:spLocks noGrp="1"/>
          </p:cNvSpPr>
          <p:nvPr/>
        </p:nvSpPr>
        <p:spPr>
          <a:xfrm>
            <a:off x="4256240" y="3247390"/>
            <a:ext cx="1295400" cy="533400"/>
          </a:xfrm>
          <a:prstGeom prst="roundRect">
            <a:avLst>
              <a:gd name="adj" fmla="val 8929"/>
            </a:avLst>
          </a:prstGeom>
          <a:solidFill>
            <a:srgbClr val="E9EFF7"/>
          </a:solidFill>
          <a:ln w="11430">
            <a:solidFill>
              <a:srgbClr val="17365D"/>
            </a:solidFill>
            <a:prstDash val="solid"/>
          </a:ln>
        </p:spPr>
      </p:sp>
      <p:sp>
        <p:nvSpPr>
          <p:cNvPr id="25" name="LaneStepText_0_1">
            <a:extLst>
              <a:ext uri="{FF2B5EF4-FFF2-40B4-BE49-F238E27FC236}">
                <a16:creationId xmlns:a16="http://schemas.microsoft.com/office/drawing/2014/main" id="{4B3CD86B-FE23-4E45-8726-E6162EDF43F3}"/>
              </a:ext>
            </a:extLst>
          </p:cNvPr>
          <p:cNvSpPr>
            <a:spLocks noGrp="1"/>
          </p:cNvSpPr>
          <p:nvPr/>
        </p:nvSpPr>
        <p:spPr>
          <a:xfrm>
            <a:off x="4322915" y="3304540"/>
            <a:ext cx="1162050" cy="419100"/>
          </a:xfrm>
          <a:prstGeom prst="rect">
            <a:avLst/>
          </a:prstGeom>
          <a:noFill/>
          <a:ln w="0">
            <a:noFill/>
            <a:prstDash val="solid"/>
          </a:ln>
        </p:spPr>
        <p:txBody>
          <a:bodyPr wrap="square" lIns="0" tIns="0" rIns="0" bIns="0" anchor="ctr">
            <a:normAutofit/>
          </a:bodyPr>
          <a:lstStyle/>
          <a:p>
            <a:pPr algn="ctr">
              <a:buNone/>
              <a:defRPr sz="1005" b="1">
                <a:solidFill>
                  <a:srgbClr val="17365D"/>
                </a:solidFill>
                <a:latin typeface="Microsoft YaHei"/>
                <a:ea typeface="Microsoft YaHei"/>
                <a:cs typeface="Microsoft YaHei"/>
              </a:defRPr>
            </a:pPr>
            <a:r>
              <a:rPr sz="1005" b="1">
                <a:solidFill>
                  <a:srgbClr val="17365D"/>
                </a:solidFill>
                <a:latin typeface="Microsoft YaHei"/>
                <a:ea typeface="Microsoft YaHei"/>
                <a:cs typeface="Microsoft YaHei"/>
              </a:rPr>
              <a:t>资格准入</a:t>
            </a:r>
          </a:p>
          <a:p>
            <a:pPr algn="ctr">
              <a:buNone/>
              <a:defRPr sz="1005" b="1">
                <a:solidFill>
                  <a:srgbClr val="17365D"/>
                </a:solidFill>
                <a:latin typeface="Microsoft YaHei"/>
                <a:ea typeface="Microsoft YaHei"/>
                <a:cs typeface="Microsoft YaHei"/>
              </a:defRPr>
            </a:pPr>
            <a:r>
              <a:rPr sz="1005" b="1">
                <a:solidFill>
                  <a:srgbClr val="17365D"/>
                </a:solidFill>
                <a:latin typeface="Microsoft YaHei"/>
                <a:ea typeface="Microsoft YaHei"/>
                <a:cs typeface="Microsoft YaHei"/>
              </a:rPr>
              <a:t>规则配置</a:t>
            </a:r>
          </a:p>
        </p:txBody>
      </p:sp>
      <p:sp>
        <p:nvSpPr>
          <p:cNvPr id="26" name="LaneStep_0_2">
            <a:extLst>
              <a:ext uri="{FF2B5EF4-FFF2-40B4-BE49-F238E27FC236}">
                <a16:creationId xmlns:a16="http://schemas.microsoft.com/office/drawing/2014/main" id="{68BCB302-2C21-44D7-A924-E5278D62952F}"/>
              </a:ext>
            </a:extLst>
          </p:cNvPr>
          <p:cNvSpPr>
            <a:spLocks noGrp="1"/>
          </p:cNvSpPr>
          <p:nvPr/>
        </p:nvSpPr>
        <p:spPr>
          <a:xfrm>
            <a:off x="5656415" y="3247390"/>
            <a:ext cx="1295400" cy="533400"/>
          </a:xfrm>
          <a:prstGeom prst="roundRect">
            <a:avLst>
              <a:gd name="adj" fmla="val 8929"/>
            </a:avLst>
          </a:prstGeom>
          <a:solidFill>
            <a:srgbClr val="E9EFF7"/>
          </a:solidFill>
          <a:ln w="11430">
            <a:solidFill>
              <a:srgbClr val="17365D"/>
            </a:solidFill>
            <a:prstDash val="solid"/>
          </a:ln>
        </p:spPr>
      </p:sp>
      <p:sp>
        <p:nvSpPr>
          <p:cNvPr id="27" name="LaneStepText_0_2">
            <a:extLst>
              <a:ext uri="{FF2B5EF4-FFF2-40B4-BE49-F238E27FC236}">
                <a16:creationId xmlns:a16="http://schemas.microsoft.com/office/drawing/2014/main" id="{1AB98833-A4F6-45F3-9387-B04642520BAF}"/>
              </a:ext>
            </a:extLst>
          </p:cNvPr>
          <p:cNvSpPr>
            <a:spLocks noGrp="1"/>
          </p:cNvSpPr>
          <p:nvPr/>
        </p:nvSpPr>
        <p:spPr>
          <a:xfrm>
            <a:off x="5723090" y="3304540"/>
            <a:ext cx="1162050" cy="419100"/>
          </a:xfrm>
          <a:prstGeom prst="rect">
            <a:avLst/>
          </a:prstGeom>
          <a:noFill/>
          <a:ln w="0">
            <a:noFill/>
            <a:prstDash val="solid"/>
          </a:ln>
        </p:spPr>
        <p:txBody>
          <a:bodyPr wrap="square" lIns="0" tIns="0" rIns="0" bIns="0" anchor="ctr">
            <a:normAutofit/>
          </a:bodyPr>
          <a:lstStyle/>
          <a:p>
            <a:pPr algn="ctr">
              <a:buNone/>
              <a:defRPr sz="1005" b="1">
                <a:solidFill>
                  <a:srgbClr val="17365D"/>
                </a:solidFill>
                <a:latin typeface="Microsoft YaHei"/>
                <a:ea typeface="Microsoft YaHei"/>
                <a:cs typeface="Microsoft YaHei"/>
              </a:defRPr>
            </a:pPr>
            <a:r>
              <a:rPr sz="1005" b="1">
                <a:solidFill>
                  <a:srgbClr val="17365D"/>
                </a:solidFill>
                <a:latin typeface="Microsoft YaHei"/>
                <a:ea typeface="Microsoft YaHei"/>
                <a:cs typeface="Microsoft YaHei"/>
              </a:rPr>
              <a:t>产品/支付</a:t>
            </a:r>
          </a:p>
          <a:p>
            <a:pPr algn="ctr">
              <a:buNone/>
              <a:defRPr sz="1005" b="1">
                <a:solidFill>
                  <a:srgbClr val="17365D"/>
                </a:solidFill>
                <a:latin typeface="Microsoft YaHei"/>
                <a:ea typeface="Microsoft YaHei"/>
                <a:cs typeface="Microsoft YaHei"/>
              </a:defRPr>
            </a:pPr>
            <a:r>
              <a:rPr sz="1005" b="1">
                <a:solidFill>
                  <a:srgbClr val="17365D"/>
                </a:solidFill>
                <a:latin typeface="Microsoft YaHei"/>
                <a:ea typeface="Microsoft YaHei"/>
                <a:cs typeface="Microsoft YaHei"/>
              </a:rPr>
              <a:t>协议配置</a:t>
            </a:r>
          </a:p>
        </p:txBody>
      </p:sp>
      <p:sp>
        <p:nvSpPr>
          <p:cNvPr id="28" name="LaneStep_0_3">
            <a:extLst>
              <a:ext uri="{FF2B5EF4-FFF2-40B4-BE49-F238E27FC236}">
                <a16:creationId xmlns:a16="http://schemas.microsoft.com/office/drawing/2014/main" id="{ED00D4A1-098A-4421-9ECE-6FC111C17816}"/>
              </a:ext>
            </a:extLst>
          </p:cNvPr>
          <p:cNvSpPr>
            <a:spLocks noGrp="1"/>
          </p:cNvSpPr>
          <p:nvPr/>
        </p:nvSpPr>
        <p:spPr>
          <a:xfrm>
            <a:off x="7056590" y="3247390"/>
            <a:ext cx="1295400" cy="533400"/>
          </a:xfrm>
          <a:prstGeom prst="roundRect">
            <a:avLst>
              <a:gd name="adj" fmla="val 8929"/>
            </a:avLst>
          </a:prstGeom>
          <a:solidFill>
            <a:srgbClr val="F4E8EA"/>
          </a:solidFill>
          <a:ln w="11430">
            <a:solidFill>
              <a:srgbClr val="8B1E2D"/>
            </a:solidFill>
            <a:prstDash val="solid"/>
          </a:ln>
        </p:spPr>
      </p:sp>
      <p:sp>
        <p:nvSpPr>
          <p:cNvPr id="29" name="LaneStepText_0_3">
            <a:extLst>
              <a:ext uri="{FF2B5EF4-FFF2-40B4-BE49-F238E27FC236}">
                <a16:creationId xmlns:a16="http://schemas.microsoft.com/office/drawing/2014/main" id="{FC905E96-848A-4864-BFA3-408C413CC23F}"/>
              </a:ext>
            </a:extLst>
          </p:cNvPr>
          <p:cNvSpPr>
            <a:spLocks noGrp="1"/>
          </p:cNvSpPr>
          <p:nvPr/>
        </p:nvSpPr>
        <p:spPr>
          <a:xfrm>
            <a:off x="7123265" y="3304540"/>
            <a:ext cx="1162050" cy="419100"/>
          </a:xfrm>
          <a:prstGeom prst="rect">
            <a:avLst/>
          </a:prstGeom>
          <a:noFill/>
          <a:ln w="0">
            <a:noFill/>
            <a:prstDash val="solid"/>
          </a:ln>
        </p:spPr>
        <p:txBody>
          <a:bodyPr wrap="square" lIns="0" tIns="0" rIns="0" bIns="0" anchor="ctr">
            <a:normAutofit/>
          </a:bodyPr>
          <a:lstStyle/>
          <a:p>
            <a:pPr algn="ctr">
              <a:buNone/>
              <a:defRPr sz="1005" b="1">
                <a:solidFill>
                  <a:srgbClr val="8B1E2D"/>
                </a:solidFill>
                <a:latin typeface="Microsoft YaHei"/>
                <a:ea typeface="Microsoft YaHei"/>
                <a:cs typeface="Microsoft YaHei"/>
              </a:defRPr>
            </a:pPr>
            <a:r>
              <a:rPr sz="1005" b="1">
                <a:solidFill>
                  <a:srgbClr val="8B1E2D"/>
                </a:solidFill>
                <a:latin typeface="Microsoft YaHei"/>
                <a:ea typeface="Microsoft YaHei"/>
                <a:cs typeface="Microsoft YaHei"/>
              </a:rPr>
              <a:t>匹配/清算</a:t>
            </a:r>
          </a:p>
          <a:p>
            <a:pPr algn="ctr">
              <a:buNone/>
              <a:defRPr sz="1005" b="1">
                <a:solidFill>
                  <a:srgbClr val="8B1E2D"/>
                </a:solidFill>
                <a:latin typeface="Microsoft YaHei"/>
                <a:ea typeface="Microsoft YaHei"/>
                <a:cs typeface="Microsoft YaHei"/>
              </a:defRPr>
            </a:pPr>
            <a:r>
              <a:rPr sz="1005" b="1">
                <a:solidFill>
                  <a:srgbClr val="8B1E2D"/>
                </a:solidFill>
                <a:latin typeface="Microsoft YaHei"/>
                <a:ea typeface="Microsoft YaHei"/>
                <a:cs typeface="Microsoft YaHei"/>
              </a:rPr>
              <a:t>自动执行</a:t>
            </a:r>
          </a:p>
        </p:txBody>
      </p:sp>
      <p:sp>
        <p:nvSpPr>
          <p:cNvPr id="30" name="LaneStep_0_4">
            <a:extLst>
              <a:ext uri="{FF2B5EF4-FFF2-40B4-BE49-F238E27FC236}">
                <a16:creationId xmlns:a16="http://schemas.microsoft.com/office/drawing/2014/main" id="{A1285CBD-0BAE-4FD9-9A01-ACA5F9DC2D16}"/>
              </a:ext>
            </a:extLst>
          </p:cNvPr>
          <p:cNvSpPr>
            <a:spLocks noGrp="1"/>
          </p:cNvSpPr>
          <p:nvPr/>
        </p:nvSpPr>
        <p:spPr>
          <a:xfrm>
            <a:off x="8456765" y="3247390"/>
            <a:ext cx="1295400" cy="533400"/>
          </a:xfrm>
          <a:prstGeom prst="roundRect">
            <a:avLst>
              <a:gd name="adj" fmla="val 8929"/>
            </a:avLst>
          </a:prstGeom>
          <a:solidFill>
            <a:srgbClr val="F4E8EA"/>
          </a:solidFill>
          <a:ln w="11430">
            <a:solidFill>
              <a:srgbClr val="8B1E2D"/>
            </a:solidFill>
            <a:prstDash val="solid"/>
          </a:ln>
        </p:spPr>
      </p:sp>
      <p:sp>
        <p:nvSpPr>
          <p:cNvPr id="31" name="LaneStepText_0_4">
            <a:extLst>
              <a:ext uri="{FF2B5EF4-FFF2-40B4-BE49-F238E27FC236}">
                <a16:creationId xmlns:a16="http://schemas.microsoft.com/office/drawing/2014/main" id="{F970DDD5-F074-4180-9F7C-70863B21F0E0}"/>
              </a:ext>
            </a:extLst>
          </p:cNvPr>
          <p:cNvSpPr>
            <a:spLocks noGrp="1"/>
          </p:cNvSpPr>
          <p:nvPr/>
        </p:nvSpPr>
        <p:spPr>
          <a:xfrm>
            <a:off x="8523440" y="3304540"/>
            <a:ext cx="1162050" cy="419100"/>
          </a:xfrm>
          <a:prstGeom prst="rect">
            <a:avLst/>
          </a:prstGeom>
          <a:noFill/>
          <a:ln w="0">
            <a:noFill/>
            <a:prstDash val="solid"/>
          </a:ln>
        </p:spPr>
        <p:txBody>
          <a:bodyPr wrap="square" lIns="0" tIns="0" rIns="0" bIns="0" anchor="ctr">
            <a:normAutofit/>
          </a:bodyPr>
          <a:lstStyle/>
          <a:p>
            <a:pPr algn="ctr">
              <a:buNone/>
              <a:defRPr sz="1005" b="1">
                <a:solidFill>
                  <a:srgbClr val="8B1E2D"/>
                </a:solidFill>
                <a:latin typeface="Microsoft YaHei"/>
                <a:ea typeface="Microsoft YaHei"/>
                <a:cs typeface="Microsoft YaHei"/>
              </a:defRPr>
            </a:pPr>
            <a:r>
              <a:rPr sz="1005" b="1">
                <a:solidFill>
                  <a:srgbClr val="8B1E2D"/>
                </a:solidFill>
                <a:latin typeface="Microsoft YaHei"/>
                <a:ea typeface="Microsoft YaHei"/>
                <a:cs typeface="Microsoft YaHei"/>
              </a:rPr>
              <a:t>时序/冲突</a:t>
            </a:r>
          </a:p>
          <a:p>
            <a:pPr algn="ctr">
              <a:buNone/>
              <a:defRPr sz="1005" b="1">
                <a:solidFill>
                  <a:srgbClr val="8B1E2D"/>
                </a:solidFill>
                <a:latin typeface="Microsoft YaHei"/>
                <a:ea typeface="Microsoft YaHei"/>
                <a:cs typeface="Microsoft YaHei"/>
              </a:defRPr>
            </a:pPr>
            <a:r>
              <a:rPr sz="1005" b="1">
                <a:solidFill>
                  <a:srgbClr val="8B1E2D"/>
                </a:solidFill>
                <a:latin typeface="Microsoft YaHei"/>
                <a:ea typeface="Microsoft YaHei"/>
                <a:cs typeface="Microsoft YaHei"/>
              </a:rPr>
              <a:t>规则协调</a:t>
            </a:r>
          </a:p>
        </p:txBody>
      </p:sp>
      <p:sp>
        <p:nvSpPr>
          <p:cNvPr id="32" name="LaneStep_0_5">
            <a:extLst>
              <a:ext uri="{FF2B5EF4-FFF2-40B4-BE49-F238E27FC236}">
                <a16:creationId xmlns:a16="http://schemas.microsoft.com/office/drawing/2014/main" id="{4D826A6C-B8B7-4F17-B090-E1A17E1B8E2F}"/>
              </a:ext>
            </a:extLst>
          </p:cNvPr>
          <p:cNvSpPr>
            <a:spLocks noGrp="1"/>
          </p:cNvSpPr>
          <p:nvPr/>
        </p:nvSpPr>
        <p:spPr>
          <a:xfrm>
            <a:off x="9856940" y="3247390"/>
            <a:ext cx="1295400" cy="533400"/>
          </a:xfrm>
          <a:prstGeom prst="roundRect">
            <a:avLst>
              <a:gd name="adj" fmla="val 8929"/>
            </a:avLst>
          </a:prstGeom>
          <a:solidFill>
            <a:srgbClr val="F5F6F8"/>
          </a:solidFill>
          <a:ln w="11430">
            <a:solidFill>
              <a:srgbClr val="0B0F17"/>
            </a:solidFill>
            <a:prstDash val="solid"/>
          </a:ln>
        </p:spPr>
      </p:sp>
      <p:sp>
        <p:nvSpPr>
          <p:cNvPr id="33" name="LaneStepText_0_5">
            <a:extLst>
              <a:ext uri="{FF2B5EF4-FFF2-40B4-BE49-F238E27FC236}">
                <a16:creationId xmlns:a16="http://schemas.microsoft.com/office/drawing/2014/main" id="{5CD780C8-F8F6-49C3-B920-53D45808A1BC}"/>
              </a:ext>
            </a:extLst>
          </p:cNvPr>
          <p:cNvSpPr>
            <a:spLocks noGrp="1"/>
          </p:cNvSpPr>
          <p:nvPr/>
        </p:nvSpPr>
        <p:spPr>
          <a:xfrm>
            <a:off x="9923615" y="3304540"/>
            <a:ext cx="1162050" cy="419100"/>
          </a:xfrm>
          <a:prstGeom prst="rect">
            <a:avLst/>
          </a:prstGeom>
          <a:noFill/>
          <a:ln w="0">
            <a:noFill/>
            <a:prstDash val="solid"/>
          </a:ln>
        </p:spPr>
        <p:txBody>
          <a:bodyPr wrap="square" lIns="0" tIns="0" rIns="0" bIns="0" anchor="ctr">
            <a:normAutofit/>
          </a:bodyPr>
          <a:lstStyle/>
          <a:p>
            <a:pPr algn="ctr">
              <a:buNone/>
              <a:defRPr sz="1005" b="1">
                <a:solidFill>
                  <a:srgbClr val="0B0F17"/>
                </a:solidFill>
                <a:latin typeface="Microsoft YaHei"/>
                <a:ea typeface="Microsoft YaHei"/>
                <a:cs typeface="Microsoft YaHei"/>
              </a:defRPr>
            </a:pPr>
            <a:r>
              <a:rPr sz="1005" b="1">
                <a:solidFill>
                  <a:srgbClr val="0B0F17"/>
                </a:solidFill>
                <a:latin typeface="Microsoft YaHei"/>
                <a:ea typeface="Microsoft YaHei"/>
                <a:cs typeface="Microsoft YaHei"/>
              </a:rPr>
              <a:t>API 联动</a:t>
            </a:r>
          </a:p>
          <a:p>
            <a:pPr algn="ctr">
              <a:buNone/>
              <a:defRPr sz="1005" b="1">
                <a:solidFill>
                  <a:srgbClr val="0B0F17"/>
                </a:solidFill>
                <a:latin typeface="Microsoft YaHei"/>
                <a:ea typeface="Microsoft YaHei"/>
                <a:cs typeface="Microsoft YaHei"/>
              </a:defRPr>
            </a:pPr>
            <a:r>
              <a:rPr sz="1005" b="1">
                <a:solidFill>
                  <a:srgbClr val="0B0F17"/>
                </a:solidFill>
                <a:latin typeface="Microsoft YaHei"/>
                <a:ea typeface="Microsoft YaHei"/>
                <a:cs typeface="Microsoft YaHei"/>
              </a:rPr>
              <a:t>部署运行</a:t>
            </a:r>
          </a:p>
        </p:txBody>
      </p:sp>
      <p:pic>
        <p:nvPicPr>
          <p:cNvPr id="34" name="图片 33">
            <a:extLst>
              <a:ext uri="{FF2B5EF4-FFF2-40B4-BE49-F238E27FC236}">
                <a16:creationId xmlns:a16="http://schemas.microsoft.com/office/drawing/2014/main" id="{26A020C7-42E5-4D62-B4DD-2D454905E82C}"/>
              </a:ext>
            </a:extLst>
          </p:cNvPr>
          <p:cNvPicPr>
            <a:picLocks noChangeAspect="1"/>
          </p:cNvPicPr>
          <p:nvPr/>
        </p:nvPicPr>
        <p:blipFill>
          <a:blip r:embed="rId4"/>
          <a:srcRect l="59" r="59"/>
          <a:stretch>
            <a:fillRect/>
          </a:stretch>
        </p:blipFill>
        <p:spPr>
          <a:xfrm>
            <a:off x="398615" y="4333240"/>
            <a:ext cx="5219700" cy="1933575"/>
          </a:xfrm>
          <a:prstGeom prst="rect">
            <a:avLst/>
          </a:prstGeom>
        </p:spPr>
      </p:pic>
      <p:pic>
        <p:nvPicPr>
          <p:cNvPr id="35" name="图片 34">
            <a:extLst>
              <a:ext uri="{FF2B5EF4-FFF2-40B4-BE49-F238E27FC236}">
                <a16:creationId xmlns:a16="http://schemas.microsoft.com/office/drawing/2014/main" id="{94C9ED0C-6257-4679-AE8A-3E9150A83D3C}"/>
              </a:ext>
            </a:extLst>
          </p:cNvPr>
          <p:cNvPicPr>
            <a:picLocks noChangeAspect="1"/>
          </p:cNvPicPr>
          <p:nvPr/>
        </p:nvPicPr>
        <p:blipFill>
          <a:blip r:embed="rId5"/>
          <a:srcRect l="61" r="61"/>
          <a:stretch>
            <a:fillRect/>
          </a:stretch>
        </p:blipFill>
        <p:spPr>
          <a:xfrm>
            <a:off x="6227915" y="4333240"/>
            <a:ext cx="5219700" cy="1933575"/>
          </a:xfrm>
          <a:prstGeom prst="rect">
            <a:avLst/>
          </a:prstGeom>
        </p:spPr>
      </p:pic>
      <p:sp>
        <p:nvSpPr>
          <p:cNvPr id="36" name="ElectronCaption_1">
            <a:extLst>
              <a:ext uri="{FF2B5EF4-FFF2-40B4-BE49-F238E27FC236}">
                <a16:creationId xmlns:a16="http://schemas.microsoft.com/office/drawing/2014/main" id="{BD973F5B-EE58-4491-9B30-FDB3B1248241}"/>
              </a:ext>
            </a:extLst>
          </p:cNvPr>
          <p:cNvSpPr>
            <a:spLocks noGrp="1"/>
          </p:cNvSpPr>
          <p:nvPr/>
        </p:nvSpPr>
        <p:spPr>
          <a:xfrm>
            <a:off x="398615" y="6304915"/>
            <a:ext cx="5219700" cy="209550"/>
          </a:xfrm>
          <a:prstGeom prst="rect">
            <a:avLst/>
          </a:prstGeom>
          <a:noFill/>
          <a:ln w="0">
            <a:noFill/>
            <a:prstDash val="solid"/>
          </a:ln>
        </p:spPr>
        <p:txBody>
          <a:bodyPr wrap="none" lIns="0" tIns="0" rIns="0" bIns="0" anchor="t">
            <a:normAutofit/>
          </a:bodyPr>
          <a:lstStyle/>
          <a:p>
            <a:pPr algn="l">
              <a:defRPr sz="788" b="0">
                <a:solidFill>
                  <a:srgbClr val="8B95A5"/>
                </a:solidFill>
                <a:latin typeface="Times New Roman"/>
                <a:ea typeface="Times New Roman"/>
                <a:cs typeface="Times New Roman"/>
              </a:defRPr>
            </a:pPr>
            <a:r>
              <a:rPr sz="788" b="0">
                <a:solidFill>
                  <a:srgbClr val="8B95A5"/>
                </a:solidFill>
                <a:latin typeface="Times New Roman"/>
                <a:ea typeface="Times New Roman"/>
                <a:cs typeface="Times New Roman"/>
              </a:rPr>
              <a:t>UI 1 | Market Explorer: configured product, payment and service window</a:t>
            </a:r>
          </a:p>
        </p:txBody>
      </p:sp>
      <p:sp>
        <p:nvSpPr>
          <p:cNvPr id="37" name="ElectronCaption_2">
            <a:extLst>
              <a:ext uri="{FF2B5EF4-FFF2-40B4-BE49-F238E27FC236}">
                <a16:creationId xmlns:a16="http://schemas.microsoft.com/office/drawing/2014/main" id="{27BD5248-358A-4B28-AC2C-6AF8D981120E}"/>
              </a:ext>
            </a:extLst>
          </p:cNvPr>
          <p:cNvSpPr>
            <a:spLocks noGrp="1"/>
          </p:cNvSpPr>
          <p:nvPr/>
        </p:nvSpPr>
        <p:spPr>
          <a:xfrm>
            <a:off x="6227915" y="6304915"/>
            <a:ext cx="5219700" cy="209550"/>
          </a:xfrm>
          <a:prstGeom prst="rect">
            <a:avLst/>
          </a:prstGeom>
          <a:noFill/>
          <a:ln w="0">
            <a:noFill/>
            <a:prstDash val="solid"/>
          </a:ln>
        </p:spPr>
        <p:txBody>
          <a:bodyPr wrap="none" lIns="0" tIns="0" rIns="0" bIns="0" anchor="t">
            <a:normAutofit/>
          </a:bodyPr>
          <a:lstStyle/>
          <a:p>
            <a:pPr algn="l">
              <a:defRPr sz="788" b="0">
                <a:solidFill>
                  <a:srgbClr val="8B95A5"/>
                </a:solidFill>
                <a:latin typeface="Times New Roman"/>
                <a:ea typeface="Times New Roman"/>
                <a:cs typeface="Times New Roman"/>
              </a:defRPr>
            </a:pPr>
            <a:r>
              <a:rPr sz="788" b="0">
                <a:solidFill>
                  <a:srgbClr val="8B95A5"/>
                </a:solidFill>
                <a:latin typeface="Times New Roman"/>
                <a:ea typeface="Times New Roman"/>
                <a:cs typeface="Times New Roman"/>
              </a:rPr>
              <a:t>UI 2 | Request setup: location, time, price, volume and available assets</a:t>
            </a:r>
          </a:p>
        </p:txBody>
      </p:sp>
      <p:sp>
        <p:nvSpPr>
          <p:cNvPr id="38" name="LaneBack_0">
            <a:extLst>
              <a:ext uri="{FF2B5EF4-FFF2-40B4-BE49-F238E27FC236}">
                <a16:creationId xmlns:a16="http://schemas.microsoft.com/office/drawing/2014/main" id="{320F3A9D-A700-4E8F-B22C-EE175C502833}"/>
              </a:ext>
            </a:extLst>
          </p:cNvPr>
          <p:cNvSpPr>
            <a:spLocks noGrp="1"/>
          </p:cNvSpPr>
          <p:nvPr/>
        </p:nvSpPr>
        <p:spPr>
          <a:xfrm>
            <a:off x="457200" y="1581150"/>
            <a:ext cx="11049000" cy="1162050"/>
          </a:xfrm>
          <a:prstGeom prst="roundRect">
            <a:avLst>
              <a:gd name="adj" fmla="val 4918"/>
            </a:avLst>
          </a:prstGeom>
          <a:solidFill>
            <a:srgbClr val="FAFAFB"/>
          </a:solidFill>
          <a:ln w="9525">
            <a:solidFill>
              <a:srgbClr val="D7DBE2"/>
            </a:solidFill>
            <a:prstDash val="solid"/>
          </a:ln>
        </p:spPr>
      </p:sp>
      <p:sp>
        <p:nvSpPr>
          <p:cNvPr id="39" name="LaneNameBox_0">
            <a:extLst>
              <a:ext uri="{FF2B5EF4-FFF2-40B4-BE49-F238E27FC236}">
                <a16:creationId xmlns:a16="http://schemas.microsoft.com/office/drawing/2014/main" id="{05299AFD-6BCA-4C2C-A75A-29F1AD29AC39}"/>
              </a:ext>
            </a:extLst>
          </p:cNvPr>
          <p:cNvSpPr>
            <a:spLocks noGrp="1"/>
          </p:cNvSpPr>
          <p:nvPr/>
        </p:nvSpPr>
        <p:spPr>
          <a:xfrm>
            <a:off x="590550" y="1752600"/>
            <a:ext cx="2000250" cy="800100"/>
          </a:xfrm>
          <a:prstGeom prst="roundRect">
            <a:avLst>
              <a:gd name="adj" fmla="val 5952"/>
            </a:avLst>
          </a:prstGeom>
          <a:solidFill>
            <a:srgbClr val="E9EFF7"/>
          </a:solidFill>
          <a:ln w="9525">
            <a:solidFill>
              <a:srgbClr val="17365D"/>
            </a:solidFill>
            <a:prstDash val="solid"/>
          </a:ln>
        </p:spPr>
      </p:sp>
      <p:sp>
        <p:nvSpPr>
          <p:cNvPr id="40" name="LaneName_0">
            <a:extLst>
              <a:ext uri="{FF2B5EF4-FFF2-40B4-BE49-F238E27FC236}">
                <a16:creationId xmlns:a16="http://schemas.microsoft.com/office/drawing/2014/main" id="{E4461403-B2A4-493F-9375-E434139ACDF7}"/>
              </a:ext>
            </a:extLst>
          </p:cNvPr>
          <p:cNvSpPr>
            <a:spLocks noGrp="1"/>
          </p:cNvSpPr>
          <p:nvPr/>
        </p:nvSpPr>
        <p:spPr>
          <a:xfrm>
            <a:off x="723900" y="1876425"/>
            <a:ext cx="1752600" cy="285750"/>
          </a:xfrm>
          <a:prstGeom prst="rect">
            <a:avLst/>
          </a:prstGeom>
          <a:noFill/>
          <a:ln w="0">
            <a:noFill/>
            <a:prstDash val="solid"/>
          </a:ln>
        </p:spPr>
        <p:txBody>
          <a:bodyPr wrap="none" lIns="0" tIns="0" rIns="0" bIns="0" anchor="t">
            <a:normAutofit/>
          </a:bodyPr>
          <a:lstStyle/>
          <a:p>
            <a:pPr algn="l">
              <a:buNone/>
              <a:defRPr sz="1575" b="1">
                <a:solidFill>
                  <a:srgbClr val="3D8DFF"/>
                </a:solidFill>
                <a:latin typeface="Arial"/>
                <a:ea typeface="Arial"/>
                <a:cs typeface="Arial"/>
              </a:defRPr>
            </a:pPr>
            <a:r>
              <a:rPr sz="1575" b="1">
                <a:solidFill>
                  <a:srgbClr val="17365D"/>
                </a:solidFill>
                <a:latin typeface="Arial"/>
                <a:ea typeface="Arial"/>
                <a:cs typeface="Arial"/>
              </a:rPr>
              <a:t>Piclo Flex</a:t>
            </a:r>
          </a:p>
        </p:txBody>
      </p:sp>
      <p:sp>
        <p:nvSpPr>
          <p:cNvPr id="41" name="LaneSub_0">
            <a:extLst>
              <a:ext uri="{FF2B5EF4-FFF2-40B4-BE49-F238E27FC236}">
                <a16:creationId xmlns:a16="http://schemas.microsoft.com/office/drawing/2014/main" id="{454830AB-A942-4903-929B-172B57A00603}"/>
              </a:ext>
            </a:extLst>
          </p:cNvPr>
          <p:cNvSpPr>
            <a:spLocks noGrp="1"/>
          </p:cNvSpPr>
          <p:nvPr/>
        </p:nvSpPr>
        <p:spPr>
          <a:xfrm>
            <a:off x="723900" y="2219325"/>
            <a:ext cx="1752600" cy="209550"/>
          </a:xfrm>
          <a:prstGeom prst="rect">
            <a:avLst/>
          </a:prstGeom>
          <a:noFill/>
          <a:ln w="0">
            <a:noFill/>
            <a:prstDash val="solid"/>
          </a:ln>
        </p:spPr>
        <p:txBody>
          <a:bodyPr wrap="none" lIns="0" tIns="0" rIns="0" bIns="0" anchor="t">
            <a:normAutofit/>
          </a:bodyPr>
          <a:lstStyle/>
          <a:p>
            <a:pPr algn="l">
              <a:buNone/>
              <a:defRPr sz="1088" b="0">
                <a:solidFill>
                  <a:srgbClr val="5F6B7A"/>
                </a:solidFill>
                <a:latin typeface="Microsoft YaHei"/>
                <a:ea typeface="Microsoft YaHei"/>
                <a:cs typeface="Microsoft YaHei"/>
              </a:defRPr>
            </a:pPr>
            <a:r>
              <a:rPr sz="1088" b="0">
                <a:solidFill>
                  <a:srgbClr val="5F6B7A"/>
                </a:solidFill>
                <a:latin typeface="Microsoft YaHei"/>
                <a:ea typeface="Microsoft YaHei"/>
                <a:cs typeface="Microsoft YaHei"/>
              </a:rPr>
              <a:t>竞争式采购平台</a:t>
            </a:r>
          </a:p>
        </p:txBody>
      </p:sp>
      <p:sp>
        <p:nvSpPr>
          <p:cNvPr id="42" name="LaneArrow_0_0">
            <a:extLst>
              <a:ext uri="{FF2B5EF4-FFF2-40B4-BE49-F238E27FC236}">
                <a16:creationId xmlns:a16="http://schemas.microsoft.com/office/drawing/2014/main" id="{F7CB5702-A4B9-47D4-827F-121070020361}"/>
              </a:ext>
            </a:extLst>
          </p:cNvPr>
          <p:cNvSpPr>
            <a:spLocks noGrp="1"/>
          </p:cNvSpPr>
          <p:nvPr/>
        </p:nvSpPr>
        <p:spPr>
          <a:xfrm>
            <a:off x="4210050" y="2152650"/>
            <a:ext cx="104775" cy="0"/>
          </a:xfrm>
          <a:prstGeom prst="line">
            <a:avLst/>
          </a:prstGeom>
          <a:noFill/>
          <a:ln w="19050">
            <a:solidFill>
              <a:srgbClr val="17365D"/>
            </a:solidFill>
            <a:prstDash val="solid"/>
          </a:ln>
        </p:spPr>
      </p:sp>
      <p:sp>
        <p:nvSpPr>
          <p:cNvPr id="43" name="LaneArrow_0_1">
            <a:extLst>
              <a:ext uri="{FF2B5EF4-FFF2-40B4-BE49-F238E27FC236}">
                <a16:creationId xmlns:a16="http://schemas.microsoft.com/office/drawing/2014/main" id="{6AC13CCF-1C45-4FAD-8EFB-8ABA4198A3D3}"/>
              </a:ext>
            </a:extLst>
          </p:cNvPr>
          <p:cNvSpPr>
            <a:spLocks noGrp="1"/>
          </p:cNvSpPr>
          <p:nvPr/>
        </p:nvSpPr>
        <p:spPr>
          <a:xfrm>
            <a:off x="5610225" y="2152650"/>
            <a:ext cx="104775" cy="0"/>
          </a:xfrm>
          <a:prstGeom prst="line">
            <a:avLst/>
          </a:prstGeom>
          <a:noFill/>
          <a:ln w="19050">
            <a:solidFill>
              <a:srgbClr val="17365D"/>
            </a:solidFill>
            <a:prstDash val="solid"/>
          </a:ln>
        </p:spPr>
      </p:sp>
      <p:sp>
        <p:nvSpPr>
          <p:cNvPr id="44" name="LaneArrow_0_2">
            <a:extLst>
              <a:ext uri="{FF2B5EF4-FFF2-40B4-BE49-F238E27FC236}">
                <a16:creationId xmlns:a16="http://schemas.microsoft.com/office/drawing/2014/main" id="{264449E6-5342-432B-8734-933BD6A9114C}"/>
              </a:ext>
            </a:extLst>
          </p:cNvPr>
          <p:cNvSpPr>
            <a:spLocks noGrp="1"/>
          </p:cNvSpPr>
          <p:nvPr/>
        </p:nvSpPr>
        <p:spPr>
          <a:xfrm>
            <a:off x="7010400" y="2152650"/>
            <a:ext cx="104775" cy="0"/>
          </a:xfrm>
          <a:prstGeom prst="line">
            <a:avLst/>
          </a:prstGeom>
          <a:noFill/>
          <a:ln w="19050">
            <a:solidFill>
              <a:srgbClr val="17365D"/>
            </a:solidFill>
            <a:prstDash val="solid"/>
          </a:ln>
        </p:spPr>
      </p:sp>
      <p:sp>
        <p:nvSpPr>
          <p:cNvPr id="45" name="LaneArrow_0_3">
            <a:extLst>
              <a:ext uri="{FF2B5EF4-FFF2-40B4-BE49-F238E27FC236}">
                <a16:creationId xmlns:a16="http://schemas.microsoft.com/office/drawing/2014/main" id="{155FE6FF-E54C-42DF-9A48-7722D68EA8DB}"/>
              </a:ext>
            </a:extLst>
          </p:cNvPr>
          <p:cNvSpPr>
            <a:spLocks noGrp="1"/>
          </p:cNvSpPr>
          <p:nvPr/>
        </p:nvSpPr>
        <p:spPr>
          <a:xfrm>
            <a:off x="8410575" y="2152650"/>
            <a:ext cx="104775" cy="0"/>
          </a:xfrm>
          <a:prstGeom prst="line">
            <a:avLst/>
          </a:prstGeom>
          <a:noFill/>
          <a:ln w="19050">
            <a:solidFill>
              <a:srgbClr val="17365D"/>
            </a:solidFill>
            <a:prstDash val="solid"/>
          </a:ln>
        </p:spPr>
      </p:sp>
      <p:sp>
        <p:nvSpPr>
          <p:cNvPr id="46" name="LaneArrow_0_4">
            <a:extLst>
              <a:ext uri="{FF2B5EF4-FFF2-40B4-BE49-F238E27FC236}">
                <a16:creationId xmlns:a16="http://schemas.microsoft.com/office/drawing/2014/main" id="{C7DED974-4B4B-4E97-BCB2-887C64255C49}"/>
              </a:ext>
            </a:extLst>
          </p:cNvPr>
          <p:cNvSpPr>
            <a:spLocks noGrp="1"/>
          </p:cNvSpPr>
          <p:nvPr/>
        </p:nvSpPr>
        <p:spPr>
          <a:xfrm>
            <a:off x="9810750" y="2152650"/>
            <a:ext cx="104775" cy="0"/>
          </a:xfrm>
          <a:prstGeom prst="line">
            <a:avLst/>
          </a:prstGeom>
          <a:noFill/>
          <a:ln w="19050">
            <a:solidFill>
              <a:srgbClr val="17365D"/>
            </a:solidFill>
            <a:prstDash val="solid"/>
          </a:ln>
        </p:spPr>
      </p:sp>
      <p:sp>
        <p:nvSpPr>
          <p:cNvPr id="47" name="LaneStep_0_0">
            <a:extLst>
              <a:ext uri="{FF2B5EF4-FFF2-40B4-BE49-F238E27FC236}">
                <a16:creationId xmlns:a16="http://schemas.microsoft.com/office/drawing/2014/main" id="{CAF53DE4-5F34-4F1D-BD3E-AAC092F0796B}"/>
              </a:ext>
            </a:extLst>
          </p:cNvPr>
          <p:cNvSpPr>
            <a:spLocks noGrp="1"/>
          </p:cNvSpPr>
          <p:nvPr/>
        </p:nvSpPr>
        <p:spPr>
          <a:xfrm>
            <a:off x="2914650" y="1885950"/>
            <a:ext cx="1295400" cy="533400"/>
          </a:xfrm>
          <a:prstGeom prst="roundRect">
            <a:avLst>
              <a:gd name="adj" fmla="val 8929"/>
            </a:avLst>
          </a:prstGeom>
          <a:solidFill>
            <a:srgbClr val="E9EFF7"/>
          </a:solidFill>
          <a:ln w="9525">
            <a:solidFill>
              <a:srgbClr val="17365D"/>
            </a:solidFill>
            <a:prstDash val="solid"/>
          </a:ln>
        </p:spPr>
      </p:sp>
      <p:sp>
        <p:nvSpPr>
          <p:cNvPr id="48" name="LaneStepText_0_0">
            <a:extLst>
              <a:ext uri="{FF2B5EF4-FFF2-40B4-BE49-F238E27FC236}">
                <a16:creationId xmlns:a16="http://schemas.microsoft.com/office/drawing/2014/main" id="{DCE7E6AF-708E-4BB0-8E79-BCF5BD8E1581}"/>
              </a:ext>
            </a:extLst>
          </p:cNvPr>
          <p:cNvSpPr>
            <a:spLocks noGrp="1"/>
          </p:cNvSpPr>
          <p:nvPr/>
        </p:nvSpPr>
        <p:spPr>
          <a:xfrm>
            <a:off x="2981325" y="2047875"/>
            <a:ext cx="1162050" cy="228600"/>
          </a:xfrm>
          <a:prstGeom prst="rect">
            <a:avLst/>
          </a:prstGeom>
          <a:noFill/>
          <a:ln w="0">
            <a:noFill/>
            <a:prstDash val="solid"/>
          </a:ln>
        </p:spPr>
        <p:txBody>
          <a:bodyPr wrap="none" lIns="0" tIns="0" rIns="0" bIns="0" anchor="t">
            <a:normAutofit/>
          </a:bodyPr>
          <a:lstStyle/>
          <a:p>
            <a:pPr algn="ctr">
              <a:buNone/>
              <a:defRPr sz="1088" b="1">
                <a:solidFill>
                  <a:srgbClr val="3D8DFF"/>
                </a:solidFill>
                <a:latin typeface="Microsoft YaHei"/>
                <a:ea typeface="Microsoft YaHei"/>
                <a:cs typeface="Microsoft YaHei"/>
              </a:defRPr>
            </a:pPr>
            <a:r>
              <a:rPr sz="1088" b="1">
                <a:solidFill>
                  <a:srgbClr val="17365D"/>
                </a:solidFill>
                <a:latin typeface="Microsoft YaHei"/>
                <a:ea typeface="Microsoft YaHei"/>
                <a:cs typeface="Microsoft YaHei"/>
              </a:rPr>
              <a:t>资质与资产</a:t>
            </a:r>
          </a:p>
        </p:txBody>
      </p:sp>
      <p:sp>
        <p:nvSpPr>
          <p:cNvPr id="49" name="LaneStep_0_1">
            <a:extLst>
              <a:ext uri="{FF2B5EF4-FFF2-40B4-BE49-F238E27FC236}">
                <a16:creationId xmlns:a16="http://schemas.microsoft.com/office/drawing/2014/main" id="{8BF61399-35C5-4B44-9F65-9792E8373F99}"/>
              </a:ext>
            </a:extLst>
          </p:cNvPr>
          <p:cNvSpPr>
            <a:spLocks noGrp="1"/>
          </p:cNvSpPr>
          <p:nvPr/>
        </p:nvSpPr>
        <p:spPr>
          <a:xfrm>
            <a:off x="4314825" y="1885950"/>
            <a:ext cx="1295400" cy="533400"/>
          </a:xfrm>
          <a:prstGeom prst="roundRect">
            <a:avLst>
              <a:gd name="adj" fmla="val 8929"/>
            </a:avLst>
          </a:prstGeom>
          <a:solidFill>
            <a:srgbClr val="FFFFFF"/>
          </a:solidFill>
          <a:ln w="9525">
            <a:solidFill>
              <a:srgbClr val="D7DBE2"/>
            </a:solidFill>
            <a:prstDash val="solid"/>
          </a:ln>
        </p:spPr>
      </p:sp>
      <p:sp>
        <p:nvSpPr>
          <p:cNvPr id="50" name="LaneStepText_0_1">
            <a:extLst>
              <a:ext uri="{FF2B5EF4-FFF2-40B4-BE49-F238E27FC236}">
                <a16:creationId xmlns:a16="http://schemas.microsoft.com/office/drawing/2014/main" id="{403A8F3D-01E9-479E-9BD6-D8AD51040D06}"/>
              </a:ext>
            </a:extLst>
          </p:cNvPr>
          <p:cNvSpPr>
            <a:spLocks noGrp="1"/>
          </p:cNvSpPr>
          <p:nvPr/>
        </p:nvSpPr>
        <p:spPr>
          <a:xfrm>
            <a:off x="4381500" y="2047875"/>
            <a:ext cx="1162050" cy="228600"/>
          </a:xfrm>
          <a:prstGeom prst="rect">
            <a:avLst/>
          </a:prstGeom>
          <a:noFill/>
          <a:ln w="0">
            <a:noFill/>
            <a:prstDash val="solid"/>
          </a:ln>
        </p:spPr>
        <p:txBody>
          <a:bodyPr wrap="none" lIns="0" tIns="0" rIns="0" bIns="0" anchor="t">
            <a:normAutofit/>
          </a:bodyPr>
          <a:lstStyle/>
          <a:p>
            <a:pPr algn="ctr">
              <a:buNone/>
              <a:defRPr sz="1088" b="0">
                <a:solidFill>
                  <a:srgbClr val="111827"/>
                </a:solidFill>
                <a:latin typeface="Arial"/>
                <a:ea typeface="Arial"/>
                <a:cs typeface="Arial"/>
              </a:defRPr>
            </a:pPr>
            <a:r>
              <a:rPr sz="1088" b="0">
                <a:solidFill>
                  <a:srgbClr val="111827"/>
                </a:solidFill>
                <a:latin typeface="Arial"/>
                <a:ea typeface="Arial"/>
                <a:cs typeface="Arial"/>
              </a:rPr>
              <a:t>Competition</a:t>
            </a:r>
          </a:p>
        </p:txBody>
      </p:sp>
      <p:sp>
        <p:nvSpPr>
          <p:cNvPr id="51" name="LaneStep_0_2">
            <a:extLst>
              <a:ext uri="{FF2B5EF4-FFF2-40B4-BE49-F238E27FC236}">
                <a16:creationId xmlns:a16="http://schemas.microsoft.com/office/drawing/2014/main" id="{0A789430-4DD5-4963-A6DC-5B541D5E2679}"/>
              </a:ext>
            </a:extLst>
          </p:cNvPr>
          <p:cNvSpPr>
            <a:spLocks noGrp="1"/>
          </p:cNvSpPr>
          <p:nvPr/>
        </p:nvSpPr>
        <p:spPr>
          <a:xfrm>
            <a:off x="5715000" y="1885950"/>
            <a:ext cx="1295400" cy="533400"/>
          </a:xfrm>
          <a:prstGeom prst="roundRect">
            <a:avLst>
              <a:gd name="adj" fmla="val 8929"/>
            </a:avLst>
          </a:prstGeom>
          <a:solidFill>
            <a:srgbClr val="FFFFFF"/>
          </a:solidFill>
          <a:ln w="9525">
            <a:solidFill>
              <a:srgbClr val="D7DBE2"/>
            </a:solidFill>
            <a:prstDash val="solid"/>
          </a:ln>
        </p:spPr>
      </p:sp>
      <p:sp>
        <p:nvSpPr>
          <p:cNvPr id="52" name="LaneStepText_0_2">
            <a:extLst>
              <a:ext uri="{FF2B5EF4-FFF2-40B4-BE49-F238E27FC236}">
                <a16:creationId xmlns:a16="http://schemas.microsoft.com/office/drawing/2014/main" id="{33779E35-BF70-4D1E-85FC-98B5E13CC98A}"/>
              </a:ext>
            </a:extLst>
          </p:cNvPr>
          <p:cNvSpPr>
            <a:spLocks noGrp="1"/>
          </p:cNvSpPr>
          <p:nvPr/>
        </p:nvSpPr>
        <p:spPr>
          <a:xfrm>
            <a:off x="5781675" y="2047875"/>
            <a:ext cx="1162050" cy="228600"/>
          </a:xfrm>
          <a:prstGeom prst="rect">
            <a:avLst/>
          </a:prstGeom>
          <a:noFill/>
          <a:ln w="0">
            <a:noFill/>
            <a:prstDash val="solid"/>
          </a:ln>
        </p:spPr>
        <p:txBody>
          <a:bodyPr wrap="none" lIns="0" tIns="0" rIns="0" bIns="0" anchor="t">
            <a:normAutofit/>
          </a:bodyPr>
          <a:lstStyle/>
          <a:p>
            <a:pPr algn="ctr">
              <a:buNone/>
              <a:defRPr sz="1088" b="0">
                <a:solidFill>
                  <a:srgbClr val="111827"/>
                </a:solidFill>
                <a:latin typeface="Microsoft YaHei"/>
                <a:ea typeface="Microsoft YaHei"/>
                <a:cs typeface="Microsoft YaHei"/>
              </a:defRPr>
            </a:pPr>
            <a:r>
              <a:rPr sz="1088" b="0">
                <a:solidFill>
                  <a:srgbClr val="111827"/>
                </a:solidFill>
                <a:latin typeface="Microsoft YaHei"/>
                <a:ea typeface="Microsoft YaHei"/>
                <a:cs typeface="Microsoft YaHei"/>
              </a:rPr>
              <a:t>合同</a:t>
            </a:r>
          </a:p>
        </p:txBody>
      </p:sp>
      <p:sp>
        <p:nvSpPr>
          <p:cNvPr id="53" name="LaneStep_0_3">
            <a:extLst>
              <a:ext uri="{FF2B5EF4-FFF2-40B4-BE49-F238E27FC236}">
                <a16:creationId xmlns:a16="http://schemas.microsoft.com/office/drawing/2014/main" id="{0E45B234-BB66-4836-A62C-D3A3A5647F73}"/>
              </a:ext>
            </a:extLst>
          </p:cNvPr>
          <p:cNvSpPr>
            <a:spLocks noGrp="1"/>
          </p:cNvSpPr>
          <p:nvPr/>
        </p:nvSpPr>
        <p:spPr>
          <a:xfrm>
            <a:off x="7115175" y="1885950"/>
            <a:ext cx="1295400" cy="533400"/>
          </a:xfrm>
          <a:prstGeom prst="roundRect">
            <a:avLst>
              <a:gd name="adj" fmla="val 8929"/>
            </a:avLst>
          </a:prstGeom>
          <a:solidFill>
            <a:srgbClr val="FFFFFF"/>
          </a:solidFill>
          <a:ln w="9525">
            <a:solidFill>
              <a:srgbClr val="D7DBE2"/>
            </a:solidFill>
            <a:prstDash val="solid"/>
          </a:ln>
        </p:spPr>
      </p:sp>
      <p:sp>
        <p:nvSpPr>
          <p:cNvPr id="54" name="LaneStepText_0_3">
            <a:extLst>
              <a:ext uri="{FF2B5EF4-FFF2-40B4-BE49-F238E27FC236}">
                <a16:creationId xmlns:a16="http://schemas.microsoft.com/office/drawing/2014/main" id="{808DF979-05EF-4E11-8433-B684944F5C0B}"/>
              </a:ext>
            </a:extLst>
          </p:cNvPr>
          <p:cNvSpPr>
            <a:spLocks noGrp="1"/>
          </p:cNvSpPr>
          <p:nvPr/>
        </p:nvSpPr>
        <p:spPr>
          <a:xfrm>
            <a:off x="7181850" y="2047875"/>
            <a:ext cx="1162050" cy="228600"/>
          </a:xfrm>
          <a:prstGeom prst="rect">
            <a:avLst/>
          </a:prstGeom>
          <a:noFill/>
          <a:ln w="0">
            <a:noFill/>
            <a:prstDash val="solid"/>
          </a:ln>
        </p:spPr>
        <p:txBody>
          <a:bodyPr wrap="none" lIns="0" tIns="0" rIns="0" bIns="0" anchor="t">
            <a:normAutofit/>
          </a:bodyPr>
          <a:lstStyle/>
          <a:p>
            <a:pPr algn="ctr">
              <a:buNone/>
              <a:defRPr sz="1088" b="0">
                <a:solidFill>
                  <a:srgbClr val="111827"/>
                </a:solidFill>
                <a:latin typeface="Arial"/>
                <a:ea typeface="Arial"/>
                <a:cs typeface="Arial"/>
              </a:defRPr>
            </a:pPr>
            <a:r>
              <a:rPr sz="1088" b="0">
                <a:solidFill>
                  <a:srgbClr val="111827"/>
                </a:solidFill>
                <a:latin typeface="Arial"/>
                <a:ea typeface="Arial"/>
                <a:cs typeface="Arial"/>
              </a:rPr>
              <a:t>Dispatch</a:t>
            </a:r>
          </a:p>
        </p:txBody>
      </p:sp>
      <p:sp>
        <p:nvSpPr>
          <p:cNvPr id="55" name="LaneStep_0_4">
            <a:extLst>
              <a:ext uri="{FF2B5EF4-FFF2-40B4-BE49-F238E27FC236}">
                <a16:creationId xmlns:a16="http://schemas.microsoft.com/office/drawing/2014/main" id="{9EAA6973-4B2C-4E2E-9DCB-53E75A32F531}"/>
              </a:ext>
            </a:extLst>
          </p:cNvPr>
          <p:cNvSpPr>
            <a:spLocks noGrp="1"/>
          </p:cNvSpPr>
          <p:nvPr/>
        </p:nvSpPr>
        <p:spPr>
          <a:xfrm>
            <a:off x="8515350" y="1885950"/>
            <a:ext cx="1295400" cy="533400"/>
          </a:xfrm>
          <a:prstGeom prst="roundRect">
            <a:avLst>
              <a:gd name="adj" fmla="val 8929"/>
            </a:avLst>
          </a:prstGeom>
          <a:solidFill>
            <a:srgbClr val="FFFFFF"/>
          </a:solidFill>
          <a:ln w="9525">
            <a:solidFill>
              <a:srgbClr val="D7DBE2"/>
            </a:solidFill>
            <a:prstDash val="solid"/>
          </a:ln>
        </p:spPr>
      </p:sp>
      <p:sp>
        <p:nvSpPr>
          <p:cNvPr id="56" name="LaneStepText_0_4">
            <a:extLst>
              <a:ext uri="{FF2B5EF4-FFF2-40B4-BE49-F238E27FC236}">
                <a16:creationId xmlns:a16="http://schemas.microsoft.com/office/drawing/2014/main" id="{B0B25C19-E0E6-4EF6-A76F-80A11378177D}"/>
              </a:ext>
            </a:extLst>
          </p:cNvPr>
          <p:cNvSpPr>
            <a:spLocks noGrp="1"/>
          </p:cNvSpPr>
          <p:nvPr/>
        </p:nvSpPr>
        <p:spPr>
          <a:xfrm>
            <a:off x="8582025" y="2047875"/>
            <a:ext cx="1162050" cy="228600"/>
          </a:xfrm>
          <a:prstGeom prst="rect">
            <a:avLst/>
          </a:prstGeom>
          <a:noFill/>
          <a:ln w="0">
            <a:noFill/>
            <a:prstDash val="solid"/>
          </a:ln>
        </p:spPr>
        <p:txBody>
          <a:bodyPr wrap="none" lIns="0" tIns="0" rIns="0" bIns="0" anchor="t">
            <a:normAutofit/>
          </a:bodyPr>
          <a:lstStyle/>
          <a:p>
            <a:pPr algn="ctr">
              <a:buNone/>
              <a:defRPr sz="1088" b="0">
                <a:solidFill>
                  <a:srgbClr val="111827"/>
                </a:solidFill>
                <a:latin typeface="Microsoft YaHei"/>
                <a:ea typeface="Microsoft YaHei"/>
                <a:cs typeface="Microsoft YaHei"/>
              </a:defRPr>
            </a:pPr>
            <a:r>
              <a:rPr sz="1088" b="0">
                <a:solidFill>
                  <a:srgbClr val="111827"/>
                </a:solidFill>
                <a:latin typeface="Microsoft YaHei"/>
                <a:ea typeface="Microsoft YaHei"/>
                <a:cs typeface="Microsoft YaHei"/>
              </a:rPr>
              <a:t>计量/基线</a:t>
            </a:r>
          </a:p>
        </p:txBody>
      </p:sp>
      <p:sp>
        <p:nvSpPr>
          <p:cNvPr id="57" name="LaneStep_0_5">
            <a:extLst>
              <a:ext uri="{FF2B5EF4-FFF2-40B4-BE49-F238E27FC236}">
                <a16:creationId xmlns:a16="http://schemas.microsoft.com/office/drawing/2014/main" id="{98F7A176-E413-44D9-BD9E-DE31E1269BF0}"/>
              </a:ext>
            </a:extLst>
          </p:cNvPr>
          <p:cNvSpPr>
            <a:spLocks noGrp="1"/>
          </p:cNvSpPr>
          <p:nvPr/>
        </p:nvSpPr>
        <p:spPr>
          <a:xfrm>
            <a:off x="9915525" y="1885950"/>
            <a:ext cx="1295400" cy="533400"/>
          </a:xfrm>
          <a:prstGeom prst="roundRect">
            <a:avLst>
              <a:gd name="adj" fmla="val 8929"/>
            </a:avLst>
          </a:prstGeom>
          <a:solidFill>
            <a:srgbClr val="E9EFF7"/>
          </a:solidFill>
          <a:ln w="9525">
            <a:solidFill>
              <a:srgbClr val="17365D"/>
            </a:solidFill>
            <a:prstDash val="solid"/>
          </a:ln>
        </p:spPr>
      </p:sp>
      <p:sp>
        <p:nvSpPr>
          <p:cNvPr id="58" name="LaneStepText_0_5">
            <a:extLst>
              <a:ext uri="{FF2B5EF4-FFF2-40B4-BE49-F238E27FC236}">
                <a16:creationId xmlns:a16="http://schemas.microsoft.com/office/drawing/2014/main" id="{5F331A1B-375C-4D36-8F98-FD7C9F91E985}"/>
              </a:ext>
            </a:extLst>
          </p:cNvPr>
          <p:cNvSpPr>
            <a:spLocks noGrp="1"/>
          </p:cNvSpPr>
          <p:nvPr/>
        </p:nvSpPr>
        <p:spPr>
          <a:xfrm>
            <a:off x="9982200" y="2047875"/>
            <a:ext cx="1162050" cy="228600"/>
          </a:xfrm>
          <a:prstGeom prst="rect">
            <a:avLst/>
          </a:prstGeom>
          <a:noFill/>
          <a:ln w="0">
            <a:noFill/>
            <a:prstDash val="solid"/>
          </a:ln>
        </p:spPr>
        <p:txBody>
          <a:bodyPr wrap="none" lIns="0" tIns="0" rIns="0" bIns="0" anchor="t">
            <a:normAutofit/>
          </a:bodyPr>
          <a:lstStyle/>
          <a:p>
            <a:pPr algn="ctr">
              <a:buNone/>
              <a:defRPr sz="1088" b="1">
                <a:solidFill>
                  <a:srgbClr val="3D8DFF"/>
                </a:solidFill>
                <a:latin typeface="Arial"/>
                <a:ea typeface="Arial"/>
                <a:cs typeface="Arial"/>
              </a:defRPr>
            </a:pPr>
            <a:r>
              <a:rPr sz="1088" b="1">
                <a:solidFill>
                  <a:srgbClr val="17365D"/>
                </a:solidFill>
                <a:latin typeface="Arial"/>
                <a:ea typeface="Arial"/>
                <a:cs typeface="Arial"/>
              </a:rPr>
              <a:t>Settlement</a:t>
            </a:r>
          </a:p>
        </p:txBody>
      </p:sp>
      <p:sp>
        <p:nvSpPr>
          <p:cNvPr id="2" name="文本框 1">
            <a:extLst>
              <a:ext uri="{FF2B5EF4-FFF2-40B4-BE49-F238E27FC236}">
                <a16:creationId xmlns:a16="http://schemas.microsoft.com/office/drawing/2014/main" id="{697A9C11-568A-4371-BE2F-8ABCB412BA4C}"/>
              </a:ext>
            </a:extLst>
          </p:cNvPr>
          <p:cNvSpPr txBox="1"/>
          <p:nvPr/>
        </p:nvSpPr>
        <p:spPr>
          <a:xfrm>
            <a:off x="457200" y="1334572"/>
            <a:ext cx="1800493" cy="369332"/>
          </a:xfrm>
          <a:prstGeom prst="rect">
            <a:avLst/>
          </a:prstGeom>
          <a:noFill/>
        </p:spPr>
        <p:txBody>
          <a:bodyPr wrap="none" rtlCol="0">
            <a:spAutoFit/>
          </a:bodyPr>
          <a:lstStyle/>
          <a:p>
            <a:r>
              <a:rPr lang="zh-CN" altLang="en-US" b="1">
                <a:latin typeface="微软雅黑" panose="020B0503020204020204" pitchFamily="34" charset="-122"/>
                <a:ea typeface="微软雅黑" panose="020B0503020204020204" pitchFamily="34" charset="-122"/>
              </a:rPr>
              <a:t>运行类商业平台</a:t>
            </a:r>
          </a:p>
        </p:txBody>
      </p:sp>
      <p:sp>
        <p:nvSpPr>
          <p:cNvPr id="61" name="文本框 60">
            <a:extLst>
              <a:ext uri="{FF2B5EF4-FFF2-40B4-BE49-F238E27FC236}">
                <a16:creationId xmlns:a16="http://schemas.microsoft.com/office/drawing/2014/main" id="{E7C50F35-F97C-4C93-9C93-65CE6266710C}"/>
              </a:ext>
            </a:extLst>
          </p:cNvPr>
          <p:cNvSpPr txBox="1"/>
          <p:nvPr/>
        </p:nvSpPr>
        <p:spPr>
          <a:xfrm>
            <a:off x="457200" y="2696590"/>
            <a:ext cx="1842171" cy="369332"/>
          </a:xfrm>
          <a:prstGeom prst="rect">
            <a:avLst/>
          </a:prstGeom>
          <a:noFill/>
        </p:spPr>
        <p:txBody>
          <a:bodyPr wrap="none" rtlCol="0">
            <a:spAutoFit/>
          </a:bodyPr>
          <a:lstStyle/>
          <a:p>
            <a:r>
              <a:rPr lang="zh-CN" altLang="en-US" b="1">
                <a:latin typeface="微软雅黑" panose="020B0503020204020204" pitchFamily="34" charset="-122"/>
                <a:ea typeface="微软雅黑" panose="020B0503020204020204" pitchFamily="34" charset="-122"/>
              </a:rPr>
              <a:t>设计类商业平台</a:t>
            </a:r>
          </a:p>
        </p:txBody>
      </p:sp>
      <p:sp>
        <p:nvSpPr>
          <p:cNvPr id="3" name="矩形 2">
            <a:extLst>
              <a:ext uri="{FF2B5EF4-FFF2-40B4-BE49-F238E27FC236}">
                <a16:creationId xmlns:a16="http://schemas.microsoft.com/office/drawing/2014/main" id="{1E8105B5-AD83-46FD-8795-B42BA506B062}"/>
              </a:ext>
            </a:extLst>
          </p:cNvPr>
          <p:cNvSpPr/>
          <p:nvPr/>
        </p:nvSpPr>
        <p:spPr>
          <a:xfrm>
            <a:off x="2813202" y="3065922"/>
            <a:ext cx="4176713" cy="848218"/>
          </a:xfrm>
          <a:prstGeom prst="rect">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62" name="文本框 61">
            <a:extLst>
              <a:ext uri="{FF2B5EF4-FFF2-40B4-BE49-F238E27FC236}">
                <a16:creationId xmlns:a16="http://schemas.microsoft.com/office/drawing/2014/main" id="{6A79E37A-4539-4C8C-808D-DE2FF8E55FE2}"/>
              </a:ext>
            </a:extLst>
          </p:cNvPr>
          <p:cNvSpPr txBox="1"/>
          <p:nvPr/>
        </p:nvSpPr>
        <p:spPr>
          <a:xfrm>
            <a:off x="4511119" y="2794481"/>
            <a:ext cx="902811" cy="307777"/>
          </a:xfrm>
          <a:prstGeom prst="rect">
            <a:avLst/>
          </a:prstGeom>
          <a:noFill/>
        </p:spPr>
        <p:txBody>
          <a:bodyPr wrap="none" rtlCol="0">
            <a:spAutoFit/>
          </a:bodyPr>
          <a:lstStyle/>
          <a:p>
            <a:r>
              <a:rPr lang="zh-CN" altLang="en-US" sz="1400" b="1">
                <a:solidFill>
                  <a:srgbClr val="C00000"/>
                </a:solidFill>
                <a:latin typeface="微软雅黑" panose="020B0503020204020204" pitchFamily="34" charset="-122"/>
                <a:ea typeface="微软雅黑" panose="020B0503020204020204" pitchFamily="34" charset="-122"/>
              </a:rPr>
              <a:t>专家来干</a:t>
            </a:r>
          </a:p>
        </p:txBody>
      </p:sp>
    </p:spTree>
    <p:custDataLst>
      <p:tags r:id="rId1"/>
    </p:custDataLst>
    <p:extLst>
      <p:ext uri="{BB962C8B-B14F-4D97-AF65-F5344CB8AC3E}">
        <p14:creationId xmlns:p14="http://schemas.microsoft.com/office/powerpoint/2010/main" val="1785481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17933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2.3 </a:t>
            </a:r>
            <a:r>
              <a:rPr lang="zh-CN" altLang="en-US" sz="2800" spc="0">
                <a:solidFill>
                  <a:schemeClr val="tx1"/>
                </a:solidFill>
                <a:effectLst/>
                <a:sym typeface="微软雅黑" panose="020B0503020204020204" pitchFamily="34" charset="-122"/>
              </a:rPr>
              <a:t>规则分层组合有向图？典型市场设计模板，延申的设计空间预估</a:t>
            </a:r>
          </a:p>
        </p:txBody>
      </p:sp>
      <p:grpSp>
        <p:nvGrpSpPr>
          <p:cNvPr id="83" name="组合 82">
            <a:extLst>
              <a:ext uri="{FF2B5EF4-FFF2-40B4-BE49-F238E27FC236}">
                <a16:creationId xmlns:a16="http://schemas.microsoft.com/office/drawing/2014/main" id="{935A8463-3490-4A4C-9FBE-C504EB783A9E}"/>
              </a:ext>
            </a:extLst>
          </p:cNvPr>
          <p:cNvGrpSpPr/>
          <p:nvPr/>
        </p:nvGrpSpPr>
        <p:grpSpPr>
          <a:xfrm>
            <a:off x="308924" y="734752"/>
            <a:ext cx="11574151" cy="522605"/>
            <a:chOff x="308924" y="734752"/>
            <a:chExt cx="11574151" cy="522605"/>
          </a:xfrm>
        </p:grpSpPr>
        <p:sp>
          <p:nvSpPr>
            <p:cNvPr id="84" name="矩形 22">
              <a:extLst>
                <a:ext uri="{FF2B5EF4-FFF2-40B4-BE49-F238E27FC236}">
                  <a16:creationId xmlns:a16="http://schemas.microsoft.com/office/drawing/2014/main" id="{8ACE45B6-93A6-4AE3-8868-C769AFD68E32}"/>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85" name="文本框 84">
              <a:extLst>
                <a:ext uri="{FF2B5EF4-FFF2-40B4-BE49-F238E27FC236}">
                  <a16:creationId xmlns:a16="http://schemas.microsoft.com/office/drawing/2014/main" id="{3EE57984-FF8B-4D82-A0D1-4E149A2F6C71}"/>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现有的有关市场设计的方法都没有走通完整业务线路：描述</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配置到仿真，缺少自动设计</a:t>
              </a:r>
              <a:endParaRPr sz="22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sp>
        <p:nvSpPr>
          <p:cNvPr id="4" name="矩形 3">
            <a:extLst>
              <a:ext uri="{FF2B5EF4-FFF2-40B4-BE49-F238E27FC236}">
                <a16:creationId xmlns:a16="http://schemas.microsoft.com/office/drawing/2014/main" id="{930564FE-2EEC-4BED-8AB8-8E78F6CE9EC4}"/>
              </a:ext>
            </a:extLst>
          </p:cNvPr>
          <p:cNvSpPr/>
          <p:nvPr/>
        </p:nvSpPr>
        <p:spPr>
          <a:xfrm>
            <a:off x="398615" y="2060293"/>
            <a:ext cx="1551008" cy="3125165"/>
          </a:xfrm>
          <a:prstGeom prst="rect">
            <a:avLst/>
          </a:prstGeom>
          <a:ln/>
        </p:spPr>
        <p:style>
          <a:lnRef idx="2">
            <a:schemeClr val="accent1"/>
          </a:lnRef>
          <a:fillRef idx="1">
            <a:schemeClr val="lt1"/>
          </a:fillRef>
          <a:effectRef idx="0">
            <a:schemeClr val="accent1"/>
          </a:effectRef>
          <a:fontRef idx="minor">
            <a:schemeClr val="dk1"/>
          </a:fontRef>
        </p:style>
        <p:txBody>
          <a:bodyPr lIns="0" rIns="0" rtlCol="0" anchor="ctr"/>
          <a:lstStyle/>
          <a:p>
            <a:pPr algn="ctr" defTabSz="457200"/>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大量文献研究了具体的某一种市场设计</a:t>
            </a:r>
            <a:endParaRPr lang="zh-CN" altLang="en-US" sz="2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59" name="矩形 58">
            <a:extLst>
              <a:ext uri="{FF2B5EF4-FFF2-40B4-BE49-F238E27FC236}">
                <a16:creationId xmlns:a16="http://schemas.microsoft.com/office/drawing/2014/main" id="{76E64DF4-8FBD-4A00-B9E8-1AFF63C8251D}"/>
              </a:ext>
            </a:extLst>
          </p:cNvPr>
          <p:cNvSpPr/>
          <p:nvPr/>
        </p:nvSpPr>
        <p:spPr>
          <a:xfrm>
            <a:off x="2622883" y="2060292"/>
            <a:ext cx="1551008" cy="3125165"/>
          </a:xfrm>
          <a:prstGeom prst="rect">
            <a:avLst/>
          </a:prstGeom>
          <a:ln/>
        </p:spPr>
        <p:style>
          <a:lnRef idx="2">
            <a:schemeClr val="accent1"/>
          </a:lnRef>
          <a:fillRef idx="1">
            <a:schemeClr val="lt1"/>
          </a:fillRef>
          <a:effectRef idx="0">
            <a:schemeClr val="accent1"/>
          </a:effectRef>
          <a:fontRef idx="minor">
            <a:schemeClr val="dk1"/>
          </a:fontRef>
        </p:style>
        <p:txBody>
          <a:bodyPr lIns="0" rIns="0" rtlCol="0" anchor="ctr"/>
          <a:lstStyle/>
          <a:p>
            <a:pPr algn="ctr" defTabSz="457200"/>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少量</a:t>
            </a:r>
            <a:r>
              <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rPr>
              <a:t>DEM</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的市场框架文章</a:t>
            </a:r>
            <a:endPar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algn="ctr" defTabSz="457200"/>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双层</a:t>
            </a:r>
            <a:r>
              <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三层</a:t>
            </a:r>
            <a:r>
              <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仿真？</a:t>
            </a:r>
            <a:endParaRPr lang="zh-CN" altLang="en-US" sz="2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7" name="箭头: 右 6">
            <a:extLst>
              <a:ext uri="{FF2B5EF4-FFF2-40B4-BE49-F238E27FC236}">
                <a16:creationId xmlns:a16="http://schemas.microsoft.com/office/drawing/2014/main" id="{62D282F5-18B9-40A6-9D96-04691F75FF6B}"/>
              </a:ext>
            </a:extLst>
          </p:cNvPr>
          <p:cNvSpPr/>
          <p:nvPr/>
        </p:nvSpPr>
        <p:spPr>
          <a:xfrm>
            <a:off x="2037397" y="3518704"/>
            <a:ext cx="497712" cy="381964"/>
          </a:xfrm>
          <a:prstGeom prst="rightArrow">
            <a:avLst/>
          </a:prstGeom>
          <a:ln/>
        </p:spPr>
        <p:style>
          <a:lnRef idx="2">
            <a:schemeClr val="dk1">
              <a:shade val="50000"/>
            </a:schemeClr>
          </a:lnRef>
          <a:fillRef idx="1">
            <a:schemeClr val="dk1"/>
          </a:fillRef>
          <a:effectRef idx="0">
            <a:schemeClr val="dk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60" name="矩形 59">
            <a:extLst>
              <a:ext uri="{FF2B5EF4-FFF2-40B4-BE49-F238E27FC236}">
                <a16:creationId xmlns:a16="http://schemas.microsoft.com/office/drawing/2014/main" id="{CAD612E9-8660-4397-B3E4-B501562A4D1F}"/>
              </a:ext>
            </a:extLst>
          </p:cNvPr>
          <p:cNvSpPr/>
          <p:nvPr/>
        </p:nvSpPr>
        <p:spPr>
          <a:xfrm>
            <a:off x="4847151" y="2060292"/>
            <a:ext cx="1551008" cy="3125165"/>
          </a:xfrm>
          <a:prstGeom prst="rect">
            <a:avLst/>
          </a:prstGeom>
          <a:ln/>
        </p:spPr>
        <p:style>
          <a:lnRef idx="2">
            <a:schemeClr val="accent1"/>
          </a:lnRef>
          <a:fillRef idx="1">
            <a:schemeClr val="lt1"/>
          </a:fillRef>
          <a:effectRef idx="0">
            <a:schemeClr val="accent1"/>
          </a:effectRef>
          <a:fontRef idx="minor">
            <a:schemeClr val="dk1"/>
          </a:fontRef>
        </p:style>
        <p:txBody>
          <a:bodyPr lIns="46800" rIns="46800" rtlCol="0" anchor="ctr">
            <a:noAutofit/>
          </a:bodyPr>
          <a:lstStyle/>
          <a:p>
            <a:pPr algn="ctr" defTabSz="457200"/>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极少量研究市场设计的统一框架</a:t>
            </a:r>
            <a:endPar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algn="ctr" defTabSz="457200"/>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（分类学视角）</a:t>
            </a:r>
            <a:endParaRPr lang="zh-CN" altLang="en-US" sz="2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63" name="箭头: 右 62">
            <a:extLst>
              <a:ext uri="{FF2B5EF4-FFF2-40B4-BE49-F238E27FC236}">
                <a16:creationId xmlns:a16="http://schemas.microsoft.com/office/drawing/2014/main" id="{1B05F582-8775-4833-B22F-840A4DA44557}"/>
              </a:ext>
            </a:extLst>
          </p:cNvPr>
          <p:cNvSpPr/>
          <p:nvPr/>
        </p:nvSpPr>
        <p:spPr>
          <a:xfrm>
            <a:off x="4349439" y="3518704"/>
            <a:ext cx="497712" cy="381964"/>
          </a:xfrm>
          <a:prstGeom prst="rightArrow">
            <a:avLst/>
          </a:prstGeom>
          <a:ln/>
        </p:spPr>
        <p:style>
          <a:lnRef idx="2">
            <a:schemeClr val="dk1">
              <a:shade val="50000"/>
            </a:schemeClr>
          </a:lnRef>
          <a:fillRef idx="1">
            <a:schemeClr val="dk1"/>
          </a:fillRef>
          <a:effectRef idx="0">
            <a:schemeClr val="dk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64" name="矩形 63">
            <a:extLst>
              <a:ext uri="{FF2B5EF4-FFF2-40B4-BE49-F238E27FC236}">
                <a16:creationId xmlns:a16="http://schemas.microsoft.com/office/drawing/2014/main" id="{9CF36F45-705C-4DB6-80DE-8524BBED4087}"/>
              </a:ext>
            </a:extLst>
          </p:cNvPr>
          <p:cNvSpPr/>
          <p:nvPr/>
        </p:nvSpPr>
        <p:spPr>
          <a:xfrm>
            <a:off x="7242606" y="1541361"/>
            <a:ext cx="3591297" cy="796725"/>
          </a:xfrm>
          <a:prstGeom prst="rect">
            <a:avLst/>
          </a:prstGeom>
          <a:ln/>
        </p:spPr>
        <p:style>
          <a:lnRef idx="2">
            <a:schemeClr val="accent1"/>
          </a:lnRef>
          <a:fillRef idx="1">
            <a:schemeClr val="lt1"/>
          </a:fillRef>
          <a:effectRef idx="0">
            <a:schemeClr val="accent1"/>
          </a:effectRef>
          <a:fontRef idx="minor">
            <a:schemeClr val="dk1"/>
          </a:fontRef>
        </p:style>
        <p:txBody>
          <a:bodyPr lIns="0" rIns="0" rtlCol="0" anchor="ctr"/>
          <a:lstStyle/>
          <a:p>
            <a:pPr algn="ctr" defTabSz="457200"/>
            <a:r>
              <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rPr>
              <a:t>Energy</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文章提出了</a:t>
            </a:r>
            <a:r>
              <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rPr>
              <a:t>Taxonomy</a:t>
            </a:r>
          </a:p>
          <a:p>
            <a:pPr algn="ctr" defTabSz="457200"/>
            <a:r>
              <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rPr>
              <a:t>1 </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归类已有市场 </a:t>
            </a:r>
            <a:r>
              <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rPr>
              <a:t>2</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描述未来市场</a:t>
            </a:r>
            <a:endParaRPr lang="zh-CN" altLang="en-US" sz="2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66" name="矩形 65">
            <a:extLst>
              <a:ext uri="{FF2B5EF4-FFF2-40B4-BE49-F238E27FC236}">
                <a16:creationId xmlns:a16="http://schemas.microsoft.com/office/drawing/2014/main" id="{37E3A856-45A6-4D2D-8EA1-0D1D7D5E5D28}"/>
              </a:ext>
            </a:extLst>
          </p:cNvPr>
          <p:cNvSpPr/>
          <p:nvPr/>
        </p:nvSpPr>
        <p:spPr>
          <a:xfrm>
            <a:off x="6563307" y="2715227"/>
            <a:ext cx="2476522" cy="1606954"/>
          </a:xfrm>
          <a:prstGeom prst="rect">
            <a:avLst/>
          </a:prstGeom>
          <a:ln/>
        </p:spPr>
        <p:style>
          <a:lnRef idx="2">
            <a:schemeClr val="accent1"/>
          </a:lnRef>
          <a:fillRef idx="1">
            <a:schemeClr val="lt1"/>
          </a:fillRef>
          <a:effectRef idx="0">
            <a:schemeClr val="accent1"/>
          </a:effectRef>
          <a:fontRef idx="minor">
            <a:schemeClr val="dk1"/>
          </a:fontRef>
        </p:style>
        <p:txBody>
          <a:bodyPr lIns="0" rIns="0" rtlCol="0" anchor="ctr"/>
          <a:lstStyle/>
          <a:p>
            <a:pPr algn="ctr" defTabSz="457200"/>
            <a:r>
              <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rPr>
              <a:t>APEN</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搞出了</a:t>
            </a:r>
            <a:r>
              <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rPr>
              <a:t>LFM</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的</a:t>
            </a:r>
            <a:r>
              <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rPr>
              <a:t>Taxonomy</a:t>
            </a:r>
          </a:p>
          <a:p>
            <a:pPr algn="ctr" defTabSz="457200"/>
            <a:r>
              <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rPr>
              <a:t>1</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 层级冲突？ </a:t>
            </a:r>
            <a:r>
              <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rPr>
              <a:t>2 </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专家校验</a:t>
            </a:r>
            <a:endParaRPr lang="zh-CN" altLang="en-US" sz="2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67" name="矩形 66">
            <a:extLst>
              <a:ext uri="{FF2B5EF4-FFF2-40B4-BE49-F238E27FC236}">
                <a16:creationId xmlns:a16="http://schemas.microsoft.com/office/drawing/2014/main" id="{D6DBF90F-68D4-4B6D-B4E4-2E1060386B8A}"/>
              </a:ext>
            </a:extLst>
          </p:cNvPr>
          <p:cNvSpPr/>
          <p:nvPr/>
        </p:nvSpPr>
        <p:spPr>
          <a:xfrm>
            <a:off x="9316863" y="2715227"/>
            <a:ext cx="2476522" cy="1606954"/>
          </a:xfrm>
          <a:prstGeom prst="rect">
            <a:avLst/>
          </a:prstGeom>
          <a:ln/>
        </p:spPr>
        <p:style>
          <a:lnRef idx="2">
            <a:schemeClr val="accent1"/>
          </a:lnRef>
          <a:fillRef idx="1">
            <a:schemeClr val="lt1"/>
          </a:fillRef>
          <a:effectRef idx="0">
            <a:schemeClr val="accent1"/>
          </a:effectRef>
          <a:fontRef idx="minor">
            <a:schemeClr val="dk1"/>
          </a:fontRef>
        </p:style>
        <p:txBody>
          <a:bodyPr lIns="0" rIns="0" rtlCol="0" anchor="ctr"/>
          <a:lstStyle/>
          <a:p>
            <a:pPr algn="ctr" defTabSz="457200"/>
            <a:r>
              <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rPr>
              <a:t>EEM</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最接近市场设计框架了</a:t>
            </a:r>
            <a:endPar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algn="ctr" defTabSz="457200"/>
            <a:r>
              <a:rPr lang="en-US" altLang="zh-CN" sz="2000" b="1">
                <a:solidFill>
                  <a:srgbClr val="C00000"/>
                </a:solidFill>
                <a:latin typeface="Arial" panose="020B0604020202020204" pitchFamily="34" charset="0"/>
                <a:ea typeface="微软雅黑" panose="020B0503020204020204" pitchFamily="34" charset="-122"/>
                <a:cs typeface="Arial" panose="020B0604020202020204" pitchFamily="34" charset="0"/>
              </a:rPr>
              <a:t>1</a:t>
            </a:r>
            <a:r>
              <a:rPr lang="zh-CN" altLang="en-US" sz="2000" b="1">
                <a:solidFill>
                  <a:srgbClr val="C00000"/>
                </a:solidFill>
                <a:latin typeface="Arial" panose="020B0604020202020204" pitchFamily="34" charset="0"/>
                <a:ea typeface="微软雅黑" panose="020B0503020204020204" pitchFamily="34" charset="-122"/>
                <a:cs typeface="Arial" panose="020B0604020202020204" pitchFamily="34" charset="0"/>
              </a:rPr>
              <a:t> 历史机制</a:t>
            </a:r>
            <a:r>
              <a:rPr lang="en-US" altLang="zh-CN" sz="2000" b="1">
                <a:solidFill>
                  <a:srgbClr val="C00000"/>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zh-CN" altLang="en-US" sz="2000" b="1">
                <a:solidFill>
                  <a:srgbClr val="C00000"/>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冲突校验</a:t>
            </a:r>
            <a:r>
              <a:rPr lang="en-US" altLang="zh-CN" sz="2000" b="1">
                <a:solidFill>
                  <a:srgbClr val="C00000"/>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zh-CN" altLang="en-US" sz="2000" b="1">
                <a:solidFill>
                  <a:srgbClr val="C00000"/>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新机制</a:t>
            </a:r>
            <a:endParaRPr lang="zh-CN" altLang="en-US" sz="20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68" name="箭头: 右 67">
            <a:extLst>
              <a:ext uri="{FF2B5EF4-FFF2-40B4-BE49-F238E27FC236}">
                <a16:creationId xmlns:a16="http://schemas.microsoft.com/office/drawing/2014/main" id="{CFAF0BB4-AB1A-45DB-8FC3-A213C6A686F7}"/>
              </a:ext>
            </a:extLst>
          </p:cNvPr>
          <p:cNvSpPr/>
          <p:nvPr/>
        </p:nvSpPr>
        <p:spPr>
          <a:xfrm rot="5400000">
            <a:off x="7656274" y="2397942"/>
            <a:ext cx="402473" cy="308874"/>
          </a:xfrm>
          <a:prstGeom prst="rightArrow">
            <a:avLst/>
          </a:prstGeom>
          <a:ln/>
        </p:spPr>
        <p:style>
          <a:lnRef idx="2">
            <a:schemeClr val="dk1">
              <a:shade val="50000"/>
            </a:schemeClr>
          </a:lnRef>
          <a:fillRef idx="1">
            <a:schemeClr val="dk1"/>
          </a:fillRef>
          <a:effectRef idx="0">
            <a:schemeClr val="dk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69" name="箭头: 右 68">
            <a:extLst>
              <a:ext uri="{FF2B5EF4-FFF2-40B4-BE49-F238E27FC236}">
                <a16:creationId xmlns:a16="http://schemas.microsoft.com/office/drawing/2014/main" id="{8262272C-BDBE-4153-8E63-712B639EDABF}"/>
              </a:ext>
            </a:extLst>
          </p:cNvPr>
          <p:cNvSpPr/>
          <p:nvPr/>
        </p:nvSpPr>
        <p:spPr>
          <a:xfrm rot="5400000">
            <a:off x="9989069" y="2397943"/>
            <a:ext cx="402473" cy="308874"/>
          </a:xfrm>
          <a:prstGeom prst="rightArrow">
            <a:avLst/>
          </a:prstGeom>
          <a:ln/>
        </p:spPr>
        <p:style>
          <a:lnRef idx="2">
            <a:schemeClr val="dk1">
              <a:shade val="50000"/>
            </a:schemeClr>
          </a:lnRef>
          <a:fillRef idx="1">
            <a:schemeClr val="dk1"/>
          </a:fillRef>
          <a:effectRef idx="0">
            <a:schemeClr val="dk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70" name="矩形 69">
            <a:extLst>
              <a:ext uri="{FF2B5EF4-FFF2-40B4-BE49-F238E27FC236}">
                <a16:creationId xmlns:a16="http://schemas.microsoft.com/office/drawing/2014/main" id="{057063B7-69E6-4F87-851A-BA5A67A669FA}"/>
              </a:ext>
            </a:extLst>
          </p:cNvPr>
          <p:cNvSpPr/>
          <p:nvPr/>
        </p:nvSpPr>
        <p:spPr>
          <a:xfrm>
            <a:off x="6561731" y="5780050"/>
            <a:ext cx="5231653" cy="957677"/>
          </a:xfrm>
          <a:prstGeom prst="rect">
            <a:avLst/>
          </a:prstGeom>
          <a:ln/>
        </p:spPr>
        <p:style>
          <a:lnRef idx="2">
            <a:schemeClr val="accent1"/>
          </a:lnRef>
          <a:fillRef idx="1">
            <a:schemeClr val="lt1"/>
          </a:fillRef>
          <a:effectRef idx="0">
            <a:schemeClr val="accent1"/>
          </a:effectRef>
          <a:fontRef idx="minor">
            <a:schemeClr val="dk1"/>
          </a:fontRef>
        </p:style>
        <p:txBody>
          <a:bodyPr lIns="0" rIns="0" rtlCol="0" anchor="ctr"/>
          <a:lstStyle/>
          <a:p>
            <a:pPr algn="ctr" defTabSz="457200"/>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开放式</a:t>
            </a:r>
            <a:r>
              <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商业化平台</a:t>
            </a:r>
            <a:r>
              <a:rPr lang="en-US" altLang="zh-CN" sz="2000" b="1">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zh-CN" altLang="en-US" sz="2000" b="1">
                <a:solidFill>
                  <a:schemeClr val="tx1"/>
                </a:solidFill>
                <a:latin typeface="Arial" panose="020B0604020202020204" pitchFamily="34" charset="0"/>
                <a:ea typeface="微软雅黑" panose="020B0503020204020204" pitchFamily="34" charset="-122"/>
                <a:cs typeface="Arial" panose="020B0604020202020204" pitchFamily="34" charset="0"/>
              </a:rPr>
              <a:t>部分论文干的市场：配置好的市场规则进行仿真</a:t>
            </a:r>
            <a:endParaRPr lang="zh-CN" altLang="en-US" sz="2000" b="1" dirty="0">
              <a:solidFill>
                <a:srgbClr val="C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8" name="文本框 7">
            <a:extLst>
              <a:ext uri="{FF2B5EF4-FFF2-40B4-BE49-F238E27FC236}">
                <a16:creationId xmlns:a16="http://schemas.microsoft.com/office/drawing/2014/main" id="{A3535F9E-6CCF-4EB1-AFE0-AC53174866E9}"/>
              </a:ext>
            </a:extLst>
          </p:cNvPr>
          <p:cNvSpPr txBox="1"/>
          <p:nvPr/>
        </p:nvSpPr>
        <p:spPr>
          <a:xfrm>
            <a:off x="6419942" y="4656741"/>
            <a:ext cx="5793841" cy="646331"/>
          </a:xfrm>
          <a:prstGeom prst="rect">
            <a:avLst/>
          </a:prstGeom>
          <a:noFill/>
        </p:spPr>
        <p:txBody>
          <a:bodyPr wrap="square" rtlCol="0">
            <a:spAutoFit/>
          </a:bodyPr>
          <a:lstStyle/>
          <a:p>
            <a:pPr algn="ctr"/>
            <a:r>
              <a:rPr lang="zh-CN" altLang="en-US">
                <a:latin typeface="微软雅黑" panose="020B0503020204020204" pitchFamily="34" charset="-122"/>
                <a:ea typeface="微软雅黑" panose="020B0503020204020204" pitchFamily="34" charset="-122"/>
              </a:rPr>
              <a:t>没有更进一步的原因？</a:t>
            </a:r>
            <a:r>
              <a:rPr lang="en-US" altLang="zh-CN">
                <a:latin typeface="微软雅黑" panose="020B0503020204020204" pitchFamily="34" charset="-122"/>
                <a:ea typeface="微软雅黑" panose="020B0503020204020204" pitchFamily="34" charset="-122"/>
                <a:sym typeface="Wingdings" panose="05000000000000000000" pitchFamily="2" charset="2"/>
              </a:rPr>
              <a:t></a:t>
            </a:r>
            <a:r>
              <a:rPr lang="zh-CN" altLang="en-US">
                <a:latin typeface="微软雅黑" panose="020B0503020204020204" pitchFamily="34" charset="-122"/>
                <a:ea typeface="微软雅黑" panose="020B0503020204020204" pitchFamily="34" charset="-122"/>
                <a:sym typeface="Wingdings" panose="05000000000000000000" pitchFamily="2" charset="2"/>
              </a:rPr>
              <a:t>全部需要人和专家来设计</a:t>
            </a:r>
            <a:r>
              <a:rPr lang="en-US" altLang="zh-CN">
                <a:latin typeface="微软雅黑" panose="020B0503020204020204" pitchFamily="34" charset="-122"/>
                <a:ea typeface="微软雅黑" panose="020B0503020204020204" pitchFamily="34" charset="-122"/>
                <a:sym typeface="Wingdings" panose="05000000000000000000" pitchFamily="2" charset="2"/>
              </a:rPr>
              <a:t></a:t>
            </a:r>
            <a:r>
              <a:rPr lang="zh-CN" altLang="en-US">
                <a:latin typeface="微软雅黑" panose="020B0503020204020204" pitchFamily="34" charset="-122"/>
                <a:ea typeface="微软雅黑" panose="020B0503020204020204" pitchFamily="34" charset="-122"/>
                <a:sym typeface="Wingdings" panose="05000000000000000000" pitchFamily="2" charset="2"/>
              </a:rPr>
              <a:t>爆炸的市场设计维度明显无法由专家判断</a:t>
            </a:r>
            <a:r>
              <a:rPr lang="en-US" altLang="zh-CN">
                <a:latin typeface="微软雅黑" panose="020B0503020204020204" pitchFamily="34" charset="-122"/>
                <a:ea typeface="微软雅黑" panose="020B0503020204020204" pitchFamily="34" charset="-122"/>
                <a:sym typeface="Wingdings" panose="05000000000000000000" pitchFamily="2" charset="2"/>
              </a:rPr>
              <a:t></a:t>
            </a:r>
            <a:r>
              <a:rPr lang="zh-CN" altLang="en-US" b="1">
                <a:solidFill>
                  <a:srgbClr val="C00000"/>
                </a:solidFill>
                <a:latin typeface="微软雅黑" panose="020B0503020204020204" pitchFamily="34" charset="-122"/>
                <a:ea typeface="微软雅黑" panose="020B0503020204020204" pitchFamily="34" charset="-122"/>
                <a:sym typeface="Wingdings" panose="05000000000000000000" pitchFamily="2" charset="2"/>
              </a:rPr>
              <a:t>如何去掉人</a:t>
            </a:r>
            <a:endParaRPr lang="zh-CN" altLang="en-US" b="1">
              <a:solidFill>
                <a:srgbClr val="C00000"/>
              </a:solidFill>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3346683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文本框 102">
            <a:extLst>
              <a:ext uri="{FF2B5EF4-FFF2-40B4-BE49-F238E27FC236}">
                <a16:creationId xmlns:a16="http://schemas.microsoft.com/office/drawing/2014/main" id="{400C34DB-7243-4EB8-8C6C-330E2C7686F0}"/>
              </a:ext>
            </a:extLst>
          </p:cNvPr>
          <p:cNvSpPr txBox="1"/>
          <p:nvPr/>
        </p:nvSpPr>
        <p:spPr>
          <a:xfrm>
            <a:off x="398615" y="144773"/>
            <a:ext cx="117933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2.3 </a:t>
            </a:r>
            <a:r>
              <a:rPr lang="zh-CN" altLang="en-US" sz="2800" spc="0">
                <a:solidFill>
                  <a:schemeClr val="tx1"/>
                </a:solidFill>
                <a:effectLst/>
                <a:sym typeface="微软雅黑" panose="020B0503020204020204" pitchFamily="34" charset="-122"/>
              </a:rPr>
              <a:t>规则分层组合有向图？典型市场设计模板，延申的设计空间预估</a:t>
            </a:r>
          </a:p>
        </p:txBody>
      </p:sp>
      <p:grpSp>
        <p:nvGrpSpPr>
          <p:cNvPr id="104" name="组合 103">
            <a:extLst>
              <a:ext uri="{FF2B5EF4-FFF2-40B4-BE49-F238E27FC236}">
                <a16:creationId xmlns:a16="http://schemas.microsoft.com/office/drawing/2014/main" id="{1FDF6480-662B-47C1-960A-0F035233A7D0}"/>
              </a:ext>
            </a:extLst>
          </p:cNvPr>
          <p:cNvGrpSpPr/>
          <p:nvPr/>
        </p:nvGrpSpPr>
        <p:grpSpPr>
          <a:xfrm>
            <a:off x="308924" y="734752"/>
            <a:ext cx="11574151" cy="522605"/>
            <a:chOff x="308924" y="734752"/>
            <a:chExt cx="11574151" cy="522605"/>
          </a:xfrm>
        </p:grpSpPr>
        <p:sp>
          <p:nvSpPr>
            <p:cNvPr id="105" name="矩形 22">
              <a:extLst>
                <a:ext uri="{FF2B5EF4-FFF2-40B4-BE49-F238E27FC236}">
                  <a16:creationId xmlns:a16="http://schemas.microsoft.com/office/drawing/2014/main" id="{A89B10C8-6D5D-4023-B8D0-8E10E2951065}"/>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106" name="文本框 105">
              <a:extLst>
                <a:ext uri="{FF2B5EF4-FFF2-40B4-BE49-F238E27FC236}">
                  <a16:creationId xmlns:a16="http://schemas.microsoft.com/office/drawing/2014/main" id="{3DE43E9C-68AE-4CCA-9E9F-99522BBE6E92}"/>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升级版的规则分层组合有向图（</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Node+Edge</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），集中在</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Taxonomy</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的</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Trade</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层面</a:t>
              </a:r>
              <a:endPar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indent="0" algn="ctr">
                <a:lnSpc>
                  <a:spcPct val="100000"/>
                </a:lnSpc>
                <a:buFont typeface="Wingdings" panose="05000000000000000000" charset="0"/>
                <a:buNone/>
              </a:pPr>
              <a:endParaRPr sz="22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sp>
        <p:nvSpPr>
          <p:cNvPr id="285" name="Layer_1_Header">
            <a:extLst>
              <a:ext uri="{FF2B5EF4-FFF2-40B4-BE49-F238E27FC236}">
                <a16:creationId xmlns:a16="http://schemas.microsoft.com/office/drawing/2014/main" id="{6789E91A-B127-463A-ACE0-33C692C14BF9}"/>
              </a:ext>
            </a:extLst>
          </p:cNvPr>
          <p:cNvSpPr>
            <a:spLocks noGrp="1"/>
          </p:cNvSpPr>
          <p:nvPr/>
        </p:nvSpPr>
        <p:spPr>
          <a:xfrm>
            <a:off x="308924" y="1536700"/>
            <a:ext cx="2571750" cy="355600"/>
          </a:xfrm>
          <a:prstGeom prst="roundRect">
            <a:avLst>
              <a:gd name="adj" fmla="val 21429"/>
            </a:avLst>
          </a:prstGeom>
          <a:solidFill>
            <a:srgbClr val="E3EAF2"/>
          </a:solidFill>
          <a:ln w="10478">
            <a:solidFill>
              <a:srgbClr val="AEBECD"/>
            </a:solidFill>
            <a:prstDash val="solid"/>
          </a:ln>
        </p:spPr>
      </p:sp>
      <p:sp>
        <p:nvSpPr>
          <p:cNvPr id="286" name="Layer_1_Circle">
            <a:extLst>
              <a:ext uri="{FF2B5EF4-FFF2-40B4-BE49-F238E27FC236}">
                <a16:creationId xmlns:a16="http://schemas.microsoft.com/office/drawing/2014/main" id="{10DAF3FC-0ED2-4B26-B4B8-7B451880CB00}"/>
              </a:ext>
            </a:extLst>
          </p:cNvPr>
          <p:cNvSpPr>
            <a:spLocks noGrp="1"/>
          </p:cNvSpPr>
          <p:nvPr/>
        </p:nvSpPr>
        <p:spPr>
          <a:xfrm>
            <a:off x="397824" y="1600200"/>
            <a:ext cx="228600" cy="228600"/>
          </a:xfrm>
          <a:prstGeom prst="ellipse">
            <a:avLst/>
          </a:prstGeom>
          <a:solidFill>
            <a:srgbClr val="365C80"/>
          </a:solidFill>
          <a:ln w="0">
            <a:solidFill>
              <a:srgbClr val="365C80"/>
            </a:solidFill>
            <a:prstDash val="solid"/>
          </a:ln>
        </p:spPr>
      </p:sp>
      <p:sp>
        <p:nvSpPr>
          <p:cNvPr id="287" name="Layer_1_Number">
            <a:extLst>
              <a:ext uri="{FF2B5EF4-FFF2-40B4-BE49-F238E27FC236}">
                <a16:creationId xmlns:a16="http://schemas.microsoft.com/office/drawing/2014/main" id="{211C197B-772C-4D26-A8EC-92293B64CC49}"/>
              </a:ext>
            </a:extLst>
          </p:cNvPr>
          <p:cNvSpPr>
            <a:spLocks noGrp="1"/>
          </p:cNvSpPr>
          <p:nvPr/>
        </p:nvSpPr>
        <p:spPr>
          <a:xfrm>
            <a:off x="397824" y="1600200"/>
            <a:ext cx="228600" cy="228600"/>
          </a:xfrm>
          <a:prstGeom prst="rect">
            <a:avLst/>
          </a:prstGeom>
          <a:noFill/>
          <a:ln w="0">
            <a:noFill/>
            <a:prstDash val="solid"/>
          </a:ln>
        </p:spPr>
        <p:txBody>
          <a:bodyPr lIns="0" tIns="0" rIns="0" bIns="0" anchor="ctr">
            <a:noAutofit/>
          </a:bodyPr>
          <a:lstStyle/>
          <a:p>
            <a:pPr algn="ctr">
              <a:lnSpc>
                <a:spcPct val="100000"/>
              </a:lnSpc>
              <a:buNone/>
              <a:defRPr sz="1125" b="1">
                <a:solidFill>
                  <a:srgbClr val="FFFFFF"/>
                </a:solidFill>
                <a:latin typeface="Arial"/>
                <a:ea typeface="Arial"/>
                <a:cs typeface="Arial"/>
              </a:defRPr>
            </a:pPr>
            <a:r>
              <a:rPr sz="750" b="1">
                <a:solidFill>
                  <a:srgbClr val="FFFFFF"/>
                </a:solidFill>
                <a:latin typeface="Arial"/>
                <a:ea typeface="Arial"/>
                <a:cs typeface="Arial"/>
              </a:rPr>
              <a:t>1</a:t>
            </a:r>
          </a:p>
        </p:txBody>
      </p:sp>
      <p:sp>
        <p:nvSpPr>
          <p:cNvPr id="288" name="Layer_1_Title">
            <a:extLst>
              <a:ext uri="{FF2B5EF4-FFF2-40B4-BE49-F238E27FC236}">
                <a16:creationId xmlns:a16="http://schemas.microsoft.com/office/drawing/2014/main" id="{8A5213AE-0011-4350-983A-10E9CD19A9E7}"/>
              </a:ext>
            </a:extLst>
          </p:cNvPr>
          <p:cNvSpPr>
            <a:spLocks noGrp="1"/>
          </p:cNvSpPr>
          <p:nvPr/>
        </p:nvSpPr>
        <p:spPr>
          <a:xfrm>
            <a:off x="689924" y="1574800"/>
            <a:ext cx="2114550" cy="279400"/>
          </a:xfrm>
          <a:prstGeom prst="rect">
            <a:avLst/>
          </a:prstGeom>
          <a:noFill/>
          <a:ln w="0">
            <a:noFill/>
            <a:prstDash val="solid"/>
          </a:ln>
        </p:spPr>
        <p:txBody>
          <a:bodyPr lIns="0" tIns="0" rIns="0" bIns="0" anchor="ctr">
            <a:noAutofit/>
          </a:bodyPr>
          <a:lstStyle/>
          <a:p>
            <a:pPr algn="l">
              <a:lnSpc>
                <a:spcPct val="100000"/>
              </a:lnSpc>
              <a:buNone/>
              <a:defRPr sz="1575" b="1">
                <a:solidFill>
                  <a:srgbClr val="17365D"/>
                </a:solidFill>
                <a:latin typeface="Microsoft YaHei"/>
                <a:ea typeface="Microsoft YaHei"/>
                <a:cs typeface="Microsoft YaHei"/>
              </a:defRPr>
            </a:pPr>
            <a:r>
              <a:rPr sz="1600" b="1">
                <a:solidFill>
                  <a:srgbClr val="17365D"/>
                </a:solidFill>
                <a:latin typeface="Microsoft YaHei"/>
                <a:ea typeface="Microsoft YaHei"/>
                <a:cs typeface="Microsoft YaHei"/>
              </a:rPr>
              <a:t>报价</a:t>
            </a:r>
          </a:p>
        </p:txBody>
      </p:sp>
      <p:sp>
        <p:nvSpPr>
          <p:cNvPr id="289" name="Layer_2_Header">
            <a:extLst>
              <a:ext uri="{FF2B5EF4-FFF2-40B4-BE49-F238E27FC236}">
                <a16:creationId xmlns:a16="http://schemas.microsoft.com/office/drawing/2014/main" id="{9479D8D5-9413-487E-B77D-7D9291845468}"/>
              </a:ext>
            </a:extLst>
          </p:cNvPr>
          <p:cNvSpPr>
            <a:spLocks noGrp="1"/>
          </p:cNvSpPr>
          <p:nvPr/>
        </p:nvSpPr>
        <p:spPr>
          <a:xfrm>
            <a:off x="3261674" y="1536700"/>
            <a:ext cx="2571750" cy="355600"/>
          </a:xfrm>
          <a:prstGeom prst="roundRect">
            <a:avLst>
              <a:gd name="adj" fmla="val 21429"/>
            </a:avLst>
          </a:prstGeom>
          <a:solidFill>
            <a:srgbClr val="E3EAF2"/>
          </a:solidFill>
          <a:ln w="10478">
            <a:solidFill>
              <a:srgbClr val="AEBECD"/>
            </a:solidFill>
            <a:prstDash val="solid"/>
          </a:ln>
        </p:spPr>
      </p:sp>
      <p:sp>
        <p:nvSpPr>
          <p:cNvPr id="290" name="Layer_2_Circle">
            <a:extLst>
              <a:ext uri="{FF2B5EF4-FFF2-40B4-BE49-F238E27FC236}">
                <a16:creationId xmlns:a16="http://schemas.microsoft.com/office/drawing/2014/main" id="{1D21B7CA-DC55-4548-8586-C5D07B63547F}"/>
              </a:ext>
            </a:extLst>
          </p:cNvPr>
          <p:cNvSpPr>
            <a:spLocks noGrp="1"/>
          </p:cNvSpPr>
          <p:nvPr/>
        </p:nvSpPr>
        <p:spPr>
          <a:xfrm>
            <a:off x="3350574" y="1600200"/>
            <a:ext cx="228600" cy="228600"/>
          </a:xfrm>
          <a:prstGeom prst="ellipse">
            <a:avLst/>
          </a:prstGeom>
          <a:solidFill>
            <a:srgbClr val="365C80"/>
          </a:solidFill>
          <a:ln w="0">
            <a:solidFill>
              <a:srgbClr val="365C80"/>
            </a:solidFill>
            <a:prstDash val="solid"/>
          </a:ln>
        </p:spPr>
      </p:sp>
      <p:sp>
        <p:nvSpPr>
          <p:cNvPr id="291" name="Layer_2_Number">
            <a:extLst>
              <a:ext uri="{FF2B5EF4-FFF2-40B4-BE49-F238E27FC236}">
                <a16:creationId xmlns:a16="http://schemas.microsoft.com/office/drawing/2014/main" id="{312B06BD-081C-48F6-B890-47C7728BB5D1}"/>
              </a:ext>
            </a:extLst>
          </p:cNvPr>
          <p:cNvSpPr>
            <a:spLocks noGrp="1"/>
          </p:cNvSpPr>
          <p:nvPr/>
        </p:nvSpPr>
        <p:spPr>
          <a:xfrm>
            <a:off x="3350574" y="1600200"/>
            <a:ext cx="228600" cy="228600"/>
          </a:xfrm>
          <a:prstGeom prst="rect">
            <a:avLst/>
          </a:prstGeom>
          <a:noFill/>
          <a:ln w="0">
            <a:noFill/>
            <a:prstDash val="solid"/>
          </a:ln>
        </p:spPr>
        <p:txBody>
          <a:bodyPr lIns="0" tIns="0" rIns="0" bIns="0" anchor="ctr">
            <a:noAutofit/>
          </a:bodyPr>
          <a:lstStyle/>
          <a:p>
            <a:pPr algn="ctr">
              <a:lnSpc>
                <a:spcPct val="100000"/>
              </a:lnSpc>
              <a:buNone/>
              <a:defRPr sz="1125" b="1">
                <a:solidFill>
                  <a:srgbClr val="FFFFFF"/>
                </a:solidFill>
                <a:latin typeface="Arial"/>
                <a:ea typeface="Arial"/>
                <a:cs typeface="Arial"/>
              </a:defRPr>
            </a:pPr>
            <a:r>
              <a:rPr sz="750" b="1">
                <a:solidFill>
                  <a:srgbClr val="FFFFFF"/>
                </a:solidFill>
                <a:latin typeface="Arial"/>
                <a:ea typeface="Arial"/>
                <a:cs typeface="Arial"/>
              </a:rPr>
              <a:t>2</a:t>
            </a:r>
          </a:p>
        </p:txBody>
      </p:sp>
      <p:sp>
        <p:nvSpPr>
          <p:cNvPr id="292" name="Layer_2_Title">
            <a:extLst>
              <a:ext uri="{FF2B5EF4-FFF2-40B4-BE49-F238E27FC236}">
                <a16:creationId xmlns:a16="http://schemas.microsoft.com/office/drawing/2014/main" id="{2CB01C19-EB5C-44F4-AB6A-A93C6D2D73BF}"/>
              </a:ext>
            </a:extLst>
          </p:cNvPr>
          <p:cNvSpPr>
            <a:spLocks noGrp="1"/>
          </p:cNvSpPr>
          <p:nvPr/>
        </p:nvSpPr>
        <p:spPr>
          <a:xfrm>
            <a:off x="3642674" y="1574800"/>
            <a:ext cx="2114550" cy="279400"/>
          </a:xfrm>
          <a:prstGeom prst="rect">
            <a:avLst/>
          </a:prstGeom>
          <a:noFill/>
          <a:ln w="0">
            <a:noFill/>
            <a:prstDash val="solid"/>
          </a:ln>
        </p:spPr>
        <p:txBody>
          <a:bodyPr lIns="0" tIns="0" rIns="0" bIns="0" anchor="ctr">
            <a:noAutofit/>
          </a:bodyPr>
          <a:lstStyle/>
          <a:p>
            <a:pPr algn="l">
              <a:lnSpc>
                <a:spcPct val="100000"/>
              </a:lnSpc>
              <a:buNone/>
              <a:defRPr sz="1575" b="1">
                <a:solidFill>
                  <a:srgbClr val="17365D"/>
                </a:solidFill>
                <a:latin typeface="Microsoft YaHei"/>
                <a:ea typeface="Microsoft YaHei"/>
                <a:cs typeface="Microsoft YaHei"/>
              </a:defRPr>
            </a:pPr>
            <a:r>
              <a:rPr sz="1600" b="1">
                <a:solidFill>
                  <a:srgbClr val="17365D"/>
                </a:solidFill>
                <a:latin typeface="Microsoft YaHei"/>
                <a:ea typeface="Microsoft YaHei"/>
                <a:cs typeface="Microsoft YaHei"/>
              </a:rPr>
              <a:t>撮合 / 交易</a:t>
            </a:r>
          </a:p>
        </p:txBody>
      </p:sp>
      <p:sp>
        <p:nvSpPr>
          <p:cNvPr id="293" name="Layer_3_Header">
            <a:extLst>
              <a:ext uri="{FF2B5EF4-FFF2-40B4-BE49-F238E27FC236}">
                <a16:creationId xmlns:a16="http://schemas.microsoft.com/office/drawing/2014/main" id="{B7C0150E-73D2-4D49-8154-607894E28795}"/>
              </a:ext>
            </a:extLst>
          </p:cNvPr>
          <p:cNvSpPr>
            <a:spLocks noGrp="1"/>
          </p:cNvSpPr>
          <p:nvPr/>
        </p:nvSpPr>
        <p:spPr>
          <a:xfrm>
            <a:off x="6214424" y="1536700"/>
            <a:ext cx="2571750" cy="355600"/>
          </a:xfrm>
          <a:prstGeom prst="roundRect">
            <a:avLst>
              <a:gd name="adj" fmla="val 21429"/>
            </a:avLst>
          </a:prstGeom>
          <a:solidFill>
            <a:srgbClr val="E3EAF2"/>
          </a:solidFill>
          <a:ln w="10478">
            <a:solidFill>
              <a:srgbClr val="AEBECD"/>
            </a:solidFill>
            <a:prstDash val="solid"/>
          </a:ln>
        </p:spPr>
      </p:sp>
      <p:sp>
        <p:nvSpPr>
          <p:cNvPr id="294" name="Layer_3_Circle">
            <a:extLst>
              <a:ext uri="{FF2B5EF4-FFF2-40B4-BE49-F238E27FC236}">
                <a16:creationId xmlns:a16="http://schemas.microsoft.com/office/drawing/2014/main" id="{39B9820B-2233-4CA2-9334-A4D35014081E}"/>
              </a:ext>
            </a:extLst>
          </p:cNvPr>
          <p:cNvSpPr>
            <a:spLocks noGrp="1"/>
          </p:cNvSpPr>
          <p:nvPr/>
        </p:nvSpPr>
        <p:spPr>
          <a:xfrm>
            <a:off x="6303324" y="1600200"/>
            <a:ext cx="228600" cy="228600"/>
          </a:xfrm>
          <a:prstGeom prst="ellipse">
            <a:avLst/>
          </a:prstGeom>
          <a:solidFill>
            <a:srgbClr val="365C80"/>
          </a:solidFill>
          <a:ln w="0">
            <a:solidFill>
              <a:srgbClr val="365C80"/>
            </a:solidFill>
            <a:prstDash val="solid"/>
          </a:ln>
        </p:spPr>
      </p:sp>
      <p:sp>
        <p:nvSpPr>
          <p:cNvPr id="295" name="Layer_3_Number">
            <a:extLst>
              <a:ext uri="{FF2B5EF4-FFF2-40B4-BE49-F238E27FC236}">
                <a16:creationId xmlns:a16="http://schemas.microsoft.com/office/drawing/2014/main" id="{5EF2B6B9-0168-4EEC-AF54-D2000BCEC177}"/>
              </a:ext>
            </a:extLst>
          </p:cNvPr>
          <p:cNvSpPr>
            <a:spLocks noGrp="1"/>
          </p:cNvSpPr>
          <p:nvPr/>
        </p:nvSpPr>
        <p:spPr>
          <a:xfrm>
            <a:off x="6303324" y="1600200"/>
            <a:ext cx="228600" cy="228600"/>
          </a:xfrm>
          <a:prstGeom prst="rect">
            <a:avLst/>
          </a:prstGeom>
          <a:noFill/>
          <a:ln w="0">
            <a:noFill/>
            <a:prstDash val="solid"/>
          </a:ln>
        </p:spPr>
        <p:txBody>
          <a:bodyPr lIns="0" tIns="0" rIns="0" bIns="0" anchor="ctr">
            <a:noAutofit/>
          </a:bodyPr>
          <a:lstStyle/>
          <a:p>
            <a:pPr algn="ctr">
              <a:lnSpc>
                <a:spcPct val="100000"/>
              </a:lnSpc>
              <a:buNone/>
              <a:defRPr sz="1125" b="1">
                <a:solidFill>
                  <a:srgbClr val="FFFFFF"/>
                </a:solidFill>
                <a:latin typeface="Arial"/>
                <a:ea typeface="Arial"/>
                <a:cs typeface="Arial"/>
              </a:defRPr>
            </a:pPr>
            <a:r>
              <a:rPr sz="750" b="1">
                <a:solidFill>
                  <a:srgbClr val="FFFFFF"/>
                </a:solidFill>
                <a:latin typeface="Arial"/>
                <a:ea typeface="Arial"/>
                <a:cs typeface="Arial"/>
              </a:rPr>
              <a:t>3</a:t>
            </a:r>
          </a:p>
        </p:txBody>
      </p:sp>
      <p:sp>
        <p:nvSpPr>
          <p:cNvPr id="296" name="Layer_3_Title">
            <a:extLst>
              <a:ext uri="{FF2B5EF4-FFF2-40B4-BE49-F238E27FC236}">
                <a16:creationId xmlns:a16="http://schemas.microsoft.com/office/drawing/2014/main" id="{9928E84B-2C4E-4AE6-9A4A-2E74DF67784A}"/>
              </a:ext>
            </a:extLst>
          </p:cNvPr>
          <p:cNvSpPr>
            <a:spLocks noGrp="1"/>
          </p:cNvSpPr>
          <p:nvPr/>
        </p:nvSpPr>
        <p:spPr>
          <a:xfrm>
            <a:off x="6595424" y="1574800"/>
            <a:ext cx="2114550" cy="279400"/>
          </a:xfrm>
          <a:prstGeom prst="rect">
            <a:avLst/>
          </a:prstGeom>
          <a:noFill/>
          <a:ln w="0">
            <a:noFill/>
            <a:prstDash val="solid"/>
          </a:ln>
        </p:spPr>
        <p:txBody>
          <a:bodyPr lIns="0" tIns="0" rIns="0" bIns="0" anchor="ctr">
            <a:noAutofit/>
          </a:bodyPr>
          <a:lstStyle/>
          <a:p>
            <a:pPr algn="l">
              <a:lnSpc>
                <a:spcPct val="100000"/>
              </a:lnSpc>
              <a:buNone/>
              <a:defRPr sz="1575" b="1">
                <a:solidFill>
                  <a:srgbClr val="17365D"/>
                </a:solidFill>
                <a:latin typeface="Microsoft YaHei"/>
                <a:ea typeface="Microsoft YaHei"/>
                <a:cs typeface="Microsoft YaHei"/>
              </a:defRPr>
            </a:pPr>
            <a:r>
              <a:rPr sz="1600" b="1">
                <a:solidFill>
                  <a:srgbClr val="17365D"/>
                </a:solidFill>
                <a:latin typeface="Microsoft YaHei"/>
                <a:ea typeface="Microsoft YaHei"/>
                <a:cs typeface="Microsoft YaHei"/>
              </a:rPr>
              <a:t>定价</a:t>
            </a:r>
          </a:p>
        </p:txBody>
      </p:sp>
      <p:sp>
        <p:nvSpPr>
          <p:cNvPr id="297" name="Layer_4_Header">
            <a:extLst>
              <a:ext uri="{FF2B5EF4-FFF2-40B4-BE49-F238E27FC236}">
                <a16:creationId xmlns:a16="http://schemas.microsoft.com/office/drawing/2014/main" id="{DB54E3DC-3007-46B7-A52F-AAF2F941A576}"/>
              </a:ext>
            </a:extLst>
          </p:cNvPr>
          <p:cNvSpPr>
            <a:spLocks noGrp="1"/>
          </p:cNvSpPr>
          <p:nvPr/>
        </p:nvSpPr>
        <p:spPr>
          <a:xfrm>
            <a:off x="9167174" y="1536700"/>
            <a:ext cx="2571750" cy="355600"/>
          </a:xfrm>
          <a:prstGeom prst="roundRect">
            <a:avLst>
              <a:gd name="adj" fmla="val 21429"/>
            </a:avLst>
          </a:prstGeom>
          <a:solidFill>
            <a:srgbClr val="E3EAF2"/>
          </a:solidFill>
          <a:ln w="10478">
            <a:solidFill>
              <a:srgbClr val="AEBECD"/>
            </a:solidFill>
            <a:prstDash val="solid"/>
          </a:ln>
        </p:spPr>
      </p:sp>
      <p:sp>
        <p:nvSpPr>
          <p:cNvPr id="298" name="Layer_4_Circle">
            <a:extLst>
              <a:ext uri="{FF2B5EF4-FFF2-40B4-BE49-F238E27FC236}">
                <a16:creationId xmlns:a16="http://schemas.microsoft.com/office/drawing/2014/main" id="{A969972D-FF36-4247-AB49-A6E4B03DD514}"/>
              </a:ext>
            </a:extLst>
          </p:cNvPr>
          <p:cNvSpPr>
            <a:spLocks noGrp="1"/>
          </p:cNvSpPr>
          <p:nvPr/>
        </p:nvSpPr>
        <p:spPr>
          <a:xfrm>
            <a:off x="9256074" y="1600200"/>
            <a:ext cx="228600" cy="228600"/>
          </a:xfrm>
          <a:prstGeom prst="ellipse">
            <a:avLst/>
          </a:prstGeom>
          <a:solidFill>
            <a:srgbClr val="365C80"/>
          </a:solidFill>
          <a:ln w="0">
            <a:solidFill>
              <a:srgbClr val="365C80"/>
            </a:solidFill>
            <a:prstDash val="solid"/>
          </a:ln>
        </p:spPr>
      </p:sp>
      <p:sp>
        <p:nvSpPr>
          <p:cNvPr id="299" name="Layer_4_Number">
            <a:extLst>
              <a:ext uri="{FF2B5EF4-FFF2-40B4-BE49-F238E27FC236}">
                <a16:creationId xmlns:a16="http://schemas.microsoft.com/office/drawing/2014/main" id="{96D91B8C-D9DB-41B0-A0B1-2B8E442068C7}"/>
              </a:ext>
            </a:extLst>
          </p:cNvPr>
          <p:cNvSpPr>
            <a:spLocks noGrp="1"/>
          </p:cNvSpPr>
          <p:nvPr/>
        </p:nvSpPr>
        <p:spPr>
          <a:xfrm>
            <a:off x="9256074" y="1600200"/>
            <a:ext cx="228600" cy="228600"/>
          </a:xfrm>
          <a:prstGeom prst="rect">
            <a:avLst/>
          </a:prstGeom>
          <a:noFill/>
          <a:ln w="0">
            <a:noFill/>
            <a:prstDash val="solid"/>
          </a:ln>
        </p:spPr>
        <p:txBody>
          <a:bodyPr lIns="0" tIns="0" rIns="0" bIns="0" anchor="ctr">
            <a:noAutofit/>
          </a:bodyPr>
          <a:lstStyle/>
          <a:p>
            <a:pPr algn="ctr">
              <a:lnSpc>
                <a:spcPct val="100000"/>
              </a:lnSpc>
              <a:buNone/>
              <a:defRPr sz="1125" b="1">
                <a:solidFill>
                  <a:srgbClr val="FFFFFF"/>
                </a:solidFill>
                <a:latin typeface="Arial"/>
                <a:ea typeface="Arial"/>
                <a:cs typeface="Arial"/>
              </a:defRPr>
            </a:pPr>
            <a:r>
              <a:rPr sz="750" b="1">
                <a:solidFill>
                  <a:srgbClr val="FFFFFF"/>
                </a:solidFill>
                <a:latin typeface="Arial"/>
                <a:ea typeface="Arial"/>
                <a:cs typeface="Arial"/>
              </a:rPr>
              <a:t>4</a:t>
            </a:r>
          </a:p>
        </p:txBody>
      </p:sp>
      <p:sp>
        <p:nvSpPr>
          <p:cNvPr id="300" name="Layer_4_Title">
            <a:extLst>
              <a:ext uri="{FF2B5EF4-FFF2-40B4-BE49-F238E27FC236}">
                <a16:creationId xmlns:a16="http://schemas.microsoft.com/office/drawing/2014/main" id="{F8427B94-3103-42D5-BF7F-826C40909A9D}"/>
              </a:ext>
            </a:extLst>
          </p:cNvPr>
          <p:cNvSpPr>
            <a:spLocks noGrp="1"/>
          </p:cNvSpPr>
          <p:nvPr/>
        </p:nvSpPr>
        <p:spPr>
          <a:xfrm>
            <a:off x="9548174" y="1574800"/>
            <a:ext cx="2114550" cy="279400"/>
          </a:xfrm>
          <a:prstGeom prst="rect">
            <a:avLst/>
          </a:prstGeom>
          <a:noFill/>
          <a:ln w="0">
            <a:noFill/>
            <a:prstDash val="solid"/>
          </a:ln>
        </p:spPr>
        <p:txBody>
          <a:bodyPr lIns="0" tIns="0" rIns="0" bIns="0" anchor="ctr">
            <a:noAutofit/>
          </a:bodyPr>
          <a:lstStyle/>
          <a:p>
            <a:pPr algn="l">
              <a:lnSpc>
                <a:spcPct val="100000"/>
              </a:lnSpc>
              <a:buNone/>
              <a:defRPr sz="1575" b="1">
                <a:solidFill>
                  <a:srgbClr val="17365D"/>
                </a:solidFill>
                <a:latin typeface="Microsoft YaHei"/>
                <a:ea typeface="Microsoft YaHei"/>
                <a:cs typeface="Microsoft YaHei"/>
              </a:defRPr>
            </a:pPr>
            <a:r>
              <a:rPr sz="1600" b="1">
                <a:solidFill>
                  <a:srgbClr val="17365D"/>
                </a:solidFill>
                <a:latin typeface="Microsoft YaHei"/>
                <a:ea typeface="Microsoft YaHei"/>
                <a:cs typeface="Microsoft YaHei"/>
              </a:rPr>
              <a:t>出清</a:t>
            </a:r>
          </a:p>
        </p:txBody>
      </p:sp>
      <p:sp>
        <p:nvSpPr>
          <p:cNvPr id="301" name="Node_B6">
            <a:extLst>
              <a:ext uri="{FF2B5EF4-FFF2-40B4-BE49-F238E27FC236}">
                <a16:creationId xmlns:a16="http://schemas.microsoft.com/office/drawing/2014/main" id="{AC860295-16A7-4967-9DEA-17F1D94ACD8B}"/>
              </a:ext>
            </a:extLst>
          </p:cNvPr>
          <p:cNvSpPr>
            <a:spLocks noGrp="1"/>
          </p:cNvSpPr>
          <p:nvPr/>
        </p:nvSpPr>
        <p:spPr>
          <a:xfrm>
            <a:off x="308924" y="2044700"/>
            <a:ext cx="2571750" cy="406400"/>
          </a:xfrm>
          <a:prstGeom prst="roundRect">
            <a:avLst>
              <a:gd name="adj" fmla="val 15625"/>
            </a:avLst>
          </a:prstGeom>
          <a:solidFill>
            <a:srgbClr val="FFFFFF"/>
          </a:solidFill>
          <a:ln w="10478">
            <a:solidFill>
              <a:srgbClr val="AEBECD"/>
            </a:solidFill>
            <a:prstDash val="solid"/>
          </a:ln>
        </p:spPr>
      </p:sp>
      <p:sp>
        <p:nvSpPr>
          <p:cNvPr id="302" name="Node_B6_Tag">
            <a:extLst>
              <a:ext uri="{FF2B5EF4-FFF2-40B4-BE49-F238E27FC236}">
                <a16:creationId xmlns:a16="http://schemas.microsoft.com/office/drawing/2014/main" id="{AE3AFFC1-7106-4DBA-BE8A-119FF89515CE}"/>
              </a:ext>
            </a:extLst>
          </p:cNvPr>
          <p:cNvSpPr>
            <a:spLocks noGrp="1"/>
          </p:cNvSpPr>
          <p:nvPr/>
        </p:nvSpPr>
        <p:spPr>
          <a:xfrm>
            <a:off x="385124" y="2139950"/>
            <a:ext cx="304800" cy="215900"/>
          </a:xfrm>
          <a:prstGeom prst="roundRect">
            <a:avLst>
              <a:gd name="adj" fmla="val 23529"/>
            </a:avLst>
          </a:prstGeom>
          <a:solidFill>
            <a:srgbClr val="E3EAF2"/>
          </a:solidFill>
          <a:ln w="0">
            <a:solidFill>
              <a:srgbClr val="E3EAF2"/>
            </a:solidFill>
            <a:prstDash val="solid"/>
          </a:ln>
        </p:spPr>
      </p:sp>
      <p:sp>
        <p:nvSpPr>
          <p:cNvPr id="303" name="Node_B6_TagText">
            <a:extLst>
              <a:ext uri="{FF2B5EF4-FFF2-40B4-BE49-F238E27FC236}">
                <a16:creationId xmlns:a16="http://schemas.microsoft.com/office/drawing/2014/main" id="{83627FD8-F422-49E8-9977-91515BC1F33B}"/>
              </a:ext>
            </a:extLst>
          </p:cNvPr>
          <p:cNvSpPr>
            <a:spLocks noGrp="1"/>
          </p:cNvSpPr>
          <p:nvPr/>
        </p:nvSpPr>
        <p:spPr>
          <a:xfrm>
            <a:off x="385124" y="213995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B6</a:t>
            </a:r>
          </a:p>
        </p:txBody>
      </p:sp>
      <p:sp>
        <p:nvSpPr>
          <p:cNvPr id="304" name="Node_B6_CN">
            <a:extLst>
              <a:ext uri="{FF2B5EF4-FFF2-40B4-BE49-F238E27FC236}">
                <a16:creationId xmlns:a16="http://schemas.microsoft.com/office/drawing/2014/main" id="{2030B8CE-6FC5-4AC3-AEED-1DE00E694FB3}"/>
              </a:ext>
            </a:extLst>
          </p:cNvPr>
          <p:cNvSpPr>
            <a:spLocks noGrp="1"/>
          </p:cNvSpPr>
          <p:nvPr/>
        </p:nvSpPr>
        <p:spPr>
          <a:xfrm>
            <a:off x="740724" y="2089150"/>
            <a:ext cx="2063750" cy="195072"/>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950" b="1">
                <a:solidFill>
                  <a:srgbClr val="111827"/>
                </a:solidFill>
                <a:latin typeface="Microsoft YaHei"/>
                <a:ea typeface="Microsoft YaHei"/>
                <a:cs typeface="Microsoft YaHei"/>
              </a:rPr>
              <a:t>成本/效用函数 + 约束</a:t>
            </a:r>
          </a:p>
        </p:txBody>
      </p:sp>
      <p:sp>
        <p:nvSpPr>
          <p:cNvPr id="305" name="Node_B6_EN">
            <a:extLst>
              <a:ext uri="{FF2B5EF4-FFF2-40B4-BE49-F238E27FC236}">
                <a16:creationId xmlns:a16="http://schemas.microsoft.com/office/drawing/2014/main" id="{EF31E9DB-7C27-46DD-967A-79250E28E92E}"/>
              </a:ext>
            </a:extLst>
          </p:cNvPr>
          <p:cNvSpPr>
            <a:spLocks noGrp="1"/>
          </p:cNvSpPr>
          <p:nvPr/>
        </p:nvSpPr>
        <p:spPr>
          <a:xfrm>
            <a:off x="740724" y="2256028"/>
            <a:ext cx="2063750" cy="109728"/>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direct declaration</a:t>
            </a:r>
          </a:p>
        </p:txBody>
      </p:sp>
      <p:sp>
        <p:nvSpPr>
          <p:cNvPr id="306" name="Node_B2">
            <a:extLst>
              <a:ext uri="{FF2B5EF4-FFF2-40B4-BE49-F238E27FC236}">
                <a16:creationId xmlns:a16="http://schemas.microsoft.com/office/drawing/2014/main" id="{8AEF9EC5-BE16-4423-8837-BEE732E68DD1}"/>
              </a:ext>
            </a:extLst>
          </p:cNvPr>
          <p:cNvSpPr>
            <a:spLocks noGrp="1"/>
          </p:cNvSpPr>
          <p:nvPr/>
        </p:nvSpPr>
        <p:spPr>
          <a:xfrm>
            <a:off x="308924" y="2641600"/>
            <a:ext cx="2571750" cy="406400"/>
          </a:xfrm>
          <a:prstGeom prst="roundRect">
            <a:avLst>
              <a:gd name="adj" fmla="val 15625"/>
            </a:avLst>
          </a:prstGeom>
          <a:solidFill>
            <a:srgbClr val="FFFFFF"/>
          </a:solidFill>
          <a:ln w="10478">
            <a:solidFill>
              <a:srgbClr val="AEBECD"/>
            </a:solidFill>
            <a:prstDash val="solid"/>
          </a:ln>
        </p:spPr>
      </p:sp>
      <p:sp>
        <p:nvSpPr>
          <p:cNvPr id="307" name="Node_B2_Tag">
            <a:extLst>
              <a:ext uri="{FF2B5EF4-FFF2-40B4-BE49-F238E27FC236}">
                <a16:creationId xmlns:a16="http://schemas.microsoft.com/office/drawing/2014/main" id="{F0700952-A6DB-457F-92F8-3878FE31584E}"/>
              </a:ext>
            </a:extLst>
          </p:cNvPr>
          <p:cNvSpPr>
            <a:spLocks noGrp="1"/>
          </p:cNvSpPr>
          <p:nvPr/>
        </p:nvSpPr>
        <p:spPr>
          <a:xfrm>
            <a:off x="385124" y="2736850"/>
            <a:ext cx="304800" cy="215900"/>
          </a:xfrm>
          <a:prstGeom prst="roundRect">
            <a:avLst>
              <a:gd name="adj" fmla="val 23529"/>
            </a:avLst>
          </a:prstGeom>
          <a:solidFill>
            <a:srgbClr val="E3EAF2"/>
          </a:solidFill>
          <a:ln w="0">
            <a:solidFill>
              <a:srgbClr val="E3EAF2"/>
            </a:solidFill>
            <a:prstDash val="solid"/>
          </a:ln>
        </p:spPr>
      </p:sp>
      <p:sp>
        <p:nvSpPr>
          <p:cNvPr id="308" name="Node_B2_TagText">
            <a:extLst>
              <a:ext uri="{FF2B5EF4-FFF2-40B4-BE49-F238E27FC236}">
                <a16:creationId xmlns:a16="http://schemas.microsoft.com/office/drawing/2014/main" id="{D34905E0-20AC-49B1-91E0-271F799DC1BD}"/>
              </a:ext>
            </a:extLst>
          </p:cNvPr>
          <p:cNvSpPr>
            <a:spLocks noGrp="1"/>
          </p:cNvSpPr>
          <p:nvPr/>
        </p:nvSpPr>
        <p:spPr>
          <a:xfrm>
            <a:off x="385124" y="273685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B2</a:t>
            </a:r>
          </a:p>
        </p:txBody>
      </p:sp>
      <p:sp>
        <p:nvSpPr>
          <p:cNvPr id="309" name="Node_B2_CN">
            <a:extLst>
              <a:ext uri="{FF2B5EF4-FFF2-40B4-BE49-F238E27FC236}">
                <a16:creationId xmlns:a16="http://schemas.microsoft.com/office/drawing/2014/main" id="{77B16B9D-7A82-4598-84F7-ADE234EC0A76}"/>
              </a:ext>
            </a:extLst>
          </p:cNvPr>
          <p:cNvSpPr>
            <a:spLocks noGrp="1"/>
          </p:cNvSpPr>
          <p:nvPr/>
        </p:nvSpPr>
        <p:spPr>
          <a:xfrm>
            <a:off x="740724" y="2686050"/>
            <a:ext cx="2063750" cy="195072"/>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950" b="1">
                <a:solidFill>
                  <a:srgbClr val="111827"/>
                </a:solidFill>
                <a:latin typeface="Microsoft YaHei"/>
                <a:ea typeface="Microsoft YaHei"/>
                <a:cs typeface="Microsoft YaHei"/>
              </a:rPr>
              <a:t>分段价格-数量报价</a:t>
            </a:r>
          </a:p>
        </p:txBody>
      </p:sp>
      <p:sp>
        <p:nvSpPr>
          <p:cNvPr id="310" name="Node_B2_EN">
            <a:extLst>
              <a:ext uri="{FF2B5EF4-FFF2-40B4-BE49-F238E27FC236}">
                <a16:creationId xmlns:a16="http://schemas.microsoft.com/office/drawing/2014/main" id="{9782F470-D198-4D5B-9572-62E84A27A744}"/>
              </a:ext>
            </a:extLst>
          </p:cNvPr>
          <p:cNvSpPr>
            <a:spLocks noGrp="1"/>
          </p:cNvSpPr>
          <p:nvPr/>
        </p:nvSpPr>
        <p:spPr>
          <a:xfrm>
            <a:off x="740724" y="2852928"/>
            <a:ext cx="2063750" cy="109728"/>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piecewise P-Q</a:t>
            </a:r>
          </a:p>
        </p:txBody>
      </p:sp>
      <p:sp>
        <p:nvSpPr>
          <p:cNvPr id="311" name="Node_B3">
            <a:extLst>
              <a:ext uri="{FF2B5EF4-FFF2-40B4-BE49-F238E27FC236}">
                <a16:creationId xmlns:a16="http://schemas.microsoft.com/office/drawing/2014/main" id="{3E41FFDB-B491-4946-AE43-17991B8C9856}"/>
              </a:ext>
            </a:extLst>
          </p:cNvPr>
          <p:cNvSpPr>
            <a:spLocks noGrp="1"/>
          </p:cNvSpPr>
          <p:nvPr/>
        </p:nvSpPr>
        <p:spPr>
          <a:xfrm>
            <a:off x="308924" y="3238500"/>
            <a:ext cx="2571750" cy="406400"/>
          </a:xfrm>
          <a:prstGeom prst="roundRect">
            <a:avLst>
              <a:gd name="adj" fmla="val 15625"/>
            </a:avLst>
          </a:prstGeom>
          <a:solidFill>
            <a:srgbClr val="FFFFFF"/>
          </a:solidFill>
          <a:ln w="10478">
            <a:solidFill>
              <a:srgbClr val="AEBECD"/>
            </a:solidFill>
            <a:prstDash val="solid"/>
          </a:ln>
        </p:spPr>
      </p:sp>
      <p:sp>
        <p:nvSpPr>
          <p:cNvPr id="312" name="Node_B3_Tag">
            <a:extLst>
              <a:ext uri="{FF2B5EF4-FFF2-40B4-BE49-F238E27FC236}">
                <a16:creationId xmlns:a16="http://schemas.microsoft.com/office/drawing/2014/main" id="{B91C7B5A-063F-4B80-9394-0A88F75AD55B}"/>
              </a:ext>
            </a:extLst>
          </p:cNvPr>
          <p:cNvSpPr>
            <a:spLocks noGrp="1"/>
          </p:cNvSpPr>
          <p:nvPr/>
        </p:nvSpPr>
        <p:spPr>
          <a:xfrm>
            <a:off x="385124" y="3333750"/>
            <a:ext cx="304800" cy="215900"/>
          </a:xfrm>
          <a:prstGeom prst="roundRect">
            <a:avLst>
              <a:gd name="adj" fmla="val 23529"/>
            </a:avLst>
          </a:prstGeom>
          <a:solidFill>
            <a:srgbClr val="E3EAF2"/>
          </a:solidFill>
          <a:ln w="0">
            <a:solidFill>
              <a:srgbClr val="E3EAF2"/>
            </a:solidFill>
            <a:prstDash val="solid"/>
          </a:ln>
        </p:spPr>
      </p:sp>
      <p:sp>
        <p:nvSpPr>
          <p:cNvPr id="313" name="Node_B3_TagText">
            <a:extLst>
              <a:ext uri="{FF2B5EF4-FFF2-40B4-BE49-F238E27FC236}">
                <a16:creationId xmlns:a16="http://schemas.microsoft.com/office/drawing/2014/main" id="{A4D2A22D-E775-4DF2-9C50-D3B56CA9E2BB}"/>
              </a:ext>
            </a:extLst>
          </p:cNvPr>
          <p:cNvSpPr>
            <a:spLocks noGrp="1"/>
          </p:cNvSpPr>
          <p:nvPr/>
        </p:nvSpPr>
        <p:spPr>
          <a:xfrm>
            <a:off x="385124" y="333375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B3</a:t>
            </a:r>
          </a:p>
        </p:txBody>
      </p:sp>
      <p:sp>
        <p:nvSpPr>
          <p:cNvPr id="314" name="Node_B3_CN">
            <a:extLst>
              <a:ext uri="{FF2B5EF4-FFF2-40B4-BE49-F238E27FC236}">
                <a16:creationId xmlns:a16="http://schemas.microsoft.com/office/drawing/2014/main" id="{08406A7F-07E5-4B1F-852A-59B1A694003C}"/>
              </a:ext>
            </a:extLst>
          </p:cNvPr>
          <p:cNvSpPr>
            <a:spLocks noGrp="1"/>
          </p:cNvSpPr>
          <p:nvPr/>
        </p:nvSpPr>
        <p:spPr>
          <a:xfrm>
            <a:off x="740724" y="3282950"/>
            <a:ext cx="2063750" cy="195072"/>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950" b="1">
                <a:solidFill>
                  <a:srgbClr val="111827"/>
                </a:solidFill>
                <a:latin typeface="Microsoft YaHei"/>
                <a:ea typeface="Microsoft YaHei"/>
                <a:cs typeface="Microsoft YaHei"/>
              </a:rPr>
              <a:t>区块 / 联动报价</a:t>
            </a:r>
          </a:p>
        </p:txBody>
      </p:sp>
      <p:sp>
        <p:nvSpPr>
          <p:cNvPr id="315" name="Node_B3_EN">
            <a:extLst>
              <a:ext uri="{FF2B5EF4-FFF2-40B4-BE49-F238E27FC236}">
                <a16:creationId xmlns:a16="http://schemas.microsoft.com/office/drawing/2014/main" id="{3E8D3D71-2100-4BC6-9861-7D6122105501}"/>
              </a:ext>
            </a:extLst>
          </p:cNvPr>
          <p:cNvSpPr>
            <a:spLocks noGrp="1"/>
          </p:cNvSpPr>
          <p:nvPr/>
        </p:nvSpPr>
        <p:spPr>
          <a:xfrm>
            <a:off x="740724" y="3449828"/>
            <a:ext cx="2063750" cy="109728"/>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block / linked bid</a:t>
            </a:r>
          </a:p>
        </p:txBody>
      </p:sp>
      <p:sp>
        <p:nvSpPr>
          <p:cNvPr id="316" name="Node_B4">
            <a:extLst>
              <a:ext uri="{FF2B5EF4-FFF2-40B4-BE49-F238E27FC236}">
                <a16:creationId xmlns:a16="http://schemas.microsoft.com/office/drawing/2014/main" id="{4A75651F-39A5-45D6-B670-308BDB0BC232}"/>
              </a:ext>
            </a:extLst>
          </p:cNvPr>
          <p:cNvSpPr>
            <a:spLocks noGrp="1"/>
          </p:cNvSpPr>
          <p:nvPr/>
        </p:nvSpPr>
        <p:spPr>
          <a:xfrm>
            <a:off x="308924" y="3835400"/>
            <a:ext cx="2571750" cy="406400"/>
          </a:xfrm>
          <a:prstGeom prst="roundRect">
            <a:avLst>
              <a:gd name="adj" fmla="val 15625"/>
            </a:avLst>
          </a:prstGeom>
          <a:solidFill>
            <a:srgbClr val="FFFFFF"/>
          </a:solidFill>
          <a:ln w="10478">
            <a:solidFill>
              <a:srgbClr val="AEBECD"/>
            </a:solidFill>
            <a:prstDash val="solid"/>
          </a:ln>
        </p:spPr>
      </p:sp>
      <p:sp>
        <p:nvSpPr>
          <p:cNvPr id="317" name="Node_B4_Tag">
            <a:extLst>
              <a:ext uri="{FF2B5EF4-FFF2-40B4-BE49-F238E27FC236}">
                <a16:creationId xmlns:a16="http://schemas.microsoft.com/office/drawing/2014/main" id="{27A52D96-F6F7-4A11-9A70-F25989E36811}"/>
              </a:ext>
            </a:extLst>
          </p:cNvPr>
          <p:cNvSpPr>
            <a:spLocks noGrp="1"/>
          </p:cNvSpPr>
          <p:nvPr/>
        </p:nvSpPr>
        <p:spPr>
          <a:xfrm>
            <a:off x="385124" y="3930650"/>
            <a:ext cx="304800" cy="215900"/>
          </a:xfrm>
          <a:prstGeom prst="roundRect">
            <a:avLst>
              <a:gd name="adj" fmla="val 23529"/>
            </a:avLst>
          </a:prstGeom>
          <a:solidFill>
            <a:srgbClr val="E3EAF2"/>
          </a:solidFill>
          <a:ln w="0">
            <a:solidFill>
              <a:srgbClr val="E3EAF2"/>
            </a:solidFill>
            <a:prstDash val="solid"/>
          </a:ln>
        </p:spPr>
      </p:sp>
      <p:sp>
        <p:nvSpPr>
          <p:cNvPr id="318" name="Node_B4_TagText">
            <a:extLst>
              <a:ext uri="{FF2B5EF4-FFF2-40B4-BE49-F238E27FC236}">
                <a16:creationId xmlns:a16="http://schemas.microsoft.com/office/drawing/2014/main" id="{6BCC1361-BACE-4E1A-8198-1CEEA9B0EC7C}"/>
              </a:ext>
            </a:extLst>
          </p:cNvPr>
          <p:cNvSpPr>
            <a:spLocks noGrp="1"/>
          </p:cNvSpPr>
          <p:nvPr/>
        </p:nvSpPr>
        <p:spPr>
          <a:xfrm>
            <a:off x="385124" y="393065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B4</a:t>
            </a:r>
          </a:p>
        </p:txBody>
      </p:sp>
      <p:sp>
        <p:nvSpPr>
          <p:cNvPr id="319" name="Node_B4_CN">
            <a:extLst>
              <a:ext uri="{FF2B5EF4-FFF2-40B4-BE49-F238E27FC236}">
                <a16:creationId xmlns:a16="http://schemas.microsoft.com/office/drawing/2014/main" id="{8855FDD1-AA76-41B0-9D6F-2D3501BECE5D}"/>
              </a:ext>
            </a:extLst>
          </p:cNvPr>
          <p:cNvSpPr>
            <a:spLocks noGrp="1"/>
          </p:cNvSpPr>
          <p:nvPr/>
        </p:nvSpPr>
        <p:spPr>
          <a:xfrm>
            <a:off x="740724" y="3879850"/>
            <a:ext cx="2063750" cy="195072"/>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950" b="1">
                <a:solidFill>
                  <a:srgbClr val="111827"/>
                </a:solidFill>
                <a:latin typeface="Microsoft YaHei"/>
                <a:ea typeface="Microsoft YaHei"/>
                <a:cs typeface="Microsoft YaHei"/>
              </a:rPr>
              <a:t>容量 + 激活双部报价</a:t>
            </a:r>
          </a:p>
        </p:txBody>
      </p:sp>
      <p:sp>
        <p:nvSpPr>
          <p:cNvPr id="320" name="Node_B4_EN">
            <a:extLst>
              <a:ext uri="{FF2B5EF4-FFF2-40B4-BE49-F238E27FC236}">
                <a16:creationId xmlns:a16="http://schemas.microsoft.com/office/drawing/2014/main" id="{0ED26C3F-E636-46E9-BA4E-0798D4F51611}"/>
              </a:ext>
            </a:extLst>
          </p:cNvPr>
          <p:cNvSpPr>
            <a:spLocks noGrp="1"/>
          </p:cNvSpPr>
          <p:nvPr/>
        </p:nvSpPr>
        <p:spPr>
          <a:xfrm>
            <a:off x="740724" y="4046728"/>
            <a:ext cx="2063750" cy="109728"/>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reservation + activation</a:t>
            </a:r>
          </a:p>
        </p:txBody>
      </p:sp>
      <p:sp>
        <p:nvSpPr>
          <p:cNvPr id="321" name="Node_B1">
            <a:extLst>
              <a:ext uri="{FF2B5EF4-FFF2-40B4-BE49-F238E27FC236}">
                <a16:creationId xmlns:a16="http://schemas.microsoft.com/office/drawing/2014/main" id="{90A6F092-0F19-45D6-8734-F62CD58E4529}"/>
              </a:ext>
            </a:extLst>
          </p:cNvPr>
          <p:cNvSpPr>
            <a:spLocks noGrp="1"/>
          </p:cNvSpPr>
          <p:nvPr/>
        </p:nvSpPr>
        <p:spPr>
          <a:xfrm>
            <a:off x="308924" y="4432300"/>
            <a:ext cx="2571750" cy="406400"/>
          </a:xfrm>
          <a:prstGeom prst="roundRect">
            <a:avLst>
              <a:gd name="adj" fmla="val 15625"/>
            </a:avLst>
          </a:prstGeom>
          <a:solidFill>
            <a:srgbClr val="FFFFFF"/>
          </a:solidFill>
          <a:ln w="10478">
            <a:solidFill>
              <a:srgbClr val="AEBECD"/>
            </a:solidFill>
            <a:prstDash val="solid"/>
          </a:ln>
        </p:spPr>
      </p:sp>
      <p:sp>
        <p:nvSpPr>
          <p:cNvPr id="322" name="Node_B1_Tag">
            <a:extLst>
              <a:ext uri="{FF2B5EF4-FFF2-40B4-BE49-F238E27FC236}">
                <a16:creationId xmlns:a16="http://schemas.microsoft.com/office/drawing/2014/main" id="{8A15B14F-D692-48BE-9736-7C09D197EB5B}"/>
              </a:ext>
            </a:extLst>
          </p:cNvPr>
          <p:cNvSpPr>
            <a:spLocks noGrp="1"/>
          </p:cNvSpPr>
          <p:nvPr/>
        </p:nvSpPr>
        <p:spPr>
          <a:xfrm>
            <a:off x="385124" y="4527550"/>
            <a:ext cx="304800" cy="215900"/>
          </a:xfrm>
          <a:prstGeom prst="roundRect">
            <a:avLst>
              <a:gd name="adj" fmla="val 23529"/>
            </a:avLst>
          </a:prstGeom>
          <a:solidFill>
            <a:srgbClr val="E3EAF2"/>
          </a:solidFill>
          <a:ln w="0">
            <a:solidFill>
              <a:srgbClr val="E3EAF2"/>
            </a:solidFill>
            <a:prstDash val="solid"/>
          </a:ln>
        </p:spPr>
      </p:sp>
      <p:sp>
        <p:nvSpPr>
          <p:cNvPr id="323" name="Node_B1_TagText">
            <a:extLst>
              <a:ext uri="{FF2B5EF4-FFF2-40B4-BE49-F238E27FC236}">
                <a16:creationId xmlns:a16="http://schemas.microsoft.com/office/drawing/2014/main" id="{191D9F1F-9CDB-431D-AAB5-F3E55CF35090}"/>
              </a:ext>
            </a:extLst>
          </p:cNvPr>
          <p:cNvSpPr>
            <a:spLocks noGrp="1"/>
          </p:cNvSpPr>
          <p:nvPr/>
        </p:nvSpPr>
        <p:spPr>
          <a:xfrm>
            <a:off x="385124" y="452755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B1</a:t>
            </a:r>
          </a:p>
        </p:txBody>
      </p:sp>
      <p:sp>
        <p:nvSpPr>
          <p:cNvPr id="324" name="Node_B1_CN">
            <a:extLst>
              <a:ext uri="{FF2B5EF4-FFF2-40B4-BE49-F238E27FC236}">
                <a16:creationId xmlns:a16="http://schemas.microsoft.com/office/drawing/2014/main" id="{4BA9AECD-FF89-4834-BBD6-D8FFDA3D3AF6}"/>
              </a:ext>
            </a:extLst>
          </p:cNvPr>
          <p:cNvSpPr>
            <a:spLocks noGrp="1"/>
          </p:cNvSpPr>
          <p:nvPr/>
        </p:nvSpPr>
        <p:spPr>
          <a:xfrm>
            <a:off x="740724" y="4476750"/>
            <a:ext cx="2063750" cy="195072"/>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950" b="1">
                <a:solidFill>
                  <a:srgbClr val="111827"/>
                </a:solidFill>
                <a:latin typeface="Microsoft YaHei"/>
                <a:ea typeface="Microsoft YaHei"/>
                <a:cs typeface="Microsoft YaHei"/>
              </a:rPr>
              <a:t>单段价格-数量报价</a:t>
            </a:r>
          </a:p>
        </p:txBody>
      </p:sp>
      <p:sp>
        <p:nvSpPr>
          <p:cNvPr id="325" name="Node_B1_EN">
            <a:extLst>
              <a:ext uri="{FF2B5EF4-FFF2-40B4-BE49-F238E27FC236}">
                <a16:creationId xmlns:a16="http://schemas.microsoft.com/office/drawing/2014/main" id="{EDDACBA3-A90D-4520-9287-B80B9F72B39C}"/>
              </a:ext>
            </a:extLst>
          </p:cNvPr>
          <p:cNvSpPr>
            <a:spLocks noGrp="1"/>
          </p:cNvSpPr>
          <p:nvPr/>
        </p:nvSpPr>
        <p:spPr>
          <a:xfrm>
            <a:off x="740724" y="4643628"/>
            <a:ext cx="2063750" cy="109728"/>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single P-Q</a:t>
            </a:r>
          </a:p>
        </p:txBody>
      </p:sp>
      <p:sp>
        <p:nvSpPr>
          <p:cNvPr id="326" name="Node_B5">
            <a:extLst>
              <a:ext uri="{FF2B5EF4-FFF2-40B4-BE49-F238E27FC236}">
                <a16:creationId xmlns:a16="http://schemas.microsoft.com/office/drawing/2014/main" id="{A89508DC-C8E6-45EB-A6FD-C08C4FE9F638}"/>
              </a:ext>
            </a:extLst>
          </p:cNvPr>
          <p:cNvSpPr>
            <a:spLocks noGrp="1"/>
          </p:cNvSpPr>
          <p:nvPr/>
        </p:nvSpPr>
        <p:spPr>
          <a:xfrm>
            <a:off x="308924" y="5029200"/>
            <a:ext cx="2571750" cy="406400"/>
          </a:xfrm>
          <a:prstGeom prst="roundRect">
            <a:avLst>
              <a:gd name="adj" fmla="val 15625"/>
            </a:avLst>
          </a:prstGeom>
          <a:solidFill>
            <a:srgbClr val="FFFFFF"/>
          </a:solidFill>
          <a:ln w="10478">
            <a:solidFill>
              <a:srgbClr val="AEBECD"/>
            </a:solidFill>
            <a:prstDash val="solid"/>
          </a:ln>
        </p:spPr>
      </p:sp>
      <p:sp>
        <p:nvSpPr>
          <p:cNvPr id="327" name="Node_B5_Tag">
            <a:extLst>
              <a:ext uri="{FF2B5EF4-FFF2-40B4-BE49-F238E27FC236}">
                <a16:creationId xmlns:a16="http://schemas.microsoft.com/office/drawing/2014/main" id="{D2B19597-42D1-4066-8A64-FEB401EF66A6}"/>
              </a:ext>
            </a:extLst>
          </p:cNvPr>
          <p:cNvSpPr>
            <a:spLocks noGrp="1"/>
          </p:cNvSpPr>
          <p:nvPr/>
        </p:nvSpPr>
        <p:spPr>
          <a:xfrm>
            <a:off x="385124" y="5124450"/>
            <a:ext cx="304800" cy="215900"/>
          </a:xfrm>
          <a:prstGeom prst="roundRect">
            <a:avLst>
              <a:gd name="adj" fmla="val 23529"/>
            </a:avLst>
          </a:prstGeom>
          <a:solidFill>
            <a:srgbClr val="E3EAF2"/>
          </a:solidFill>
          <a:ln w="0">
            <a:solidFill>
              <a:srgbClr val="E3EAF2"/>
            </a:solidFill>
            <a:prstDash val="solid"/>
          </a:ln>
        </p:spPr>
      </p:sp>
      <p:sp>
        <p:nvSpPr>
          <p:cNvPr id="328" name="Node_B5_TagText">
            <a:extLst>
              <a:ext uri="{FF2B5EF4-FFF2-40B4-BE49-F238E27FC236}">
                <a16:creationId xmlns:a16="http://schemas.microsoft.com/office/drawing/2014/main" id="{C6A4F10C-D62C-4C0C-87B1-B831ABD6E44C}"/>
              </a:ext>
            </a:extLst>
          </p:cNvPr>
          <p:cNvSpPr>
            <a:spLocks noGrp="1"/>
          </p:cNvSpPr>
          <p:nvPr/>
        </p:nvSpPr>
        <p:spPr>
          <a:xfrm>
            <a:off x="385124" y="512445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B5</a:t>
            </a:r>
          </a:p>
        </p:txBody>
      </p:sp>
      <p:sp>
        <p:nvSpPr>
          <p:cNvPr id="329" name="Node_B5_CN">
            <a:extLst>
              <a:ext uri="{FF2B5EF4-FFF2-40B4-BE49-F238E27FC236}">
                <a16:creationId xmlns:a16="http://schemas.microsoft.com/office/drawing/2014/main" id="{A247AD2B-1FF3-4D8D-ADE5-A5B1743E7A0F}"/>
              </a:ext>
            </a:extLst>
          </p:cNvPr>
          <p:cNvSpPr>
            <a:spLocks noGrp="1"/>
          </p:cNvSpPr>
          <p:nvPr/>
        </p:nvSpPr>
        <p:spPr>
          <a:xfrm>
            <a:off x="740724" y="5073650"/>
            <a:ext cx="2063750" cy="195072"/>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950" b="1">
                <a:solidFill>
                  <a:srgbClr val="111827"/>
                </a:solidFill>
                <a:latin typeface="Microsoft YaHei"/>
                <a:ea typeface="Microsoft YaHei"/>
                <a:cs typeface="Microsoft YaHei"/>
              </a:rPr>
              <a:t>价格-数量-偏好报价</a:t>
            </a:r>
          </a:p>
        </p:txBody>
      </p:sp>
      <p:sp>
        <p:nvSpPr>
          <p:cNvPr id="330" name="Node_B5_EN">
            <a:extLst>
              <a:ext uri="{FF2B5EF4-FFF2-40B4-BE49-F238E27FC236}">
                <a16:creationId xmlns:a16="http://schemas.microsoft.com/office/drawing/2014/main" id="{B20F0CEB-05BB-4630-85E1-2AFABAE05D07}"/>
              </a:ext>
            </a:extLst>
          </p:cNvPr>
          <p:cNvSpPr>
            <a:spLocks noGrp="1"/>
          </p:cNvSpPr>
          <p:nvPr/>
        </p:nvSpPr>
        <p:spPr>
          <a:xfrm>
            <a:off x="740724" y="5240528"/>
            <a:ext cx="2063750" cy="109728"/>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preference-aware</a:t>
            </a:r>
          </a:p>
        </p:txBody>
      </p:sp>
      <p:sp>
        <p:nvSpPr>
          <p:cNvPr id="331" name="Node_M1">
            <a:extLst>
              <a:ext uri="{FF2B5EF4-FFF2-40B4-BE49-F238E27FC236}">
                <a16:creationId xmlns:a16="http://schemas.microsoft.com/office/drawing/2014/main" id="{F193B651-DEB5-419B-B2C9-78EABBAF489A}"/>
              </a:ext>
            </a:extLst>
          </p:cNvPr>
          <p:cNvSpPr>
            <a:spLocks noGrp="1"/>
          </p:cNvSpPr>
          <p:nvPr/>
        </p:nvSpPr>
        <p:spPr>
          <a:xfrm>
            <a:off x="3261674" y="2044700"/>
            <a:ext cx="2571750" cy="406400"/>
          </a:xfrm>
          <a:prstGeom prst="roundRect">
            <a:avLst>
              <a:gd name="adj" fmla="val 15625"/>
            </a:avLst>
          </a:prstGeom>
          <a:solidFill>
            <a:srgbClr val="FFFFFF"/>
          </a:solidFill>
          <a:ln w="10478">
            <a:solidFill>
              <a:srgbClr val="AEBECD"/>
            </a:solidFill>
            <a:prstDash val="solid"/>
          </a:ln>
        </p:spPr>
      </p:sp>
      <p:sp>
        <p:nvSpPr>
          <p:cNvPr id="332" name="Node_M1_Tag">
            <a:extLst>
              <a:ext uri="{FF2B5EF4-FFF2-40B4-BE49-F238E27FC236}">
                <a16:creationId xmlns:a16="http://schemas.microsoft.com/office/drawing/2014/main" id="{0EC9C930-DB90-435D-9E4B-C89DDA6CC799}"/>
              </a:ext>
            </a:extLst>
          </p:cNvPr>
          <p:cNvSpPr>
            <a:spLocks noGrp="1"/>
          </p:cNvSpPr>
          <p:nvPr/>
        </p:nvSpPr>
        <p:spPr>
          <a:xfrm>
            <a:off x="3337874" y="2139950"/>
            <a:ext cx="304800" cy="215900"/>
          </a:xfrm>
          <a:prstGeom prst="roundRect">
            <a:avLst>
              <a:gd name="adj" fmla="val 23529"/>
            </a:avLst>
          </a:prstGeom>
          <a:solidFill>
            <a:srgbClr val="E3EAF2"/>
          </a:solidFill>
          <a:ln w="0">
            <a:solidFill>
              <a:srgbClr val="E3EAF2"/>
            </a:solidFill>
            <a:prstDash val="solid"/>
          </a:ln>
        </p:spPr>
      </p:sp>
      <p:sp>
        <p:nvSpPr>
          <p:cNvPr id="333" name="Node_M1_TagText">
            <a:extLst>
              <a:ext uri="{FF2B5EF4-FFF2-40B4-BE49-F238E27FC236}">
                <a16:creationId xmlns:a16="http://schemas.microsoft.com/office/drawing/2014/main" id="{BA9267EA-BAF4-4306-A9DD-4EB852BD89AA}"/>
              </a:ext>
            </a:extLst>
          </p:cNvPr>
          <p:cNvSpPr>
            <a:spLocks noGrp="1"/>
          </p:cNvSpPr>
          <p:nvPr/>
        </p:nvSpPr>
        <p:spPr>
          <a:xfrm>
            <a:off x="3337874" y="213995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M1</a:t>
            </a:r>
          </a:p>
        </p:txBody>
      </p:sp>
      <p:sp>
        <p:nvSpPr>
          <p:cNvPr id="334" name="Node_M1_CN">
            <a:extLst>
              <a:ext uri="{FF2B5EF4-FFF2-40B4-BE49-F238E27FC236}">
                <a16:creationId xmlns:a16="http://schemas.microsoft.com/office/drawing/2014/main" id="{34B8C5ED-EDD3-4223-96B0-316A91274B8C}"/>
              </a:ext>
            </a:extLst>
          </p:cNvPr>
          <p:cNvSpPr>
            <a:spLocks noGrp="1"/>
          </p:cNvSpPr>
          <p:nvPr/>
        </p:nvSpPr>
        <p:spPr>
          <a:xfrm>
            <a:off x="3693474" y="2089150"/>
            <a:ext cx="2063750" cy="195072"/>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950" b="1">
                <a:solidFill>
                  <a:srgbClr val="111827"/>
                </a:solidFill>
                <a:latin typeface="Microsoft YaHei"/>
                <a:ea typeface="Microsoft YaHei"/>
                <a:cs typeface="Microsoft YaHei"/>
              </a:rPr>
              <a:t>集中池 / 统一优化撮合</a:t>
            </a:r>
          </a:p>
        </p:txBody>
      </p:sp>
      <p:sp>
        <p:nvSpPr>
          <p:cNvPr id="335" name="Node_M1_EN">
            <a:extLst>
              <a:ext uri="{FF2B5EF4-FFF2-40B4-BE49-F238E27FC236}">
                <a16:creationId xmlns:a16="http://schemas.microsoft.com/office/drawing/2014/main" id="{C851424B-AC0E-4B04-8483-B192B7F33049}"/>
              </a:ext>
            </a:extLst>
          </p:cNvPr>
          <p:cNvSpPr>
            <a:spLocks noGrp="1"/>
          </p:cNvSpPr>
          <p:nvPr/>
        </p:nvSpPr>
        <p:spPr>
          <a:xfrm>
            <a:off x="3693474" y="2256028"/>
            <a:ext cx="2063750" cy="109728"/>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central pool</a:t>
            </a:r>
          </a:p>
        </p:txBody>
      </p:sp>
      <p:sp>
        <p:nvSpPr>
          <p:cNvPr id="336" name="Node_M3">
            <a:extLst>
              <a:ext uri="{FF2B5EF4-FFF2-40B4-BE49-F238E27FC236}">
                <a16:creationId xmlns:a16="http://schemas.microsoft.com/office/drawing/2014/main" id="{D0CB7A5C-6268-49A5-BEBD-081C96D32664}"/>
              </a:ext>
            </a:extLst>
          </p:cNvPr>
          <p:cNvSpPr>
            <a:spLocks noGrp="1"/>
          </p:cNvSpPr>
          <p:nvPr/>
        </p:nvSpPr>
        <p:spPr>
          <a:xfrm>
            <a:off x="3261674" y="2641600"/>
            <a:ext cx="2571750" cy="406400"/>
          </a:xfrm>
          <a:prstGeom prst="roundRect">
            <a:avLst>
              <a:gd name="adj" fmla="val 15625"/>
            </a:avLst>
          </a:prstGeom>
          <a:solidFill>
            <a:srgbClr val="FFFFFF"/>
          </a:solidFill>
          <a:ln w="10478">
            <a:solidFill>
              <a:srgbClr val="AEBECD"/>
            </a:solidFill>
            <a:prstDash val="solid"/>
          </a:ln>
        </p:spPr>
      </p:sp>
      <p:sp>
        <p:nvSpPr>
          <p:cNvPr id="337" name="Node_M3_Tag">
            <a:extLst>
              <a:ext uri="{FF2B5EF4-FFF2-40B4-BE49-F238E27FC236}">
                <a16:creationId xmlns:a16="http://schemas.microsoft.com/office/drawing/2014/main" id="{46557FB0-858F-4649-B104-4BEF96FA5C42}"/>
              </a:ext>
            </a:extLst>
          </p:cNvPr>
          <p:cNvSpPr>
            <a:spLocks noGrp="1"/>
          </p:cNvSpPr>
          <p:nvPr/>
        </p:nvSpPr>
        <p:spPr>
          <a:xfrm>
            <a:off x="3337874" y="2736850"/>
            <a:ext cx="304800" cy="215900"/>
          </a:xfrm>
          <a:prstGeom prst="roundRect">
            <a:avLst>
              <a:gd name="adj" fmla="val 23529"/>
            </a:avLst>
          </a:prstGeom>
          <a:solidFill>
            <a:srgbClr val="E3EAF2"/>
          </a:solidFill>
          <a:ln w="0">
            <a:solidFill>
              <a:srgbClr val="E3EAF2"/>
            </a:solidFill>
            <a:prstDash val="solid"/>
          </a:ln>
        </p:spPr>
      </p:sp>
      <p:sp>
        <p:nvSpPr>
          <p:cNvPr id="338" name="Node_M3_TagText">
            <a:extLst>
              <a:ext uri="{FF2B5EF4-FFF2-40B4-BE49-F238E27FC236}">
                <a16:creationId xmlns:a16="http://schemas.microsoft.com/office/drawing/2014/main" id="{37E50659-FE7A-4BDC-82BE-02FA80C54398}"/>
              </a:ext>
            </a:extLst>
          </p:cNvPr>
          <p:cNvSpPr>
            <a:spLocks noGrp="1"/>
          </p:cNvSpPr>
          <p:nvPr/>
        </p:nvSpPr>
        <p:spPr>
          <a:xfrm>
            <a:off x="3337874" y="273685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M3</a:t>
            </a:r>
          </a:p>
        </p:txBody>
      </p:sp>
      <p:sp>
        <p:nvSpPr>
          <p:cNvPr id="339" name="Node_M3_CN">
            <a:extLst>
              <a:ext uri="{FF2B5EF4-FFF2-40B4-BE49-F238E27FC236}">
                <a16:creationId xmlns:a16="http://schemas.microsoft.com/office/drawing/2014/main" id="{177D9EC6-8093-4577-9CB5-C26CA5B46C35}"/>
              </a:ext>
            </a:extLst>
          </p:cNvPr>
          <p:cNvSpPr>
            <a:spLocks noGrp="1"/>
          </p:cNvSpPr>
          <p:nvPr/>
        </p:nvSpPr>
        <p:spPr>
          <a:xfrm>
            <a:off x="3693474" y="2686050"/>
            <a:ext cx="2063750" cy="195072"/>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950" b="1">
                <a:solidFill>
                  <a:srgbClr val="111827"/>
                </a:solidFill>
                <a:latin typeface="Microsoft YaHei"/>
                <a:ea typeface="Microsoft YaHei"/>
                <a:cs typeface="Microsoft YaHei"/>
              </a:rPr>
              <a:t>定时集合双向拍卖</a:t>
            </a:r>
          </a:p>
        </p:txBody>
      </p:sp>
      <p:sp>
        <p:nvSpPr>
          <p:cNvPr id="340" name="Node_M3_EN">
            <a:extLst>
              <a:ext uri="{FF2B5EF4-FFF2-40B4-BE49-F238E27FC236}">
                <a16:creationId xmlns:a16="http://schemas.microsoft.com/office/drawing/2014/main" id="{27D54C40-85E9-45CD-8364-A901DE4CD813}"/>
              </a:ext>
            </a:extLst>
          </p:cNvPr>
          <p:cNvSpPr>
            <a:spLocks noGrp="1"/>
          </p:cNvSpPr>
          <p:nvPr/>
        </p:nvSpPr>
        <p:spPr>
          <a:xfrm>
            <a:off x="3693474" y="2852928"/>
            <a:ext cx="2063750" cy="109728"/>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periodic double auction</a:t>
            </a:r>
          </a:p>
        </p:txBody>
      </p:sp>
      <p:sp>
        <p:nvSpPr>
          <p:cNvPr id="341" name="Node_M2">
            <a:extLst>
              <a:ext uri="{FF2B5EF4-FFF2-40B4-BE49-F238E27FC236}">
                <a16:creationId xmlns:a16="http://schemas.microsoft.com/office/drawing/2014/main" id="{42BE1452-245D-412A-BFCF-D27ABC261DD8}"/>
              </a:ext>
            </a:extLst>
          </p:cNvPr>
          <p:cNvSpPr>
            <a:spLocks noGrp="1"/>
          </p:cNvSpPr>
          <p:nvPr/>
        </p:nvSpPr>
        <p:spPr>
          <a:xfrm>
            <a:off x="3261674" y="3238500"/>
            <a:ext cx="2571750" cy="406400"/>
          </a:xfrm>
          <a:prstGeom prst="roundRect">
            <a:avLst>
              <a:gd name="adj" fmla="val 15625"/>
            </a:avLst>
          </a:prstGeom>
          <a:solidFill>
            <a:srgbClr val="FFFFFF"/>
          </a:solidFill>
          <a:ln w="10478">
            <a:solidFill>
              <a:srgbClr val="AEBECD"/>
            </a:solidFill>
            <a:prstDash val="solid"/>
          </a:ln>
        </p:spPr>
      </p:sp>
      <p:sp>
        <p:nvSpPr>
          <p:cNvPr id="342" name="Node_M2_Tag">
            <a:extLst>
              <a:ext uri="{FF2B5EF4-FFF2-40B4-BE49-F238E27FC236}">
                <a16:creationId xmlns:a16="http://schemas.microsoft.com/office/drawing/2014/main" id="{265784E3-BF7E-42BD-898A-36DB6A1F5D76}"/>
              </a:ext>
            </a:extLst>
          </p:cNvPr>
          <p:cNvSpPr>
            <a:spLocks noGrp="1"/>
          </p:cNvSpPr>
          <p:nvPr/>
        </p:nvSpPr>
        <p:spPr>
          <a:xfrm>
            <a:off x="3337874" y="3333750"/>
            <a:ext cx="304800" cy="215900"/>
          </a:xfrm>
          <a:prstGeom prst="roundRect">
            <a:avLst>
              <a:gd name="adj" fmla="val 23529"/>
            </a:avLst>
          </a:prstGeom>
          <a:solidFill>
            <a:srgbClr val="E3EAF2"/>
          </a:solidFill>
          <a:ln w="0">
            <a:solidFill>
              <a:srgbClr val="E3EAF2"/>
            </a:solidFill>
            <a:prstDash val="solid"/>
          </a:ln>
        </p:spPr>
      </p:sp>
      <p:sp>
        <p:nvSpPr>
          <p:cNvPr id="343" name="Node_M2_TagText">
            <a:extLst>
              <a:ext uri="{FF2B5EF4-FFF2-40B4-BE49-F238E27FC236}">
                <a16:creationId xmlns:a16="http://schemas.microsoft.com/office/drawing/2014/main" id="{7C7435BE-483B-4401-BE2B-BD418F53E6C1}"/>
              </a:ext>
            </a:extLst>
          </p:cNvPr>
          <p:cNvSpPr>
            <a:spLocks noGrp="1"/>
          </p:cNvSpPr>
          <p:nvPr/>
        </p:nvSpPr>
        <p:spPr>
          <a:xfrm>
            <a:off x="3337874" y="333375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M2</a:t>
            </a:r>
          </a:p>
        </p:txBody>
      </p:sp>
      <p:sp>
        <p:nvSpPr>
          <p:cNvPr id="344" name="Node_M2_CN">
            <a:extLst>
              <a:ext uri="{FF2B5EF4-FFF2-40B4-BE49-F238E27FC236}">
                <a16:creationId xmlns:a16="http://schemas.microsoft.com/office/drawing/2014/main" id="{2EDA579D-F913-4B43-9B55-C82C13A15E68}"/>
              </a:ext>
            </a:extLst>
          </p:cNvPr>
          <p:cNvSpPr>
            <a:spLocks noGrp="1"/>
          </p:cNvSpPr>
          <p:nvPr/>
        </p:nvSpPr>
        <p:spPr>
          <a:xfrm>
            <a:off x="3693474" y="3282950"/>
            <a:ext cx="2063750" cy="195072"/>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950" b="1">
                <a:solidFill>
                  <a:srgbClr val="111827"/>
                </a:solidFill>
                <a:latin typeface="Microsoft YaHei"/>
                <a:ea typeface="Microsoft YaHei"/>
                <a:cs typeface="Microsoft YaHei"/>
              </a:rPr>
              <a:t>DSO单买方反向采购</a:t>
            </a:r>
          </a:p>
        </p:txBody>
      </p:sp>
      <p:sp>
        <p:nvSpPr>
          <p:cNvPr id="345" name="Node_M2_EN">
            <a:extLst>
              <a:ext uri="{FF2B5EF4-FFF2-40B4-BE49-F238E27FC236}">
                <a16:creationId xmlns:a16="http://schemas.microsoft.com/office/drawing/2014/main" id="{B5BBD2AD-DECC-4ADC-8CCA-CC496DD5B656}"/>
              </a:ext>
            </a:extLst>
          </p:cNvPr>
          <p:cNvSpPr>
            <a:spLocks noGrp="1"/>
          </p:cNvSpPr>
          <p:nvPr/>
        </p:nvSpPr>
        <p:spPr>
          <a:xfrm>
            <a:off x="3693474" y="3449828"/>
            <a:ext cx="2063750" cy="109728"/>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reverse procurement</a:t>
            </a:r>
          </a:p>
        </p:txBody>
      </p:sp>
      <p:sp>
        <p:nvSpPr>
          <p:cNvPr id="346" name="Node_M4">
            <a:extLst>
              <a:ext uri="{FF2B5EF4-FFF2-40B4-BE49-F238E27FC236}">
                <a16:creationId xmlns:a16="http://schemas.microsoft.com/office/drawing/2014/main" id="{43AF0442-29A3-4529-A2E2-9536042D5AB6}"/>
              </a:ext>
            </a:extLst>
          </p:cNvPr>
          <p:cNvSpPr>
            <a:spLocks noGrp="1"/>
          </p:cNvSpPr>
          <p:nvPr/>
        </p:nvSpPr>
        <p:spPr>
          <a:xfrm>
            <a:off x="3261674" y="3835400"/>
            <a:ext cx="2571750" cy="406400"/>
          </a:xfrm>
          <a:prstGeom prst="roundRect">
            <a:avLst>
              <a:gd name="adj" fmla="val 15625"/>
            </a:avLst>
          </a:prstGeom>
          <a:solidFill>
            <a:srgbClr val="FFFFFF"/>
          </a:solidFill>
          <a:ln w="10478">
            <a:solidFill>
              <a:srgbClr val="AEBECD"/>
            </a:solidFill>
            <a:prstDash val="solid"/>
          </a:ln>
        </p:spPr>
      </p:sp>
      <p:sp>
        <p:nvSpPr>
          <p:cNvPr id="347" name="Node_M4_Tag">
            <a:extLst>
              <a:ext uri="{FF2B5EF4-FFF2-40B4-BE49-F238E27FC236}">
                <a16:creationId xmlns:a16="http://schemas.microsoft.com/office/drawing/2014/main" id="{A9F5429A-D915-4AEF-8126-7AFC32A18815}"/>
              </a:ext>
            </a:extLst>
          </p:cNvPr>
          <p:cNvSpPr>
            <a:spLocks noGrp="1"/>
          </p:cNvSpPr>
          <p:nvPr/>
        </p:nvSpPr>
        <p:spPr>
          <a:xfrm>
            <a:off x="3337874" y="3930650"/>
            <a:ext cx="304800" cy="215900"/>
          </a:xfrm>
          <a:prstGeom prst="roundRect">
            <a:avLst>
              <a:gd name="adj" fmla="val 23529"/>
            </a:avLst>
          </a:prstGeom>
          <a:solidFill>
            <a:srgbClr val="E3EAF2"/>
          </a:solidFill>
          <a:ln w="0">
            <a:solidFill>
              <a:srgbClr val="E3EAF2"/>
            </a:solidFill>
            <a:prstDash val="solid"/>
          </a:ln>
        </p:spPr>
      </p:sp>
      <p:sp>
        <p:nvSpPr>
          <p:cNvPr id="348" name="Node_M4_TagText">
            <a:extLst>
              <a:ext uri="{FF2B5EF4-FFF2-40B4-BE49-F238E27FC236}">
                <a16:creationId xmlns:a16="http://schemas.microsoft.com/office/drawing/2014/main" id="{FD3D47C0-6C56-4011-A448-2327BE187BA8}"/>
              </a:ext>
            </a:extLst>
          </p:cNvPr>
          <p:cNvSpPr>
            <a:spLocks noGrp="1"/>
          </p:cNvSpPr>
          <p:nvPr/>
        </p:nvSpPr>
        <p:spPr>
          <a:xfrm>
            <a:off x="3337874" y="393065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M4</a:t>
            </a:r>
          </a:p>
        </p:txBody>
      </p:sp>
      <p:sp>
        <p:nvSpPr>
          <p:cNvPr id="349" name="Node_M4_CN">
            <a:extLst>
              <a:ext uri="{FF2B5EF4-FFF2-40B4-BE49-F238E27FC236}">
                <a16:creationId xmlns:a16="http://schemas.microsoft.com/office/drawing/2014/main" id="{6A15C9D0-D5C8-42FB-A29C-06E9213C6281}"/>
              </a:ext>
            </a:extLst>
          </p:cNvPr>
          <p:cNvSpPr>
            <a:spLocks noGrp="1"/>
          </p:cNvSpPr>
          <p:nvPr/>
        </p:nvSpPr>
        <p:spPr>
          <a:xfrm>
            <a:off x="3693474" y="3879850"/>
            <a:ext cx="2063750" cy="195072"/>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950" b="1">
                <a:solidFill>
                  <a:srgbClr val="111827"/>
                </a:solidFill>
                <a:latin typeface="Microsoft YaHei"/>
                <a:ea typeface="Microsoft YaHei"/>
                <a:cs typeface="Microsoft YaHei"/>
              </a:rPr>
              <a:t>连续双向订单表</a:t>
            </a:r>
          </a:p>
        </p:txBody>
      </p:sp>
      <p:sp>
        <p:nvSpPr>
          <p:cNvPr id="350" name="Node_M4_EN">
            <a:extLst>
              <a:ext uri="{FF2B5EF4-FFF2-40B4-BE49-F238E27FC236}">
                <a16:creationId xmlns:a16="http://schemas.microsoft.com/office/drawing/2014/main" id="{47DF58D2-A6E2-482F-9C59-3F38208B1AC3}"/>
              </a:ext>
            </a:extLst>
          </p:cNvPr>
          <p:cNvSpPr>
            <a:spLocks noGrp="1"/>
          </p:cNvSpPr>
          <p:nvPr/>
        </p:nvSpPr>
        <p:spPr>
          <a:xfrm>
            <a:off x="3693474" y="4046728"/>
            <a:ext cx="2063750" cy="109728"/>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continuous order book</a:t>
            </a:r>
          </a:p>
        </p:txBody>
      </p:sp>
      <p:sp>
        <p:nvSpPr>
          <p:cNvPr id="351" name="Node_M5">
            <a:extLst>
              <a:ext uri="{FF2B5EF4-FFF2-40B4-BE49-F238E27FC236}">
                <a16:creationId xmlns:a16="http://schemas.microsoft.com/office/drawing/2014/main" id="{4395097C-09AC-4A46-B0E1-438C71A9B63A}"/>
              </a:ext>
            </a:extLst>
          </p:cNvPr>
          <p:cNvSpPr>
            <a:spLocks noGrp="1"/>
          </p:cNvSpPr>
          <p:nvPr/>
        </p:nvSpPr>
        <p:spPr>
          <a:xfrm>
            <a:off x="3261674" y="4432300"/>
            <a:ext cx="2571750" cy="406400"/>
          </a:xfrm>
          <a:prstGeom prst="roundRect">
            <a:avLst>
              <a:gd name="adj" fmla="val 15625"/>
            </a:avLst>
          </a:prstGeom>
          <a:solidFill>
            <a:srgbClr val="FFFFFF"/>
          </a:solidFill>
          <a:ln w="10478">
            <a:solidFill>
              <a:srgbClr val="AEBECD"/>
            </a:solidFill>
            <a:prstDash val="solid"/>
          </a:ln>
        </p:spPr>
      </p:sp>
      <p:sp>
        <p:nvSpPr>
          <p:cNvPr id="352" name="Node_M5_Tag">
            <a:extLst>
              <a:ext uri="{FF2B5EF4-FFF2-40B4-BE49-F238E27FC236}">
                <a16:creationId xmlns:a16="http://schemas.microsoft.com/office/drawing/2014/main" id="{AD6306E9-26DE-4B57-A148-A51EB1FAF0AB}"/>
              </a:ext>
            </a:extLst>
          </p:cNvPr>
          <p:cNvSpPr>
            <a:spLocks noGrp="1"/>
          </p:cNvSpPr>
          <p:nvPr/>
        </p:nvSpPr>
        <p:spPr>
          <a:xfrm>
            <a:off x="3337874" y="4527550"/>
            <a:ext cx="304800" cy="215900"/>
          </a:xfrm>
          <a:prstGeom prst="roundRect">
            <a:avLst>
              <a:gd name="adj" fmla="val 23529"/>
            </a:avLst>
          </a:prstGeom>
          <a:solidFill>
            <a:srgbClr val="E3EAF2"/>
          </a:solidFill>
          <a:ln w="0">
            <a:solidFill>
              <a:srgbClr val="E3EAF2"/>
            </a:solidFill>
            <a:prstDash val="solid"/>
          </a:ln>
        </p:spPr>
      </p:sp>
      <p:sp>
        <p:nvSpPr>
          <p:cNvPr id="353" name="Node_M5_TagText">
            <a:extLst>
              <a:ext uri="{FF2B5EF4-FFF2-40B4-BE49-F238E27FC236}">
                <a16:creationId xmlns:a16="http://schemas.microsoft.com/office/drawing/2014/main" id="{66783655-C2AC-4C33-BA35-69B5852A7A14}"/>
              </a:ext>
            </a:extLst>
          </p:cNvPr>
          <p:cNvSpPr>
            <a:spLocks noGrp="1"/>
          </p:cNvSpPr>
          <p:nvPr/>
        </p:nvSpPr>
        <p:spPr>
          <a:xfrm>
            <a:off x="3337874" y="452755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M5</a:t>
            </a:r>
          </a:p>
        </p:txBody>
      </p:sp>
      <p:sp>
        <p:nvSpPr>
          <p:cNvPr id="354" name="Node_M5_CN">
            <a:extLst>
              <a:ext uri="{FF2B5EF4-FFF2-40B4-BE49-F238E27FC236}">
                <a16:creationId xmlns:a16="http://schemas.microsoft.com/office/drawing/2014/main" id="{7DCD1F7E-65F4-4359-ACBD-B980C9721082}"/>
              </a:ext>
            </a:extLst>
          </p:cNvPr>
          <p:cNvSpPr>
            <a:spLocks noGrp="1"/>
          </p:cNvSpPr>
          <p:nvPr/>
        </p:nvSpPr>
        <p:spPr>
          <a:xfrm>
            <a:off x="3693474" y="4476750"/>
            <a:ext cx="2063750" cy="195072"/>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950" b="1">
                <a:solidFill>
                  <a:srgbClr val="111827"/>
                </a:solidFill>
                <a:latin typeface="Microsoft YaHei"/>
                <a:ea typeface="Microsoft YaHei"/>
                <a:cs typeface="Microsoft YaHei"/>
              </a:rPr>
              <a:t>P2P双边匹配 / 议价</a:t>
            </a:r>
          </a:p>
        </p:txBody>
      </p:sp>
      <p:sp>
        <p:nvSpPr>
          <p:cNvPr id="355" name="Node_M5_EN">
            <a:extLst>
              <a:ext uri="{FF2B5EF4-FFF2-40B4-BE49-F238E27FC236}">
                <a16:creationId xmlns:a16="http://schemas.microsoft.com/office/drawing/2014/main" id="{D5C8F097-3C1A-47A9-9522-1D3E6F3A4EBF}"/>
              </a:ext>
            </a:extLst>
          </p:cNvPr>
          <p:cNvSpPr>
            <a:spLocks noGrp="1"/>
          </p:cNvSpPr>
          <p:nvPr/>
        </p:nvSpPr>
        <p:spPr>
          <a:xfrm>
            <a:off x="3693474" y="4643628"/>
            <a:ext cx="2063750" cy="109728"/>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pure bilateral</a:t>
            </a:r>
          </a:p>
        </p:txBody>
      </p:sp>
      <p:sp>
        <p:nvSpPr>
          <p:cNvPr id="356" name="Node_M6">
            <a:extLst>
              <a:ext uri="{FF2B5EF4-FFF2-40B4-BE49-F238E27FC236}">
                <a16:creationId xmlns:a16="http://schemas.microsoft.com/office/drawing/2014/main" id="{3201D88B-AB41-4BFF-B52A-8689B3FCBB09}"/>
              </a:ext>
            </a:extLst>
          </p:cNvPr>
          <p:cNvSpPr>
            <a:spLocks noGrp="1"/>
          </p:cNvSpPr>
          <p:nvPr/>
        </p:nvSpPr>
        <p:spPr>
          <a:xfrm>
            <a:off x="3261674" y="5029200"/>
            <a:ext cx="2571750" cy="406400"/>
          </a:xfrm>
          <a:prstGeom prst="roundRect">
            <a:avLst>
              <a:gd name="adj" fmla="val 15625"/>
            </a:avLst>
          </a:prstGeom>
          <a:solidFill>
            <a:srgbClr val="FFFFFF"/>
          </a:solidFill>
          <a:ln w="10478">
            <a:solidFill>
              <a:srgbClr val="AEBECD"/>
            </a:solidFill>
            <a:prstDash val="solid"/>
          </a:ln>
        </p:spPr>
      </p:sp>
      <p:sp>
        <p:nvSpPr>
          <p:cNvPr id="357" name="Node_M6_Tag">
            <a:extLst>
              <a:ext uri="{FF2B5EF4-FFF2-40B4-BE49-F238E27FC236}">
                <a16:creationId xmlns:a16="http://schemas.microsoft.com/office/drawing/2014/main" id="{78B7B8F4-13BB-425D-BB74-A1E836302371}"/>
              </a:ext>
            </a:extLst>
          </p:cNvPr>
          <p:cNvSpPr>
            <a:spLocks noGrp="1"/>
          </p:cNvSpPr>
          <p:nvPr/>
        </p:nvSpPr>
        <p:spPr>
          <a:xfrm>
            <a:off x="3337874" y="5124450"/>
            <a:ext cx="304800" cy="215900"/>
          </a:xfrm>
          <a:prstGeom prst="roundRect">
            <a:avLst>
              <a:gd name="adj" fmla="val 23529"/>
            </a:avLst>
          </a:prstGeom>
          <a:solidFill>
            <a:srgbClr val="E3EAF2"/>
          </a:solidFill>
          <a:ln w="0">
            <a:solidFill>
              <a:srgbClr val="E3EAF2"/>
            </a:solidFill>
            <a:prstDash val="solid"/>
          </a:ln>
        </p:spPr>
      </p:sp>
      <p:sp>
        <p:nvSpPr>
          <p:cNvPr id="358" name="Node_M6_TagText">
            <a:extLst>
              <a:ext uri="{FF2B5EF4-FFF2-40B4-BE49-F238E27FC236}">
                <a16:creationId xmlns:a16="http://schemas.microsoft.com/office/drawing/2014/main" id="{D11AB21A-DF55-43AC-A2F1-4027412884CA}"/>
              </a:ext>
            </a:extLst>
          </p:cNvPr>
          <p:cNvSpPr>
            <a:spLocks noGrp="1"/>
          </p:cNvSpPr>
          <p:nvPr/>
        </p:nvSpPr>
        <p:spPr>
          <a:xfrm>
            <a:off x="3337874" y="512445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M6</a:t>
            </a:r>
          </a:p>
        </p:txBody>
      </p:sp>
      <p:sp>
        <p:nvSpPr>
          <p:cNvPr id="359" name="Node_M6_CN">
            <a:extLst>
              <a:ext uri="{FF2B5EF4-FFF2-40B4-BE49-F238E27FC236}">
                <a16:creationId xmlns:a16="http://schemas.microsoft.com/office/drawing/2014/main" id="{440FD0F2-096E-48BF-8ED3-D09C8870DB63}"/>
              </a:ext>
            </a:extLst>
          </p:cNvPr>
          <p:cNvSpPr>
            <a:spLocks noGrp="1"/>
          </p:cNvSpPr>
          <p:nvPr/>
        </p:nvSpPr>
        <p:spPr>
          <a:xfrm>
            <a:off x="3693474" y="5073650"/>
            <a:ext cx="2063750" cy="195072"/>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950" b="1">
                <a:solidFill>
                  <a:srgbClr val="111827"/>
                </a:solidFill>
                <a:latin typeface="Microsoft YaHei"/>
                <a:ea typeface="Microsoft YaHei"/>
                <a:cs typeface="Microsoft YaHei"/>
              </a:rPr>
              <a:t>社区 / 聚合商分层市场</a:t>
            </a:r>
          </a:p>
        </p:txBody>
      </p:sp>
      <p:sp>
        <p:nvSpPr>
          <p:cNvPr id="360" name="Node_M6_EN">
            <a:extLst>
              <a:ext uri="{FF2B5EF4-FFF2-40B4-BE49-F238E27FC236}">
                <a16:creationId xmlns:a16="http://schemas.microsoft.com/office/drawing/2014/main" id="{EF3EC918-E366-4A9B-A64D-3DCAEEA666BC}"/>
              </a:ext>
            </a:extLst>
          </p:cNvPr>
          <p:cNvSpPr>
            <a:spLocks noGrp="1"/>
          </p:cNvSpPr>
          <p:nvPr/>
        </p:nvSpPr>
        <p:spPr>
          <a:xfrm>
            <a:off x="3693474" y="5240528"/>
            <a:ext cx="2063750" cy="109728"/>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hierarchical community</a:t>
            </a:r>
          </a:p>
        </p:txBody>
      </p:sp>
      <p:sp>
        <p:nvSpPr>
          <p:cNvPr id="361" name="Node_P5">
            <a:extLst>
              <a:ext uri="{FF2B5EF4-FFF2-40B4-BE49-F238E27FC236}">
                <a16:creationId xmlns:a16="http://schemas.microsoft.com/office/drawing/2014/main" id="{FD01DA99-CC1F-4B79-8C59-8119B4E7E2FA}"/>
              </a:ext>
            </a:extLst>
          </p:cNvPr>
          <p:cNvSpPr>
            <a:spLocks noGrp="1"/>
          </p:cNvSpPr>
          <p:nvPr/>
        </p:nvSpPr>
        <p:spPr>
          <a:xfrm>
            <a:off x="6214424" y="2044700"/>
            <a:ext cx="2571750" cy="406400"/>
          </a:xfrm>
          <a:prstGeom prst="roundRect">
            <a:avLst>
              <a:gd name="adj" fmla="val 15625"/>
            </a:avLst>
          </a:prstGeom>
          <a:solidFill>
            <a:srgbClr val="FFFFFF"/>
          </a:solidFill>
          <a:ln w="10478">
            <a:solidFill>
              <a:srgbClr val="AEBECD"/>
            </a:solidFill>
            <a:prstDash val="solid"/>
          </a:ln>
        </p:spPr>
      </p:sp>
      <p:sp>
        <p:nvSpPr>
          <p:cNvPr id="362" name="Node_P5_Tag">
            <a:extLst>
              <a:ext uri="{FF2B5EF4-FFF2-40B4-BE49-F238E27FC236}">
                <a16:creationId xmlns:a16="http://schemas.microsoft.com/office/drawing/2014/main" id="{A166FF3C-FC26-4997-929D-AE4D3B18C17D}"/>
              </a:ext>
            </a:extLst>
          </p:cNvPr>
          <p:cNvSpPr>
            <a:spLocks noGrp="1"/>
          </p:cNvSpPr>
          <p:nvPr/>
        </p:nvSpPr>
        <p:spPr>
          <a:xfrm>
            <a:off x="6290624" y="2139950"/>
            <a:ext cx="304800" cy="215900"/>
          </a:xfrm>
          <a:prstGeom prst="roundRect">
            <a:avLst>
              <a:gd name="adj" fmla="val 23529"/>
            </a:avLst>
          </a:prstGeom>
          <a:solidFill>
            <a:srgbClr val="E3EAF2"/>
          </a:solidFill>
          <a:ln w="0">
            <a:solidFill>
              <a:srgbClr val="E3EAF2"/>
            </a:solidFill>
            <a:prstDash val="solid"/>
          </a:ln>
        </p:spPr>
      </p:sp>
      <p:sp>
        <p:nvSpPr>
          <p:cNvPr id="363" name="Node_P5_TagText">
            <a:extLst>
              <a:ext uri="{FF2B5EF4-FFF2-40B4-BE49-F238E27FC236}">
                <a16:creationId xmlns:a16="http://schemas.microsoft.com/office/drawing/2014/main" id="{0EE60309-D8BF-4AE2-A5A9-BEA39C7C7D2C}"/>
              </a:ext>
            </a:extLst>
          </p:cNvPr>
          <p:cNvSpPr>
            <a:spLocks noGrp="1"/>
          </p:cNvSpPr>
          <p:nvPr/>
        </p:nvSpPr>
        <p:spPr>
          <a:xfrm>
            <a:off x="6290624" y="213995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P5</a:t>
            </a:r>
          </a:p>
        </p:txBody>
      </p:sp>
      <p:sp>
        <p:nvSpPr>
          <p:cNvPr id="364" name="Node_P5_CN">
            <a:extLst>
              <a:ext uri="{FF2B5EF4-FFF2-40B4-BE49-F238E27FC236}">
                <a16:creationId xmlns:a16="http://schemas.microsoft.com/office/drawing/2014/main" id="{A152A7BA-617A-432C-9F8C-09144A5BD8B2}"/>
              </a:ext>
            </a:extLst>
          </p:cNvPr>
          <p:cNvSpPr>
            <a:spLocks noGrp="1"/>
          </p:cNvSpPr>
          <p:nvPr/>
        </p:nvSpPr>
        <p:spPr>
          <a:xfrm>
            <a:off x="6646224" y="2089150"/>
            <a:ext cx="2063750" cy="195072"/>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950" b="1">
                <a:solidFill>
                  <a:srgbClr val="111827"/>
                </a:solidFill>
                <a:latin typeface="Microsoft YaHei"/>
                <a:ea typeface="Microsoft YaHei"/>
                <a:cs typeface="Microsoft YaHei"/>
              </a:rPr>
              <a:t>节点 / 分区价格</a:t>
            </a:r>
          </a:p>
        </p:txBody>
      </p:sp>
      <p:sp>
        <p:nvSpPr>
          <p:cNvPr id="365" name="Node_P5_EN">
            <a:extLst>
              <a:ext uri="{FF2B5EF4-FFF2-40B4-BE49-F238E27FC236}">
                <a16:creationId xmlns:a16="http://schemas.microsoft.com/office/drawing/2014/main" id="{106EB575-5FFB-44B2-A663-619A6E6AAF2D}"/>
              </a:ext>
            </a:extLst>
          </p:cNvPr>
          <p:cNvSpPr>
            <a:spLocks noGrp="1"/>
          </p:cNvSpPr>
          <p:nvPr/>
        </p:nvSpPr>
        <p:spPr>
          <a:xfrm>
            <a:off x="6646224" y="2256028"/>
            <a:ext cx="2063750" cy="109728"/>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DLMP / zonal</a:t>
            </a:r>
          </a:p>
        </p:txBody>
      </p:sp>
      <p:sp>
        <p:nvSpPr>
          <p:cNvPr id="366" name="Node_P1">
            <a:extLst>
              <a:ext uri="{FF2B5EF4-FFF2-40B4-BE49-F238E27FC236}">
                <a16:creationId xmlns:a16="http://schemas.microsoft.com/office/drawing/2014/main" id="{EE468C20-C364-408D-9042-00041ECFF5AD}"/>
              </a:ext>
            </a:extLst>
          </p:cNvPr>
          <p:cNvSpPr>
            <a:spLocks noGrp="1"/>
          </p:cNvSpPr>
          <p:nvPr/>
        </p:nvSpPr>
        <p:spPr>
          <a:xfrm>
            <a:off x="6214424" y="2641600"/>
            <a:ext cx="2571750" cy="406400"/>
          </a:xfrm>
          <a:prstGeom prst="roundRect">
            <a:avLst>
              <a:gd name="adj" fmla="val 15625"/>
            </a:avLst>
          </a:prstGeom>
          <a:solidFill>
            <a:srgbClr val="FFFFFF"/>
          </a:solidFill>
          <a:ln w="10478">
            <a:solidFill>
              <a:srgbClr val="AEBECD"/>
            </a:solidFill>
            <a:prstDash val="solid"/>
          </a:ln>
        </p:spPr>
      </p:sp>
      <p:sp>
        <p:nvSpPr>
          <p:cNvPr id="367" name="Node_P1_Tag">
            <a:extLst>
              <a:ext uri="{FF2B5EF4-FFF2-40B4-BE49-F238E27FC236}">
                <a16:creationId xmlns:a16="http://schemas.microsoft.com/office/drawing/2014/main" id="{9F84EA5F-41D0-498E-A732-00A2943A61A7}"/>
              </a:ext>
            </a:extLst>
          </p:cNvPr>
          <p:cNvSpPr>
            <a:spLocks noGrp="1"/>
          </p:cNvSpPr>
          <p:nvPr/>
        </p:nvSpPr>
        <p:spPr>
          <a:xfrm>
            <a:off x="6290624" y="2736850"/>
            <a:ext cx="304800" cy="215900"/>
          </a:xfrm>
          <a:prstGeom prst="roundRect">
            <a:avLst>
              <a:gd name="adj" fmla="val 23529"/>
            </a:avLst>
          </a:prstGeom>
          <a:solidFill>
            <a:srgbClr val="E3EAF2"/>
          </a:solidFill>
          <a:ln w="0">
            <a:solidFill>
              <a:srgbClr val="E3EAF2"/>
            </a:solidFill>
            <a:prstDash val="solid"/>
          </a:ln>
        </p:spPr>
      </p:sp>
      <p:sp>
        <p:nvSpPr>
          <p:cNvPr id="368" name="Node_P1_TagText">
            <a:extLst>
              <a:ext uri="{FF2B5EF4-FFF2-40B4-BE49-F238E27FC236}">
                <a16:creationId xmlns:a16="http://schemas.microsoft.com/office/drawing/2014/main" id="{940AA730-A8AE-43B5-81CA-71D806C9D242}"/>
              </a:ext>
            </a:extLst>
          </p:cNvPr>
          <p:cNvSpPr>
            <a:spLocks noGrp="1"/>
          </p:cNvSpPr>
          <p:nvPr/>
        </p:nvSpPr>
        <p:spPr>
          <a:xfrm>
            <a:off x="6290624" y="273685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P1</a:t>
            </a:r>
          </a:p>
        </p:txBody>
      </p:sp>
      <p:sp>
        <p:nvSpPr>
          <p:cNvPr id="369" name="Node_P1_CN">
            <a:extLst>
              <a:ext uri="{FF2B5EF4-FFF2-40B4-BE49-F238E27FC236}">
                <a16:creationId xmlns:a16="http://schemas.microsoft.com/office/drawing/2014/main" id="{671E5DAB-2757-40A8-9DE1-585B5AA1A0C7}"/>
              </a:ext>
            </a:extLst>
          </p:cNvPr>
          <p:cNvSpPr>
            <a:spLocks noGrp="1"/>
          </p:cNvSpPr>
          <p:nvPr/>
        </p:nvSpPr>
        <p:spPr>
          <a:xfrm>
            <a:off x="6646224" y="2686050"/>
            <a:ext cx="2063750" cy="195072"/>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950" b="1">
                <a:solidFill>
                  <a:srgbClr val="111827"/>
                </a:solidFill>
                <a:latin typeface="Microsoft YaHei"/>
                <a:ea typeface="Microsoft YaHei"/>
                <a:cs typeface="Microsoft YaHei"/>
              </a:rPr>
              <a:t>统一出清 / 成交价</a:t>
            </a:r>
          </a:p>
        </p:txBody>
      </p:sp>
      <p:sp>
        <p:nvSpPr>
          <p:cNvPr id="370" name="Node_P1_EN">
            <a:extLst>
              <a:ext uri="{FF2B5EF4-FFF2-40B4-BE49-F238E27FC236}">
                <a16:creationId xmlns:a16="http://schemas.microsoft.com/office/drawing/2014/main" id="{D4B72783-E708-44B0-8D85-9D5FBBC9D206}"/>
              </a:ext>
            </a:extLst>
          </p:cNvPr>
          <p:cNvSpPr>
            <a:spLocks noGrp="1"/>
          </p:cNvSpPr>
          <p:nvPr/>
        </p:nvSpPr>
        <p:spPr>
          <a:xfrm>
            <a:off x="6646224" y="2852928"/>
            <a:ext cx="2063750" cy="109728"/>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MCP / PAC / k-double</a:t>
            </a:r>
          </a:p>
        </p:txBody>
      </p:sp>
      <p:sp>
        <p:nvSpPr>
          <p:cNvPr id="371" name="Node_P2">
            <a:extLst>
              <a:ext uri="{FF2B5EF4-FFF2-40B4-BE49-F238E27FC236}">
                <a16:creationId xmlns:a16="http://schemas.microsoft.com/office/drawing/2014/main" id="{4E368536-A572-49DB-89FE-98DC13B67FC1}"/>
              </a:ext>
            </a:extLst>
          </p:cNvPr>
          <p:cNvSpPr>
            <a:spLocks noGrp="1"/>
          </p:cNvSpPr>
          <p:nvPr/>
        </p:nvSpPr>
        <p:spPr>
          <a:xfrm>
            <a:off x="6214424" y="3238500"/>
            <a:ext cx="2571750" cy="406400"/>
          </a:xfrm>
          <a:prstGeom prst="roundRect">
            <a:avLst>
              <a:gd name="adj" fmla="val 15625"/>
            </a:avLst>
          </a:prstGeom>
          <a:solidFill>
            <a:srgbClr val="FFFFFF"/>
          </a:solidFill>
          <a:ln w="10478">
            <a:solidFill>
              <a:srgbClr val="AEBECD"/>
            </a:solidFill>
            <a:prstDash val="solid"/>
          </a:ln>
        </p:spPr>
      </p:sp>
      <p:sp>
        <p:nvSpPr>
          <p:cNvPr id="372" name="Node_P2_Tag">
            <a:extLst>
              <a:ext uri="{FF2B5EF4-FFF2-40B4-BE49-F238E27FC236}">
                <a16:creationId xmlns:a16="http://schemas.microsoft.com/office/drawing/2014/main" id="{60704AB3-D029-4ED1-B885-4254797496C1}"/>
              </a:ext>
            </a:extLst>
          </p:cNvPr>
          <p:cNvSpPr>
            <a:spLocks noGrp="1"/>
          </p:cNvSpPr>
          <p:nvPr/>
        </p:nvSpPr>
        <p:spPr>
          <a:xfrm>
            <a:off x="6290624" y="3333750"/>
            <a:ext cx="304800" cy="215900"/>
          </a:xfrm>
          <a:prstGeom prst="roundRect">
            <a:avLst>
              <a:gd name="adj" fmla="val 23529"/>
            </a:avLst>
          </a:prstGeom>
          <a:solidFill>
            <a:srgbClr val="E3EAF2"/>
          </a:solidFill>
          <a:ln w="0">
            <a:solidFill>
              <a:srgbClr val="E3EAF2"/>
            </a:solidFill>
            <a:prstDash val="solid"/>
          </a:ln>
        </p:spPr>
      </p:sp>
      <p:sp>
        <p:nvSpPr>
          <p:cNvPr id="373" name="Node_P2_TagText">
            <a:extLst>
              <a:ext uri="{FF2B5EF4-FFF2-40B4-BE49-F238E27FC236}">
                <a16:creationId xmlns:a16="http://schemas.microsoft.com/office/drawing/2014/main" id="{9A6C6941-19A8-46C9-8438-84A6B9ACE809}"/>
              </a:ext>
            </a:extLst>
          </p:cNvPr>
          <p:cNvSpPr>
            <a:spLocks noGrp="1"/>
          </p:cNvSpPr>
          <p:nvPr/>
        </p:nvSpPr>
        <p:spPr>
          <a:xfrm>
            <a:off x="6290624" y="333375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P2</a:t>
            </a:r>
          </a:p>
        </p:txBody>
      </p:sp>
      <p:sp>
        <p:nvSpPr>
          <p:cNvPr id="374" name="Node_P2_CN">
            <a:extLst>
              <a:ext uri="{FF2B5EF4-FFF2-40B4-BE49-F238E27FC236}">
                <a16:creationId xmlns:a16="http://schemas.microsoft.com/office/drawing/2014/main" id="{E2C4278E-8E6F-41E6-9157-D3A5FD51D6AC}"/>
              </a:ext>
            </a:extLst>
          </p:cNvPr>
          <p:cNvSpPr>
            <a:spLocks noGrp="1"/>
          </p:cNvSpPr>
          <p:nvPr/>
        </p:nvSpPr>
        <p:spPr>
          <a:xfrm>
            <a:off x="6646224" y="3282950"/>
            <a:ext cx="2063750" cy="195072"/>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950" b="1">
                <a:solidFill>
                  <a:srgbClr val="111827"/>
                </a:solidFill>
                <a:latin typeface="Microsoft YaHei"/>
                <a:ea typeface="Microsoft YaHei"/>
                <a:cs typeface="Microsoft YaHei"/>
              </a:rPr>
              <a:t>按报价支付</a:t>
            </a:r>
          </a:p>
        </p:txBody>
      </p:sp>
      <p:sp>
        <p:nvSpPr>
          <p:cNvPr id="375" name="Node_P2_EN">
            <a:extLst>
              <a:ext uri="{FF2B5EF4-FFF2-40B4-BE49-F238E27FC236}">
                <a16:creationId xmlns:a16="http://schemas.microsoft.com/office/drawing/2014/main" id="{37497588-80BE-4123-AA37-EB0765196594}"/>
              </a:ext>
            </a:extLst>
          </p:cNvPr>
          <p:cNvSpPr>
            <a:spLocks noGrp="1"/>
          </p:cNvSpPr>
          <p:nvPr/>
        </p:nvSpPr>
        <p:spPr>
          <a:xfrm>
            <a:off x="6646224" y="3449828"/>
            <a:ext cx="2063750" cy="109728"/>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Pay-as-bid</a:t>
            </a:r>
          </a:p>
        </p:txBody>
      </p:sp>
      <p:sp>
        <p:nvSpPr>
          <p:cNvPr id="376" name="Node_P4">
            <a:extLst>
              <a:ext uri="{FF2B5EF4-FFF2-40B4-BE49-F238E27FC236}">
                <a16:creationId xmlns:a16="http://schemas.microsoft.com/office/drawing/2014/main" id="{EF34F53D-3036-4029-BBE4-2181DC539A71}"/>
              </a:ext>
            </a:extLst>
          </p:cNvPr>
          <p:cNvSpPr>
            <a:spLocks noGrp="1"/>
          </p:cNvSpPr>
          <p:nvPr/>
        </p:nvSpPr>
        <p:spPr>
          <a:xfrm>
            <a:off x="6214424" y="3835400"/>
            <a:ext cx="2571750" cy="406400"/>
          </a:xfrm>
          <a:prstGeom prst="roundRect">
            <a:avLst>
              <a:gd name="adj" fmla="val 15625"/>
            </a:avLst>
          </a:prstGeom>
          <a:solidFill>
            <a:srgbClr val="FFFFFF"/>
          </a:solidFill>
          <a:ln w="10478">
            <a:solidFill>
              <a:srgbClr val="AEBECD"/>
            </a:solidFill>
            <a:prstDash val="solid"/>
          </a:ln>
        </p:spPr>
      </p:sp>
      <p:sp>
        <p:nvSpPr>
          <p:cNvPr id="377" name="Node_P4_Tag">
            <a:extLst>
              <a:ext uri="{FF2B5EF4-FFF2-40B4-BE49-F238E27FC236}">
                <a16:creationId xmlns:a16="http://schemas.microsoft.com/office/drawing/2014/main" id="{14C062A8-732D-4563-B661-1A52FD5BDACF}"/>
              </a:ext>
            </a:extLst>
          </p:cNvPr>
          <p:cNvSpPr>
            <a:spLocks noGrp="1"/>
          </p:cNvSpPr>
          <p:nvPr/>
        </p:nvSpPr>
        <p:spPr>
          <a:xfrm>
            <a:off x="6290624" y="3930650"/>
            <a:ext cx="304800" cy="215900"/>
          </a:xfrm>
          <a:prstGeom prst="roundRect">
            <a:avLst>
              <a:gd name="adj" fmla="val 23529"/>
            </a:avLst>
          </a:prstGeom>
          <a:solidFill>
            <a:srgbClr val="E3EAF2"/>
          </a:solidFill>
          <a:ln w="0">
            <a:solidFill>
              <a:srgbClr val="E3EAF2"/>
            </a:solidFill>
            <a:prstDash val="solid"/>
          </a:ln>
        </p:spPr>
      </p:sp>
      <p:sp>
        <p:nvSpPr>
          <p:cNvPr id="378" name="Node_P4_TagText">
            <a:extLst>
              <a:ext uri="{FF2B5EF4-FFF2-40B4-BE49-F238E27FC236}">
                <a16:creationId xmlns:a16="http://schemas.microsoft.com/office/drawing/2014/main" id="{CE94D8FE-0A54-4BD0-B40D-1672E110B583}"/>
              </a:ext>
            </a:extLst>
          </p:cNvPr>
          <p:cNvSpPr>
            <a:spLocks noGrp="1"/>
          </p:cNvSpPr>
          <p:nvPr/>
        </p:nvSpPr>
        <p:spPr>
          <a:xfrm>
            <a:off x="6290624" y="393065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P4</a:t>
            </a:r>
          </a:p>
        </p:txBody>
      </p:sp>
      <p:sp>
        <p:nvSpPr>
          <p:cNvPr id="379" name="Node_P4_CN">
            <a:extLst>
              <a:ext uri="{FF2B5EF4-FFF2-40B4-BE49-F238E27FC236}">
                <a16:creationId xmlns:a16="http://schemas.microsoft.com/office/drawing/2014/main" id="{5C55A1BA-84BA-4C13-BA52-2D879CE053FF}"/>
              </a:ext>
            </a:extLst>
          </p:cNvPr>
          <p:cNvSpPr>
            <a:spLocks noGrp="1"/>
          </p:cNvSpPr>
          <p:nvPr/>
        </p:nvSpPr>
        <p:spPr>
          <a:xfrm>
            <a:off x="6646224" y="3879850"/>
            <a:ext cx="2063750" cy="195072"/>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950" b="1">
                <a:solidFill>
                  <a:srgbClr val="111827"/>
                </a:solidFill>
                <a:latin typeface="Microsoft YaHei"/>
                <a:ea typeface="Microsoft YaHei"/>
                <a:cs typeface="Microsoft YaHei"/>
              </a:rPr>
              <a:t>逐笔成交价</a:t>
            </a:r>
          </a:p>
        </p:txBody>
      </p:sp>
      <p:sp>
        <p:nvSpPr>
          <p:cNvPr id="380" name="Node_P4_EN">
            <a:extLst>
              <a:ext uri="{FF2B5EF4-FFF2-40B4-BE49-F238E27FC236}">
                <a16:creationId xmlns:a16="http://schemas.microsoft.com/office/drawing/2014/main" id="{9F24BFAF-D56D-433C-A7D0-32E410B6D5A9}"/>
              </a:ext>
            </a:extLst>
          </p:cNvPr>
          <p:cNvSpPr>
            <a:spLocks noGrp="1"/>
          </p:cNvSpPr>
          <p:nvPr/>
        </p:nvSpPr>
        <p:spPr>
          <a:xfrm>
            <a:off x="6646224" y="4046728"/>
            <a:ext cx="2063750" cy="109728"/>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transaction price</a:t>
            </a:r>
          </a:p>
        </p:txBody>
      </p:sp>
      <p:sp>
        <p:nvSpPr>
          <p:cNvPr id="381" name="Node_P3">
            <a:extLst>
              <a:ext uri="{FF2B5EF4-FFF2-40B4-BE49-F238E27FC236}">
                <a16:creationId xmlns:a16="http://schemas.microsoft.com/office/drawing/2014/main" id="{E26F85E4-0EB9-4146-8A8A-B9DB51C8466E}"/>
              </a:ext>
            </a:extLst>
          </p:cNvPr>
          <p:cNvSpPr>
            <a:spLocks noGrp="1"/>
          </p:cNvSpPr>
          <p:nvPr/>
        </p:nvSpPr>
        <p:spPr>
          <a:xfrm>
            <a:off x="6214424" y="4432300"/>
            <a:ext cx="2571750" cy="406400"/>
          </a:xfrm>
          <a:prstGeom prst="roundRect">
            <a:avLst>
              <a:gd name="adj" fmla="val 15625"/>
            </a:avLst>
          </a:prstGeom>
          <a:solidFill>
            <a:srgbClr val="FFFFFF"/>
          </a:solidFill>
          <a:ln w="10478">
            <a:solidFill>
              <a:srgbClr val="AEBECD"/>
            </a:solidFill>
            <a:prstDash val="solid"/>
          </a:ln>
        </p:spPr>
      </p:sp>
      <p:sp>
        <p:nvSpPr>
          <p:cNvPr id="382" name="Node_P3_Tag">
            <a:extLst>
              <a:ext uri="{FF2B5EF4-FFF2-40B4-BE49-F238E27FC236}">
                <a16:creationId xmlns:a16="http://schemas.microsoft.com/office/drawing/2014/main" id="{BEC371FB-2B01-4347-97E5-45C7EFC4ED69}"/>
              </a:ext>
            </a:extLst>
          </p:cNvPr>
          <p:cNvSpPr>
            <a:spLocks noGrp="1"/>
          </p:cNvSpPr>
          <p:nvPr/>
        </p:nvSpPr>
        <p:spPr>
          <a:xfrm>
            <a:off x="6290624" y="4527550"/>
            <a:ext cx="304800" cy="215900"/>
          </a:xfrm>
          <a:prstGeom prst="roundRect">
            <a:avLst>
              <a:gd name="adj" fmla="val 23529"/>
            </a:avLst>
          </a:prstGeom>
          <a:solidFill>
            <a:srgbClr val="E3EAF2"/>
          </a:solidFill>
          <a:ln w="0">
            <a:solidFill>
              <a:srgbClr val="E3EAF2"/>
            </a:solidFill>
            <a:prstDash val="solid"/>
          </a:ln>
        </p:spPr>
      </p:sp>
      <p:sp>
        <p:nvSpPr>
          <p:cNvPr id="383" name="Node_P3_TagText">
            <a:extLst>
              <a:ext uri="{FF2B5EF4-FFF2-40B4-BE49-F238E27FC236}">
                <a16:creationId xmlns:a16="http://schemas.microsoft.com/office/drawing/2014/main" id="{38435289-813C-4212-99E4-4C7209B7FB9C}"/>
              </a:ext>
            </a:extLst>
          </p:cNvPr>
          <p:cNvSpPr>
            <a:spLocks noGrp="1"/>
          </p:cNvSpPr>
          <p:nvPr/>
        </p:nvSpPr>
        <p:spPr>
          <a:xfrm>
            <a:off x="6290624" y="452755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P3</a:t>
            </a:r>
          </a:p>
        </p:txBody>
      </p:sp>
      <p:sp>
        <p:nvSpPr>
          <p:cNvPr id="384" name="Node_P3_CN">
            <a:extLst>
              <a:ext uri="{FF2B5EF4-FFF2-40B4-BE49-F238E27FC236}">
                <a16:creationId xmlns:a16="http://schemas.microsoft.com/office/drawing/2014/main" id="{CDBF1B7E-C816-4B5C-9219-F7956CD93ABB}"/>
              </a:ext>
            </a:extLst>
          </p:cNvPr>
          <p:cNvSpPr>
            <a:spLocks noGrp="1"/>
          </p:cNvSpPr>
          <p:nvPr/>
        </p:nvSpPr>
        <p:spPr>
          <a:xfrm>
            <a:off x="6646224" y="4476750"/>
            <a:ext cx="2063750" cy="195072"/>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950" b="1">
                <a:solidFill>
                  <a:srgbClr val="111827"/>
                </a:solidFill>
                <a:latin typeface="Microsoft YaHei"/>
                <a:ea typeface="Microsoft YaHei"/>
                <a:cs typeface="Microsoft YaHei"/>
              </a:rPr>
              <a:t>双边协商价</a:t>
            </a:r>
          </a:p>
        </p:txBody>
      </p:sp>
      <p:sp>
        <p:nvSpPr>
          <p:cNvPr id="385" name="Node_P3_EN">
            <a:extLst>
              <a:ext uri="{FF2B5EF4-FFF2-40B4-BE49-F238E27FC236}">
                <a16:creationId xmlns:a16="http://schemas.microsoft.com/office/drawing/2014/main" id="{0E928979-48EC-41AF-BCE0-09095026FEF3}"/>
              </a:ext>
            </a:extLst>
          </p:cNvPr>
          <p:cNvSpPr>
            <a:spLocks noGrp="1"/>
          </p:cNvSpPr>
          <p:nvPr/>
        </p:nvSpPr>
        <p:spPr>
          <a:xfrm>
            <a:off x="6646224" y="4643628"/>
            <a:ext cx="2063750" cy="109728"/>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Nash / MMR</a:t>
            </a:r>
          </a:p>
        </p:txBody>
      </p:sp>
      <p:sp>
        <p:nvSpPr>
          <p:cNvPr id="386" name="Node_P6">
            <a:extLst>
              <a:ext uri="{FF2B5EF4-FFF2-40B4-BE49-F238E27FC236}">
                <a16:creationId xmlns:a16="http://schemas.microsoft.com/office/drawing/2014/main" id="{42EFF18D-83D0-410A-B0A9-DF76D978DE98}"/>
              </a:ext>
            </a:extLst>
          </p:cNvPr>
          <p:cNvSpPr>
            <a:spLocks noGrp="1"/>
          </p:cNvSpPr>
          <p:nvPr/>
        </p:nvSpPr>
        <p:spPr>
          <a:xfrm>
            <a:off x="6214424" y="5029200"/>
            <a:ext cx="2571750" cy="406400"/>
          </a:xfrm>
          <a:prstGeom prst="roundRect">
            <a:avLst>
              <a:gd name="adj" fmla="val 15625"/>
            </a:avLst>
          </a:prstGeom>
          <a:solidFill>
            <a:srgbClr val="FFFFFF"/>
          </a:solidFill>
          <a:ln w="10478">
            <a:solidFill>
              <a:srgbClr val="AEBECD"/>
            </a:solidFill>
            <a:prstDash val="solid"/>
          </a:ln>
        </p:spPr>
      </p:sp>
      <p:sp>
        <p:nvSpPr>
          <p:cNvPr id="387" name="Node_P6_Tag">
            <a:extLst>
              <a:ext uri="{FF2B5EF4-FFF2-40B4-BE49-F238E27FC236}">
                <a16:creationId xmlns:a16="http://schemas.microsoft.com/office/drawing/2014/main" id="{2CCBF3E8-D6DC-4B9D-BA11-4F107D738E04}"/>
              </a:ext>
            </a:extLst>
          </p:cNvPr>
          <p:cNvSpPr>
            <a:spLocks noGrp="1"/>
          </p:cNvSpPr>
          <p:nvPr/>
        </p:nvSpPr>
        <p:spPr>
          <a:xfrm>
            <a:off x="6290624" y="5124450"/>
            <a:ext cx="304800" cy="215900"/>
          </a:xfrm>
          <a:prstGeom prst="roundRect">
            <a:avLst>
              <a:gd name="adj" fmla="val 23529"/>
            </a:avLst>
          </a:prstGeom>
          <a:solidFill>
            <a:srgbClr val="E3EAF2"/>
          </a:solidFill>
          <a:ln w="0">
            <a:solidFill>
              <a:srgbClr val="E3EAF2"/>
            </a:solidFill>
            <a:prstDash val="solid"/>
          </a:ln>
        </p:spPr>
      </p:sp>
      <p:sp>
        <p:nvSpPr>
          <p:cNvPr id="388" name="Node_P6_TagText">
            <a:extLst>
              <a:ext uri="{FF2B5EF4-FFF2-40B4-BE49-F238E27FC236}">
                <a16:creationId xmlns:a16="http://schemas.microsoft.com/office/drawing/2014/main" id="{FBB74CA9-967E-48E3-976A-29825DA89B8B}"/>
              </a:ext>
            </a:extLst>
          </p:cNvPr>
          <p:cNvSpPr>
            <a:spLocks noGrp="1"/>
          </p:cNvSpPr>
          <p:nvPr/>
        </p:nvSpPr>
        <p:spPr>
          <a:xfrm>
            <a:off x="6290624" y="512445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P6</a:t>
            </a:r>
          </a:p>
        </p:txBody>
      </p:sp>
      <p:sp>
        <p:nvSpPr>
          <p:cNvPr id="389" name="Node_P6_CN">
            <a:extLst>
              <a:ext uri="{FF2B5EF4-FFF2-40B4-BE49-F238E27FC236}">
                <a16:creationId xmlns:a16="http://schemas.microsoft.com/office/drawing/2014/main" id="{DCFBC80B-330E-49F3-8707-B5223AE0B884}"/>
              </a:ext>
            </a:extLst>
          </p:cNvPr>
          <p:cNvSpPr>
            <a:spLocks noGrp="1"/>
          </p:cNvSpPr>
          <p:nvPr/>
        </p:nvSpPr>
        <p:spPr>
          <a:xfrm>
            <a:off x="6646224" y="5073650"/>
            <a:ext cx="2063750" cy="195072"/>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950" b="1">
                <a:solidFill>
                  <a:srgbClr val="111827"/>
                </a:solidFill>
                <a:latin typeface="Microsoft YaHei"/>
                <a:ea typeface="Microsoft YaHei"/>
                <a:cs typeface="Microsoft YaHei"/>
              </a:rPr>
              <a:t>固定 / 参考联动价</a:t>
            </a:r>
          </a:p>
        </p:txBody>
      </p:sp>
      <p:sp>
        <p:nvSpPr>
          <p:cNvPr id="390" name="Node_P6_EN">
            <a:extLst>
              <a:ext uri="{FF2B5EF4-FFF2-40B4-BE49-F238E27FC236}">
                <a16:creationId xmlns:a16="http://schemas.microsoft.com/office/drawing/2014/main" id="{916D51AD-5FBE-4A52-84E9-E13C0445B5F4}"/>
              </a:ext>
            </a:extLst>
          </p:cNvPr>
          <p:cNvSpPr>
            <a:spLocks noGrp="1"/>
          </p:cNvSpPr>
          <p:nvPr/>
        </p:nvSpPr>
        <p:spPr>
          <a:xfrm>
            <a:off x="6646224" y="5240528"/>
            <a:ext cx="2063750" cy="109728"/>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system-determined</a:t>
            </a:r>
          </a:p>
        </p:txBody>
      </p:sp>
      <p:sp>
        <p:nvSpPr>
          <p:cNvPr id="391" name="Node_C4">
            <a:extLst>
              <a:ext uri="{FF2B5EF4-FFF2-40B4-BE49-F238E27FC236}">
                <a16:creationId xmlns:a16="http://schemas.microsoft.com/office/drawing/2014/main" id="{4DC65178-234C-42F8-9B37-A152DBD5F80C}"/>
              </a:ext>
            </a:extLst>
          </p:cNvPr>
          <p:cNvSpPr>
            <a:spLocks noGrp="1"/>
          </p:cNvSpPr>
          <p:nvPr/>
        </p:nvSpPr>
        <p:spPr>
          <a:xfrm>
            <a:off x="9167174" y="1968500"/>
            <a:ext cx="2571750" cy="368300"/>
          </a:xfrm>
          <a:prstGeom prst="roundRect">
            <a:avLst>
              <a:gd name="adj" fmla="val 17241"/>
            </a:avLst>
          </a:prstGeom>
          <a:solidFill>
            <a:srgbClr val="FFFFFF"/>
          </a:solidFill>
          <a:ln w="10478">
            <a:solidFill>
              <a:srgbClr val="AEBECD"/>
            </a:solidFill>
            <a:prstDash val="solid"/>
          </a:ln>
        </p:spPr>
      </p:sp>
      <p:sp>
        <p:nvSpPr>
          <p:cNvPr id="392" name="Node_C4_Tag">
            <a:extLst>
              <a:ext uri="{FF2B5EF4-FFF2-40B4-BE49-F238E27FC236}">
                <a16:creationId xmlns:a16="http://schemas.microsoft.com/office/drawing/2014/main" id="{26D25D3C-A1BA-4429-BD13-760D27904386}"/>
              </a:ext>
            </a:extLst>
          </p:cNvPr>
          <p:cNvSpPr>
            <a:spLocks noGrp="1"/>
          </p:cNvSpPr>
          <p:nvPr/>
        </p:nvSpPr>
        <p:spPr>
          <a:xfrm>
            <a:off x="9243374" y="2044700"/>
            <a:ext cx="304800" cy="215900"/>
          </a:xfrm>
          <a:prstGeom prst="roundRect">
            <a:avLst>
              <a:gd name="adj" fmla="val 23529"/>
            </a:avLst>
          </a:prstGeom>
          <a:solidFill>
            <a:srgbClr val="E3EAF2"/>
          </a:solidFill>
          <a:ln w="0">
            <a:solidFill>
              <a:srgbClr val="E3EAF2"/>
            </a:solidFill>
            <a:prstDash val="solid"/>
          </a:ln>
        </p:spPr>
      </p:sp>
      <p:sp>
        <p:nvSpPr>
          <p:cNvPr id="393" name="Node_C4_TagText">
            <a:extLst>
              <a:ext uri="{FF2B5EF4-FFF2-40B4-BE49-F238E27FC236}">
                <a16:creationId xmlns:a16="http://schemas.microsoft.com/office/drawing/2014/main" id="{AE4583B9-9856-4248-B53A-FB6DE147D409}"/>
              </a:ext>
            </a:extLst>
          </p:cNvPr>
          <p:cNvSpPr>
            <a:spLocks noGrp="1"/>
          </p:cNvSpPr>
          <p:nvPr/>
        </p:nvSpPr>
        <p:spPr>
          <a:xfrm>
            <a:off x="9243374" y="204470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C4</a:t>
            </a:r>
          </a:p>
        </p:txBody>
      </p:sp>
      <p:sp>
        <p:nvSpPr>
          <p:cNvPr id="394" name="Node_C4_CN">
            <a:extLst>
              <a:ext uri="{FF2B5EF4-FFF2-40B4-BE49-F238E27FC236}">
                <a16:creationId xmlns:a16="http://schemas.microsoft.com/office/drawing/2014/main" id="{6E8C78BE-8911-47CA-A2AC-1B44CF9720BE}"/>
              </a:ext>
            </a:extLst>
          </p:cNvPr>
          <p:cNvSpPr>
            <a:spLocks noGrp="1"/>
          </p:cNvSpPr>
          <p:nvPr/>
        </p:nvSpPr>
        <p:spPr>
          <a:xfrm>
            <a:off x="9598974" y="2012950"/>
            <a:ext cx="2063750" cy="176784"/>
          </a:xfrm>
          <a:prstGeom prst="rect">
            <a:avLst/>
          </a:prstGeom>
          <a:noFill/>
          <a:ln w="0">
            <a:noFill/>
            <a:prstDash val="solid"/>
          </a:ln>
        </p:spPr>
        <p:txBody>
          <a:bodyPr lIns="0" tIns="0" rIns="0" bIns="0" anchor="ctr">
            <a:noAutofit/>
          </a:bodyPr>
          <a:lstStyle/>
          <a:p>
            <a:pPr algn="ctr">
              <a:lnSpc>
                <a:spcPct val="100000"/>
              </a:lnSpc>
              <a:buNone/>
              <a:defRPr sz="1350" b="1">
                <a:solidFill>
                  <a:srgbClr val="111827"/>
                </a:solidFill>
                <a:latin typeface="Microsoft YaHei"/>
                <a:ea typeface="Microsoft YaHei"/>
                <a:cs typeface="Microsoft YaHei"/>
              </a:defRPr>
            </a:pPr>
            <a:r>
              <a:rPr sz="900" b="1">
                <a:solidFill>
                  <a:srgbClr val="111827"/>
                </a:solidFill>
                <a:latin typeface="Microsoft YaHei"/>
                <a:ea typeface="Microsoft YaHei"/>
                <a:cs typeface="Microsoft YaHei"/>
              </a:rPr>
              <a:t>网络约束联合出清</a:t>
            </a:r>
          </a:p>
        </p:txBody>
      </p:sp>
      <p:sp>
        <p:nvSpPr>
          <p:cNvPr id="395" name="Node_C4_EN">
            <a:extLst>
              <a:ext uri="{FF2B5EF4-FFF2-40B4-BE49-F238E27FC236}">
                <a16:creationId xmlns:a16="http://schemas.microsoft.com/office/drawing/2014/main" id="{096A208A-6539-43B1-9596-601F84FF9741}"/>
              </a:ext>
            </a:extLst>
          </p:cNvPr>
          <p:cNvSpPr>
            <a:spLocks noGrp="1"/>
          </p:cNvSpPr>
          <p:nvPr/>
        </p:nvSpPr>
        <p:spPr>
          <a:xfrm>
            <a:off x="9598974" y="2160016"/>
            <a:ext cx="2063750" cy="99441"/>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OPF clearing</a:t>
            </a:r>
          </a:p>
        </p:txBody>
      </p:sp>
      <p:sp>
        <p:nvSpPr>
          <p:cNvPr id="396" name="Node_C2">
            <a:extLst>
              <a:ext uri="{FF2B5EF4-FFF2-40B4-BE49-F238E27FC236}">
                <a16:creationId xmlns:a16="http://schemas.microsoft.com/office/drawing/2014/main" id="{CB20C693-F14C-4156-A76C-A476C3E2CF1E}"/>
              </a:ext>
            </a:extLst>
          </p:cNvPr>
          <p:cNvSpPr>
            <a:spLocks noGrp="1"/>
          </p:cNvSpPr>
          <p:nvPr/>
        </p:nvSpPr>
        <p:spPr>
          <a:xfrm>
            <a:off x="9167174" y="2451100"/>
            <a:ext cx="2571750" cy="368300"/>
          </a:xfrm>
          <a:prstGeom prst="roundRect">
            <a:avLst>
              <a:gd name="adj" fmla="val 17241"/>
            </a:avLst>
          </a:prstGeom>
          <a:solidFill>
            <a:srgbClr val="FFFFFF"/>
          </a:solidFill>
          <a:ln w="10478">
            <a:solidFill>
              <a:srgbClr val="AEBECD"/>
            </a:solidFill>
            <a:prstDash val="solid"/>
          </a:ln>
        </p:spPr>
      </p:sp>
      <p:sp>
        <p:nvSpPr>
          <p:cNvPr id="397" name="Node_C2_Tag">
            <a:extLst>
              <a:ext uri="{FF2B5EF4-FFF2-40B4-BE49-F238E27FC236}">
                <a16:creationId xmlns:a16="http://schemas.microsoft.com/office/drawing/2014/main" id="{899F5D11-CAE1-408F-8A6C-079553BBCA5F}"/>
              </a:ext>
            </a:extLst>
          </p:cNvPr>
          <p:cNvSpPr>
            <a:spLocks noGrp="1"/>
          </p:cNvSpPr>
          <p:nvPr/>
        </p:nvSpPr>
        <p:spPr>
          <a:xfrm>
            <a:off x="9243374" y="2527300"/>
            <a:ext cx="304800" cy="215900"/>
          </a:xfrm>
          <a:prstGeom prst="roundRect">
            <a:avLst>
              <a:gd name="adj" fmla="val 23529"/>
            </a:avLst>
          </a:prstGeom>
          <a:solidFill>
            <a:srgbClr val="E3EAF2"/>
          </a:solidFill>
          <a:ln w="0">
            <a:solidFill>
              <a:srgbClr val="E3EAF2"/>
            </a:solidFill>
            <a:prstDash val="solid"/>
          </a:ln>
        </p:spPr>
      </p:sp>
      <p:sp>
        <p:nvSpPr>
          <p:cNvPr id="398" name="Node_C2_TagText">
            <a:extLst>
              <a:ext uri="{FF2B5EF4-FFF2-40B4-BE49-F238E27FC236}">
                <a16:creationId xmlns:a16="http://schemas.microsoft.com/office/drawing/2014/main" id="{A2DFB5BD-D90B-4FCB-920B-8BB9D8EF3DD1}"/>
              </a:ext>
            </a:extLst>
          </p:cNvPr>
          <p:cNvSpPr>
            <a:spLocks noGrp="1"/>
          </p:cNvSpPr>
          <p:nvPr/>
        </p:nvSpPr>
        <p:spPr>
          <a:xfrm>
            <a:off x="9243374" y="252730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C2</a:t>
            </a:r>
          </a:p>
        </p:txBody>
      </p:sp>
      <p:sp>
        <p:nvSpPr>
          <p:cNvPr id="399" name="Node_C2_CN">
            <a:extLst>
              <a:ext uri="{FF2B5EF4-FFF2-40B4-BE49-F238E27FC236}">
                <a16:creationId xmlns:a16="http://schemas.microsoft.com/office/drawing/2014/main" id="{C58199A5-B925-4D73-AC2B-AD7944351E3A}"/>
              </a:ext>
            </a:extLst>
          </p:cNvPr>
          <p:cNvSpPr>
            <a:spLocks noGrp="1"/>
          </p:cNvSpPr>
          <p:nvPr/>
        </p:nvSpPr>
        <p:spPr>
          <a:xfrm>
            <a:off x="9598974" y="2495550"/>
            <a:ext cx="2063750" cy="176784"/>
          </a:xfrm>
          <a:prstGeom prst="rect">
            <a:avLst/>
          </a:prstGeom>
          <a:noFill/>
          <a:ln w="0">
            <a:noFill/>
            <a:prstDash val="solid"/>
          </a:ln>
        </p:spPr>
        <p:txBody>
          <a:bodyPr lIns="0" tIns="0" rIns="0" bIns="0" anchor="ctr">
            <a:noAutofit/>
          </a:bodyPr>
          <a:lstStyle/>
          <a:p>
            <a:pPr algn="ctr">
              <a:lnSpc>
                <a:spcPct val="100000"/>
              </a:lnSpc>
              <a:buNone/>
              <a:defRPr sz="1350" b="1">
                <a:solidFill>
                  <a:srgbClr val="111827"/>
                </a:solidFill>
                <a:latin typeface="Microsoft YaHei"/>
                <a:ea typeface="Microsoft YaHei"/>
                <a:cs typeface="Microsoft YaHei"/>
              </a:defRPr>
            </a:pPr>
            <a:r>
              <a:rPr sz="900" b="1">
                <a:solidFill>
                  <a:srgbClr val="111827"/>
                </a:solidFill>
                <a:latin typeface="Microsoft YaHei"/>
                <a:ea typeface="Microsoft YaHei"/>
                <a:cs typeface="Microsoft YaHei"/>
              </a:rPr>
              <a:t>社会福利 / 系统成本优化</a:t>
            </a:r>
          </a:p>
        </p:txBody>
      </p:sp>
      <p:sp>
        <p:nvSpPr>
          <p:cNvPr id="400" name="Node_C2_EN">
            <a:extLst>
              <a:ext uri="{FF2B5EF4-FFF2-40B4-BE49-F238E27FC236}">
                <a16:creationId xmlns:a16="http://schemas.microsoft.com/office/drawing/2014/main" id="{6757A670-B62E-4A4D-B194-0698F37BAAB9}"/>
              </a:ext>
            </a:extLst>
          </p:cNvPr>
          <p:cNvSpPr>
            <a:spLocks noGrp="1"/>
          </p:cNvSpPr>
          <p:nvPr/>
        </p:nvSpPr>
        <p:spPr>
          <a:xfrm>
            <a:off x="9598974" y="2642616"/>
            <a:ext cx="2063750" cy="99441"/>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central optimisation</a:t>
            </a:r>
          </a:p>
        </p:txBody>
      </p:sp>
      <p:sp>
        <p:nvSpPr>
          <p:cNvPr id="401" name="Node_C1">
            <a:extLst>
              <a:ext uri="{FF2B5EF4-FFF2-40B4-BE49-F238E27FC236}">
                <a16:creationId xmlns:a16="http://schemas.microsoft.com/office/drawing/2014/main" id="{53EDC99B-4804-46B7-A52E-3B58BBEB811D}"/>
              </a:ext>
            </a:extLst>
          </p:cNvPr>
          <p:cNvSpPr>
            <a:spLocks noGrp="1"/>
          </p:cNvSpPr>
          <p:nvPr/>
        </p:nvSpPr>
        <p:spPr>
          <a:xfrm>
            <a:off x="9167174" y="2933700"/>
            <a:ext cx="2571750" cy="368300"/>
          </a:xfrm>
          <a:prstGeom prst="roundRect">
            <a:avLst>
              <a:gd name="adj" fmla="val 17241"/>
            </a:avLst>
          </a:prstGeom>
          <a:solidFill>
            <a:srgbClr val="FFFFFF"/>
          </a:solidFill>
          <a:ln w="10478">
            <a:solidFill>
              <a:srgbClr val="AEBECD"/>
            </a:solidFill>
            <a:prstDash val="solid"/>
          </a:ln>
        </p:spPr>
      </p:sp>
      <p:sp>
        <p:nvSpPr>
          <p:cNvPr id="402" name="Node_C1_Tag">
            <a:extLst>
              <a:ext uri="{FF2B5EF4-FFF2-40B4-BE49-F238E27FC236}">
                <a16:creationId xmlns:a16="http://schemas.microsoft.com/office/drawing/2014/main" id="{C7CFC19D-40CD-42A7-90D0-511D6C93412A}"/>
              </a:ext>
            </a:extLst>
          </p:cNvPr>
          <p:cNvSpPr>
            <a:spLocks noGrp="1"/>
          </p:cNvSpPr>
          <p:nvPr/>
        </p:nvSpPr>
        <p:spPr>
          <a:xfrm>
            <a:off x="9243374" y="3009900"/>
            <a:ext cx="304800" cy="215900"/>
          </a:xfrm>
          <a:prstGeom prst="roundRect">
            <a:avLst>
              <a:gd name="adj" fmla="val 23529"/>
            </a:avLst>
          </a:prstGeom>
          <a:solidFill>
            <a:srgbClr val="E3EAF2"/>
          </a:solidFill>
          <a:ln w="0">
            <a:solidFill>
              <a:srgbClr val="E3EAF2"/>
            </a:solidFill>
            <a:prstDash val="solid"/>
          </a:ln>
        </p:spPr>
      </p:sp>
      <p:sp>
        <p:nvSpPr>
          <p:cNvPr id="403" name="Node_C1_TagText">
            <a:extLst>
              <a:ext uri="{FF2B5EF4-FFF2-40B4-BE49-F238E27FC236}">
                <a16:creationId xmlns:a16="http://schemas.microsoft.com/office/drawing/2014/main" id="{53F37075-E596-49A0-9790-32DE4EC7A360}"/>
              </a:ext>
            </a:extLst>
          </p:cNvPr>
          <p:cNvSpPr>
            <a:spLocks noGrp="1"/>
          </p:cNvSpPr>
          <p:nvPr/>
        </p:nvSpPr>
        <p:spPr>
          <a:xfrm>
            <a:off x="9243374" y="300990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C1</a:t>
            </a:r>
          </a:p>
        </p:txBody>
      </p:sp>
      <p:sp>
        <p:nvSpPr>
          <p:cNvPr id="404" name="Node_C1_CN">
            <a:extLst>
              <a:ext uri="{FF2B5EF4-FFF2-40B4-BE49-F238E27FC236}">
                <a16:creationId xmlns:a16="http://schemas.microsoft.com/office/drawing/2014/main" id="{FEE57B3E-E99B-4664-B1AA-9D7B5D2093F5}"/>
              </a:ext>
            </a:extLst>
          </p:cNvPr>
          <p:cNvSpPr>
            <a:spLocks noGrp="1"/>
          </p:cNvSpPr>
          <p:nvPr/>
        </p:nvSpPr>
        <p:spPr>
          <a:xfrm>
            <a:off x="9598974" y="2978150"/>
            <a:ext cx="2063750" cy="176784"/>
          </a:xfrm>
          <a:prstGeom prst="rect">
            <a:avLst/>
          </a:prstGeom>
          <a:noFill/>
          <a:ln w="0">
            <a:noFill/>
            <a:prstDash val="solid"/>
          </a:ln>
        </p:spPr>
        <p:txBody>
          <a:bodyPr lIns="0" tIns="0" rIns="0" bIns="0" anchor="ctr">
            <a:noAutofit/>
          </a:bodyPr>
          <a:lstStyle/>
          <a:p>
            <a:pPr algn="ctr">
              <a:lnSpc>
                <a:spcPct val="100000"/>
              </a:lnSpc>
              <a:buNone/>
              <a:defRPr sz="1350" b="1">
                <a:solidFill>
                  <a:srgbClr val="111827"/>
                </a:solidFill>
                <a:latin typeface="Microsoft YaHei"/>
                <a:ea typeface="Microsoft YaHei"/>
                <a:cs typeface="Microsoft YaHei"/>
              </a:defRPr>
            </a:pPr>
            <a:r>
              <a:rPr sz="900" b="1">
                <a:solidFill>
                  <a:srgbClr val="111827"/>
                </a:solidFill>
                <a:latin typeface="Microsoft YaHei"/>
                <a:ea typeface="Microsoft YaHei"/>
                <a:cs typeface="Microsoft YaHei"/>
              </a:rPr>
              <a:t>报价排序 / 供需交叉</a:t>
            </a:r>
          </a:p>
        </p:txBody>
      </p:sp>
      <p:sp>
        <p:nvSpPr>
          <p:cNvPr id="405" name="Node_C1_EN">
            <a:extLst>
              <a:ext uri="{FF2B5EF4-FFF2-40B4-BE49-F238E27FC236}">
                <a16:creationId xmlns:a16="http://schemas.microsoft.com/office/drawing/2014/main" id="{C9C73F4C-5A5C-43FC-B90F-E3D29D2B782D}"/>
              </a:ext>
            </a:extLst>
          </p:cNvPr>
          <p:cNvSpPr>
            <a:spLocks noGrp="1"/>
          </p:cNvSpPr>
          <p:nvPr/>
        </p:nvSpPr>
        <p:spPr>
          <a:xfrm>
            <a:off x="9598974" y="3125216"/>
            <a:ext cx="2063750" cy="99441"/>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auction crossing</a:t>
            </a:r>
          </a:p>
        </p:txBody>
      </p:sp>
      <p:sp>
        <p:nvSpPr>
          <p:cNvPr id="406" name="Node_C3">
            <a:extLst>
              <a:ext uri="{FF2B5EF4-FFF2-40B4-BE49-F238E27FC236}">
                <a16:creationId xmlns:a16="http://schemas.microsoft.com/office/drawing/2014/main" id="{544651F0-88C2-40AE-910B-58AF08C1F2D4}"/>
              </a:ext>
            </a:extLst>
          </p:cNvPr>
          <p:cNvSpPr>
            <a:spLocks noGrp="1"/>
          </p:cNvSpPr>
          <p:nvPr/>
        </p:nvSpPr>
        <p:spPr>
          <a:xfrm>
            <a:off x="9167174" y="3416300"/>
            <a:ext cx="2571750" cy="368300"/>
          </a:xfrm>
          <a:prstGeom prst="roundRect">
            <a:avLst>
              <a:gd name="adj" fmla="val 17241"/>
            </a:avLst>
          </a:prstGeom>
          <a:solidFill>
            <a:srgbClr val="FFFFFF"/>
          </a:solidFill>
          <a:ln w="10478">
            <a:solidFill>
              <a:srgbClr val="AEBECD"/>
            </a:solidFill>
            <a:prstDash val="solid"/>
          </a:ln>
        </p:spPr>
      </p:sp>
      <p:sp>
        <p:nvSpPr>
          <p:cNvPr id="407" name="Node_C3_Tag">
            <a:extLst>
              <a:ext uri="{FF2B5EF4-FFF2-40B4-BE49-F238E27FC236}">
                <a16:creationId xmlns:a16="http://schemas.microsoft.com/office/drawing/2014/main" id="{C7482416-37B7-47C3-8189-777FF9B75D5D}"/>
              </a:ext>
            </a:extLst>
          </p:cNvPr>
          <p:cNvSpPr>
            <a:spLocks noGrp="1"/>
          </p:cNvSpPr>
          <p:nvPr/>
        </p:nvSpPr>
        <p:spPr>
          <a:xfrm>
            <a:off x="9243374" y="3492500"/>
            <a:ext cx="304800" cy="215900"/>
          </a:xfrm>
          <a:prstGeom prst="roundRect">
            <a:avLst>
              <a:gd name="adj" fmla="val 23529"/>
            </a:avLst>
          </a:prstGeom>
          <a:solidFill>
            <a:srgbClr val="E3EAF2"/>
          </a:solidFill>
          <a:ln w="0">
            <a:solidFill>
              <a:srgbClr val="E3EAF2"/>
            </a:solidFill>
            <a:prstDash val="solid"/>
          </a:ln>
        </p:spPr>
      </p:sp>
      <p:sp>
        <p:nvSpPr>
          <p:cNvPr id="408" name="Node_C3_TagText">
            <a:extLst>
              <a:ext uri="{FF2B5EF4-FFF2-40B4-BE49-F238E27FC236}">
                <a16:creationId xmlns:a16="http://schemas.microsoft.com/office/drawing/2014/main" id="{23EB39D1-5DE0-4B12-854A-5175D80603E3}"/>
              </a:ext>
            </a:extLst>
          </p:cNvPr>
          <p:cNvSpPr>
            <a:spLocks noGrp="1"/>
          </p:cNvSpPr>
          <p:nvPr/>
        </p:nvSpPr>
        <p:spPr>
          <a:xfrm>
            <a:off x="9243374" y="349250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C3</a:t>
            </a:r>
          </a:p>
        </p:txBody>
      </p:sp>
      <p:sp>
        <p:nvSpPr>
          <p:cNvPr id="409" name="Node_C3_CN">
            <a:extLst>
              <a:ext uri="{FF2B5EF4-FFF2-40B4-BE49-F238E27FC236}">
                <a16:creationId xmlns:a16="http://schemas.microsoft.com/office/drawing/2014/main" id="{E3562ED8-E83F-470B-AEA8-DD9A435601FB}"/>
              </a:ext>
            </a:extLst>
          </p:cNvPr>
          <p:cNvSpPr>
            <a:spLocks noGrp="1"/>
          </p:cNvSpPr>
          <p:nvPr/>
        </p:nvSpPr>
        <p:spPr>
          <a:xfrm>
            <a:off x="9598974" y="3460750"/>
            <a:ext cx="2063750" cy="176784"/>
          </a:xfrm>
          <a:prstGeom prst="rect">
            <a:avLst/>
          </a:prstGeom>
          <a:noFill/>
          <a:ln w="0">
            <a:noFill/>
            <a:prstDash val="solid"/>
          </a:ln>
        </p:spPr>
        <p:txBody>
          <a:bodyPr lIns="0" tIns="0" rIns="0" bIns="0" anchor="ctr">
            <a:noAutofit/>
          </a:bodyPr>
          <a:lstStyle/>
          <a:p>
            <a:pPr algn="ctr">
              <a:lnSpc>
                <a:spcPct val="100000"/>
              </a:lnSpc>
              <a:buNone/>
              <a:defRPr sz="1350" b="1">
                <a:solidFill>
                  <a:srgbClr val="111827"/>
                </a:solidFill>
                <a:latin typeface="Microsoft YaHei"/>
                <a:ea typeface="Microsoft YaHei"/>
                <a:cs typeface="Microsoft YaHei"/>
              </a:defRPr>
            </a:pPr>
            <a:r>
              <a:rPr sz="900" b="1">
                <a:solidFill>
                  <a:srgbClr val="111827"/>
                </a:solidFill>
                <a:latin typeface="Microsoft YaHei"/>
                <a:ea typeface="Microsoft YaHei"/>
                <a:cs typeface="Microsoft YaHei"/>
              </a:rPr>
              <a:t>DSO采购成本最小</a:t>
            </a:r>
          </a:p>
        </p:txBody>
      </p:sp>
      <p:sp>
        <p:nvSpPr>
          <p:cNvPr id="410" name="Node_C3_EN">
            <a:extLst>
              <a:ext uri="{FF2B5EF4-FFF2-40B4-BE49-F238E27FC236}">
                <a16:creationId xmlns:a16="http://schemas.microsoft.com/office/drawing/2014/main" id="{59DF4AA3-2858-4407-A4A7-FC2DC46FAF76}"/>
              </a:ext>
            </a:extLst>
          </p:cNvPr>
          <p:cNvSpPr>
            <a:spLocks noGrp="1"/>
          </p:cNvSpPr>
          <p:nvPr/>
        </p:nvSpPr>
        <p:spPr>
          <a:xfrm>
            <a:off x="9598974" y="3607816"/>
            <a:ext cx="2063750" cy="99441"/>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procurement clearing</a:t>
            </a:r>
          </a:p>
        </p:txBody>
      </p:sp>
      <p:sp>
        <p:nvSpPr>
          <p:cNvPr id="411" name="Node_C6">
            <a:extLst>
              <a:ext uri="{FF2B5EF4-FFF2-40B4-BE49-F238E27FC236}">
                <a16:creationId xmlns:a16="http://schemas.microsoft.com/office/drawing/2014/main" id="{CBD9AA92-D6F7-4F75-9F8B-3DB634C08030}"/>
              </a:ext>
            </a:extLst>
          </p:cNvPr>
          <p:cNvSpPr>
            <a:spLocks noGrp="1"/>
          </p:cNvSpPr>
          <p:nvPr/>
        </p:nvSpPr>
        <p:spPr>
          <a:xfrm>
            <a:off x="9167174" y="3898900"/>
            <a:ext cx="2571750" cy="368300"/>
          </a:xfrm>
          <a:prstGeom prst="roundRect">
            <a:avLst>
              <a:gd name="adj" fmla="val 17241"/>
            </a:avLst>
          </a:prstGeom>
          <a:solidFill>
            <a:srgbClr val="FFFFFF"/>
          </a:solidFill>
          <a:ln w="10478">
            <a:solidFill>
              <a:srgbClr val="AEBECD"/>
            </a:solidFill>
            <a:prstDash val="solid"/>
          </a:ln>
        </p:spPr>
      </p:sp>
      <p:sp>
        <p:nvSpPr>
          <p:cNvPr id="412" name="Node_C6_Tag">
            <a:extLst>
              <a:ext uri="{FF2B5EF4-FFF2-40B4-BE49-F238E27FC236}">
                <a16:creationId xmlns:a16="http://schemas.microsoft.com/office/drawing/2014/main" id="{3E3A991E-7B25-4778-9525-895D3056CDAA}"/>
              </a:ext>
            </a:extLst>
          </p:cNvPr>
          <p:cNvSpPr>
            <a:spLocks noGrp="1"/>
          </p:cNvSpPr>
          <p:nvPr/>
        </p:nvSpPr>
        <p:spPr>
          <a:xfrm>
            <a:off x="9243374" y="3975100"/>
            <a:ext cx="304800" cy="215900"/>
          </a:xfrm>
          <a:prstGeom prst="roundRect">
            <a:avLst>
              <a:gd name="adj" fmla="val 23529"/>
            </a:avLst>
          </a:prstGeom>
          <a:solidFill>
            <a:srgbClr val="E3EAF2"/>
          </a:solidFill>
          <a:ln w="0">
            <a:solidFill>
              <a:srgbClr val="E3EAF2"/>
            </a:solidFill>
            <a:prstDash val="solid"/>
          </a:ln>
        </p:spPr>
      </p:sp>
      <p:sp>
        <p:nvSpPr>
          <p:cNvPr id="413" name="Node_C6_TagText">
            <a:extLst>
              <a:ext uri="{FF2B5EF4-FFF2-40B4-BE49-F238E27FC236}">
                <a16:creationId xmlns:a16="http://schemas.microsoft.com/office/drawing/2014/main" id="{065F2E6F-5B68-495A-AA0E-0EEACA5E6640}"/>
              </a:ext>
            </a:extLst>
          </p:cNvPr>
          <p:cNvSpPr>
            <a:spLocks noGrp="1"/>
          </p:cNvSpPr>
          <p:nvPr/>
        </p:nvSpPr>
        <p:spPr>
          <a:xfrm>
            <a:off x="9243374" y="397510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C6</a:t>
            </a:r>
          </a:p>
        </p:txBody>
      </p:sp>
      <p:sp>
        <p:nvSpPr>
          <p:cNvPr id="414" name="Node_C6_CN">
            <a:extLst>
              <a:ext uri="{FF2B5EF4-FFF2-40B4-BE49-F238E27FC236}">
                <a16:creationId xmlns:a16="http://schemas.microsoft.com/office/drawing/2014/main" id="{F31B16DB-2674-4879-9B6B-A8C14C673877}"/>
              </a:ext>
            </a:extLst>
          </p:cNvPr>
          <p:cNvSpPr>
            <a:spLocks noGrp="1"/>
          </p:cNvSpPr>
          <p:nvPr/>
        </p:nvSpPr>
        <p:spPr>
          <a:xfrm>
            <a:off x="9598974" y="3943350"/>
            <a:ext cx="2063750" cy="176784"/>
          </a:xfrm>
          <a:prstGeom prst="rect">
            <a:avLst/>
          </a:prstGeom>
          <a:noFill/>
          <a:ln w="0">
            <a:noFill/>
            <a:prstDash val="solid"/>
          </a:ln>
        </p:spPr>
        <p:txBody>
          <a:bodyPr lIns="0" tIns="0" rIns="0" bIns="0" anchor="ctr">
            <a:noAutofit/>
          </a:bodyPr>
          <a:lstStyle/>
          <a:p>
            <a:pPr algn="ctr">
              <a:lnSpc>
                <a:spcPct val="100000"/>
              </a:lnSpc>
              <a:buNone/>
              <a:defRPr sz="1350" b="1">
                <a:solidFill>
                  <a:srgbClr val="111827"/>
                </a:solidFill>
                <a:latin typeface="Microsoft YaHei"/>
                <a:ea typeface="Microsoft YaHei"/>
                <a:cs typeface="Microsoft YaHei"/>
              </a:defRPr>
            </a:pPr>
            <a:r>
              <a:rPr sz="900" b="1">
                <a:solidFill>
                  <a:srgbClr val="111827"/>
                </a:solidFill>
                <a:latin typeface="Microsoft YaHei"/>
                <a:ea typeface="Microsoft YaHei"/>
                <a:cs typeface="Microsoft YaHei"/>
              </a:rPr>
              <a:t>连续订单逐笔出清</a:t>
            </a:r>
          </a:p>
        </p:txBody>
      </p:sp>
      <p:sp>
        <p:nvSpPr>
          <p:cNvPr id="415" name="Node_C6_EN">
            <a:extLst>
              <a:ext uri="{FF2B5EF4-FFF2-40B4-BE49-F238E27FC236}">
                <a16:creationId xmlns:a16="http://schemas.microsoft.com/office/drawing/2014/main" id="{B5034DEC-F9AE-42D2-AB5A-D1365184844C}"/>
              </a:ext>
            </a:extLst>
          </p:cNvPr>
          <p:cNvSpPr>
            <a:spLocks noGrp="1"/>
          </p:cNvSpPr>
          <p:nvPr/>
        </p:nvSpPr>
        <p:spPr>
          <a:xfrm>
            <a:off x="9598974" y="4090416"/>
            <a:ext cx="2063750" cy="99441"/>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continuous clearing</a:t>
            </a:r>
          </a:p>
        </p:txBody>
      </p:sp>
      <p:sp>
        <p:nvSpPr>
          <p:cNvPr id="416" name="Node_C5">
            <a:extLst>
              <a:ext uri="{FF2B5EF4-FFF2-40B4-BE49-F238E27FC236}">
                <a16:creationId xmlns:a16="http://schemas.microsoft.com/office/drawing/2014/main" id="{94602E56-3E8B-4341-B69F-5BB806C6F49A}"/>
              </a:ext>
            </a:extLst>
          </p:cNvPr>
          <p:cNvSpPr>
            <a:spLocks noGrp="1"/>
          </p:cNvSpPr>
          <p:nvPr/>
        </p:nvSpPr>
        <p:spPr>
          <a:xfrm>
            <a:off x="9167174" y="4381500"/>
            <a:ext cx="2571750" cy="368300"/>
          </a:xfrm>
          <a:prstGeom prst="roundRect">
            <a:avLst>
              <a:gd name="adj" fmla="val 17241"/>
            </a:avLst>
          </a:prstGeom>
          <a:solidFill>
            <a:srgbClr val="FFFFFF"/>
          </a:solidFill>
          <a:ln w="10478">
            <a:solidFill>
              <a:srgbClr val="AEBECD"/>
            </a:solidFill>
            <a:prstDash val="solid"/>
          </a:ln>
        </p:spPr>
      </p:sp>
      <p:sp>
        <p:nvSpPr>
          <p:cNvPr id="417" name="Node_C5_Tag">
            <a:extLst>
              <a:ext uri="{FF2B5EF4-FFF2-40B4-BE49-F238E27FC236}">
                <a16:creationId xmlns:a16="http://schemas.microsoft.com/office/drawing/2014/main" id="{7DA33B88-2734-4778-94AB-FEB4DF1F5356}"/>
              </a:ext>
            </a:extLst>
          </p:cNvPr>
          <p:cNvSpPr>
            <a:spLocks noGrp="1"/>
          </p:cNvSpPr>
          <p:nvPr/>
        </p:nvSpPr>
        <p:spPr>
          <a:xfrm>
            <a:off x="9243374" y="4457700"/>
            <a:ext cx="304800" cy="215900"/>
          </a:xfrm>
          <a:prstGeom prst="roundRect">
            <a:avLst>
              <a:gd name="adj" fmla="val 23529"/>
            </a:avLst>
          </a:prstGeom>
          <a:solidFill>
            <a:srgbClr val="E3EAF2"/>
          </a:solidFill>
          <a:ln w="0">
            <a:solidFill>
              <a:srgbClr val="E3EAF2"/>
            </a:solidFill>
            <a:prstDash val="solid"/>
          </a:ln>
        </p:spPr>
      </p:sp>
      <p:sp>
        <p:nvSpPr>
          <p:cNvPr id="418" name="Node_C5_TagText">
            <a:extLst>
              <a:ext uri="{FF2B5EF4-FFF2-40B4-BE49-F238E27FC236}">
                <a16:creationId xmlns:a16="http://schemas.microsoft.com/office/drawing/2014/main" id="{0DA599A5-D3DF-46D6-B5BE-D1327603A1F4}"/>
              </a:ext>
            </a:extLst>
          </p:cNvPr>
          <p:cNvSpPr>
            <a:spLocks noGrp="1"/>
          </p:cNvSpPr>
          <p:nvPr/>
        </p:nvSpPr>
        <p:spPr>
          <a:xfrm>
            <a:off x="9243374" y="445770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C5</a:t>
            </a:r>
          </a:p>
        </p:txBody>
      </p:sp>
      <p:sp>
        <p:nvSpPr>
          <p:cNvPr id="419" name="Node_C5_CN">
            <a:extLst>
              <a:ext uri="{FF2B5EF4-FFF2-40B4-BE49-F238E27FC236}">
                <a16:creationId xmlns:a16="http://schemas.microsoft.com/office/drawing/2014/main" id="{2C01499E-7174-4704-A665-5D87999A6111}"/>
              </a:ext>
            </a:extLst>
          </p:cNvPr>
          <p:cNvSpPr>
            <a:spLocks noGrp="1"/>
          </p:cNvSpPr>
          <p:nvPr/>
        </p:nvSpPr>
        <p:spPr>
          <a:xfrm>
            <a:off x="9598974" y="4425950"/>
            <a:ext cx="2063750" cy="176784"/>
          </a:xfrm>
          <a:prstGeom prst="rect">
            <a:avLst/>
          </a:prstGeom>
          <a:noFill/>
          <a:ln w="0">
            <a:noFill/>
            <a:prstDash val="solid"/>
          </a:ln>
        </p:spPr>
        <p:txBody>
          <a:bodyPr lIns="0" tIns="0" rIns="0" bIns="0" anchor="ctr">
            <a:noAutofit/>
          </a:bodyPr>
          <a:lstStyle/>
          <a:p>
            <a:pPr algn="ctr">
              <a:lnSpc>
                <a:spcPct val="100000"/>
              </a:lnSpc>
              <a:buNone/>
              <a:defRPr sz="1350" b="1">
                <a:solidFill>
                  <a:srgbClr val="111827"/>
                </a:solidFill>
                <a:latin typeface="Microsoft YaHei"/>
                <a:ea typeface="Microsoft YaHei"/>
                <a:cs typeface="Microsoft YaHei"/>
              </a:defRPr>
            </a:pPr>
            <a:r>
              <a:rPr sz="900" b="1">
                <a:solidFill>
                  <a:srgbClr val="111827"/>
                </a:solidFill>
                <a:latin typeface="Microsoft YaHei"/>
                <a:ea typeface="Microsoft YaHei"/>
                <a:cs typeface="Microsoft YaHei"/>
              </a:rPr>
              <a:t>双边匹配 / 协商分配</a:t>
            </a:r>
          </a:p>
        </p:txBody>
      </p:sp>
      <p:sp>
        <p:nvSpPr>
          <p:cNvPr id="420" name="Node_C5_EN">
            <a:extLst>
              <a:ext uri="{FF2B5EF4-FFF2-40B4-BE49-F238E27FC236}">
                <a16:creationId xmlns:a16="http://schemas.microsoft.com/office/drawing/2014/main" id="{8FF1BF16-62B4-4409-9E2E-241FD9C30042}"/>
              </a:ext>
            </a:extLst>
          </p:cNvPr>
          <p:cNvSpPr>
            <a:spLocks noGrp="1"/>
          </p:cNvSpPr>
          <p:nvPr/>
        </p:nvSpPr>
        <p:spPr>
          <a:xfrm>
            <a:off x="9598974" y="4573016"/>
            <a:ext cx="2063750" cy="99441"/>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bilateral allocation</a:t>
            </a:r>
          </a:p>
        </p:txBody>
      </p:sp>
      <p:sp>
        <p:nvSpPr>
          <p:cNvPr id="421" name="Node_C7">
            <a:extLst>
              <a:ext uri="{FF2B5EF4-FFF2-40B4-BE49-F238E27FC236}">
                <a16:creationId xmlns:a16="http://schemas.microsoft.com/office/drawing/2014/main" id="{7592AEA1-DBC0-44DF-90D4-62D2733471B0}"/>
              </a:ext>
            </a:extLst>
          </p:cNvPr>
          <p:cNvSpPr>
            <a:spLocks noGrp="1"/>
          </p:cNvSpPr>
          <p:nvPr/>
        </p:nvSpPr>
        <p:spPr>
          <a:xfrm>
            <a:off x="9167174" y="4864100"/>
            <a:ext cx="2571750" cy="368300"/>
          </a:xfrm>
          <a:prstGeom prst="roundRect">
            <a:avLst>
              <a:gd name="adj" fmla="val 17241"/>
            </a:avLst>
          </a:prstGeom>
          <a:solidFill>
            <a:srgbClr val="FFFFFF"/>
          </a:solidFill>
          <a:ln w="10478">
            <a:solidFill>
              <a:srgbClr val="AEBECD"/>
            </a:solidFill>
            <a:prstDash val="solid"/>
          </a:ln>
        </p:spPr>
      </p:sp>
      <p:sp>
        <p:nvSpPr>
          <p:cNvPr id="422" name="Node_C7_Tag">
            <a:extLst>
              <a:ext uri="{FF2B5EF4-FFF2-40B4-BE49-F238E27FC236}">
                <a16:creationId xmlns:a16="http://schemas.microsoft.com/office/drawing/2014/main" id="{AC2EB011-745C-47AB-B221-1816E8FD031C}"/>
              </a:ext>
            </a:extLst>
          </p:cNvPr>
          <p:cNvSpPr>
            <a:spLocks noGrp="1"/>
          </p:cNvSpPr>
          <p:nvPr/>
        </p:nvSpPr>
        <p:spPr>
          <a:xfrm>
            <a:off x="9243374" y="4940300"/>
            <a:ext cx="304800" cy="215900"/>
          </a:xfrm>
          <a:prstGeom prst="roundRect">
            <a:avLst>
              <a:gd name="adj" fmla="val 23529"/>
            </a:avLst>
          </a:prstGeom>
          <a:solidFill>
            <a:srgbClr val="E3EAF2"/>
          </a:solidFill>
          <a:ln w="0">
            <a:solidFill>
              <a:srgbClr val="E3EAF2"/>
            </a:solidFill>
            <a:prstDash val="solid"/>
          </a:ln>
        </p:spPr>
      </p:sp>
      <p:sp>
        <p:nvSpPr>
          <p:cNvPr id="423" name="Node_C7_TagText">
            <a:extLst>
              <a:ext uri="{FF2B5EF4-FFF2-40B4-BE49-F238E27FC236}">
                <a16:creationId xmlns:a16="http://schemas.microsoft.com/office/drawing/2014/main" id="{41769934-2AD6-4DE5-A3F0-ADABDA1A502F}"/>
              </a:ext>
            </a:extLst>
          </p:cNvPr>
          <p:cNvSpPr>
            <a:spLocks noGrp="1"/>
          </p:cNvSpPr>
          <p:nvPr/>
        </p:nvSpPr>
        <p:spPr>
          <a:xfrm>
            <a:off x="9243374" y="494030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C7</a:t>
            </a:r>
          </a:p>
        </p:txBody>
      </p:sp>
      <p:sp>
        <p:nvSpPr>
          <p:cNvPr id="424" name="Node_C7_CN">
            <a:extLst>
              <a:ext uri="{FF2B5EF4-FFF2-40B4-BE49-F238E27FC236}">
                <a16:creationId xmlns:a16="http://schemas.microsoft.com/office/drawing/2014/main" id="{7ACB4788-6698-4893-B638-140876EE49E4}"/>
              </a:ext>
            </a:extLst>
          </p:cNvPr>
          <p:cNvSpPr>
            <a:spLocks noGrp="1"/>
          </p:cNvSpPr>
          <p:nvPr/>
        </p:nvSpPr>
        <p:spPr>
          <a:xfrm>
            <a:off x="9598974" y="4908550"/>
            <a:ext cx="2063750" cy="176784"/>
          </a:xfrm>
          <a:prstGeom prst="rect">
            <a:avLst/>
          </a:prstGeom>
          <a:noFill/>
          <a:ln w="0">
            <a:noFill/>
            <a:prstDash val="solid"/>
          </a:ln>
        </p:spPr>
        <p:txBody>
          <a:bodyPr lIns="0" tIns="0" rIns="0" bIns="0" anchor="ctr">
            <a:noAutofit/>
          </a:bodyPr>
          <a:lstStyle/>
          <a:p>
            <a:pPr algn="ctr">
              <a:lnSpc>
                <a:spcPct val="100000"/>
              </a:lnSpc>
              <a:buNone/>
              <a:defRPr sz="1350" b="1">
                <a:solidFill>
                  <a:srgbClr val="111827"/>
                </a:solidFill>
                <a:latin typeface="Microsoft YaHei"/>
                <a:ea typeface="Microsoft YaHei"/>
                <a:cs typeface="Microsoft YaHei"/>
              </a:defRPr>
            </a:pPr>
            <a:r>
              <a:rPr sz="900" b="1">
                <a:solidFill>
                  <a:srgbClr val="111827"/>
                </a:solidFill>
                <a:latin typeface="Microsoft YaHei"/>
                <a:ea typeface="Microsoft YaHei"/>
                <a:cs typeface="Microsoft YaHei"/>
              </a:rPr>
              <a:t>分层 / 两阶段出清</a:t>
            </a:r>
          </a:p>
        </p:txBody>
      </p:sp>
      <p:sp>
        <p:nvSpPr>
          <p:cNvPr id="425" name="Node_C7_EN">
            <a:extLst>
              <a:ext uri="{FF2B5EF4-FFF2-40B4-BE49-F238E27FC236}">
                <a16:creationId xmlns:a16="http://schemas.microsoft.com/office/drawing/2014/main" id="{F2AE87A3-38E5-422C-AD0B-6EF648093B8E}"/>
              </a:ext>
            </a:extLst>
          </p:cNvPr>
          <p:cNvSpPr>
            <a:spLocks noGrp="1"/>
          </p:cNvSpPr>
          <p:nvPr/>
        </p:nvSpPr>
        <p:spPr>
          <a:xfrm>
            <a:off x="9598974" y="5055616"/>
            <a:ext cx="2063750" cy="99441"/>
          </a:xfrm>
          <a:prstGeom prst="rect">
            <a:avLst/>
          </a:prstGeom>
          <a:noFill/>
          <a:ln w="0">
            <a:noFill/>
            <a:prstDash val="solid"/>
          </a:ln>
        </p:spPr>
        <p:txBody>
          <a:bodyPr lIns="0" tIns="0" rIns="0" bIns="0" anchor="ctr">
            <a:noAutofit/>
          </a:bodyPr>
          <a:lstStyle/>
          <a:p>
            <a:pPr algn="ctr">
              <a:lnSpc>
                <a:spcPct val="100000"/>
              </a:lnSpc>
              <a:buNone/>
              <a:defRPr sz="863" b="0">
                <a:solidFill>
                  <a:srgbClr val="5F6F82"/>
                </a:solidFill>
                <a:latin typeface="Arial"/>
                <a:ea typeface="Arial"/>
                <a:cs typeface="Arial"/>
              </a:defRPr>
            </a:pPr>
            <a:r>
              <a:rPr sz="575">
                <a:solidFill>
                  <a:srgbClr val="5F6F82"/>
                </a:solidFill>
                <a:latin typeface="Arial"/>
                <a:ea typeface="Arial"/>
                <a:cs typeface="Arial"/>
              </a:rPr>
              <a:t>hierarchical clearing</a:t>
            </a:r>
          </a:p>
        </p:txBody>
      </p:sp>
      <p:sp>
        <p:nvSpPr>
          <p:cNvPr id="426" name="Node_C8">
            <a:extLst>
              <a:ext uri="{FF2B5EF4-FFF2-40B4-BE49-F238E27FC236}">
                <a16:creationId xmlns:a16="http://schemas.microsoft.com/office/drawing/2014/main" id="{FD5DAE3C-4429-4434-905C-51D0BC46C1D4}"/>
              </a:ext>
            </a:extLst>
          </p:cNvPr>
          <p:cNvSpPr>
            <a:spLocks noGrp="1"/>
          </p:cNvSpPr>
          <p:nvPr/>
        </p:nvSpPr>
        <p:spPr>
          <a:xfrm>
            <a:off x="9167174" y="5359400"/>
            <a:ext cx="2571750" cy="368300"/>
          </a:xfrm>
          <a:prstGeom prst="roundRect">
            <a:avLst>
              <a:gd name="adj" fmla="val 17241"/>
            </a:avLst>
          </a:prstGeom>
          <a:solidFill>
            <a:srgbClr val="FFFFFF"/>
          </a:solidFill>
          <a:ln w="13335">
            <a:solidFill>
              <a:srgbClr val="365C80"/>
            </a:solidFill>
            <a:prstDash val="dash"/>
          </a:ln>
        </p:spPr>
      </p:sp>
      <p:sp>
        <p:nvSpPr>
          <p:cNvPr id="427" name="Node_C8_Tag">
            <a:extLst>
              <a:ext uri="{FF2B5EF4-FFF2-40B4-BE49-F238E27FC236}">
                <a16:creationId xmlns:a16="http://schemas.microsoft.com/office/drawing/2014/main" id="{F7B6CE6B-42AD-4EFF-9CAA-D01AC15882F7}"/>
              </a:ext>
            </a:extLst>
          </p:cNvPr>
          <p:cNvSpPr>
            <a:spLocks noGrp="1"/>
          </p:cNvSpPr>
          <p:nvPr/>
        </p:nvSpPr>
        <p:spPr>
          <a:xfrm>
            <a:off x="9243374" y="5435600"/>
            <a:ext cx="304800" cy="215900"/>
          </a:xfrm>
          <a:prstGeom prst="roundRect">
            <a:avLst>
              <a:gd name="adj" fmla="val 23529"/>
            </a:avLst>
          </a:prstGeom>
          <a:solidFill>
            <a:srgbClr val="E3EAF2"/>
          </a:solidFill>
          <a:ln w="0">
            <a:solidFill>
              <a:srgbClr val="E3EAF2"/>
            </a:solidFill>
            <a:prstDash val="solid"/>
          </a:ln>
        </p:spPr>
      </p:sp>
      <p:sp>
        <p:nvSpPr>
          <p:cNvPr id="428" name="Node_C8_TagText">
            <a:extLst>
              <a:ext uri="{FF2B5EF4-FFF2-40B4-BE49-F238E27FC236}">
                <a16:creationId xmlns:a16="http://schemas.microsoft.com/office/drawing/2014/main" id="{A840CAF7-052D-4907-9C90-E692CAB08B22}"/>
              </a:ext>
            </a:extLst>
          </p:cNvPr>
          <p:cNvSpPr>
            <a:spLocks noGrp="1"/>
          </p:cNvSpPr>
          <p:nvPr/>
        </p:nvSpPr>
        <p:spPr>
          <a:xfrm>
            <a:off x="9243374" y="5435600"/>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C8</a:t>
            </a:r>
          </a:p>
        </p:txBody>
      </p:sp>
      <p:sp>
        <p:nvSpPr>
          <p:cNvPr id="429" name="Node_C8_CN">
            <a:extLst>
              <a:ext uri="{FF2B5EF4-FFF2-40B4-BE49-F238E27FC236}">
                <a16:creationId xmlns:a16="http://schemas.microsoft.com/office/drawing/2014/main" id="{D6CCDF11-FD1F-416E-B56E-365997A7B4CE}"/>
              </a:ext>
            </a:extLst>
          </p:cNvPr>
          <p:cNvSpPr>
            <a:spLocks noGrp="1"/>
          </p:cNvSpPr>
          <p:nvPr/>
        </p:nvSpPr>
        <p:spPr>
          <a:xfrm>
            <a:off x="9598974" y="5403850"/>
            <a:ext cx="2063750" cy="176784"/>
          </a:xfrm>
          <a:prstGeom prst="rect">
            <a:avLst/>
          </a:prstGeom>
          <a:noFill/>
          <a:ln w="0">
            <a:noFill/>
            <a:prstDash val="solid"/>
          </a:ln>
        </p:spPr>
        <p:txBody>
          <a:bodyPr lIns="0" tIns="0" rIns="0" bIns="0" anchor="ctr">
            <a:noAutofit/>
          </a:bodyPr>
          <a:lstStyle/>
          <a:p>
            <a:pPr algn="ctr">
              <a:lnSpc>
                <a:spcPct val="100000"/>
              </a:lnSpc>
              <a:buNone/>
              <a:defRPr sz="1350" b="1">
                <a:solidFill>
                  <a:srgbClr val="111827"/>
                </a:solidFill>
                <a:latin typeface="Microsoft YaHei"/>
                <a:ea typeface="Microsoft YaHei"/>
                <a:cs typeface="Microsoft YaHei"/>
              </a:defRPr>
            </a:pPr>
            <a:r>
              <a:rPr lang="zh-CN" altLang="en-US" sz="900" b="1">
                <a:solidFill>
                  <a:srgbClr val="111827"/>
                </a:solidFill>
                <a:latin typeface="Microsoft YaHei"/>
                <a:ea typeface="Microsoft YaHei"/>
                <a:cs typeface="Microsoft YaHei"/>
              </a:rPr>
              <a:t>增加安全校验？</a:t>
            </a:r>
            <a:endParaRPr sz="900" b="1">
              <a:solidFill>
                <a:srgbClr val="111827"/>
              </a:solidFill>
              <a:latin typeface="Microsoft YaHei"/>
              <a:ea typeface="Microsoft YaHei"/>
              <a:cs typeface="Microsoft YaHei"/>
            </a:endParaRPr>
          </a:p>
        </p:txBody>
      </p:sp>
      <p:sp>
        <p:nvSpPr>
          <p:cNvPr id="430" name="Node_C8_EN">
            <a:extLst>
              <a:ext uri="{FF2B5EF4-FFF2-40B4-BE49-F238E27FC236}">
                <a16:creationId xmlns:a16="http://schemas.microsoft.com/office/drawing/2014/main" id="{8E7ED679-5D46-4182-B32F-0034A444760E}"/>
              </a:ext>
            </a:extLst>
          </p:cNvPr>
          <p:cNvSpPr>
            <a:spLocks noGrp="1"/>
          </p:cNvSpPr>
          <p:nvPr/>
        </p:nvSpPr>
        <p:spPr>
          <a:xfrm>
            <a:off x="9598974" y="5550916"/>
            <a:ext cx="2063750" cy="99441"/>
          </a:xfrm>
          <a:prstGeom prst="rect">
            <a:avLst/>
          </a:prstGeom>
          <a:noFill/>
          <a:ln w="0">
            <a:noFill/>
            <a:prstDash val="solid"/>
          </a:ln>
        </p:spPr>
        <p:txBody>
          <a:bodyPr lIns="0" tIns="0" rIns="0" bIns="0" anchor="ctr">
            <a:noAutofit/>
          </a:bodyPr>
          <a:lstStyle/>
          <a:p>
            <a:pPr algn="ctr">
              <a:lnSpc>
                <a:spcPct val="100000"/>
              </a:lnSpc>
              <a:buNone/>
              <a:defRPr sz="788" b="0">
                <a:solidFill>
                  <a:srgbClr val="5F6F82"/>
                </a:solidFill>
                <a:latin typeface="Arial"/>
                <a:ea typeface="Arial"/>
                <a:cs typeface="Arial"/>
              </a:defRPr>
            </a:pPr>
            <a:r>
              <a:rPr sz="525">
                <a:solidFill>
                  <a:srgbClr val="5F6F82"/>
                </a:solidFill>
                <a:latin typeface="Arial"/>
                <a:ea typeface="Arial"/>
                <a:cs typeface="Arial"/>
              </a:rPr>
              <a:t>DSO network check / safety redispatch</a:t>
            </a:r>
          </a:p>
        </p:txBody>
      </p:sp>
      <p:cxnSp>
        <p:nvCxnSpPr>
          <p:cNvPr id="431" name="Edge_Central_BM_0">
            <a:extLst>
              <a:ext uri="{FF2B5EF4-FFF2-40B4-BE49-F238E27FC236}">
                <a16:creationId xmlns:a16="http://schemas.microsoft.com/office/drawing/2014/main" id="{74B70AE9-B7A0-43DC-B91E-2C600869E0AC}"/>
              </a:ext>
            </a:extLst>
          </p:cNvPr>
          <p:cNvCxnSpPr>
            <a:stCxn id="301" idx="3"/>
            <a:endCxn id="331" idx="1"/>
          </p:cNvCxnSpPr>
          <p:nvPr/>
        </p:nvCxnSpPr>
        <p:spPr>
          <a:xfrm>
            <a:off x="2880674" y="2247900"/>
            <a:ext cx="381000" cy="0"/>
          </a:xfrm>
          <a:prstGeom prst="curvedConnector2">
            <a:avLst/>
          </a:prstGeom>
          <a:ln w="19050">
            <a:solidFill>
              <a:srgbClr val="2563EB"/>
            </a:solidFill>
            <a:prstDash val="solid"/>
          </a:ln>
        </p:spPr>
      </p:cxnSp>
      <p:cxnSp>
        <p:nvCxnSpPr>
          <p:cNvPr id="432" name="Edge_Central_BM_1">
            <a:extLst>
              <a:ext uri="{FF2B5EF4-FFF2-40B4-BE49-F238E27FC236}">
                <a16:creationId xmlns:a16="http://schemas.microsoft.com/office/drawing/2014/main" id="{D219FDC9-9929-473D-B884-FA6D26DC62A5}"/>
              </a:ext>
            </a:extLst>
          </p:cNvPr>
          <p:cNvCxnSpPr>
            <a:stCxn id="306" idx="3"/>
            <a:endCxn id="331" idx="1"/>
          </p:cNvCxnSpPr>
          <p:nvPr/>
        </p:nvCxnSpPr>
        <p:spPr>
          <a:xfrm rot="5400000">
            <a:off x="2772724" y="2355850"/>
            <a:ext cx="596900" cy="381000"/>
          </a:xfrm>
          <a:prstGeom prst="curvedConnector3">
            <a:avLst>
              <a:gd name="adj1" fmla="val 50000"/>
            </a:avLst>
          </a:prstGeom>
          <a:ln w="19050">
            <a:solidFill>
              <a:srgbClr val="2563EB"/>
            </a:solidFill>
            <a:prstDash val="solid"/>
          </a:ln>
        </p:spPr>
      </p:cxnSp>
      <p:cxnSp>
        <p:nvCxnSpPr>
          <p:cNvPr id="433" name="Edge_Central_BM_2">
            <a:extLst>
              <a:ext uri="{FF2B5EF4-FFF2-40B4-BE49-F238E27FC236}">
                <a16:creationId xmlns:a16="http://schemas.microsoft.com/office/drawing/2014/main" id="{FA1BEBF8-2D0F-4176-8F05-491E137574EA}"/>
              </a:ext>
            </a:extLst>
          </p:cNvPr>
          <p:cNvCxnSpPr>
            <a:stCxn id="311" idx="3"/>
            <a:endCxn id="331" idx="1"/>
          </p:cNvCxnSpPr>
          <p:nvPr/>
        </p:nvCxnSpPr>
        <p:spPr>
          <a:xfrm rot="5400000">
            <a:off x="2474274" y="2654300"/>
            <a:ext cx="1193800" cy="381000"/>
          </a:xfrm>
          <a:prstGeom prst="curvedConnector3">
            <a:avLst>
              <a:gd name="adj1" fmla="val 50000"/>
            </a:avLst>
          </a:prstGeom>
          <a:ln w="19050">
            <a:solidFill>
              <a:srgbClr val="2563EB"/>
            </a:solidFill>
            <a:prstDash val="solid"/>
          </a:ln>
        </p:spPr>
      </p:cxnSp>
      <p:cxnSp>
        <p:nvCxnSpPr>
          <p:cNvPr id="434" name="Edge_DSO_BM_0">
            <a:extLst>
              <a:ext uri="{FF2B5EF4-FFF2-40B4-BE49-F238E27FC236}">
                <a16:creationId xmlns:a16="http://schemas.microsoft.com/office/drawing/2014/main" id="{CABED95E-AEEB-45D9-86B2-99DE1DCC459D}"/>
              </a:ext>
            </a:extLst>
          </p:cNvPr>
          <p:cNvCxnSpPr>
            <a:stCxn id="316" idx="3"/>
            <a:endCxn id="341" idx="1"/>
          </p:cNvCxnSpPr>
          <p:nvPr/>
        </p:nvCxnSpPr>
        <p:spPr>
          <a:xfrm rot="5400000">
            <a:off x="2772724" y="3549650"/>
            <a:ext cx="596900" cy="381000"/>
          </a:xfrm>
          <a:prstGeom prst="curvedConnector3">
            <a:avLst>
              <a:gd name="adj1" fmla="val 50000"/>
            </a:avLst>
          </a:prstGeom>
          <a:ln w="19050">
            <a:solidFill>
              <a:srgbClr val="F97316"/>
            </a:solidFill>
            <a:prstDash val="solid"/>
          </a:ln>
        </p:spPr>
      </p:cxnSp>
      <p:cxnSp>
        <p:nvCxnSpPr>
          <p:cNvPr id="435" name="Edge_DSO_BM_1">
            <a:extLst>
              <a:ext uri="{FF2B5EF4-FFF2-40B4-BE49-F238E27FC236}">
                <a16:creationId xmlns:a16="http://schemas.microsoft.com/office/drawing/2014/main" id="{27C996FB-952C-453E-83B0-C4E9B5AB1B4C}"/>
              </a:ext>
            </a:extLst>
          </p:cNvPr>
          <p:cNvCxnSpPr>
            <a:stCxn id="321" idx="3"/>
            <a:endCxn id="341" idx="1"/>
          </p:cNvCxnSpPr>
          <p:nvPr/>
        </p:nvCxnSpPr>
        <p:spPr>
          <a:xfrm rot="5400000">
            <a:off x="2474274" y="3848100"/>
            <a:ext cx="1193800" cy="381000"/>
          </a:xfrm>
          <a:prstGeom prst="curvedConnector3">
            <a:avLst>
              <a:gd name="adj1" fmla="val 50000"/>
            </a:avLst>
          </a:prstGeom>
          <a:ln w="19050">
            <a:solidFill>
              <a:srgbClr val="F97316"/>
            </a:solidFill>
            <a:prstDash val="solid"/>
          </a:ln>
        </p:spPr>
      </p:cxnSp>
      <p:cxnSp>
        <p:nvCxnSpPr>
          <p:cNvPr id="436" name="Edge_Auction_BM_0">
            <a:extLst>
              <a:ext uri="{FF2B5EF4-FFF2-40B4-BE49-F238E27FC236}">
                <a16:creationId xmlns:a16="http://schemas.microsoft.com/office/drawing/2014/main" id="{7DC2160E-3738-4461-83F2-704F61435565}"/>
              </a:ext>
            </a:extLst>
          </p:cNvPr>
          <p:cNvCxnSpPr>
            <a:stCxn id="321" idx="3"/>
            <a:endCxn id="336" idx="1"/>
          </p:cNvCxnSpPr>
          <p:nvPr/>
        </p:nvCxnSpPr>
        <p:spPr>
          <a:xfrm rot="5400000">
            <a:off x="2175824" y="3549650"/>
            <a:ext cx="1790700" cy="381000"/>
          </a:xfrm>
          <a:prstGeom prst="curvedConnector3">
            <a:avLst>
              <a:gd name="adj1" fmla="val 50000"/>
            </a:avLst>
          </a:prstGeom>
          <a:ln w="19050">
            <a:solidFill>
              <a:srgbClr val="0891B2"/>
            </a:solidFill>
            <a:prstDash val="solid"/>
          </a:ln>
        </p:spPr>
      </p:cxnSp>
      <p:cxnSp>
        <p:nvCxnSpPr>
          <p:cNvPr id="437" name="Edge_Auction_BM_1">
            <a:extLst>
              <a:ext uri="{FF2B5EF4-FFF2-40B4-BE49-F238E27FC236}">
                <a16:creationId xmlns:a16="http://schemas.microsoft.com/office/drawing/2014/main" id="{8C172D5E-6E84-49A6-9D7E-BBA167A8406A}"/>
              </a:ext>
            </a:extLst>
          </p:cNvPr>
          <p:cNvCxnSpPr>
            <a:stCxn id="306" idx="3"/>
            <a:endCxn id="336" idx="1"/>
          </p:cNvCxnSpPr>
          <p:nvPr/>
        </p:nvCxnSpPr>
        <p:spPr>
          <a:xfrm>
            <a:off x="2880674" y="2844800"/>
            <a:ext cx="381000" cy="0"/>
          </a:xfrm>
          <a:prstGeom prst="curvedConnector2">
            <a:avLst/>
          </a:prstGeom>
          <a:ln w="19050">
            <a:solidFill>
              <a:srgbClr val="0891B2"/>
            </a:solidFill>
            <a:prstDash val="solid"/>
          </a:ln>
        </p:spPr>
      </p:cxnSp>
      <p:cxnSp>
        <p:nvCxnSpPr>
          <p:cNvPr id="438" name="Edge_Auction_BM_2">
            <a:extLst>
              <a:ext uri="{FF2B5EF4-FFF2-40B4-BE49-F238E27FC236}">
                <a16:creationId xmlns:a16="http://schemas.microsoft.com/office/drawing/2014/main" id="{B4EE6BA9-073B-4938-A78B-F2E2598255C4}"/>
              </a:ext>
            </a:extLst>
          </p:cNvPr>
          <p:cNvCxnSpPr>
            <a:stCxn id="311" idx="3"/>
            <a:endCxn id="336" idx="1"/>
          </p:cNvCxnSpPr>
          <p:nvPr/>
        </p:nvCxnSpPr>
        <p:spPr>
          <a:xfrm rot="5400000">
            <a:off x="2772724" y="2952750"/>
            <a:ext cx="596900" cy="381000"/>
          </a:xfrm>
          <a:prstGeom prst="curvedConnector3">
            <a:avLst>
              <a:gd name="adj1" fmla="val 50000"/>
            </a:avLst>
          </a:prstGeom>
          <a:ln w="19050">
            <a:solidFill>
              <a:srgbClr val="0891B2"/>
            </a:solidFill>
            <a:prstDash val="solid"/>
          </a:ln>
        </p:spPr>
      </p:cxnSp>
      <p:cxnSp>
        <p:nvCxnSpPr>
          <p:cNvPr id="439" name="Edge_Continuous_BM">
            <a:extLst>
              <a:ext uri="{FF2B5EF4-FFF2-40B4-BE49-F238E27FC236}">
                <a16:creationId xmlns:a16="http://schemas.microsoft.com/office/drawing/2014/main" id="{3ADC9780-6D4C-41C2-A27C-352B2C8E6058}"/>
              </a:ext>
            </a:extLst>
          </p:cNvPr>
          <p:cNvCxnSpPr>
            <a:stCxn id="321" idx="3"/>
            <a:endCxn id="346" idx="1"/>
          </p:cNvCxnSpPr>
          <p:nvPr/>
        </p:nvCxnSpPr>
        <p:spPr>
          <a:xfrm rot="5400000">
            <a:off x="2772724" y="4146550"/>
            <a:ext cx="596900" cy="381000"/>
          </a:xfrm>
          <a:prstGeom prst="curvedConnector3">
            <a:avLst>
              <a:gd name="adj1" fmla="val 50000"/>
            </a:avLst>
          </a:prstGeom>
          <a:ln w="19050">
            <a:solidFill>
              <a:srgbClr val="16A34A"/>
            </a:solidFill>
            <a:prstDash val="solid"/>
          </a:ln>
        </p:spPr>
      </p:cxnSp>
      <p:cxnSp>
        <p:nvCxnSpPr>
          <p:cNvPr id="440" name="Edge_P2P_BM">
            <a:extLst>
              <a:ext uri="{FF2B5EF4-FFF2-40B4-BE49-F238E27FC236}">
                <a16:creationId xmlns:a16="http://schemas.microsoft.com/office/drawing/2014/main" id="{A7A2B211-61D4-4BC8-9C84-51E7DCF8789E}"/>
              </a:ext>
            </a:extLst>
          </p:cNvPr>
          <p:cNvCxnSpPr>
            <a:stCxn id="326" idx="3"/>
            <a:endCxn id="351" idx="1"/>
          </p:cNvCxnSpPr>
          <p:nvPr/>
        </p:nvCxnSpPr>
        <p:spPr>
          <a:xfrm rot="5400000">
            <a:off x="2772724" y="4743450"/>
            <a:ext cx="596900" cy="381000"/>
          </a:xfrm>
          <a:prstGeom prst="curvedConnector3">
            <a:avLst>
              <a:gd name="adj1" fmla="val 50000"/>
            </a:avLst>
          </a:prstGeom>
          <a:ln w="19050">
            <a:solidFill>
              <a:srgbClr val="7C3AED"/>
            </a:solidFill>
            <a:prstDash val="solid"/>
          </a:ln>
        </p:spPr>
      </p:cxnSp>
      <p:cxnSp>
        <p:nvCxnSpPr>
          <p:cNvPr id="441" name="Edge_Community_BM_0">
            <a:extLst>
              <a:ext uri="{FF2B5EF4-FFF2-40B4-BE49-F238E27FC236}">
                <a16:creationId xmlns:a16="http://schemas.microsoft.com/office/drawing/2014/main" id="{B7959A5E-1653-4D65-90F5-55164C0E3C43}"/>
              </a:ext>
            </a:extLst>
          </p:cNvPr>
          <p:cNvCxnSpPr>
            <a:stCxn id="326" idx="3"/>
            <a:endCxn id="356" idx="1"/>
          </p:cNvCxnSpPr>
          <p:nvPr/>
        </p:nvCxnSpPr>
        <p:spPr>
          <a:xfrm>
            <a:off x="2880674" y="5232400"/>
            <a:ext cx="381000" cy="0"/>
          </a:xfrm>
          <a:prstGeom prst="curvedConnector2">
            <a:avLst/>
          </a:prstGeom>
          <a:ln w="19050">
            <a:solidFill>
              <a:srgbClr val="DB2777"/>
            </a:solidFill>
            <a:prstDash val="solid"/>
          </a:ln>
        </p:spPr>
      </p:cxnSp>
      <p:cxnSp>
        <p:nvCxnSpPr>
          <p:cNvPr id="442" name="Edge_Community_BM_1">
            <a:extLst>
              <a:ext uri="{FF2B5EF4-FFF2-40B4-BE49-F238E27FC236}">
                <a16:creationId xmlns:a16="http://schemas.microsoft.com/office/drawing/2014/main" id="{FB85EA63-645F-4075-9059-143E425F79E4}"/>
              </a:ext>
            </a:extLst>
          </p:cNvPr>
          <p:cNvCxnSpPr>
            <a:stCxn id="301" idx="3"/>
            <a:endCxn id="356" idx="1"/>
          </p:cNvCxnSpPr>
          <p:nvPr/>
        </p:nvCxnSpPr>
        <p:spPr>
          <a:xfrm rot="16200000" flipH="1">
            <a:off x="1578924" y="3549650"/>
            <a:ext cx="2984500" cy="381000"/>
          </a:xfrm>
          <a:prstGeom prst="curvedConnector3">
            <a:avLst>
              <a:gd name="adj1" fmla="val 50000"/>
            </a:avLst>
          </a:prstGeom>
          <a:ln w="19050">
            <a:solidFill>
              <a:srgbClr val="DB2777"/>
            </a:solidFill>
            <a:prstDash val="solid"/>
          </a:ln>
        </p:spPr>
      </p:cxnSp>
      <p:cxnSp>
        <p:nvCxnSpPr>
          <p:cNvPr id="443" name="Edge_Central_MP_0">
            <a:extLst>
              <a:ext uri="{FF2B5EF4-FFF2-40B4-BE49-F238E27FC236}">
                <a16:creationId xmlns:a16="http://schemas.microsoft.com/office/drawing/2014/main" id="{F4DBF831-52DC-4A68-A62D-70EA389E7BDB}"/>
              </a:ext>
            </a:extLst>
          </p:cNvPr>
          <p:cNvCxnSpPr>
            <a:stCxn id="331" idx="3"/>
            <a:endCxn id="366" idx="1"/>
          </p:cNvCxnSpPr>
          <p:nvPr/>
        </p:nvCxnSpPr>
        <p:spPr>
          <a:xfrm rot="16200000" flipH="1">
            <a:off x="5725474" y="2355850"/>
            <a:ext cx="596900" cy="381000"/>
          </a:xfrm>
          <a:prstGeom prst="curvedConnector3">
            <a:avLst>
              <a:gd name="adj1" fmla="val 50000"/>
            </a:avLst>
          </a:prstGeom>
          <a:ln w="19050">
            <a:solidFill>
              <a:srgbClr val="2563EB"/>
            </a:solidFill>
            <a:prstDash val="solid"/>
          </a:ln>
        </p:spPr>
      </p:cxnSp>
      <p:cxnSp>
        <p:nvCxnSpPr>
          <p:cNvPr id="444" name="Edge_Central_MP_1">
            <a:extLst>
              <a:ext uri="{FF2B5EF4-FFF2-40B4-BE49-F238E27FC236}">
                <a16:creationId xmlns:a16="http://schemas.microsoft.com/office/drawing/2014/main" id="{5361EE3A-2446-47BB-8FB7-E7D3D2E83DE2}"/>
              </a:ext>
            </a:extLst>
          </p:cNvPr>
          <p:cNvCxnSpPr>
            <a:stCxn id="331" idx="3"/>
            <a:endCxn id="361" idx="1"/>
          </p:cNvCxnSpPr>
          <p:nvPr/>
        </p:nvCxnSpPr>
        <p:spPr>
          <a:xfrm>
            <a:off x="5833424" y="2247900"/>
            <a:ext cx="381000" cy="0"/>
          </a:xfrm>
          <a:prstGeom prst="curvedConnector2">
            <a:avLst/>
          </a:prstGeom>
          <a:ln w="19050">
            <a:solidFill>
              <a:srgbClr val="2563EB"/>
            </a:solidFill>
            <a:prstDash val="solid"/>
          </a:ln>
        </p:spPr>
      </p:cxnSp>
      <p:cxnSp>
        <p:nvCxnSpPr>
          <p:cNvPr id="445" name="Edge_DSO_MP_0">
            <a:extLst>
              <a:ext uri="{FF2B5EF4-FFF2-40B4-BE49-F238E27FC236}">
                <a16:creationId xmlns:a16="http://schemas.microsoft.com/office/drawing/2014/main" id="{4955D90A-1E05-4069-BBEE-02ADB1F07841}"/>
              </a:ext>
            </a:extLst>
          </p:cNvPr>
          <p:cNvCxnSpPr>
            <a:stCxn id="341" idx="3"/>
            <a:endCxn id="371" idx="1"/>
          </p:cNvCxnSpPr>
          <p:nvPr/>
        </p:nvCxnSpPr>
        <p:spPr>
          <a:xfrm>
            <a:off x="5833424" y="3441700"/>
            <a:ext cx="381000" cy="0"/>
          </a:xfrm>
          <a:prstGeom prst="curvedConnector2">
            <a:avLst/>
          </a:prstGeom>
          <a:ln w="19050">
            <a:solidFill>
              <a:srgbClr val="F97316"/>
            </a:solidFill>
            <a:prstDash val="solid"/>
          </a:ln>
        </p:spPr>
      </p:cxnSp>
      <p:cxnSp>
        <p:nvCxnSpPr>
          <p:cNvPr id="446" name="Edge_DSO_MP_1">
            <a:extLst>
              <a:ext uri="{FF2B5EF4-FFF2-40B4-BE49-F238E27FC236}">
                <a16:creationId xmlns:a16="http://schemas.microsoft.com/office/drawing/2014/main" id="{96BB0D77-5E18-467F-BFA5-497F03681B55}"/>
              </a:ext>
            </a:extLst>
          </p:cNvPr>
          <p:cNvCxnSpPr>
            <a:stCxn id="341" idx="3"/>
            <a:endCxn id="366" idx="1"/>
          </p:cNvCxnSpPr>
          <p:nvPr/>
        </p:nvCxnSpPr>
        <p:spPr>
          <a:xfrm rot="5400000">
            <a:off x="5725474" y="2952750"/>
            <a:ext cx="596900" cy="381000"/>
          </a:xfrm>
          <a:prstGeom prst="curvedConnector3">
            <a:avLst>
              <a:gd name="adj1" fmla="val 50000"/>
            </a:avLst>
          </a:prstGeom>
          <a:ln w="19050">
            <a:solidFill>
              <a:srgbClr val="F97316"/>
            </a:solidFill>
            <a:prstDash val="solid"/>
          </a:ln>
        </p:spPr>
      </p:cxnSp>
      <p:cxnSp>
        <p:nvCxnSpPr>
          <p:cNvPr id="447" name="Edge_Auction_MP_0">
            <a:extLst>
              <a:ext uri="{FF2B5EF4-FFF2-40B4-BE49-F238E27FC236}">
                <a16:creationId xmlns:a16="http://schemas.microsoft.com/office/drawing/2014/main" id="{0A0D0191-E304-4309-9046-4F27B3FB3AAE}"/>
              </a:ext>
            </a:extLst>
          </p:cNvPr>
          <p:cNvCxnSpPr>
            <a:stCxn id="336" idx="3"/>
            <a:endCxn id="366" idx="1"/>
          </p:cNvCxnSpPr>
          <p:nvPr/>
        </p:nvCxnSpPr>
        <p:spPr>
          <a:xfrm>
            <a:off x="5833424" y="2844800"/>
            <a:ext cx="381000" cy="0"/>
          </a:xfrm>
          <a:prstGeom prst="curvedConnector2">
            <a:avLst/>
          </a:prstGeom>
          <a:ln w="19050">
            <a:solidFill>
              <a:srgbClr val="0891B2"/>
            </a:solidFill>
            <a:prstDash val="solid"/>
          </a:ln>
        </p:spPr>
      </p:cxnSp>
      <p:cxnSp>
        <p:nvCxnSpPr>
          <p:cNvPr id="448" name="Edge_Auction_MP_1">
            <a:extLst>
              <a:ext uri="{FF2B5EF4-FFF2-40B4-BE49-F238E27FC236}">
                <a16:creationId xmlns:a16="http://schemas.microsoft.com/office/drawing/2014/main" id="{410FD87F-FF02-4828-BD49-2140E3E547AE}"/>
              </a:ext>
            </a:extLst>
          </p:cNvPr>
          <p:cNvCxnSpPr>
            <a:stCxn id="336" idx="3"/>
            <a:endCxn id="371" idx="1"/>
          </p:cNvCxnSpPr>
          <p:nvPr/>
        </p:nvCxnSpPr>
        <p:spPr>
          <a:xfrm rot="16200000" flipH="1">
            <a:off x="5725474" y="2952750"/>
            <a:ext cx="596900" cy="381000"/>
          </a:xfrm>
          <a:prstGeom prst="curvedConnector3">
            <a:avLst>
              <a:gd name="adj1" fmla="val 50000"/>
            </a:avLst>
          </a:prstGeom>
          <a:ln w="19050">
            <a:solidFill>
              <a:srgbClr val="0891B2"/>
            </a:solidFill>
            <a:prstDash val="solid"/>
          </a:ln>
        </p:spPr>
      </p:cxnSp>
      <p:cxnSp>
        <p:nvCxnSpPr>
          <p:cNvPr id="449" name="Edge_Continuous_MP">
            <a:extLst>
              <a:ext uri="{FF2B5EF4-FFF2-40B4-BE49-F238E27FC236}">
                <a16:creationId xmlns:a16="http://schemas.microsoft.com/office/drawing/2014/main" id="{EC728D7B-D8DF-4ED6-B7F1-53291713015F}"/>
              </a:ext>
            </a:extLst>
          </p:cNvPr>
          <p:cNvCxnSpPr>
            <a:stCxn id="346" idx="3"/>
            <a:endCxn id="376" idx="1"/>
          </p:cNvCxnSpPr>
          <p:nvPr/>
        </p:nvCxnSpPr>
        <p:spPr>
          <a:xfrm>
            <a:off x="5833424" y="4038600"/>
            <a:ext cx="381000" cy="0"/>
          </a:xfrm>
          <a:prstGeom prst="curvedConnector2">
            <a:avLst/>
          </a:prstGeom>
          <a:ln w="19050">
            <a:solidFill>
              <a:srgbClr val="16A34A"/>
            </a:solidFill>
            <a:prstDash val="solid"/>
          </a:ln>
        </p:spPr>
      </p:cxnSp>
      <p:cxnSp>
        <p:nvCxnSpPr>
          <p:cNvPr id="450" name="Edge_P2P_MP">
            <a:extLst>
              <a:ext uri="{FF2B5EF4-FFF2-40B4-BE49-F238E27FC236}">
                <a16:creationId xmlns:a16="http://schemas.microsoft.com/office/drawing/2014/main" id="{EB3D9317-74AC-4120-86D7-AA01161B4656}"/>
              </a:ext>
            </a:extLst>
          </p:cNvPr>
          <p:cNvCxnSpPr>
            <a:stCxn id="351" idx="3"/>
            <a:endCxn id="381" idx="1"/>
          </p:cNvCxnSpPr>
          <p:nvPr/>
        </p:nvCxnSpPr>
        <p:spPr>
          <a:xfrm>
            <a:off x="5833424" y="4635500"/>
            <a:ext cx="381000" cy="0"/>
          </a:xfrm>
          <a:prstGeom prst="curvedConnector2">
            <a:avLst/>
          </a:prstGeom>
          <a:ln w="19050">
            <a:solidFill>
              <a:srgbClr val="7C3AED"/>
            </a:solidFill>
            <a:prstDash val="solid"/>
          </a:ln>
        </p:spPr>
      </p:cxnSp>
      <p:cxnSp>
        <p:nvCxnSpPr>
          <p:cNvPr id="451" name="Edge_Community_MP_0">
            <a:extLst>
              <a:ext uri="{FF2B5EF4-FFF2-40B4-BE49-F238E27FC236}">
                <a16:creationId xmlns:a16="http://schemas.microsoft.com/office/drawing/2014/main" id="{F1AA9C65-4EC4-41A2-85A4-125AB91DC73C}"/>
              </a:ext>
            </a:extLst>
          </p:cNvPr>
          <p:cNvCxnSpPr>
            <a:stCxn id="356" idx="3"/>
            <a:endCxn id="386" idx="1"/>
          </p:cNvCxnSpPr>
          <p:nvPr/>
        </p:nvCxnSpPr>
        <p:spPr>
          <a:xfrm>
            <a:off x="5833424" y="5232400"/>
            <a:ext cx="381000" cy="0"/>
          </a:xfrm>
          <a:prstGeom prst="curvedConnector2">
            <a:avLst/>
          </a:prstGeom>
          <a:ln w="19050">
            <a:solidFill>
              <a:srgbClr val="DB2777"/>
            </a:solidFill>
            <a:prstDash val="solid"/>
          </a:ln>
        </p:spPr>
      </p:cxnSp>
      <p:cxnSp>
        <p:nvCxnSpPr>
          <p:cNvPr id="452" name="Edge_Community_MP_1">
            <a:extLst>
              <a:ext uri="{FF2B5EF4-FFF2-40B4-BE49-F238E27FC236}">
                <a16:creationId xmlns:a16="http://schemas.microsoft.com/office/drawing/2014/main" id="{7A49812B-44EB-4B1E-9BF5-0CA8D829D6AE}"/>
              </a:ext>
            </a:extLst>
          </p:cNvPr>
          <p:cNvCxnSpPr>
            <a:stCxn id="356" idx="3"/>
            <a:endCxn id="366" idx="1"/>
          </p:cNvCxnSpPr>
          <p:nvPr/>
        </p:nvCxnSpPr>
        <p:spPr>
          <a:xfrm rot="5400000">
            <a:off x="4830124" y="3848100"/>
            <a:ext cx="2387600" cy="381000"/>
          </a:xfrm>
          <a:prstGeom prst="curvedConnector3">
            <a:avLst>
              <a:gd name="adj1" fmla="val 50000"/>
            </a:avLst>
          </a:prstGeom>
          <a:ln w="19050">
            <a:solidFill>
              <a:srgbClr val="DB2777"/>
            </a:solidFill>
            <a:prstDash val="solid"/>
          </a:ln>
        </p:spPr>
      </p:cxnSp>
      <p:cxnSp>
        <p:nvCxnSpPr>
          <p:cNvPr id="453" name="Edge_Central_PC_0">
            <a:extLst>
              <a:ext uri="{FF2B5EF4-FFF2-40B4-BE49-F238E27FC236}">
                <a16:creationId xmlns:a16="http://schemas.microsoft.com/office/drawing/2014/main" id="{92B01499-1411-44A4-A786-484BBDDC1669}"/>
              </a:ext>
            </a:extLst>
          </p:cNvPr>
          <p:cNvCxnSpPr>
            <a:stCxn id="361" idx="3"/>
            <a:endCxn id="391" idx="1"/>
          </p:cNvCxnSpPr>
          <p:nvPr/>
        </p:nvCxnSpPr>
        <p:spPr>
          <a:xfrm rot="5400000">
            <a:off x="8929050" y="2009775"/>
            <a:ext cx="95250" cy="381000"/>
          </a:xfrm>
          <a:prstGeom prst="curvedConnector3">
            <a:avLst>
              <a:gd name="adj1" fmla="val 50000"/>
            </a:avLst>
          </a:prstGeom>
          <a:ln w="19050">
            <a:solidFill>
              <a:srgbClr val="2563EB"/>
            </a:solidFill>
            <a:prstDash val="solid"/>
          </a:ln>
        </p:spPr>
      </p:cxnSp>
      <p:cxnSp>
        <p:nvCxnSpPr>
          <p:cNvPr id="454" name="Edge_Central_PC_1">
            <a:extLst>
              <a:ext uri="{FF2B5EF4-FFF2-40B4-BE49-F238E27FC236}">
                <a16:creationId xmlns:a16="http://schemas.microsoft.com/office/drawing/2014/main" id="{EDC7D3CB-939E-4891-82A3-E5CC591DEBD8}"/>
              </a:ext>
            </a:extLst>
          </p:cNvPr>
          <p:cNvCxnSpPr>
            <a:stCxn id="366" idx="3"/>
            <a:endCxn id="396" idx="1"/>
          </p:cNvCxnSpPr>
          <p:nvPr/>
        </p:nvCxnSpPr>
        <p:spPr>
          <a:xfrm rot="5400000">
            <a:off x="8871900" y="2549525"/>
            <a:ext cx="209550" cy="381000"/>
          </a:xfrm>
          <a:prstGeom prst="curvedConnector3">
            <a:avLst>
              <a:gd name="adj1" fmla="val 50000"/>
            </a:avLst>
          </a:prstGeom>
          <a:ln w="19050">
            <a:solidFill>
              <a:srgbClr val="2563EB"/>
            </a:solidFill>
            <a:prstDash val="solid"/>
          </a:ln>
        </p:spPr>
      </p:cxnSp>
      <p:cxnSp>
        <p:nvCxnSpPr>
          <p:cNvPr id="455" name="Edge_Auction_PC_0">
            <a:extLst>
              <a:ext uri="{FF2B5EF4-FFF2-40B4-BE49-F238E27FC236}">
                <a16:creationId xmlns:a16="http://schemas.microsoft.com/office/drawing/2014/main" id="{3A66D316-9AC6-4C3C-AE8F-64BB82446651}"/>
              </a:ext>
            </a:extLst>
          </p:cNvPr>
          <p:cNvCxnSpPr>
            <a:stCxn id="366" idx="3"/>
            <a:endCxn id="401" idx="1"/>
          </p:cNvCxnSpPr>
          <p:nvPr/>
        </p:nvCxnSpPr>
        <p:spPr>
          <a:xfrm rot="16200000" flipH="1">
            <a:off x="8840150" y="2790825"/>
            <a:ext cx="273050" cy="381000"/>
          </a:xfrm>
          <a:prstGeom prst="curvedConnector3">
            <a:avLst>
              <a:gd name="adj1" fmla="val 50000"/>
            </a:avLst>
          </a:prstGeom>
          <a:ln w="19050">
            <a:solidFill>
              <a:srgbClr val="0891B2"/>
            </a:solidFill>
            <a:prstDash val="solid"/>
          </a:ln>
        </p:spPr>
      </p:cxnSp>
      <p:cxnSp>
        <p:nvCxnSpPr>
          <p:cNvPr id="456" name="Edge_Auction_PC_1">
            <a:extLst>
              <a:ext uri="{FF2B5EF4-FFF2-40B4-BE49-F238E27FC236}">
                <a16:creationId xmlns:a16="http://schemas.microsoft.com/office/drawing/2014/main" id="{74BCC54B-59CA-4DFE-85BB-D48D18B202C3}"/>
              </a:ext>
            </a:extLst>
          </p:cNvPr>
          <p:cNvCxnSpPr>
            <a:stCxn id="371" idx="3"/>
            <a:endCxn id="401" idx="1"/>
          </p:cNvCxnSpPr>
          <p:nvPr/>
        </p:nvCxnSpPr>
        <p:spPr>
          <a:xfrm rot="5400000">
            <a:off x="8814750" y="3089275"/>
            <a:ext cx="323850" cy="381000"/>
          </a:xfrm>
          <a:prstGeom prst="curvedConnector3">
            <a:avLst>
              <a:gd name="adj1" fmla="val 50000"/>
            </a:avLst>
          </a:prstGeom>
          <a:ln w="19050">
            <a:solidFill>
              <a:srgbClr val="0891B2"/>
            </a:solidFill>
            <a:prstDash val="solid"/>
          </a:ln>
        </p:spPr>
      </p:cxnSp>
      <p:cxnSp>
        <p:nvCxnSpPr>
          <p:cNvPr id="457" name="Edge_DSO_PC_0">
            <a:extLst>
              <a:ext uri="{FF2B5EF4-FFF2-40B4-BE49-F238E27FC236}">
                <a16:creationId xmlns:a16="http://schemas.microsoft.com/office/drawing/2014/main" id="{4C8ABC20-CD58-47A1-9BC5-0E3BC374432D}"/>
              </a:ext>
            </a:extLst>
          </p:cNvPr>
          <p:cNvCxnSpPr>
            <a:stCxn id="366" idx="3"/>
            <a:endCxn id="406" idx="1"/>
          </p:cNvCxnSpPr>
          <p:nvPr/>
        </p:nvCxnSpPr>
        <p:spPr>
          <a:xfrm rot="16200000" flipH="1">
            <a:off x="8598850" y="3032125"/>
            <a:ext cx="755650" cy="381000"/>
          </a:xfrm>
          <a:prstGeom prst="curvedConnector3">
            <a:avLst>
              <a:gd name="adj1" fmla="val 50000"/>
            </a:avLst>
          </a:prstGeom>
          <a:ln w="19050">
            <a:solidFill>
              <a:srgbClr val="F97316"/>
            </a:solidFill>
            <a:prstDash val="solid"/>
          </a:ln>
        </p:spPr>
      </p:cxnSp>
      <p:cxnSp>
        <p:nvCxnSpPr>
          <p:cNvPr id="458" name="Edge_DSO_PC_1">
            <a:extLst>
              <a:ext uri="{FF2B5EF4-FFF2-40B4-BE49-F238E27FC236}">
                <a16:creationId xmlns:a16="http://schemas.microsoft.com/office/drawing/2014/main" id="{651FB59A-C51E-4E39-89F7-29F984853A03}"/>
              </a:ext>
            </a:extLst>
          </p:cNvPr>
          <p:cNvCxnSpPr>
            <a:stCxn id="371" idx="3"/>
            <a:endCxn id="406" idx="1"/>
          </p:cNvCxnSpPr>
          <p:nvPr/>
        </p:nvCxnSpPr>
        <p:spPr>
          <a:xfrm rot="16200000" flipH="1">
            <a:off x="8897300" y="3330575"/>
            <a:ext cx="158750" cy="381000"/>
          </a:xfrm>
          <a:prstGeom prst="curvedConnector3">
            <a:avLst>
              <a:gd name="adj1" fmla="val 50000"/>
            </a:avLst>
          </a:prstGeom>
          <a:ln w="19050">
            <a:solidFill>
              <a:srgbClr val="F97316"/>
            </a:solidFill>
            <a:prstDash val="solid"/>
          </a:ln>
        </p:spPr>
      </p:cxnSp>
      <p:cxnSp>
        <p:nvCxnSpPr>
          <p:cNvPr id="459" name="Edge_Continuous_PC">
            <a:extLst>
              <a:ext uri="{FF2B5EF4-FFF2-40B4-BE49-F238E27FC236}">
                <a16:creationId xmlns:a16="http://schemas.microsoft.com/office/drawing/2014/main" id="{C5B38565-3383-449D-B585-4A1AE0A576A2}"/>
              </a:ext>
            </a:extLst>
          </p:cNvPr>
          <p:cNvCxnSpPr>
            <a:stCxn id="376" idx="3"/>
            <a:endCxn id="411" idx="1"/>
          </p:cNvCxnSpPr>
          <p:nvPr/>
        </p:nvCxnSpPr>
        <p:spPr>
          <a:xfrm rot="16200000" flipH="1">
            <a:off x="8954450" y="3870325"/>
            <a:ext cx="44450" cy="381000"/>
          </a:xfrm>
          <a:prstGeom prst="curvedConnector3">
            <a:avLst>
              <a:gd name="adj1" fmla="val 50000"/>
            </a:avLst>
          </a:prstGeom>
          <a:ln w="19050">
            <a:solidFill>
              <a:srgbClr val="16A34A"/>
            </a:solidFill>
            <a:prstDash val="solid"/>
          </a:ln>
        </p:spPr>
      </p:cxnSp>
      <p:cxnSp>
        <p:nvCxnSpPr>
          <p:cNvPr id="460" name="Edge_P2P_PC">
            <a:extLst>
              <a:ext uri="{FF2B5EF4-FFF2-40B4-BE49-F238E27FC236}">
                <a16:creationId xmlns:a16="http://schemas.microsoft.com/office/drawing/2014/main" id="{7B9596B8-4F07-4394-B5F7-BF774478CAD6}"/>
              </a:ext>
            </a:extLst>
          </p:cNvPr>
          <p:cNvCxnSpPr>
            <a:stCxn id="381" idx="3"/>
            <a:endCxn id="416" idx="1"/>
          </p:cNvCxnSpPr>
          <p:nvPr/>
        </p:nvCxnSpPr>
        <p:spPr>
          <a:xfrm rot="5400000">
            <a:off x="8941750" y="4410075"/>
            <a:ext cx="69850" cy="381000"/>
          </a:xfrm>
          <a:prstGeom prst="curvedConnector3">
            <a:avLst>
              <a:gd name="adj1" fmla="val 50000"/>
            </a:avLst>
          </a:prstGeom>
          <a:ln w="19050">
            <a:solidFill>
              <a:srgbClr val="7C3AED"/>
            </a:solidFill>
            <a:prstDash val="solid"/>
          </a:ln>
        </p:spPr>
      </p:cxnSp>
      <p:cxnSp>
        <p:nvCxnSpPr>
          <p:cNvPr id="461" name="Edge_Community_PC_0">
            <a:extLst>
              <a:ext uri="{FF2B5EF4-FFF2-40B4-BE49-F238E27FC236}">
                <a16:creationId xmlns:a16="http://schemas.microsoft.com/office/drawing/2014/main" id="{1149BABF-E940-4B5C-87F2-DE4B181E9C07}"/>
              </a:ext>
            </a:extLst>
          </p:cNvPr>
          <p:cNvCxnSpPr>
            <a:stCxn id="386" idx="3"/>
            <a:endCxn id="421" idx="1"/>
          </p:cNvCxnSpPr>
          <p:nvPr/>
        </p:nvCxnSpPr>
        <p:spPr>
          <a:xfrm rot="5400000">
            <a:off x="8884600" y="4949825"/>
            <a:ext cx="184150" cy="381000"/>
          </a:xfrm>
          <a:prstGeom prst="curvedConnector3">
            <a:avLst>
              <a:gd name="adj1" fmla="val 50000"/>
            </a:avLst>
          </a:prstGeom>
          <a:ln w="19050">
            <a:solidFill>
              <a:srgbClr val="DB2777"/>
            </a:solidFill>
            <a:prstDash val="solid"/>
          </a:ln>
        </p:spPr>
      </p:cxnSp>
      <p:cxnSp>
        <p:nvCxnSpPr>
          <p:cNvPr id="462" name="Edge_Community_PC_1">
            <a:extLst>
              <a:ext uri="{FF2B5EF4-FFF2-40B4-BE49-F238E27FC236}">
                <a16:creationId xmlns:a16="http://schemas.microsoft.com/office/drawing/2014/main" id="{6F763F15-832E-4D97-A7AE-332DA7AD913E}"/>
              </a:ext>
            </a:extLst>
          </p:cNvPr>
          <p:cNvCxnSpPr>
            <a:stCxn id="366" idx="3"/>
            <a:endCxn id="421" idx="1"/>
          </p:cNvCxnSpPr>
          <p:nvPr/>
        </p:nvCxnSpPr>
        <p:spPr>
          <a:xfrm rot="16200000" flipH="1">
            <a:off x="7874950" y="3756025"/>
            <a:ext cx="2203450" cy="381000"/>
          </a:xfrm>
          <a:prstGeom prst="curvedConnector3">
            <a:avLst>
              <a:gd name="adj1" fmla="val 50000"/>
            </a:avLst>
          </a:prstGeom>
          <a:ln w="19050">
            <a:solidFill>
              <a:srgbClr val="DB2777"/>
            </a:solidFill>
            <a:prstDash val="solid"/>
          </a:ln>
        </p:spPr>
      </p:cxnSp>
      <p:pic>
        <p:nvPicPr>
          <p:cNvPr id="463" name="图片 462">
            <a:extLst>
              <a:ext uri="{FF2B5EF4-FFF2-40B4-BE49-F238E27FC236}">
                <a16:creationId xmlns:a16="http://schemas.microsoft.com/office/drawing/2014/main" id="{9E6103C2-96CF-4A60-A160-88F8C5204654}"/>
              </a:ext>
            </a:extLst>
          </p:cNvPr>
          <p:cNvPicPr>
            <a:picLocks noChangeAspect="1"/>
          </p:cNvPicPr>
          <p:nvPr/>
        </p:nvPicPr>
        <p:blipFill>
          <a:blip r:embed="rId2"/>
          <a:stretch>
            <a:fillRect/>
          </a:stretch>
        </p:blipFill>
        <p:spPr>
          <a:xfrm>
            <a:off x="-5915820" y="606312"/>
            <a:ext cx="5879779" cy="4944604"/>
          </a:xfrm>
          <a:prstGeom prst="rect">
            <a:avLst/>
          </a:prstGeom>
        </p:spPr>
      </p:pic>
      <p:sp>
        <p:nvSpPr>
          <p:cNvPr id="464" name="Legend_Line_1">
            <a:extLst>
              <a:ext uri="{FF2B5EF4-FFF2-40B4-BE49-F238E27FC236}">
                <a16:creationId xmlns:a16="http://schemas.microsoft.com/office/drawing/2014/main" id="{14C0DEBC-73BF-40DE-B3C2-E652E1C64799}"/>
              </a:ext>
            </a:extLst>
          </p:cNvPr>
          <p:cNvSpPr>
            <a:spLocks noGrp="1"/>
          </p:cNvSpPr>
          <p:nvPr/>
        </p:nvSpPr>
        <p:spPr>
          <a:xfrm>
            <a:off x="1617024" y="6146800"/>
            <a:ext cx="400050" cy="0"/>
          </a:xfrm>
          <a:prstGeom prst="line">
            <a:avLst/>
          </a:prstGeom>
          <a:noFill/>
          <a:ln w="28575">
            <a:solidFill>
              <a:srgbClr val="2563EB"/>
            </a:solidFill>
            <a:prstDash val="solid"/>
          </a:ln>
        </p:spPr>
      </p:sp>
      <p:sp>
        <p:nvSpPr>
          <p:cNvPr id="465" name="Legend_Text_1">
            <a:extLst>
              <a:ext uri="{FF2B5EF4-FFF2-40B4-BE49-F238E27FC236}">
                <a16:creationId xmlns:a16="http://schemas.microsoft.com/office/drawing/2014/main" id="{6E0F4823-0E23-4870-B155-6675B6969B4B}"/>
              </a:ext>
            </a:extLst>
          </p:cNvPr>
          <p:cNvSpPr>
            <a:spLocks noGrp="1"/>
          </p:cNvSpPr>
          <p:nvPr/>
        </p:nvSpPr>
        <p:spPr>
          <a:xfrm>
            <a:off x="2093274" y="6032500"/>
            <a:ext cx="838200" cy="228600"/>
          </a:xfrm>
          <a:prstGeom prst="rect">
            <a:avLst/>
          </a:prstGeom>
          <a:noFill/>
          <a:ln w="0">
            <a:noFill/>
            <a:prstDash val="solid"/>
          </a:ln>
        </p:spPr>
        <p:txBody>
          <a:bodyPr lIns="0" tIns="0" rIns="0" bIns="0" anchor="ctr">
            <a:noAutofit/>
          </a:bodyPr>
          <a:lstStyle/>
          <a:p>
            <a:pPr algn="l">
              <a:lnSpc>
                <a:spcPct val="100000"/>
              </a:lnSpc>
              <a:buNone/>
              <a:defRPr sz="1050" b="0">
                <a:solidFill>
                  <a:srgbClr val="5F6F82"/>
                </a:solidFill>
                <a:latin typeface="Microsoft YaHei"/>
                <a:ea typeface="Microsoft YaHei"/>
                <a:cs typeface="Microsoft YaHei"/>
              </a:defRPr>
            </a:pPr>
            <a:r>
              <a:rPr sz="1400" b="1">
                <a:latin typeface="Microsoft YaHei"/>
                <a:ea typeface="Microsoft YaHei"/>
                <a:cs typeface="Microsoft YaHei"/>
              </a:rPr>
              <a:t>集中优化</a:t>
            </a:r>
          </a:p>
        </p:txBody>
      </p:sp>
      <p:sp>
        <p:nvSpPr>
          <p:cNvPr id="466" name="Legend_Line_2">
            <a:extLst>
              <a:ext uri="{FF2B5EF4-FFF2-40B4-BE49-F238E27FC236}">
                <a16:creationId xmlns:a16="http://schemas.microsoft.com/office/drawing/2014/main" id="{22A5CA91-92A2-428F-B139-C9D25405BE78}"/>
              </a:ext>
            </a:extLst>
          </p:cNvPr>
          <p:cNvSpPr>
            <a:spLocks noGrp="1"/>
          </p:cNvSpPr>
          <p:nvPr/>
        </p:nvSpPr>
        <p:spPr>
          <a:xfrm>
            <a:off x="2950524" y="6146800"/>
            <a:ext cx="400050" cy="0"/>
          </a:xfrm>
          <a:prstGeom prst="line">
            <a:avLst/>
          </a:prstGeom>
          <a:noFill/>
          <a:ln w="28575">
            <a:solidFill>
              <a:srgbClr val="F97316"/>
            </a:solidFill>
            <a:prstDash val="solid"/>
          </a:ln>
        </p:spPr>
      </p:sp>
      <p:sp>
        <p:nvSpPr>
          <p:cNvPr id="467" name="Legend_Text_2">
            <a:extLst>
              <a:ext uri="{FF2B5EF4-FFF2-40B4-BE49-F238E27FC236}">
                <a16:creationId xmlns:a16="http://schemas.microsoft.com/office/drawing/2014/main" id="{16D52841-0CA8-4D15-A2B0-5336F268807B}"/>
              </a:ext>
            </a:extLst>
          </p:cNvPr>
          <p:cNvSpPr>
            <a:spLocks noGrp="1"/>
          </p:cNvSpPr>
          <p:nvPr/>
        </p:nvSpPr>
        <p:spPr>
          <a:xfrm>
            <a:off x="3426774" y="6032500"/>
            <a:ext cx="838200" cy="228600"/>
          </a:xfrm>
          <a:prstGeom prst="rect">
            <a:avLst/>
          </a:prstGeom>
          <a:noFill/>
          <a:ln w="0">
            <a:noFill/>
            <a:prstDash val="solid"/>
          </a:ln>
        </p:spPr>
        <p:txBody>
          <a:bodyPr lIns="0" tIns="0" rIns="0" bIns="0" anchor="ctr">
            <a:noAutofit/>
          </a:bodyPr>
          <a:lstStyle/>
          <a:p>
            <a:pPr algn="l">
              <a:lnSpc>
                <a:spcPct val="100000"/>
              </a:lnSpc>
              <a:buNone/>
              <a:defRPr sz="1050" b="0">
                <a:solidFill>
                  <a:srgbClr val="5F6F82"/>
                </a:solidFill>
                <a:latin typeface="Microsoft YaHei"/>
                <a:ea typeface="Microsoft YaHei"/>
                <a:cs typeface="Microsoft YaHei"/>
              </a:defRPr>
            </a:pPr>
            <a:r>
              <a:rPr sz="1400" b="1">
                <a:latin typeface="Microsoft YaHei"/>
                <a:ea typeface="Microsoft YaHei"/>
                <a:cs typeface="Microsoft YaHei"/>
              </a:rPr>
              <a:t>DSO采购</a:t>
            </a:r>
          </a:p>
        </p:txBody>
      </p:sp>
      <p:sp>
        <p:nvSpPr>
          <p:cNvPr id="468" name="Legend_Line_3">
            <a:extLst>
              <a:ext uri="{FF2B5EF4-FFF2-40B4-BE49-F238E27FC236}">
                <a16:creationId xmlns:a16="http://schemas.microsoft.com/office/drawing/2014/main" id="{B1AD5CA7-53BF-4E50-99CB-7B5572021742}"/>
              </a:ext>
            </a:extLst>
          </p:cNvPr>
          <p:cNvSpPr>
            <a:spLocks noGrp="1"/>
          </p:cNvSpPr>
          <p:nvPr/>
        </p:nvSpPr>
        <p:spPr>
          <a:xfrm>
            <a:off x="4284024" y="6146800"/>
            <a:ext cx="400050" cy="0"/>
          </a:xfrm>
          <a:prstGeom prst="line">
            <a:avLst/>
          </a:prstGeom>
          <a:noFill/>
          <a:ln w="28575">
            <a:solidFill>
              <a:srgbClr val="0891B2"/>
            </a:solidFill>
            <a:prstDash val="solid"/>
          </a:ln>
        </p:spPr>
      </p:sp>
      <p:sp>
        <p:nvSpPr>
          <p:cNvPr id="469" name="Legend_Text_3">
            <a:extLst>
              <a:ext uri="{FF2B5EF4-FFF2-40B4-BE49-F238E27FC236}">
                <a16:creationId xmlns:a16="http://schemas.microsoft.com/office/drawing/2014/main" id="{2A167C47-8112-44F5-A1D5-B9C5AE1CAAF6}"/>
              </a:ext>
            </a:extLst>
          </p:cNvPr>
          <p:cNvSpPr>
            <a:spLocks noGrp="1"/>
          </p:cNvSpPr>
          <p:nvPr/>
        </p:nvSpPr>
        <p:spPr>
          <a:xfrm>
            <a:off x="4760274" y="6032500"/>
            <a:ext cx="838200" cy="228600"/>
          </a:xfrm>
          <a:prstGeom prst="rect">
            <a:avLst/>
          </a:prstGeom>
          <a:noFill/>
          <a:ln w="0">
            <a:noFill/>
            <a:prstDash val="solid"/>
          </a:ln>
        </p:spPr>
        <p:txBody>
          <a:bodyPr lIns="0" tIns="0" rIns="0" bIns="0" anchor="ctr">
            <a:noAutofit/>
          </a:bodyPr>
          <a:lstStyle/>
          <a:p>
            <a:pPr algn="l">
              <a:lnSpc>
                <a:spcPct val="100000"/>
              </a:lnSpc>
              <a:buNone/>
              <a:defRPr sz="1050" b="0">
                <a:solidFill>
                  <a:srgbClr val="5F6F82"/>
                </a:solidFill>
                <a:latin typeface="Microsoft YaHei"/>
                <a:ea typeface="Microsoft YaHei"/>
                <a:cs typeface="Microsoft YaHei"/>
              </a:defRPr>
            </a:pPr>
            <a:r>
              <a:rPr sz="1400" b="1">
                <a:latin typeface="Microsoft YaHei"/>
                <a:ea typeface="Microsoft YaHei"/>
                <a:cs typeface="Microsoft YaHei"/>
              </a:rPr>
              <a:t>定时拍卖</a:t>
            </a:r>
          </a:p>
        </p:txBody>
      </p:sp>
      <p:sp>
        <p:nvSpPr>
          <p:cNvPr id="470" name="Legend_Line_4">
            <a:extLst>
              <a:ext uri="{FF2B5EF4-FFF2-40B4-BE49-F238E27FC236}">
                <a16:creationId xmlns:a16="http://schemas.microsoft.com/office/drawing/2014/main" id="{4CC2C651-6CD7-49C0-9465-46196514DB09}"/>
              </a:ext>
            </a:extLst>
          </p:cNvPr>
          <p:cNvSpPr>
            <a:spLocks noGrp="1"/>
          </p:cNvSpPr>
          <p:nvPr/>
        </p:nvSpPr>
        <p:spPr>
          <a:xfrm>
            <a:off x="5617524" y="6146800"/>
            <a:ext cx="400050" cy="0"/>
          </a:xfrm>
          <a:prstGeom prst="line">
            <a:avLst/>
          </a:prstGeom>
          <a:noFill/>
          <a:ln w="28575">
            <a:solidFill>
              <a:srgbClr val="16A34A"/>
            </a:solidFill>
            <a:prstDash val="solid"/>
          </a:ln>
        </p:spPr>
      </p:sp>
      <p:sp>
        <p:nvSpPr>
          <p:cNvPr id="471" name="Legend_Text_4">
            <a:extLst>
              <a:ext uri="{FF2B5EF4-FFF2-40B4-BE49-F238E27FC236}">
                <a16:creationId xmlns:a16="http://schemas.microsoft.com/office/drawing/2014/main" id="{4DD872AF-07FC-4F06-AE2C-C80C882AE184}"/>
              </a:ext>
            </a:extLst>
          </p:cNvPr>
          <p:cNvSpPr>
            <a:spLocks noGrp="1"/>
          </p:cNvSpPr>
          <p:nvPr/>
        </p:nvSpPr>
        <p:spPr>
          <a:xfrm>
            <a:off x="6093774" y="6032500"/>
            <a:ext cx="838200" cy="228600"/>
          </a:xfrm>
          <a:prstGeom prst="rect">
            <a:avLst/>
          </a:prstGeom>
          <a:noFill/>
          <a:ln w="0">
            <a:noFill/>
            <a:prstDash val="solid"/>
          </a:ln>
        </p:spPr>
        <p:txBody>
          <a:bodyPr lIns="0" tIns="0" rIns="0" bIns="0" anchor="ctr">
            <a:noAutofit/>
          </a:bodyPr>
          <a:lstStyle/>
          <a:p>
            <a:pPr algn="l">
              <a:lnSpc>
                <a:spcPct val="100000"/>
              </a:lnSpc>
              <a:buNone/>
              <a:defRPr sz="1050" b="0">
                <a:solidFill>
                  <a:srgbClr val="5F6F82"/>
                </a:solidFill>
                <a:latin typeface="Microsoft YaHei"/>
                <a:ea typeface="Microsoft YaHei"/>
                <a:cs typeface="Microsoft YaHei"/>
              </a:defRPr>
            </a:pPr>
            <a:r>
              <a:rPr sz="1400" b="1">
                <a:latin typeface="Microsoft YaHei"/>
                <a:ea typeface="Microsoft YaHei"/>
                <a:cs typeface="Microsoft YaHei"/>
              </a:rPr>
              <a:t>连续交易</a:t>
            </a:r>
          </a:p>
        </p:txBody>
      </p:sp>
      <p:sp>
        <p:nvSpPr>
          <p:cNvPr id="472" name="Legend_Line_5">
            <a:extLst>
              <a:ext uri="{FF2B5EF4-FFF2-40B4-BE49-F238E27FC236}">
                <a16:creationId xmlns:a16="http://schemas.microsoft.com/office/drawing/2014/main" id="{3E4102AA-EC02-4937-A379-450DBDAAF747}"/>
              </a:ext>
            </a:extLst>
          </p:cNvPr>
          <p:cNvSpPr>
            <a:spLocks noGrp="1"/>
          </p:cNvSpPr>
          <p:nvPr/>
        </p:nvSpPr>
        <p:spPr>
          <a:xfrm>
            <a:off x="6951024" y="6146800"/>
            <a:ext cx="400050" cy="0"/>
          </a:xfrm>
          <a:prstGeom prst="line">
            <a:avLst/>
          </a:prstGeom>
          <a:noFill/>
          <a:ln w="28575">
            <a:solidFill>
              <a:srgbClr val="7C3AED"/>
            </a:solidFill>
            <a:prstDash val="solid"/>
          </a:ln>
        </p:spPr>
      </p:sp>
      <p:sp>
        <p:nvSpPr>
          <p:cNvPr id="473" name="Legend_Text_5">
            <a:extLst>
              <a:ext uri="{FF2B5EF4-FFF2-40B4-BE49-F238E27FC236}">
                <a16:creationId xmlns:a16="http://schemas.microsoft.com/office/drawing/2014/main" id="{F2DB3BAA-0A14-4EEE-8EE5-08FEA62CF69A}"/>
              </a:ext>
            </a:extLst>
          </p:cNvPr>
          <p:cNvSpPr>
            <a:spLocks noGrp="1"/>
          </p:cNvSpPr>
          <p:nvPr/>
        </p:nvSpPr>
        <p:spPr>
          <a:xfrm>
            <a:off x="7427274" y="6032500"/>
            <a:ext cx="838200" cy="228600"/>
          </a:xfrm>
          <a:prstGeom prst="rect">
            <a:avLst/>
          </a:prstGeom>
          <a:noFill/>
          <a:ln w="0">
            <a:noFill/>
            <a:prstDash val="solid"/>
          </a:ln>
        </p:spPr>
        <p:txBody>
          <a:bodyPr lIns="0" tIns="0" rIns="0" bIns="0" anchor="ctr">
            <a:noAutofit/>
          </a:bodyPr>
          <a:lstStyle/>
          <a:p>
            <a:pPr algn="l">
              <a:lnSpc>
                <a:spcPct val="100000"/>
              </a:lnSpc>
              <a:buNone/>
              <a:defRPr sz="1050" b="0">
                <a:solidFill>
                  <a:srgbClr val="5F6F82"/>
                </a:solidFill>
                <a:latin typeface="Microsoft YaHei"/>
                <a:ea typeface="Microsoft YaHei"/>
                <a:cs typeface="Microsoft YaHei"/>
              </a:defRPr>
            </a:pPr>
            <a:r>
              <a:rPr sz="1400" b="1">
                <a:latin typeface="Microsoft YaHei"/>
                <a:ea typeface="Microsoft YaHei"/>
                <a:cs typeface="Microsoft YaHei"/>
              </a:rPr>
              <a:t>P2P</a:t>
            </a:r>
          </a:p>
        </p:txBody>
      </p:sp>
      <p:sp>
        <p:nvSpPr>
          <p:cNvPr id="474" name="Legend_Line_6">
            <a:extLst>
              <a:ext uri="{FF2B5EF4-FFF2-40B4-BE49-F238E27FC236}">
                <a16:creationId xmlns:a16="http://schemas.microsoft.com/office/drawing/2014/main" id="{99752E15-F00C-4CE8-83C2-C8D27C724DBC}"/>
              </a:ext>
            </a:extLst>
          </p:cNvPr>
          <p:cNvSpPr>
            <a:spLocks noGrp="1"/>
          </p:cNvSpPr>
          <p:nvPr/>
        </p:nvSpPr>
        <p:spPr>
          <a:xfrm>
            <a:off x="8284524" y="6146800"/>
            <a:ext cx="400050" cy="0"/>
          </a:xfrm>
          <a:prstGeom prst="line">
            <a:avLst/>
          </a:prstGeom>
          <a:noFill/>
          <a:ln w="28575">
            <a:solidFill>
              <a:srgbClr val="DB2777"/>
            </a:solidFill>
            <a:prstDash val="solid"/>
          </a:ln>
        </p:spPr>
      </p:sp>
      <p:sp>
        <p:nvSpPr>
          <p:cNvPr id="475" name="Legend_Text_6">
            <a:extLst>
              <a:ext uri="{FF2B5EF4-FFF2-40B4-BE49-F238E27FC236}">
                <a16:creationId xmlns:a16="http://schemas.microsoft.com/office/drawing/2014/main" id="{BBC79724-3C2D-4586-8519-9B4F0B33E0D2}"/>
              </a:ext>
            </a:extLst>
          </p:cNvPr>
          <p:cNvSpPr>
            <a:spLocks noGrp="1"/>
          </p:cNvSpPr>
          <p:nvPr/>
        </p:nvSpPr>
        <p:spPr>
          <a:xfrm>
            <a:off x="8760774" y="6032500"/>
            <a:ext cx="838200" cy="228600"/>
          </a:xfrm>
          <a:prstGeom prst="rect">
            <a:avLst/>
          </a:prstGeom>
          <a:noFill/>
          <a:ln w="0">
            <a:noFill/>
            <a:prstDash val="solid"/>
          </a:ln>
        </p:spPr>
        <p:txBody>
          <a:bodyPr lIns="0" tIns="0" rIns="0" bIns="0" anchor="ctr">
            <a:noAutofit/>
          </a:bodyPr>
          <a:lstStyle/>
          <a:p>
            <a:pPr algn="l">
              <a:lnSpc>
                <a:spcPct val="100000"/>
              </a:lnSpc>
              <a:buNone/>
              <a:defRPr sz="1050" b="0">
                <a:solidFill>
                  <a:srgbClr val="5F6F82"/>
                </a:solidFill>
                <a:latin typeface="Microsoft YaHei"/>
                <a:ea typeface="Microsoft YaHei"/>
                <a:cs typeface="Microsoft YaHei"/>
              </a:defRPr>
            </a:pPr>
            <a:r>
              <a:rPr sz="1400" b="1">
                <a:latin typeface="Microsoft YaHei"/>
                <a:ea typeface="Microsoft YaHei"/>
                <a:cs typeface="Microsoft YaHei"/>
              </a:rPr>
              <a:t>社区分层</a:t>
            </a:r>
          </a:p>
        </p:txBody>
      </p:sp>
      <p:sp>
        <p:nvSpPr>
          <p:cNvPr id="478" name="矩形 477">
            <a:extLst>
              <a:ext uri="{FF2B5EF4-FFF2-40B4-BE49-F238E27FC236}">
                <a16:creationId xmlns:a16="http://schemas.microsoft.com/office/drawing/2014/main" id="{F4512C0A-AA9B-4421-9744-49B0B0745C82}"/>
              </a:ext>
            </a:extLst>
          </p:cNvPr>
          <p:cNvSpPr/>
          <p:nvPr/>
        </p:nvSpPr>
        <p:spPr>
          <a:xfrm>
            <a:off x="12551724" y="-1378816"/>
            <a:ext cx="11574149" cy="10428432"/>
          </a:xfrm>
          <a:prstGeom prst="rect">
            <a:avLst/>
          </a:prstGeom>
        </p:spPr>
        <p:txBody>
          <a:bodyPr wrap="square">
            <a:spAutoFit/>
          </a:bodyPr>
          <a:lstStyle/>
          <a:p>
            <a:pPr marL="255905" indent="-255905">
              <a:lnSpc>
                <a:spcPct val="115000"/>
              </a:lnSpc>
              <a:spcAft>
                <a:spcPts val="600"/>
              </a:spcAft>
            </a:pPr>
            <a:r>
              <a:rPr lang="en-US" altLang="zh-CN" sz="1000">
                <a:solidFill>
                  <a:srgbClr val="1F2937"/>
                </a:solidFill>
                <a:latin typeface="Times New Roman" panose="02020603050405020304" pitchFamily="18" charset="0"/>
                <a:ea typeface="Noto Sans"/>
                <a:cs typeface="Times New Roman" panose="02020603050405020304" pitchFamily="18" charset="0"/>
              </a:rPr>
              <a:t>[R01] Tsaousoglou, G.; Giraldo, J. S.; Paterakis, N. G. (2022). Market Mechanisms for Local Electricity Markets: A review of models, solution concepts and algorithmic techniques. Renewable and Sustainable Energy Reviews, 156, 111890. DOI: 10.1016/j.rser.2021.111890.</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a:lnSpc>
                <a:spcPct val="125000"/>
              </a:lnSpc>
              <a:spcAft>
                <a:spcPts val="400"/>
              </a:spcAft>
            </a:pPr>
            <a:r>
              <a:rPr lang="en-US" altLang="zh-CN" sz="1000">
                <a:solidFill>
                  <a:srgbClr val="2F65D9"/>
                </a:solidFill>
                <a:latin typeface="Times New Roman" panose="02020603050405020304" pitchFamily="18" charset="0"/>
                <a:ea typeface="Noto Sans"/>
                <a:cs typeface="Times New Roman" panose="02020603050405020304" pitchFamily="18" charset="0"/>
              </a:rPr>
              <a:t>https://doi.org/10.1016/j.rser.2021.111890</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indent="-255905">
              <a:lnSpc>
                <a:spcPct val="115000"/>
              </a:lnSpc>
              <a:spcAft>
                <a:spcPts val="600"/>
              </a:spcAft>
            </a:pPr>
            <a:r>
              <a:rPr lang="en-US" altLang="zh-CN" sz="1000">
                <a:solidFill>
                  <a:srgbClr val="1F2937"/>
                </a:solidFill>
                <a:latin typeface="Times New Roman" panose="02020603050405020304" pitchFamily="18" charset="0"/>
                <a:ea typeface="Noto Sans"/>
                <a:cs typeface="Times New Roman" panose="02020603050405020304" pitchFamily="18" charset="0"/>
              </a:rPr>
              <a:t>[R02] Potenciano Menci, S.; Valarezo, O. (2024). Decoding design characteristics of local flexibility markets for congestion management with a multi-layered taxonomy. Applied Energy, 357, 122203. DOI: 10.1016/j.apenergy.2023.122203.</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a:lnSpc>
                <a:spcPct val="125000"/>
              </a:lnSpc>
              <a:spcAft>
                <a:spcPts val="400"/>
              </a:spcAft>
            </a:pPr>
            <a:r>
              <a:rPr lang="en-US" altLang="zh-CN" sz="1000">
                <a:solidFill>
                  <a:srgbClr val="2F65D9"/>
                </a:solidFill>
                <a:latin typeface="Times New Roman" panose="02020603050405020304" pitchFamily="18" charset="0"/>
                <a:ea typeface="Noto Sans"/>
                <a:cs typeface="Times New Roman" panose="02020603050405020304" pitchFamily="18" charset="0"/>
              </a:rPr>
              <a:t>https://doi.org/10.1016/j.apenergy.2023.122203</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indent="-255905">
              <a:lnSpc>
                <a:spcPct val="115000"/>
              </a:lnSpc>
              <a:spcAft>
                <a:spcPts val="600"/>
              </a:spcAft>
            </a:pPr>
            <a:r>
              <a:rPr lang="en-US" altLang="zh-CN" sz="1000">
                <a:solidFill>
                  <a:srgbClr val="1F2937"/>
                </a:solidFill>
                <a:latin typeface="Times New Roman" panose="02020603050405020304" pitchFamily="18" charset="0"/>
                <a:ea typeface="Noto Sans"/>
                <a:cs typeface="Times New Roman" panose="02020603050405020304" pitchFamily="18" charset="0"/>
              </a:rPr>
              <a:t>[R03] Michaelis, A.; Schneider, M.; Weibelzahl, M. (2025). Designing local flexibility markets: A toolbox for policymakers and market operators. Energy, 329, 136051. DOI: 10.1016/j.energy.2025.136051.</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a:lnSpc>
                <a:spcPct val="125000"/>
              </a:lnSpc>
              <a:spcAft>
                <a:spcPts val="400"/>
              </a:spcAft>
            </a:pPr>
            <a:r>
              <a:rPr lang="en-US" altLang="zh-CN" sz="1000">
                <a:solidFill>
                  <a:srgbClr val="2F65D9"/>
                </a:solidFill>
                <a:latin typeface="Times New Roman" panose="02020603050405020304" pitchFamily="18" charset="0"/>
                <a:ea typeface="Noto Sans"/>
                <a:cs typeface="Times New Roman" panose="02020603050405020304" pitchFamily="18" charset="0"/>
              </a:rPr>
              <a:t>https://doi.org/10.1016/j.energy.2025.136051</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indent="-255905">
              <a:lnSpc>
                <a:spcPct val="115000"/>
              </a:lnSpc>
              <a:spcAft>
                <a:spcPts val="600"/>
              </a:spcAft>
            </a:pPr>
            <a:r>
              <a:rPr lang="en-US" altLang="zh-CN" sz="1000">
                <a:solidFill>
                  <a:srgbClr val="1F2937"/>
                </a:solidFill>
                <a:latin typeface="Times New Roman" panose="02020603050405020304" pitchFamily="18" charset="0"/>
                <a:ea typeface="Noto Sans"/>
                <a:cs typeface="Times New Roman" panose="02020603050405020304" pitchFamily="18" charset="0"/>
              </a:rPr>
              <a:t>[R04] Talari, S.; Birk, S.; Ketter, W.; Schneiders, T. (2024). Sequential Clearing of Network-Aware Local Energy and Flexibility Markets in Community-Based Grids. IEEE Transactions on Smart Grid, 15(1), 405-417. DOI: 10.1109/TSG.2023.3276024.</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a:lnSpc>
                <a:spcPct val="125000"/>
              </a:lnSpc>
              <a:spcAft>
                <a:spcPts val="400"/>
              </a:spcAft>
            </a:pPr>
            <a:r>
              <a:rPr lang="en-US" altLang="zh-CN" sz="1000">
                <a:solidFill>
                  <a:srgbClr val="2F65D9"/>
                </a:solidFill>
                <a:latin typeface="Times New Roman" panose="02020603050405020304" pitchFamily="18" charset="0"/>
                <a:ea typeface="Noto Sans"/>
                <a:cs typeface="Times New Roman" panose="02020603050405020304" pitchFamily="18" charset="0"/>
              </a:rPr>
              <a:t>https://doi.org/10.1109/TSG.2023.3276024</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indent="-255905">
              <a:lnSpc>
                <a:spcPct val="115000"/>
              </a:lnSpc>
              <a:spcAft>
                <a:spcPts val="600"/>
              </a:spcAft>
            </a:pPr>
            <a:r>
              <a:rPr lang="en-US" altLang="zh-CN" sz="1000">
                <a:solidFill>
                  <a:srgbClr val="1F2937"/>
                </a:solidFill>
                <a:latin typeface="Times New Roman" panose="02020603050405020304" pitchFamily="18" charset="0"/>
                <a:ea typeface="Noto Sans"/>
                <a:cs typeface="Times New Roman" panose="02020603050405020304" pitchFamily="18" charset="0"/>
              </a:rPr>
              <a:t>[R05] Prat, E.; Dukovska, I.; Nellikkath, R.; Thoma, M.; Herre, L.; Chatzivasileiadis, S. (2024). Network-Aware Flexibility Requests for Distribution-Level Flexibility Markets. IEEE Transactions on Power Systems, 39(2), 2641-2652. DOI: 10.1109/TPWRS.2023.3280366.</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a:lnSpc>
                <a:spcPct val="125000"/>
              </a:lnSpc>
              <a:spcAft>
                <a:spcPts val="400"/>
              </a:spcAft>
            </a:pPr>
            <a:r>
              <a:rPr lang="en-US" altLang="zh-CN" sz="1000">
                <a:solidFill>
                  <a:srgbClr val="2F65D9"/>
                </a:solidFill>
                <a:latin typeface="Times New Roman" panose="02020603050405020304" pitchFamily="18" charset="0"/>
                <a:ea typeface="Noto Sans"/>
                <a:cs typeface="Times New Roman" panose="02020603050405020304" pitchFamily="18" charset="0"/>
              </a:rPr>
              <a:t>https://doi.org/10.1109/TPWRS.2023.3280366</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indent="-255905">
              <a:lnSpc>
                <a:spcPct val="115000"/>
              </a:lnSpc>
              <a:spcAft>
                <a:spcPts val="600"/>
              </a:spcAft>
            </a:pPr>
            <a:r>
              <a:rPr lang="en-US" altLang="zh-CN" sz="1000">
                <a:solidFill>
                  <a:srgbClr val="1F2937"/>
                </a:solidFill>
                <a:latin typeface="Times New Roman" panose="02020603050405020304" pitchFamily="18" charset="0"/>
                <a:ea typeface="Noto Sans"/>
                <a:cs typeface="Times New Roman" panose="02020603050405020304" pitchFamily="18" charset="0"/>
              </a:rPr>
              <a:t>[R06] Zhang, H.; Zhan, S.; Kok, J. K.; Paterakis, N. G. (2024). Establishing a hierarchical local market structure using multi-cut Benders decomposition. Applied Energy, 363, 123073. DOI: 10.1016/j.apenergy.2024.123073.</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a:lnSpc>
                <a:spcPct val="125000"/>
              </a:lnSpc>
              <a:spcAft>
                <a:spcPts val="400"/>
              </a:spcAft>
            </a:pPr>
            <a:r>
              <a:rPr lang="en-US" altLang="zh-CN" sz="1000">
                <a:solidFill>
                  <a:srgbClr val="2F65D9"/>
                </a:solidFill>
                <a:latin typeface="Times New Roman" panose="02020603050405020304" pitchFamily="18" charset="0"/>
                <a:ea typeface="Noto Sans"/>
                <a:cs typeface="Times New Roman" panose="02020603050405020304" pitchFamily="18" charset="0"/>
              </a:rPr>
              <a:t>https://doi.org/10.1016/j.apenergy.2024.123073</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indent="-255905">
              <a:lnSpc>
                <a:spcPct val="115000"/>
              </a:lnSpc>
              <a:spcAft>
                <a:spcPts val="600"/>
              </a:spcAft>
            </a:pPr>
            <a:r>
              <a:rPr lang="en-US" altLang="zh-CN" sz="1000">
                <a:solidFill>
                  <a:srgbClr val="1F2937"/>
                </a:solidFill>
                <a:latin typeface="Times New Roman" panose="02020603050405020304" pitchFamily="18" charset="0"/>
                <a:ea typeface="Noto Sans"/>
                <a:cs typeface="Times New Roman" panose="02020603050405020304" pitchFamily="18" charset="0"/>
              </a:rPr>
              <a:t>[R07] Azim, M. I.; Hoque, M. M.; Khorasany, M.; Razzaghi, R.; Jalili, M.; Hill, D. J. (2025). Dynamic Operating Envelope-Integrated Cooperative Energy Trading: A Fair Allocation Approach. IEEE Transactions on Power Systems, 40(4), 2845-2859. DOI: 10.1109/TPWRS.2024.3510673.</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a:lnSpc>
                <a:spcPct val="125000"/>
              </a:lnSpc>
              <a:spcAft>
                <a:spcPts val="400"/>
              </a:spcAft>
            </a:pPr>
            <a:r>
              <a:rPr lang="en-US" altLang="zh-CN" sz="1000">
                <a:solidFill>
                  <a:srgbClr val="2F65D9"/>
                </a:solidFill>
                <a:latin typeface="Times New Roman" panose="02020603050405020304" pitchFamily="18" charset="0"/>
                <a:ea typeface="Noto Sans"/>
                <a:cs typeface="Times New Roman" panose="02020603050405020304" pitchFamily="18" charset="0"/>
              </a:rPr>
              <a:t>https://doi.org/10.1109/TPWRS.2024.3510673</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indent="-255905">
              <a:lnSpc>
                <a:spcPct val="115000"/>
              </a:lnSpc>
              <a:spcAft>
                <a:spcPts val="600"/>
              </a:spcAft>
            </a:pPr>
            <a:r>
              <a:rPr lang="en-US" altLang="zh-CN" sz="1000">
                <a:solidFill>
                  <a:srgbClr val="1F2937"/>
                </a:solidFill>
                <a:latin typeface="Times New Roman" panose="02020603050405020304" pitchFamily="18" charset="0"/>
                <a:ea typeface="Noto Sans"/>
                <a:cs typeface="Times New Roman" panose="02020603050405020304" pitchFamily="18" charset="0"/>
              </a:rPr>
              <a:t>[R08] Song, M.; Jing, X.; Cai, Y.; Gao, C.; Yao, Y.; Yan, M.; Ren, S.; Li, F. (2025). Fast sequential clearing of Congestion-Aware local energy and flexibility markets. International Journal of Electrical Power &amp; Energy Systems, 165, 110456. DOI: 10.1016/j.ijepes.2025.110456.</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a:lnSpc>
                <a:spcPct val="125000"/>
              </a:lnSpc>
              <a:spcAft>
                <a:spcPts val="400"/>
              </a:spcAft>
            </a:pPr>
            <a:r>
              <a:rPr lang="en-US" altLang="zh-CN" sz="1000">
                <a:solidFill>
                  <a:srgbClr val="2F65D9"/>
                </a:solidFill>
                <a:latin typeface="Times New Roman" panose="02020603050405020304" pitchFamily="18" charset="0"/>
                <a:ea typeface="Noto Sans"/>
                <a:cs typeface="Times New Roman" panose="02020603050405020304" pitchFamily="18" charset="0"/>
              </a:rPr>
              <a:t>https://doi.org/10.1016/j.ijepes.2025.110456</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indent="-255905">
              <a:lnSpc>
                <a:spcPct val="115000"/>
              </a:lnSpc>
              <a:spcAft>
                <a:spcPts val="600"/>
              </a:spcAft>
            </a:pPr>
            <a:r>
              <a:rPr lang="en-US" altLang="zh-CN" sz="1000">
                <a:solidFill>
                  <a:srgbClr val="1F2937"/>
                </a:solidFill>
                <a:latin typeface="Times New Roman" panose="02020603050405020304" pitchFamily="18" charset="0"/>
                <a:ea typeface="Noto Sans"/>
                <a:cs typeface="Times New Roman" panose="02020603050405020304" pitchFamily="18" charset="0"/>
              </a:rPr>
              <a:t>[R09] Alahmed, A. S.; Cavraro, G.; Bernstein, A.; Tong, L. (2025). A Decentralized Market Mechanism for Energy Communities under Operating Envelopes. IEEE Transactions on Control of Network Systems, 12(1), 313-324. DOI: 10.1109/TCNS.2024.3466651.</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a:lnSpc>
                <a:spcPct val="125000"/>
              </a:lnSpc>
              <a:spcAft>
                <a:spcPts val="400"/>
              </a:spcAft>
            </a:pPr>
            <a:r>
              <a:rPr lang="en-US" altLang="zh-CN" sz="1000">
                <a:solidFill>
                  <a:srgbClr val="2F65D9"/>
                </a:solidFill>
                <a:latin typeface="Times New Roman" panose="02020603050405020304" pitchFamily="18" charset="0"/>
                <a:ea typeface="Noto Sans"/>
                <a:cs typeface="Times New Roman" panose="02020603050405020304" pitchFamily="18" charset="0"/>
              </a:rPr>
              <a:t>https://doi.org/10.1109/TCNS.2024.3466651</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indent="-255905">
              <a:lnSpc>
                <a:spcPct val="115000"/>
              </a:lnSpc>
              <a:spcAft>
                <a:spcPts val="600"/>
              </a:spcAft>
            </a:pPr>
            <a:r>
              <a:rPr lang="en-US" altLang="zh-CN" sz="1000">
                <a:solidFill>
                  <a:srgbClr val="1F2937"/>
                </a:solidFill>
                <a:latin typeface="Times New Roman" panose="02020603050405020304" pitchFamily="18" charset="0"/>
                <a:ea typeface="Noto Sans"/>
                <a:cs typeface="Times New Roman" panose="02020603050405020304" pitchFamily="18" charset="0"/>
              </a:rPr>
              <a:t>[R10] Leon Japa, R. S.; Tostado-Veliz, M.; Ogayar, B.; Jurado, F. (2025). A tri-level model for optimal management of active distribution networks enabling two-layer local markets. Applied Energy, 380, 125040. DOI: 10.1016/j.apenergy.2024.125040.</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a:lnSpc>
                <a:spcPct val="125000"/>
              </a:lnSpc>
              <a:spcAft>
                <a:spcPts val="400"/>
              </a:spcAft>
            </a:pPr>
            <a:r>
              <a:rPr lang="en-US" altLang="zh-CN" sz="1000">
                <a:solidFill>
                  <a:srgbClr val="2F65D9"/>
                </a:solidFill>
                <a:latin typeface="Times New Roman" panose="02020603050405020304" pitchFamily="18" charset="0"/>
                <a:ea typeface="Noto Sans"/>
                <a:cs typeface="Times New Roman" panose="02020603050405020304" pitchFamily="18" charset="0"/>
              </a:rPr>
              <a:t>https://doi.org/10.1016/j.apenergy.2024.125040</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indent="-255905">
              <a:lnSpc>
                <a:spcPct val="115000"/>
              </a:lnSpc>
              <a:spcAft>
                <a:spcPts val="600"/>
              </a:spcAft>
            </a:pPr>
            <a:r>
              <a:rPr lang="en-US" altLang="zh-CN" sz="1000">
                <a:solidFill>
                  <a:srgbClr val="1F2937"/>
                </a:solidFill>
                <a:latin typeface="Times New Roman" panose="02020603050405020304" pitchFamily="18" charset="0"/>
                <a:ea typeface="Noto Sans"/>
                <a:cs typeface="Times New Roman" panose="02020603050405020304" pitchFamily="18" charset="0"/>
              </a:rPr>
              <a:t>[R11] Xiao, H.; Pu, X.; Pei, W.; Ma, L. (2024). Peer-to-Peer Energy Transactions for Prosumers Based on Improved Deep Deterministic Policy Gradient Algorithm. IEEE Transactions on Smart Grid, 15(6), 5910-5922. DOI: 10.1109/TSG.2024.3419122.</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a:lnSpc>
                <a:spcPct val="125000"/>
              </a:lnSpc>
              <a:spcAft>
                <a:spcPts val="400"/>
              </a:spcAft>
            </a:pPr>
            <a:r>
              <a:rPr lang="en-US" altLang="zh-CN" sz="1000">
                <a:solidFill>
                  <a:srgbClr val="2F65D9"/>
                </a:solidFill>
                <a:latin typeface="Times New Roman" panose="02020603050405020304" pitchFamily="18" charset="0"/>
                <a:ea typeface="Noto Sans"/>
                <a:cs typeface="Times New Roman" panose="02020603050405020304" pitchFamily="18" charset="0"/>
              </a:rPr>
              <a:t>https://doi.org/10.1109/TSG.2024.3419122</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indent="-255905">
              <a:lnSpc>
                <a:spcPct val="115000"/>
              </a:lnSpc>
              <a:spcAft>
                <a:spcPts val="600"/>
              </a:spcAft>
            </a:pPr>
            <a:r>
              <a:rPr lang="en-US" altLang="zh-CN" sz="1000">
                <a:solidFill>
                  <a:srgbClr val="1F2937"/>
                </a:solidFill>
                <a:latin typeface="Times New Roman" panose="02020603050405020304" pitchFamily="18" charset="0"/>
                <a:ea typeface="Noto Sans"/>
                <a:cs typeface="Times New Roman" panose="02020603050405020304" pitchFamily="18" charset="0"/>
              </a:rPr>
              <a:t>[R12] Kaleta, M. (2020). Aided design of market mechanisms for electricity clusters. Central European Journal of Operations Research, 28, 1291-1314. DOI: 10.1007/s10100-019-00640-1.</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a:lnSpc>
                <a:spcPct val="125000"/>
              </a:lnSpc>
              <a:spcAft>
                <a:spcPts val="400"/>
              </a:spcAft>
            </a:pPr>
            <a:r>
              <a:rPr lang="en-US" altLang="zh-CN" sz="1000">
                <a:solidFill>
                  <a:srgbClr val="2F65D9"/>
                </a:solidFill>
                <a:latin typeface="Times New Roman" panose="02020603050405020304" pitchFamily="18" charset="0"/>
                <a:ea typeface="Noto Sans"/>
                <a:cs typeface="Times New Roman" panose="02020603050405020304" pitchFamily="18" charset="0"/>
              </a:rPr>
              <a:t>https://doi.org/10.1007/s10100-019-00640-1</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indent="-255905">
              <a:lnSpc>
                <a:spcPct val="115000"/>
              </a:lnSpc>
              <a:spcAft>
                <a:spcPts val="600"/>
              </a:spcAft>
            </a:pPr>
            <a:r>
              <a:rPr lang="en-US" altLang="zh-CN" sz="1000">
                <a:solidFill>
                  <a:srgbClr val="1F2937"/>
                </a:solidFill>
                <a:latin typeface="Times New Roman" panose="02020603050405020304" pitchFamily="18" charset="0"/>
                <a:ea typeface="Noto Sans"/>
                <a:cs typeface="Times New Roman" panose="02020603050405020304" pitchFamily="18" charset="0"/>
              </a:rPr>
              <a:t>[R13] Nash, J. F. (1950). The Bargaining Problem. Econometrica, 18(2), 155-162. DOI: 10.2307/1907266.</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a:lnSpc>
                <a:spcPct val="125000"/>
              </a:lnSpc>
              <a:spcAft>
                <a:spcPts val="400"/>
              </a:spcAft>
            </a:pPr>
            <a:r>
              <a:rPr lang="en-US" altLang="zh-CN" sz="1000">
                <a:solidFill>
                  <a:srgbClr val="2F65D9"/>
                </a:solidFill>
                <a:latin typeface="Times New Roman" panose="02020603050405020304" pitchFamily="18" charset="0"/>
                <a:ea typeface="Noto Sans"/>
                <a:cs typeface="Times New Roman" panose="02020603050405020304" pitchFamily="18" charset="0"/>
              </a:rPr>
              <a:t>https://doi.org/10.2307/1907266</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indent="-255905">
              <a:lnSpc>
                <a:spcPct val="115000"/>
              </a:lnSpc>
              <a:spcAft>
                <a:spcPts val="600"/>
              </a:spcAft>
            </a:pPr>
            <a:r>
              <a:rPr lang="en-US" altLang="zh-CN" sz="1000">
                <a:solidFill>
                  <a:srgbClr val="1F2937"/>
                </a:solidFill>
                <a:latin typeface="Times New Roman" panose="02020603050405020304" pitchFamily="18" charset="0"/>
                <a:ea typeface="Noto Sans"/>
                <a:cs typeface="Times New Roman" panose="02020603050405020304" pitchFamily="18" charset="0"/>
              </a:rPr>
              <a:t>[R14] McAfee, R. P. (1992). A Dominant Strategy Double Auction. Journal of Economic Theory, 56(2), 434-450. DOI: 10.1016/0022-0531(92)90091-U.</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a:lnSpc>
                <a:spcPct val="125000"/>
              </a:lnSpc>
              <a:spcAft>
                <a:spcPts val="400"/>
              </a:spcAft>
            </a:pPr>
            <a:r>
              <a:rPr lang="en-US" altLang="zh-CN" sz="1000">
                <a:solidFill>
                  <a:srgbClr val="2F65D9"/>
                </a:solidFill>
                <a:latin typeface="Times New Roman" panose="02020603050405020304" pitchFamily="18" charset="0"/>
                <a:ea typeface="Noto Sans"/>
                <a:cs typeface="Times New Roman" panose="02020603050405020304" pitchFamily="18" charset="0"/>
              </a:rPr>
              <a:t>https://doi.org/10.1016/0022-0531(92)90091-U</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indent="-255905">
              <a:lnSpc>
                <a:spcPct val="115000"/>
              </a:lnSpc>
              <a:spcAft>
                <a:spcPts val="600"/>
              </a:spcAft>
            </a:pPr>
            <a:r>
              <a:rPr lang="en-US" altLang="zh-CN" sz="1000">
                <a:solidFill>
                  <a:srgbClr val="1F2937"/>
                </a:solidFill>
                <a:latin typeface="Times New Roman" panose="02020603050405020304" pitchFamily="18" charset="0"/>
                <a:ea typeface="Noto Sans"/>
                <a:cs typeface="Times New Roman" panose="02020603050405020304" pitchFamily="18" charset="0"/>
              </a:rPr>
              <a:t>[R15] Baran, M. E.; Wu, F. F. (1989). Network reconfiguration in distribution systems for loss reduction and load balancing. IEEE Transactions on Power Delivery, 4(2), 1401-1407. DOI: 10.1109/61.25627.</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a:lnSpc>
                <a:spcPct val="125000"/>
              </a:lnSpc>
              <a:spcAft>
                <a:spcPts val="400"/>
              </a:spcAft>
            </a:pPr>
            <a:r>
              <a:rPr lang="en-US" altLang="zh-CN" sz="1000">
                <a:solidFill>
                  <a:srgbClr val="2F65D9"/>
                </a:solidFill>
                <a:latin typeface="Times New Roman" panose="02020603050405020304" pitchFamily="18" charset="0"/>
                <a:ea typeface="Noto Sans"/>
                <a:cs typeface="Times New Roman" panose="02020603050405020304" pitchFamily="18" charset="0"/>
              </a:rPr>
              <a:t>https://doi.org/10.1109/61.25627</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indent="-255905">
              <a:lnSpc>
                <a:spcPct val="115000"/>
              </a:lnSpc>
              <a:spcAft>
                <a:spcPts val="600"/>
              </a:spcAft>
            </a:pPr>
            <a:r>
              <a:rPr lang="en-US" altLang="zh-CN" sz="1000">
                <a:solidFill>
                  <a:srgbClr val="1F2937"/>
                </a:solidFill>
                <a:latin typeface="Times New Roman" panose="02020603050405020304" pitchFamily="18" charset="0"/>
                <a:ea typeface="Noto Sans"/>
                <a:cs typeface="Times New Roman" panose="02020603050405020304" pitchFamily="18" charset="0"/>
              </a:rPr>
              <a:t>[R16] Li, R.; Wu, Q.; Oren, S. S. (2014). Distribution Locational Marginal Pricing for Optimal Electric Vehicle Charging Management. IEEE Transactions on Power Systems, 29(1), 203-211. DOI: 10.1109/TPWRS.2013.2278952.</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a:lnSpc>
                <a:spcPct val="125000"/>
              </a:lnSpc>
              <a:spcAft>
                <a:spcPts val="400"/>
              </a:spcAft>
            </a:pPr>
            <a:r>
              <a:rPr lang="en-US" altLang="zh-CN" sz="1000">
                <a:solidFill>
                  <a:srgbClr val="2F65D9"/>
                </a:solidFill>
                <a:latin typeface="Times New Roman" panose="02020603050405020304" pitchFamily="18" charset="0"/>
                <a:ea typeface="Noto Sans"/>
                <a:cs typeface="Times New Roman" panose="02020603050405020304" pitchFamily="18" charset="0"/>
              </a:rPr>
              <a:t>https://doi.org/10.1109/TPWRS.2013.2278952</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indent="-255905">
              <a:lnSpc>
                <a:spcPct val="115000"/>
              </a:lnSpc>
              <a:spcAft>
                <a:spcPts val="600"/>
              </a:spcAft>
            </a:pPr>
            <a:r>
              <a:rPr lang="en-US" altLang="zh-CN" sz="1000">
                <a:solidFill>
                  <a:srgbClr val="1F2937"/>
                </a:solidFill>
                <a:latin typeface="Times New Roman" panose="02020603050405020304" pitchFamily="18" charset="0"/>
                <a:ea typeface="Noto Sans"/>
                <a:cs typeface="Times New Roman" panose="02020603050405020304" pitchFamily="18" charset="0"/>
              </a:rPr>
              <a:t>[R17] Ziras, C.; Zepter, J. M.; Pechrak, S.; Tsaousoglou, G. (2025). Designing a local flexibility market for buying back capacity from electricity consumers connected to the distribution network. Utilities Policy, 93, 101889. DOI: 10.1016/j.jup.2025.101889.</a:t>
            </a:r>
            <a:endParaRPr lang="zh-CN" altLang="zh-CN" sz="1050">
              <a:solidFill>
                <a:srgbClr val="1F2937"/>
              </a:solidFill>
              <a:latin typeface="Times New Roman" panose="02020603050405020304" pitchFamily="18" charset="0"/>
              <a:ea typeface="微软雅黑" panose="020B0503020204020204" pitchFamily="34" charset="-122"/>
              <a:cs typeface="Times New Roman" panose="02020603050405020304" pitchFamily="18" charset="0"/>
            </a:endParaRPr>
          </a:p>
          <a:p>
            <a:pPr marL="255905">
              <a:lnSpc>
                <a:spcPct val="125000"/>
              </a:lnSpc>
              <a:spcAft>
                <a:spcPts val="400"/>
              </a:spcAft>
            </a:pPr>
            <a:r>
              <a:rPr lang="en-US" altLang="zh-CN" sz="1000">
                <a:solidFill>
                  <a:srgbClr val="2F65D9"/>
                </a:solidFill>
                <a:latin typeface="Times New Roman" panose="02020603050405020304" pitchFamily="18" charset="0"/>
                <a:ea typeface="Noto Sans"/>
                <a:cs typeface="Times New Roman" panose="02020603050405020304" pitchFamily="18" charset="0"/>
              </a:rPr>
              <a:t>https://doi.org/10.1016/j.jup.2025.101889</a:t>
            </a:r>
            <a:endParaRPr lang="zh-CN" altLang="zh-CN" sz="1050">
              <a:solidFill>
                <a:srgbClr val="1F2937"/>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82" name="图片 481">
            <a:extLst>
              <a:ext uri="{FF2B5EF4-FFF2-40B4-BE49-F238E27FC236}">
                <a16:creationId xmlns:a16="http://schemas.microsoft.com/office/drawing/2014/main" id="{96F5D37F-7DA8-4B0E-8EA5-8B689C381CC1}"/>
              </a:ext>
            </a:extLst>
          </p:cNvPr>
          <p:cNvPicPr>
            <a:picLocks noChangeAspect="1"/>
          </p:cNvPicPr>
          <p:nvPr/>
        </p:nvPicPr>
        <p:blipFill>
          <a:blip r:embed="rId3"/>
          <a:stretch>
            <a:fillRect/>
          </a:stretch>
        </p:blipFill>
        <p:spPr>
          <a:xfrm>
            <a:off x="298039" y="1552306"/>
            <a:ext cx="11574150" cy="4845588"/>
          </a:xfrm>
          <a:prstGeom prst="rect">
            <a:avLst/>
          </a:prstGeom>
        </p:spPr>
      </p:pic>
    </p:spTree>
    <p:extLst>
      <p:ext uri="{BB962C8B-B14F-4D97-AF65-F5344CB8AC3E}">
        <p14:creationId xmlns:p14="http://schemas.microsoft.com/office/powerpoint/2010/main" val="367645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文本框 102">
            <a:extLst>
              <a:ext uri="{FF2B5EF4-FFF2-40B4-BE49-F238E27FC236}">
                <a16:creationId xmlns:a16="http://schemas.microsoft.com/office/drawing/2014/main" id="{400C34DB-7243-4EB8-8C6C-330E2C7686F0}"/>
              </a:ext>
            </a:extLst>
          </p:cNvPr>
          <p:cNvSpPr txBox="1"/>
          <p:nvPr/>
        </p:nvSpPr>
        <p:spPr>
          <a:xfrm>
            <a:off x="398615" y="144773"/>
            <a:ext cx="117933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2.3 </a:t>
            </a:r>
            <a:r>
              <a:rPr lang="zh-CN" altLang="en-US" sz="2800" spc="0">
                <a:solidFill>
                  <a:schemeClr val="tx1"/>
                </a:solidFill>
                <a:effectLst/>
                <a:sym typeface="微软雅黑" panose="020B0503020204020204" pitchFamily="34" charset="-122"/>
              </a:rPr>
              <a:t>规则分层组合有向图？典型市场设计模板，延申的设计空间预估</a:t>
            </a:r>
          </a:p>
        </p:txBody>
      </p:sp>
      <p:grpSp>
        <p:nvGrpSpPr>
          <p:cNvPr id="104" name="组合 103">
            <a:extLst>
              <a:ext uri="{FF2B5EF4-FFF2-40B4-BE49-F238E27FC236}">
                <a16:creationId xmlns:a16="http://schemas.microsoft.com/office/drawing/2014/main" id="{1FDF6480-662B-47C1-960A-0F035233A7D0}"/>
              </a:ext>
            </a:extLst>
          </p:cNvPr>
          <p:cNvGrpSpPr/>
          <p:nvPr/>
        </p:nvGrpSpPr>
        <p:grpSpPr>
          <a:xfrm>
            <a:off x="308924" y="734752"/>
            <a:ext cx="11574151" cy="522605"/>
            <a:chOff x="308924" y="734752"/>
            <a:chExt cx="11574151" cy="522605"/>
          </a:xfrm>
        </p:grpSpPr>
        <p:sp>
          <p:nvSpPr>
            <p:cNvPr id="105" name="矩形 22">
              <a:extLst>
                <a:ext uri="{FF2B5EF4-FFF2-40B4-BE49-F238E27FC236}">
                  <a16:creationId xmlns:a16="http://schemas.microsoft.com/office/drawing/2014/main" id="{A89B10C8-6D5D-4023-B8D0-8E10E2951065}"/>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106" name="文本框 105">
              <a:extLst>
                <a:ext uri="{FF2B5EF4-FFF2-40B4-BE49-F238E27FC236}">
                  <a16:creationId xmlns:a16="http://schemas.microsoft.com/office/drawing/2014/main" id="{3DE43E9C-68AE-4CCA-9E9F-99522BBE6E92}"/>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AI</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做的设计空间预估，这部分主要看考虑的维度，但都难以遍历仿真</a:t>
              </a:r>
              <a:endParaRPr sz="22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sp>
        <p:nvSpPr>
          <p:cNvPr id="213" name="S2_Core_Label">
            <a:extLst>
              <a:ext uri="{FF2B5EF4-FFF2-40B4-BE49-F238E27FC236}">
                <a16:creationId xmlns:a16="http://schemas.microsoft.com/office/drawing/2014/main" id="{0696A758-3371-40FC-82FE-9A1B44A0AB49}"/>
              </a:ext>
            </a:extLst>
          </p:cNvPr>
          <p:cNvSpPr>
            <a:spLocks noGrp="1"/>
          </p:cNvSpPr>
          <p:nvPr/>
        </p:nvSpPr>
        <p:spPr>
          <a:xfrm>
            <a:off x="308924" y="1551597"/>
            <a:ext cx="2095500" cy="203200"/>
          </a:xfrm>
          <a:prstGeom prst="rect">
            <a:avLst/>
          </a:prstGeom>
          <a:noFill/>
          <a:ln w="0">
            <a:noFill/>
            <a:prstDash val="solid"/>
          </a:ln>
        </p:spPr>
        <p:txBody>
          <a:bodyPr lIns="0" tIns="0" rIns="0" bIns="0" anchor="ctr">
            <a:noAutofit/>
          </a:bodyPr>
          <a:lstStyle/>
          <a:p>
            <a:pPr algn="l">
              <a:lnSpc>
                <a:spcPct val="100000"/>
              </a:lnSpc>
              <a:buNone/>
              <a:defRPr sz="1500" b="1">
                <a:solidFill>
                  <a:srgbClr val="111827"/>
                </a:solidFill>
                <a:latin typeface="Microsoft YaHei"/>
                <a:ea typeface="Microsoft YaHei"/>
                <a:cs typeface="Microsoft YaHei"/>
              </a:defRPr>
            </a:pPr>
            <a:r>
              <a:rPr sz="1200" b="1">
                <a:solidFill>
                  <a:srgbClr val="111827"/>
                </a:solidFill>
                <a:latin typeface="Microsoft YaHei"/>
                <a:ea typeface="Microsoft YaHei"/>
                <a:cs typeface="Microsoft YaHei"/>
              </a:rPr>
              <a:t>核心四层  B×M×P×C</a:t>
            </a:r>
          </a:p>
        </p:txBody>
      </p:sp>
      <p:sp>
        <p:nvSpPr>
          <p:cNvPr id="214" name="S2_Core_Formula">
            <a:extLst>
              <a:ext uri="{FF2B5EF4-FFF2-40B4-BE49-F238E27FC236}">
                <a16:creationId xmlns:a16="http://schemas.microsoft.com/office/drawing/2014/main" id="{6F724E69-3384-48F3-897A-E41B63EFD4DA}"/>
              </a:ext>
            </a:extLst>
          </p:cNvPr>
          <p:cNvSpPr>
            <a:spLocks noGrp="1"/>
          </p:cNvSpPr>
          <p:nvPr/>
        </p:nvSpPr>
        <p:spPr>
          <a:xfrm>
            <a:off x="308924" y="1805597"/>
            <a:ext cx="2095500" cy="203200"/>
          </a:xfrm>
          <a:prstGeom prst="rect">
            <a:avLst/>
          </a:prstGeom>
          <a:noFill/>
          <a:ln w="0">
            <a:noFill/>
            <a:prstDash val="solid"/>
          </a:ln>
        </p:spPr>
        <p:txBody>
          <a:bodyPr lIns="0" tIns="0" rIns="0" bIns="0" anchor="ctr">
            <a:noAutofit/>
          </a:bodyPr>
          <a:lstStyle/>
          <a:p>
            <a:pPr algn="l">
              <a:lnSpc>
                <a:spcPct val="100000"/>
              </a:lnSpc>
              <a:buNone/>
              <a:defRPr sz="1650" b="0">
                <a:solidFill>
                  <a:srgbClr val="5F6F82"/>
                </a:solidFill>
                <a:latin typeface="Arial"/>
                <a:ea typeface="Arial"/>
                <a:cs typeface="Arial"/>
              </a:defRPr>
            </a:pPr>
            <a:r>
              <a:rPr sz="1100">
                <a:solidFill>
                  <a:srgbClr val="5F6F82"/>
                </a:solidFill>
                <a:latin typeface="Arial"/>
                <a:ea typeface="Arial"/>
                <a:cs typeface="Arial"/>
              </a:rPr>
              <a:t>6 × 6 × 7 × 6</a:t>
            </a:r>
          </a:p>
        </p:txBody>
      </p:sp>
      <p:sp>
        <p:nvSpPr>
          <p:cNvPr id="215" name="S2_Core_0">
            <a:extLst>
              <a:ext uri="{FF2B5EF4-FFF2-40B4-BE49-F238E27FC236}">
                <a16:creationId xmlns:a16="http://schemas.microsoft.com/office/drawing/2014/main" id="{B7088F31-2703-473C-9205-6E856FADB923}"/>
              </a:ext>
            </a:extLst>
          </p:cNvPr>
          <p:cNvSpPr>
            <a:spLocks noGrp="1"/>
          </p:cNvSpPr>
          <p:nvPr/>
        </p:nvSpPr>
        <p:spPr>
          <a:xfrm>
            <a:off x="1920153" y="1551597"/>
            <a:ext cx="1524000" cy="609600"/>
          </a:xfrm>
          <a:prstGeom prst="roundRect">
            <a:avLst>
              <a:gd name="adj" fmla="val 8333"/>
            </a:avLst>
          </a:prstGeom>
          <a:solidFill>
            <a:srgbClr val="E3EAF2"/>
          </a:solidFill>
          <a:ln w="10478">
            <a:solidFill>
              <a:srgbClr val="AEBECD"/>
            </a:solidFill>
            <a:prstDash val="solid"/>
          </a:ln>
        </p:spPr>
      </p:sp>
      <p:sp>
        <p:nvSpPr>
          <p:cNvPr id="216" name="S2_Core_Num_0">
            <a:extLst>
              <a:ext uri="{FF2B5EF4-FFF2-40B4-BE49-F238E27FC236}">
                <a16:creationId xmlns:a16="http://schemas.microsoft.com/office/drawing/2014/main" id="{A5F19FF9-0F2C-414F-88F4-6E1EA24492D4}"/>
              </a:ext>
            </a:extLst>
          </p:cNvPr>
          <p:cNvSpPr>
            <a:spLocks noGrp="1"/>
          </p:cNvSpPr>
          <p:nvPr/>
        </p:nvSpPr>
        <p:spPr>
          <a:xfrm>
            <a:off x="1920153" y="1589697"/>
            <a:ext cx="1524000" cy="292100"/>
          </a:xfrm>
          <a:prstGeom prst="rect">
            <a:avLst/>
          </a:prstGeom>
          <a:noFill/>
          <a:ln w="0">
            <a:noFill/>
            <a:prstDash val="solid"/>
          </a:ln>
        </p:spPr>
        <p:txBody>
          <a:bodyPr lIns="0" tIns="0" rIns="0" bIns="0" anchor="ctr">
            <a:noAutofit/>
          </a:bodyPr>
          <a:lstStyle/>
          <a:p>
            <a:pPr algn="ctr">
              <a:lnSpc>
                <a:spcPct val="100000"/>
              </a:lnSpc>
              <a:buNone/>
              <a:defRPr sz="2325" b="1">
                <a:solidFill>
                  <a:srgbClr val="365C80"/>
                </a:solidFill>
                <a:latin typeface="Arial"/>
                <a:ea typeface="Arial"/>
                <a:cs typeface="Arial"/>
              </a:defRPr>
            </a:pPr>
            <a:r>
              <a:rPr sz="1550" b="1">
                <a:solidFill>
                  <a:srgbClr val="365C80"/>
                </a:solidFill>
                <a:latin typeface="Arial"/>
                <a:ea typeface="Arial"/>
                <a:cs typeface="Arial"/>
              </a:rPr>
              <a:t>1512</a:t>
            </a:r>
          </a:p>
        </p:txBody>
      </p:sp>
      <p:sp>
        <p:nvSpPr>
          <p:cNvPr id="217" name="S2_Core_Label_0">
            <a:extLst>
              <a:ext uri="{FF2B5EF4-FFF2-40B4-BE49-F238E27FC236}">
                <a16:creationId xmlns:a16="http://schemas.microsoft.com/office/drawing/2014/main" id="{AD8021DB-F1B7-4F3B-8071-62524CD1DB20}"/>
              </a:ext>
            </a:extLst>
          </p:cNvPr>
          <p:cNvSpPr>
            <a:spLocks noGrp="1"/>
          </p:cNvSpPr>
          <p:nvPr/>
        </p:nvSpPr>
        <p:spPr>
          <a:xfrm>
            <a:off x="1920153" y="1900847"/>
            <a:ext cx="1524000" cy="165100"/>
          </a:xfrm>
          <a:prstGeom prst="rect">
            <a:avLst/>
          </a:prstGeom>
          <a:noFill/>
          <a:ln w="0">
            <a:noFill/>
            <a:prstDash val="solid"/>
          </a:ln>
        </p:spPr>
        <p:txBody>
          <a:bodyPr lIns="0" tIns="0" rIns="0" bIns="0" anchor="ctr">
            <a:noAutofit/>
          </a:bodyPr>
          <a:lstStyle/>
          <a:p>
            <a:pPr algn="ctr">
              <a:lnSpc>
                <a:spcPct val="100000"/>
              </a:lnSpc>
              <a:buNone/>
              <a:defRPr sz="1200" b="0">
                <a:solidFill>
                  <a:srgbClr val="5F6F82"/>
                </a:solidFill>
                <a:latin typeface="Microsoft YaHei"/>
                <a:ea typeface="Microsoft YaHei"/>
                <a:cs typeface="Microsoft YaHei"/>
              </a:defRPr>
            </a:pPr>
            <a:r>
              <a:rPr lang="zh-CN" altLang="en-US" sz="1100" b="1">
                <a:solidFill>
                  <a:srgbClr val="5F6F82"/>
                </a:solidFill>
                <a:latin typeface="Microsoft YaHei"/>
                <a:ea typeface="Microsoft YaHei"/>
                <a:cs typeface="Microsoft YaHei"/>
              </a:rPr>
              <a:t>直接相乘</a:t>
            </a:r>
            <a:endParaRPr sz="1100" b="1">
              <a:solidFill>
                <a:srgbClr val="5F6F82"/>
              </a:solidFill>
              <a:latin typeface="Microsoft YaHei"/>
              <a:ea typeface="Microsoft YaHei"/>
              <a:cs typeface="Microsoft YaHei"/>
            </a:endParaRPr>
          </a:p>
        </p:txBody>
      </p:sp>
      <p:sp>
        <p:nvSpPr>
          <p:cNvPr id="218" name="S2_Core_Arrow_0">
            <a:extLst>
              <a:ext uri="{FF2B5EF4-FFF2-40B4-BE49-F238E27FC236}">
                <a16:creationId xmlns:a16="http://schemas.microsoft.com/office/drawing/2014/main" id="{3029A340-114C-4BD0-A54F-3D1C0F013B8B}"/>
              </a:ext>
            </a:extLst>
          </p:cNvPr>
          <p:cNvSpPr>
            <a:spLocks noGrp="1"/>
          </p:cNvSpPr>
          <p:nvPr/>
        </p:nvSpPr>
        <p:spPr>
          <a:xfrm>
            <a:off x="3444153" y="1856397"/>
            <a:ext cx="285750" cy="0"/>
          </a:xfrm>
          <a:prstGeom prst="line">
            <a:avLst/>
          </a:prstGeom>
          <a:noFill/>
          <a:ln w="19050">
            <a:solidFill>
              <a:srgbClr val="365C80"/>
            </a:solidFill>
            <a:prstDash val="solid"/>
          </a:ln>
        </p:spPr>
      </p:sp>
      <p:sp>
        <p:nvSpPr>
          <p:cNvPr id="219" name="S2_Core_1">
            <a:extLst>
              <a:ext uri="{FF2B5EF4-FFF2-40B4-BE49-F238E27FC236}">
                <a16:creationId xmlns:a16="http://schemas.microsoft.com/office/drawing/2014/main" id="{C535D798-323B-454A-99F9-885522F3275B}"/>
              </a:ext>
            </a:extLst>
          </p:cNvPr>
          <p:cNvSpPr>
            <a:spLocks noGrp="1"/>
          </p:cNvSpPr>
          <p:nvPr/>
        </p:nvSpPr>
        <p:spPr>
          <a:xfrm>
            <a:off x="3729903" y="1551597"/>
            <a:ext cx="1270000" cy="609600"/>
          </a:xfrm>
          <a:prstGeom prst="roundRect">
            <a:avLst>
              <a:gd name="adj" fmla="val 8333"/>
            </a:avLst>
          </a:prstGeom>
          <a:solidFill>
            <a:srgbClr val="EEF3F7"/>
          </a:solidFill>
          <a:ln w="10478">
            <a:solidFill>
              <a:srgbClr val="AEBECD"/>
            </a:solidFill>
            <a:prstDash val="solid"/>
          </a:ln>
        </p:spPr>
      </p:sp>
      <p:sp>
        <p:nvSpPr>
          <p:cNvPr id="220" name="S2_Core_Num_1">
            <a:extLst>
              <a:ext uri="{FF2B5EF4-FFF2-40B4-BE49-F238E27FC236}">
                <a16:creationId xmlns:a16="http://schemas.microsoft.com/office/drawing/2014/main" id="{436D11B9-E6B7-4533-B8BC-B87E88A56C80}"/>
              </a:ext>
            </a:extLst>
          </p:cNvPr>
          <p:cNvSpPr>
            <a:spLocks noGrp="1"/>
          </p:cNvSpPr>
          <p:nvPr/>
        </p:nvSpPr>
        <p:spPr>
          <a:xfrm>
            <a:off x="3729903" y="1589697"/>
            <a:ext cx="1270000" cy="292100"/>
          </a:xfrm>
          <a:prstGeom prst="rect">
            <a:avLst/>
          </a:prstGeom>
          <a:noFill/>
          <a:ln w="0">
            <a:noFill/>
            <a:prstDash val="solid"/>
          </a:ln>
        </p:spPr>
        <p:txBody>
          <a:bodyPr lIns="0" tIns="0" rIns="0" bIns="0" anchor="ctr">
            <a:noAutofit/>
          </a:bodyPr>
          <a:lstStyle/>
          <a:p>
            <a:pPr algn="ctr">
              <a:lnSpc>
                <a:spcPct val="100000"/>
              </a:lnSpc>
              <a:buNone/>
              <a:defRPr sz="2325" b="1">
                <a:solidFill>
                  <a:srgbClr val="365C80"/>
                </a:solidFill>
                <a:latin typeface="Arial"/>
                <a:ea typeface="Arial"/>
                <a:cs typeface="Arial"/>
              </a:defRPr>
            </a:pPr>
            <a:r>
              <a:rPr sz="1550" b="1">
                <a:solidFill>
                  <a:srgbClr val="365C80"/>
                </a:solidFill>
                <a:latin typeface="Arial"/>
                <a:ea typeface="Arial"/>
                <a:cs typeface="Arial"/>
              </a:rPr>
              <a:t>470</a:t>
            </a:r>
          </a:p>
        </p:txBody>
      </p:sp>
      <p:sp>
        <p:nvSpPr>
          <p:cNvPr id="221" name="S2_Core_Label_1">
            <a:extLst>
              <a:ext uri="{FF2B5EF4-FFF2-40B4-BE49-F238E27FC236}">
                <a16:creationId xmlns:a16="http://schemas.microsoft.com/office/drawing/2014/main" id="{FB45144C-4264-42ED-86AA-C0EB799AA6BF}"/>
              </a:ext>
            </a:extLst>
          </p:cNvPr>
          <p:cNvSpPr>
            <a:spLocks noGrp="1"/>
          </p:cNvSpPr>
          <p:nvPr/>
        </p:nvSpPr>
        <p:spPr>
          <a:xfrm>
            <a:off x="3729903" y="1900847"/>
            <a:ext cx="1270000" cy="165100"/>
          </a:xfrm>
          <a:prstGeom prst="rect">
            <a:avLst/>
          </a:prstGeom>
          <a:noFill/>
          <a:ln w="0">
            <a:noFill/>
            <a:prstDash val="solid"/>
          </a:ln>
        </p:spPr>
        <p:txBody>
          <a:bodyPr lIns="0" tIns="0" rIns="0" bIns="0" anchor="ctr">
            <a:noAutofit/>
          </a:bodyPr>
          <a:lstStyle/>
          <a:p>
            <a:pPr algn="ctr">
              <a:lnSpc>
                <a:spcPct val="100000"/>
              </a:lnSpc>
              <a:buNone/>
              <a:defRPr sz="1200" b="0">
                <a:solidFill>
                  <a:srgbClr val="5F6F82"/>
                </a:solidFill>
                <a:latin typeface="Microsoft YaHei"/>
                <a:ea typeface="Microsoft YaHei"/>
                <a:cs typeface="Microsoft YaHei"/>
              </a:defRPr>
            </a:pPr>
            <a:r>
              <a:rPr lang="zh-CN" altLang="en-US" sz="1100" b="1">
                <a:solidFill>
                  <a:srgbClr val="5F6F82"/>
                </a:solidFill>
                <a:latin typeface="Microsoft YaHei"/>
                <a:ea typeface="Microsoft YaHei"/>
                <a:cs typeface="Microsoft YaHei"/>
              </a:rPr>
              <a:t>被约束干掉的剩下的</a:t>
            </a:r>
            <a:endParaRPr sz="1100" b="1">
              <a:solidFill>
                <a:srgbClr val="5F6F82"/>
              </a:solidFill>
              <a:latin typeface="Microsoft YaHei"/>
              <a:ea typeface="Microsoft YaHei"/>
              <a:cs typeface="Microsoft YaHei"/>
            </a:endParaRPr>
          </a:p>
        </p:txBody>
      </p:sp>
      <p:sp>
        <p:nvSpPr>
          <p:cNvPr id="222" name="S2_Core_Arrow_1">
            <a:extLst>
              <a:ext uri="{FF2B5EF4-FFF2-40B4-BE49-F238E27FC236}">
                <a16:creationId xmlns:a16="http://schemas.microsoft.com/office/drawing/2014/main" id="{9BA69509-2D5D-4BEB-AC48-1FCA0254D3F8}"/>
              </a:ext>
            </a:extLst>
          </p:cNvPr>
          <p:cNvSpPr>
            <a:spLocks noGrp="1"/>
          </p:cNvSpPr>
          <p:nvPr/>
        </p:nvSpPr>
        <p:spPr>
          <a:xfrm>
            <a:off x="4999903" y="1856397"/>
            <a:ext cx="254000" cy="0"/>
          </a:xfrm>
          <a:prstGeom prst="line">
            <a:avLst/>
          </a:prstGeom>
          <a:noFill/>
          <a:ln w="19050">
            <a:solidFill>
              <a:srgbClr val="365C80"/>
            </a:solidFill>
            <a:prstDash val="solid"/>
          </a:ln>
        </p:spPr>
      </p:sp>
      <p:sp>
        <p:nvSpPr>
          <p:cNvPr id="223" name="S2_Core_2">
            <a:extLst>
              <a:ext uri="{FF2B5EF4-FFF2-40B4-BE49-F238E27FC236}">
                <a16:creationId xmlns:a16="http://schemas.microsoft.com/office/drawing/2014/main" id="{F628238F-5C74-4671-8DD7-D5AA73F36648}"/>
              </a:ext>
            </a:extLst>
          </p:cNvPr>
          <p:cNvSpPr>
            <a:spLocks noGrp="1"/>
          </p:cNvSpPr>
          <p:nvPr/>
        </p:nvSpPr>
        <p:spPr>
          <a:xfrm>
            <a:off x="5253903" y="1551597"/>
            <a:ext cx="1047750" cy="609600"/>
          </a:xfrm>
          <a:prstGeom prst="roundRect">
            <a:avLst>
              <a:gd name="adj" fmla="val 8333"/>
            </a:avLst>
          </a:prstGeom>
          <a:solidFill>
            <a:srgbClr val="F5E9EB"/>
          </a:solidFill>
          <a:ln w="10478">
            <a:solidFill>
              <a:srgbClr val="AEBECD"/>
            </a:solidFill>
            <a:prstDash val="solid"/>
          </a:ln>
        </p:spPr>
      </p:sp>
      <p:sp>
        <p:nvSpPr>
          <p:cNvPr id="224" name="S2_Core_Num_2">
            <a:extLst>
              <a:ext uri="{FF2B5EF4-FFF2-40B4-BE49-F238E27FC236}">
                <a16:creationId xmlns:a16="http://schemas.microsoft.com/office/drawing/2014/main" id="{EAEFDD62-E795-4D7E-9CA4-3A958A0DD604}"/>
              </a:ext>
            </a:extLst>
          </p:cNvPr>
          <p:cNvSpPr>
            <a:spLocks noGrp="1"/>
          </p:cNvSpPr>
          <p:nvPr/>
        </p:nvSpPr>
        <p:spPr>
          <a:xfrm>
            <a:off x="5253903" y="1589697"/>
            <a:ext cx="1047750" cy="292100"/>
          </a:xfrm>
          <a:prstGeom prst="rect">
            <a:avLst/>
          </a:prstGeom>
          <a:noFill/>
          <a:ln w="0">
            <a:noFill/>
            <a:prstDash val="solid"/>
          </a:ln>
        </p:spPr>
        <p:txBody>
          <a:bodyPr lIns="0" tIns="0" rIns="0" bIns="0" anchor="ctr">
            <a:noAutofit/>
          </a:bodyPr>
          <a:lstStyle/>
          <a:p>
            <a:pPr algn="ctr">
              <a:lnSpc>
                <a:spcPct val="100000"/>
              </a:lnSpc>
              <a:buNone/>
              <a:defRPr sz="2325" b="1">
                <a:solidFill>
                  <a:srgbClr val="8F2635"/>
                </a:solidFill>
                <a:latin typeface="Arial"/>
                <a:ea typeface="Arial"/>
                <a:cs typeface="Arial"/>
              </a:defRPr>
            </a:pPr>
            <a:r>
              <a:rPr sz="1550" b="1">
                <a:solidFill>
                  <a:srgbClr val="8F2635"/>
                </a:solidFill>
                <a:latin typeface="Arial"/>
                <a:ea typeface="Arial"/>
                <a:cs typeface="Arial"/>
              </a:rPr>
              <a:t>52</a:t>
            </a:r>
          </a:p>
        </p:txBody>
      </p:sp>
      <p:sp>
        <p:nvSpPr>
          <p:cNvPr id="225" name="S2_Core_Label_2">
            <a:extLst>
              <a:ext uri="{FF2B5EF4-FFF2-40B4-BE49-F238E27FC236}">
                <a16:creationId xmlns:a16="http://schemas.microsoft.com/office/drawing/2014/main" id="{00471910-3D33-46E3-9F64-6A8F2FEA630B}"/>
              </a:ext>
            </a:extLst>
          </p:cNvPr>
          <p:cNvSpPr>
            <a:spLocks noGrp="1"/>
          </p:cNvSpPr>
          <p:nvPr/>
        </p:nvSpPr>
        <p:spPr>
          <a:xfrm>
            <a:off x="5253903" y="1900847"/>
            <a:ext cx="1047750" cy="165100"/>
          </a:xfrm>
          <a:prstGeom prst="rect">
            <a:avLst/>
          </a:prstGeom>
          <a:noFill/>
          <a:ln w="0">
            <a:noFill/>
            <a:prstDash val="solid"/>
          </a:ln>
        </p:spPr>
        <p:txBody>
          <a:bodyPr lIns="0" tIns="0" rIns="0" bIns="0" anchor="ctr">
            <a:noAutofit/>
          </a:bodyPr>
          <a:lstStyle/>
          <a:p>
            <a:pPr algn="ctr">
              <a:lnSpc>
                <a:spcPct val="100000"/>
              </a:lnSpc>
              <a:buNone/>
              <a:defRPr sz="1200" b="0">
                <a:solidFill>
                  <a:srgbClr val="5F6F82"/>
                </a:solidFill>
                <a:latin typeface="Microsoft YaHei"/>
                <a:ea typeface="Microsoft YaHei"/>
                <a:cs typeface="Microsoft YaHei"/>
              </a:defRPr>
            </a:pPr>
            <a:r>
              <a:rPr lang="zh-CN" altLang="en-US" sz="1100" b="1">
                <a:solidFill>
                  <a:srgbClr val="5F6F82"/>
                </a:solidFill>
                <a:latin typeface="Microsoft YaHei"/>
                <a:ea typeface="Microsoft YaHei"/>
                <a:cs typeface="Microsoft YaHei"/>
              </a:rPr>
              <a:t>论文里有的</a:t>
            </a:r>
            <a:endParaRPr sz="1100" b="1">
              <a:solidFill>
                <a:srgbClr val="5F6F82"/>
              </a:solidFill>
              <a:latin typeface="Microsoft YaHei"/>
              <a:ea typeface="Microsoft YaHei"/>
              <a:cs typeface="Microsoft YaHei"/>
            </a:endParaRPr>
          </a:p>
        </p:txBody>
      </p:sp>
      <p:sp>
        <p:nvSpPr>
          <p:cNvPr id="3" name="箭头: 下 2">
            <a:extLst>
              <a:ext uri="{FF2B5EF4-FFF2-40B4-BE49-F238E27FC236}">
                <a16:creationId xmlns:a16="http://schemas.microsoft.com/office/drawing/2014/main" id="{4861C26D-32C0-49BD-9D70-EE687DFBF8FD}"/>
              </a:ext>
            </a:extLst>
          </p:cNvPr>
          <p:cNvSpPr/>
          <p:nvPr/>
        </p:nvSpPr>
        <p:spPr>
          <a:xfrm>
            <a:off x="2825702" y="2516324"/>
            <a:ext cx="391886" cy="261630"/>
          </a:xfrm>
          <a:prstGeom prst="downArrow">
            <a:avLst/>
          </a:prstGeom>
          <a:ln/>
        </p:spPr>
        <p:style>
          <a:lnRef idx="2">
            <a:schemeClr val="dk1">
              <a:shade val="50000"/>
            </a:schemeClr>
          </a:lnRef>
          <a:fillRef idx="1">
            <a:schemeClr val="dk1"/>
          </a:fillRef>
          <a:effectRef idx="0">
            <a:schemeClr val="dk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254" name="S2_Core_Label">
            <a:extLst>
              <a:ext uri="{FF2B5EF4-FFF2-40B4-BE49-F238E27FC236}">
                <a16:creationId xmlns:a16="http://schemas.microsoft.com/office/drawing/2014/main" id="{57A30C7C-9AB8-4BB2-A096-24AA17C469C2}"/>
              </a:ext>
            </a:extLst>
          </p:cNvPr>
          <p:cNvSpPr>
            <a:spLocks noGrp="1"/>
          </p:cNvSpPr>
          <p:nvPr/>
        </p:nvSpPr>
        <p:spPr>
          <a:xfrm>
            <a:off x="3317153" y="2557037"/>
            <a:ext cx="2095500" cy="203200"/>
          </a:xfrm>
          <a:prstGeom prst="rect">
            <a:avLst/>
          </a:prstGeom>
          <a:noFill/>
          <a:ln w="0">
            <a:noFill/>
            <a:prstDash val="solid"/>
          </a:ln>
        </p:spPr>
        <p:txBody>
          <a:bodyPr lIns="0" tIns="0" rIns="0" bIns="0" anchor="ctr">
            <a:noAutofit/>
          </a:bodyPr>
          <a:lstStyle/>
          <a:p>
            <a:pPr algn="l">
              <a:lnSpc>
                <a:spcPct val="100000"/>
              </a:lnSpc>
              <a:buNone/>
              <a:defRPr sz="1500" b="1">
                <a:solidFill>
                  <a:srgbClr val="111827"/>
                </a:solidFill>
                <a:latin typeface="Microsoft YaHei"/>
                <a:ea typeface="Microsoft YaHei"/>
                <a:cs typeface="Microsoft YaHei"/>
              </a:defRPr>
            </a:pPr>
            <a:r>
              <a:rPr lang="zh-CN" altLang="en-US" sz="1200" b="1">
                <a:solidFill>
                  <a:srgbClr val="111827"/>
                </a:solidFill>
                <a:latin typeface="Microsoft YaHei"/>
                <a:ea typeface="Microsoft YaHei"/>
                <a:cs typeface="Microsoft YaHei"/>
              </a:rPr>
              <a:t>模板延申的空间预估</a:t>
            </a:r>
            <a:endParaRPr sz="1200" b="1">
              <a:solidFill>
                <a:srgbClr val="111827"/>
              </a:solidFill>
              <a:latin typeface="Microsoft YaHei"/>
              <a:ea typeface="Microsoft YaHei"/>
              <a:cs typeface="Microsoft YaHei"/>
            </a:endParaRPr>
          </a:p>
        </p:txBody>
      </p:sp>
      <p:sp>
        <p:nvSpPr>
          <p:cNvPr id="492" name="Node_B4">
            <a:extLst>
              <a:ext uri="{FF2B5EF4-FFF2-40B4-BE49-F238E27FC236}">
                <a16:creationId xmlns:a16="http://schemas.microsoft.com/office/drawing/2014/main" id="{1351AC31-0971-4737-B93F-F7D09C066B0F}"/>
              </a:ext>
            </a:extLst>
          </p:cNvPr>
          <p:cNvSpPr>
            <a:spLocks noGrp="1"/>
          </p:cNvSpPr>
          <p:nvPr/>
        </p:nvSpPr>
        <p:spPr>
          <a:xfrm>
            <a:off x="490726" y="3109304"/>
            <a:ext cx="1968500" cy="546100"/>
          </a:xfrm>
          <a:prstGeom prst="roundRect">
            <a:avLst>
              <a:gd name="adj" fmla="val 11628"/>
            </a:avLst>
          </a:prstGeom>
          <a:solidFill>
            <a:srgbClr val="FFFFFF"/>
          </a:solidFill>
          <a:ln w="10478">
            <a:solidFill>
              <a:srgbClr val="AEBECD"/>
            </a:solidFill>
            <a:prstDash val="solid"/>
          </a:ln>
        </p:spPr>
      </p:sp>
      <p:sp>
        <p:nvSpPr>
          <p:cNvPr id="493" name="Node_B4_Tag">
            <a:extLst>
              <a:ext uri="{FF2B5EF4-FFF2-40B4-BE49-F238E27FC236}">
                <a16:creationId xmlns:a16="http://schemas.microsoft.com/office/drawing/2014/main" id="{DFB2F6F1-8541-46EF-B30A-178FC5C6E41A}"/>
              </a:ext>
            </a:extLst>
          </p:cNvPr>
          <p:cNvSpPr>
            <a:spLocks noGrp="1"/>
          </p:cNvSpPr>
          <p:nvPr/>
        </p:nvSpPr>
        <p:spPr>
          <a:xfrm>
            <a:off x="566926" y="3274404"/>
            <a:ext cx="304800" cy="215900"/>
          </a:xfrm>
          <a:prstGeom prst="roundRect">
            <a:avLst>
              <a:gd name="adj" fmla="val 23529"/>
            </a:avLst>
          </a:prstGeom>
          <a:solidFill>
            <a:srgbClr val="E3EAF2"/>
          </a:solidFill>
          <a:ln w="0">
            <a:solidFill>
              <a:srgbClr val="E3EAF2"/>
            </a:solidFill>
            <a:prstDash val="solid"/>
          </a:ln>
        </p:spPr>
      </p:sp>
      <p:sp>
        <p:nvSpPr>
          <p:cNvPr id="494" name="Node_B4_TagText">
            <a:extLst>
              <a:ext uri="{FF2B5EF4-FFF2-40B4-BE49-F238E27FC236}">
                <a16:creationId xmlns:a16="http://schemas.microsoft.com/office/drawing/2014/main" id="{B56568FB-5AEE-4ED0-BC09-52241010833E}"/>
              </a:ext>
            </a:extLst>
          </p:cNvPr>
          <p:cNvSpPr>
            <a:spLocks noGrp="1"/>
          </p:cNvSpPr>
          <p:nvPr/>
        </p:nvSpPr>
        <p:spPr>
          <a:xfrm>
            <a:off x="566926" y="3274404"/>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B4</a:t>
            </a:r>
          </a:p>
        </p:txBody>
      </p:sp>
      <p:sp>
        <p:nvSpPr>
          <p:cNvPr id="495" name="Node_B4_CN">
            <a:extLst>
              <a:ext uri="{FF2B5EF4-FFF2-40B4-BE49-F238E27FC236}">
                <a16:creationId xmlns:a16="http://schemas.microsoft.com/office/drawing/2014/main" id="{FFB2B3C7-0C60-4FE8-B403-D4BF57ADB285}"/>
              </a:ext>
            </a:extLst>
          </p:cNvPr>
          <p:cNvSpPr>
            <a:spLocks noGrp="1"/>
          </p:cNvSpPr>
          <p:nvPr/>
        </p:nvSpPr>
        <p:spPr>
          <a:xfrm>
            <a:off x="890776" y="3251290"/>
            <a:ext cx="1460500" cy="262128"/>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1200" b="1">
                <a:solidFill>
                  <a:srgbClr val="111827"/>
                </a:solidFill>
                <a:latin typeface="Microsoft YaHei"/>
                <a:ea typeface="Microsoft YaHei"/>
                <a:cs typeface="Microsoft YaHei"/>
              </a:rPr>
              <a:t>容量 + 激活双部报价</a:t>
            </a:r>
          </a:p>
        </p:txBody>
      </p:sp>
      <p:sp>
        <p:nvSpPr>
          <p:cNvPr id="497" name="Node_B1">
            <a:extLst>
              <a:ext uri="{FF2B5EF4-FFF2-40B4-BE49-F238E27FC236}">
                <a16:creationId xmlns:a16="http://schemas.microsoft.com/office/drawing/2014/main" id="{90726514-873D-49CA-B440-7FBFF114BC1E}"/>
              </a:ext>
            </a:extLst>
          </p:cNvPr>
          <p:cNvSpPr>
            <a:spLocks noGrp="1"/>
          </p:cNvSpPr>
          <p:nvPr/>
        </p:nvSpPr>
        <p:spPr>
          <a:xfrm>
            <a:off x="490726" y="4252304"/>
            <a:ext cx="1968500" cy="546100"/>
          </a:xfrm>
          <a:prstGeom prst="roundRect">
            <a:avLst>
              <a:gd name="adj" fmla="val 11628"/>
            </a:avLst>
          </a:prstGeom>
          <a:solidFill>
            <a:srgbClr val="FFFFFF"/>
          </a:solidFill>
          <a:ln w="10478">
            <a:solidFill>
              <a:srgbClr val="AEBECD"/>
            </a:solidFill>
            <a:prstDash val="solid"/>
          </a:ln>
        </p:spPr>
      </p:sp>
      <p:sp>
        <p:nvSpPr>
          <p:cNvPr id="498" name="Node_B1_Tag">
            <a:extLst>
              <a:ext uri="{FF2B5EF4-FFF2-40B4-BE49-F238E27FC236}">
                <a16:creationId xmlns:a16="http://schemas.microsoft.com/office/drawing/2014/main" id="{1E30FF26-EF4A-4E6E-812B-092D32157888}"/>
              </a:ext>
            </a:extLst>
          </p:cNvPr>
          <p:cNvSpPr>
            <a:spLocks noGrp="1"/>
          </p:cNvSpPr>
          <p:nvPr/>
        </p:nvSpPr>
        <p:spPr>
          <a:xfrm>
            <a:off x="566926" y="4417404"/>
            <a:ext cx="304800" cy="215900"/>
          </a:xfrm>
          <a:prstGeom prst="roundRect">
            <a:avLst>
              <a:gd name="adj" fmla="val 23529"/>
            </a:avLst>
          </a:prstGeom>
          <a:solidFill>
            <a:srgbClr val="E3EAF2"/>
          </a:solidFill>
          <a:ln w="0">
            <a:solidFill>
              <a:srgbClr val="E3EAF2"/>
            </a:solidFill>
            <a:prstDash val="solid"/>
          </a:ln>
        </p:spPr>
      </p:sp>
      <p:sp>
        <p:nvSpPr>
          <p:cNvPr id="499" name="Node_B1_TagText">
            <a:extLst>
              <a:ext uri="{FF2B5EF4-FFF2-40B4-BE49-F238E27FC236}">
                <a16:creationId xmlns:a16="http://schemas.microsoft.com/office/drawing/2014/main" id="{3FF9AC06-2B3E-491D-9F67-FD9C2C4052BB}"/>
              </a:ext>
            </a:extLst>
          </p:cNvPr>
          <p:cNvSpPr>
            <a:spLocks noGrp="1"/>
          </p:cNvSpPr>
          <p:nvPr/>
        </p:nvSpPr>
        <p:spPr>
          <a:xfrm>
            <a:off x="566926" y="4417404"/>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B1</a:t>
            </a:r>
          </a:p>
        </p:txBody>
      </p:sp>
      <p:sp>
        <p:nvSpPr>
          <p:cNvPr id="500" name="Node_B1_CN">
            <a:extLst>
              <a:ext uri="{FF2B5EF4-FFF2-40B4-BE49-F238E27FC236}">
                <a16:creationId xmlns:a16="http://schemas.microsoft.com/office/drawing/2014/main" id="{537D95E4-8CFD-4627-B966-59838B6D07CE}"/>
              </a:ext>
            </a:extLst>
          </p:cNvPr>
          <p:cNvSpPr>
            <a:spLocks noGrp="1"/>
          </p:cNvSpPr>
          <p:nvPr/>
        </p:nvSpPr>
        <p:spPr>
          <a:xfrm>
            <a:off x="890776" y="4394290"/>
            <a:ext cx="1460500" cy="262128"/>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1200" b="1">
                <a:solidFill>
                  <a:srgbClr val="111827"/>
                </a:solidFill>
                <a:latin typeface="Microsoft YaHei"/>
                <a:ea typeface="Microsoft YaHei"/>
                <a:cs typeface="Microsoft YaHei"/>
              </a:rPr>
              <a:t>单段价格-数量报价</a:t>
            </a:r>
          </a:p>
        </p:txBody>
      </p:sp>
      <p:sp>
        <p:nvSpPr>
          <p:cNvPr id="502" name="Node_M2">
            <a:extLst>
              <a:ext uri="{FF2B5EF4-FFF2-40B4-BE49-F238E27FC236}">
                <a16:creationId xmlns:a16="http://schemas.microsoft.com/office/drawing/2014/main" id="{C4C64744-3F75-4A30-9860-5EB1E1ECA4F3}"/>
              </a:ext>
            </a:extLst>
          </p:cNvPr>
          <p:cNvSpPr>
            <a:spLocks noGrp="1"/>
          </p:cNvSpPr>
          <p:nvPr/>
        </p:nvSpPr>
        <p:spPr>
          <a:xfrm>
            <a:off x="3221226" y="3703528"/>
            <a:ext cx="2095500" cy="584200"/>
          </a:xfrm>
          <a:prstGeom prst="roundRect">
            <a:avLst>
              <a:gd name="adj" fmla="val 10870"/>
            </a:avLst>
          </a:prstGeom>
          <a:solidFill>
            <a:srgbClr val="EEF3F7"/>
          </a:solidFill>
          <a:ln w="10478">
            <a:solidFill>
              <a:srgbClr val="AEBECD"/>
            </a:solidFill>
            <a:prstDash val="solid"/>
          </a:ln>
        </p:spPr>
      </p:sp>
      <p:sp>
        <p:nvSpPr>
          <p:cNvPr id="503" name="Node_M2_Tag">
            <a:extLst>
              <a:ext uri="{FF2B5EF4-FFF2-40B4-BE49-F238E27FC236}">
                <a16:creationId xmlns:a16="http://schemas.microsoft.com/office/drawing/2014/main" id="{32CF7880-F4E4-4BE5-82B6-56FB4711CBDC}"/>
              </a:ext>
            </a:extLst>
          </p:cNvPr>
          <p:cNvSpPr>
            <a:spLocks noGrp="1"/>
          </p:cNvSpPr>
          <p:nvPr/>
        </p:nvSpPr>
        <p:spPr>
          <a:xfrm>
            <a:off x="3297426" y="3864954"/>
            <a:ext cx="304800" cy="215900"/>
          </a:xfrm>
          <a:prstGeom prst="roundRect">
            <a:avLst>
              <a:gd name="adj" fmla="val 23529"/>
            </a:avLst>
          </a:prstGeom>
          <a:solidFill>
            <a:srgbClr val="E3EAF2"/>
          </a:solidFill>
          <a:ln w="0">
            <a:solidFill>
              <a:srgbClr val="E3EAF2"/>
            </a:solidFill>
            <a:prstDash val="solid"/>
          </a:ln>
        </p:spPr>
      </p:sp>
      <p:sp>
        <p:nvSpPr>
          <p:cNvPr id="504" name="Node_M2_TagText">
            <a:extLst>
              <a:ext uri="{FF2B5EF4-FFF2-40B4-BE49-F238E27FC236}">
                <a16:creationId xmlns:a16="http://schemas.microsoft.com/office/drawing/2014/main" id="{755EAFC6-0AF5-4697-A68D-A692FCC75A76}"/>
              </a:ext>
            </a:extLst>
          </p:cNvPr>
          <p:cNvSpPr>
            <a:spLocks noGrp="1"/>
          </p:cNvSpPr>
          <p:nvPr/>
        </p:nvSpPr>
        <p:spPr>
          <a:xfrm>
            <a:off x="3297426" y="3864954"/>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M2</a:t>
            </a:r>
          </a:p>
        </p:txBody>
      </p:sp>
      <p:sp>
        <p:nvSpPr>
          <p:cNvPr id="505" name="Node_M2_CN">
            <a:extLst>
              <a:ext uri="{FF2B5EF4-FFF2-40B4-BE49-F238E27FC236}">
                <a16:creationId xmlns:a16="http://schemas.microsoft.com/office/drawing/2014/main" id="{CE53D750-51EA-4730-AF1E-BF4AFC884185}"/>
              </a:ext>
            </a:extLst>
          </p:cNvPr>
          <p:cNvSpPr>
            <a:spLocks noGrp="1"/>
          </p:cNvSpPr>
          <p:nvPr/>
        </p:nvSpPr>
        <p:spPr>
          <a:xfrm>
            <a:off x="3587028" y="3832696"/>
            <a:ext cx="1587500" cy="280416"/>
          </a:xfrm>
          <a:prstGeom prst="rect">
            <a:avLst/>
          </a:prstGeom>
          <a:noFill/>
          <a:ln w="0">
            <a:noFill/>
            <a:prstDash val="solid"/>
          </a:ln>
        </p:spPr>
        <p:txBody>
          <a:bodyPr lIns="0" tIns="0" rIns="0" bIns="0" anchor="ctr">
            <a:noAutofit/>
          </a:bodyPr>
          <a:lstStyle/>
          <a:p>
            <a:pPr algn="ctr">
              <a:lnSpc>
                <a:spcPct val="100000"/>
              </a:lnSpc>
              <a:buNone/>
              <a:defRPr sz="1500" b="1">
                <a:solidFill>
                  <a:srgbClr val="111827"/>
                </a:solidFill>
                <a:latin typeface="Microsoft YaHei"/>
                <a:ea typeface="Microsoft YaHei"/>
                <a:cs typeface="Microsoft YaHei"/>
              </a:defRPr>
            </a:pPr>
            <a:r>
              <a:rPr sz="1200" b="1">
                <a:solidFill>
                  <a:srgbClr val="111827"/>
                </a:solidFill>
                <a:latin typeface="Microsoft YaHei"/>
                <a:ea typeface="Microsoft YaHei"/>
                <a:cs typeface="Microsoft YaHei"/>
              </a:rPr>
              <a:t>DSO单买方反向采购</a:t>
            </a:r>
          </a:p>
        </p:txBody>
      </p:sp>
      <p:sp>
        <p:nvSpPr>
          <p:cNvPr id="507" name="Node_P1">
            <a:extLst>
              <a:ext uri="{FF2B5EF4-FFF2-40B4-BE49-F238E27FC236}">
                <a16:creationId xmlns:a16="http://schemas.microsoft.com/office/drawing/2014/main" id="{93435235-C0CF-4462-94D9-532C772B16BB}"/>
              </a:ext>
            </a:extLst>
          </p:cNvPr>
          <p:cNvSpPr>
            <a:spLocks noGrp="1"/>
          </p:cNvSpPr>
          <p:nvPr/>
        </p:nvSpPr>
        <p:spPr>
          <a:xfrm>
            <a:off x="6078726" y="3109304"/>
            <a:ext cx="1968500" cy="546100"/>
          </a:xfrm>
          <a:prstGeom prst="roundRect">
            <a:avLst>
              <a:gd name="adj" fmla="val 11628"/>
            </a:avLst>
          </a:prstGeom>
          <a:solidFill>
            <a:srgbClr val="FFFFFF"/>
          </a:solidFill>
          <a:ln w="10478">
            <a:solidFill>
              <a:srgbClr val="AEBECD"/>
            </a:solidFill>
            <a:prstDash val="solid"/>
          </a:ln>
        </p:spPr>
      </p:sp>
      <p:sp>
        <p:nvSpPr>
          <p:cNvPr id="508" name="Node_P1_Tag">
            <a:extLst>
              <a:ext uri="{FF2B5EF4-FFF2-40B4-BE49-F238E27FC236}">
                <a16:creationId xmlns:a16="http://schemas.microsoft.com/office/drawing/2014/main" id="{571151BC-D08D-425A-9BB4-A94145D800A3}"/>
              </a:ext>
            </a:extLst>
          </p:cNvPr>
          <p:cNvSpPr>
            <a:spLocks noGrp="1"/>
          </p:cNvSpPr>
          <p:nvPr/>
        </p:nvSpPr>
        <p:spPr>
          <a:xfrm>
            <a:off x="6154926" y="3274404"/>
            <a:ext cx="304800" cy="215900"/>
          </a:xfrm>
          <a:prstGeom prst="roundRect">
            <a:avLst>
              <a:gd name="adj" fmla="val 23529"/>
            </a:avLst>
          </a:prstGeom>
          <a:solidFill>
            <a:srgbClr val="E3EAF2"/>
          </a:solidFill>
          <a:ln w="0">
            <a:solidFill>
              <a:srgbClr val="E3EAF2"/>
            </a:solidFill>
            <a:prstDash val="solid"/>
          </a:ln>
        </p:spPr>
      </p:sp>
      <p:sp>
        <p:nvSpPr>
          <p:cNvPr id="509" name="Node_P1_TagText">
            <a:extLst>
              <a:ext uri="{FF2B5EF4-FFF2-40B4-BE49-F238E27FC236}">
                <a16:creationId xmlns:a16="http://schemas.microsoft.com/office/drawing/2014/main" id="{A661DA31-35C5-44F3-BF22-8769D48350D5}"/>
              </a:ext>
            </a:extLst>
          </p:cNvPr>
          <p:cNvSpPr>
            <a:spLocks noGrp="1"/>
          </p:cNvSpPr>
          <p:nvPr/>
        </p:nvSpPr>
        <p:spPr>
          <a:xfrm>
            <a:off x="6154926" y="3274404"/>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P1</a:t>
            </a:r>
          </a:p>
        </p:txBody>
      </p:sp>
      <p:sp>
        <p:nvSpPr>
          <p:cNvPr id="510" name="Node_P1_CN">
            <a:extLst>
              <a:ext uri="{FF2B5EF4-FFF2-40B4-BE49-F238E27FC236}">
                <a16:creationId xmlns:a16="http://schemas.microsoft.com/office/drawing/2014/main" id="{B583463F-7DB1-42EE-8792-A68DA69372E0}"/>
              </a:ext>
            </a:extLst>
          </p:cNvPr>
          <p:cNvSpPr>
            <a:spLocks noGrp="1"/>
          </p:cNvSpPr>
          <p:nvPr/>
        </p:nvSpPr>
        <p:spPr>
          <a:xfrm>
            <a:off x="6453252" y="3244070"/>
            <a:ext cx="1460500" cy="262128"/>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1200" b="1">
                <a:solidFill>
                  <a:srgbClr val="111827"/>
                </a:solidFill>
                <a:latin typeface="Microsoft YaHei"/>
                <a:ea typeface="Microsoft YaHei"/>
                <a:cs typeface="Microsoft YaHei"/>
              </a:rPr>
              <a:t>统一出清 / 成交价</a:t>
            </a:r>
          </a:p>
        </p:txBody>
      </p:sp>
      <p:sp>
        <p:nvSpPr>
          <p:cNvPr id="512" name="Node_P2">
            <a:extLst>
              <a:ext uri="{FF2B5EF4-FFF2-40B4-BE49-F238E27FC236}">
                <a16:creationId xmlns:a16="http://schemas.microsoft.com/office/drawing/2014/main" id="{3F3D992F-F556-4975-8630-1BB1D1AC1862}"/>
              </a:ext>
            </a:extLst>
          </p:cNvPr>
          <p:cNvSpPr>
            <a:spLocks noGrp="1"/>
          </p:cNvSpPr>
          <p:nvPr/>
        </p:nvSpPr>
        <p:spPr>
          <a:xfrm>
            <a:off x="6078726" y="4252304"/>
            <a:ext cx="1968500" cy="546100"/>
          </a:xfrm>
          <a:prstGeom prst="roundRect">
            <a:avLst>
              <a:gd name="adj" fmla="val 11628"/>
            </a:avLst>
          </a:prstGeom>
          <a:solidFill>
            <a:srgbClr val="FFFFFF"/>
          </a:solidFill>
          <a:ln w="10478">
            <a:solidFill>
              <a:srgbClr val="AEBECD"/>
            </a:solidFill>
            <a:prstDash val="solid"/>
          </a:ln>
        </p:spPr>
      </p:sp>
      <p:sp>
        <p:nvSpPr>
          <p:cNvPr id="513" name="Node_P2_Tag">
            <a:extLst>
              <a:ext uri="{FF2B5EF4-FFF2-40B4-BE49-F238E27FC236}">
                <a16:creationId xmlns:a16="http://schemas.microsoft.com/office/drawing/2014/main" id="{8DA7F345-172E-408E-8D47-8319EA1EE755}"/>
              </a:ext>
            </a:extLst>
          </p:cNvPr>
          <p:cNvSpPr>
            <a:spLocks noGrp="1"/>
          </p:cNvSpPr>
          <p:nvPr/>
        </p:nvSpPr>
        <p:spPr>
          <a:xfrm>
            <a:off x="6154926" y="4417404"/>
            <a:ext cx="304800" cy="215900"/>
          </a:xfrm>
          <a:prstGeom prst="roundRect">
            <a:avLst>
              <a:gd name="adj" fmla="val 23529"/>
            </a:avLst>
          </a:prstGeom>
          <a:solidFill>
            <a:srgbClr val="E3EAF2"/>
          </a:solidFill>
          <a:ln w="0">
            <a:solidFill>
              <a:srgbClr val="E3EAF2"/>
            </a:solidFill>
            <a:prstDash val="solid"/>
          </a:ln>
        </p:spPr>
      </p:sp>
      <p:sp>
        <p:nvSpPr>
          <p:cNvPr id="514" name="Node_P2_TagText">
            <a:extLst>
              <a:ext uri="{FF2B5EF4-FFF2-40B4-BE49-F238E27FC236}">
                <a16:creationId xmlns:a16="http://schemas.microsoft.com/office/drawing/2014/main" id="{9F8120DB-42D7-4B86-8886-2385C36CB636}"/>
              </a:ext>
            </a:extLst>
          </p:cNvPr>
          <p:cNvSpPr>
            <a:spLocks noGrp="1"/>
          </p:cNvSpPr>
          <p:nvPr/>
        </p:nvSpPr>
        <p:spPr>
          <a:xfrm>
            <a:off x="6154926" y="4417404"/>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P2</a:t>
            </a:r>
          </a:p>
        </p:txBody>
      </p:sp>
      <p:sp>
        <p:nvSpPr>
          <p:cNvPr id="515" name="Node_P2_CN">
            <a:extLst>
              <a:ext uri="{FF2B5EF4-FFF2-40B4-BE49-F238E27FC236}">
                <a16:creationId xmlns:a16="http://schemas.microsoft.com/office/drawing/2014/main" id="{27882CAF-3E1E-4F2A-8631-B48947A0EFE3}"/>
              </a:ext>
            </a:extLst>
          </p:cNvPr>
          <p:cNvSpPr>
            <a:spLocks noGrp="1"/>
          </p:cNvSpPr>
          <p:nvPr/>
        </p:nvSpPr>
        <p:spPr>
          <a:xfrm>
            <a:off x="6453252" y="4387070"/>
            <a:ext cx="1460500" cy="262128"/>
          </a:xfrm>
          <a:prstGeom prst="rect">
            <a:avLst/>
          </a:prstGeom>
          <a:noFill/>
          <a:ln w="0">
            <a:noFill/>
            <a:prstDash val="solid"/>
          </a:ln>
        </p:spPr>
        <p:txBody>
          <a:bodyPr lIns="0" tIns="0" rIns="0" bIns="0" anchor="ctr">
            <a:noAutofit/>
          </a:bodyPr>
          <a:lstStyle/>
          <a:p>
            <a:pPr algn="ctr">
              <a:lnSpc>
                <a:spcPct val="100000"/>
              </a:lnSpc>
              <a:buNone/>
              <a:defRPr sz="1425" b="1">
                <a:solidFill>
                  <a:srgbClr val="111827"/>
                </a:solidFill>
                <a:latin typeface="Microsoft YaHei"/>
                <a:ea typeface="Microsoft YaHei"/>
                <a:cs typeface="Microsoft YaHei"/>
              </a:defRPr>
            </a:pPr>
            <a:r>
              <a:rPr sz="1200" b="1">
                <a:solidFill>
                  <a:srgbClr val="111827"/>
                </a:solidFill>
                <a:latin typeface="Microsoft YaHei"/>
                <a:ea typeface="Microsoft YaHei"/>
                <a:cs typeface="Microsoft YaHei"/>
              </a:rPr>
              <a:t>按报价支付</a:t>
            </a:r>
          </a:p>
        </p:txBody>
      </p:sp>
      <p:sp>
        <p:nvSpPr>
          <p:cNvPr id="517" name="Node_C3">
            <a:extLst>
              <a:ext uri="{FF2B5EF4-FFF2-40B4-BE49-F238E27FC236}">
                <a16:creationId xmlns:a16="http://schemas.microsoft.com/office/drawing/2014/main" id="{D9645F3E-8C53-4705-B668-75181FB6B7EE}"/>
              </a:ext>
            </a:extLst>
          </p:cNvPr>
          <p:cNvSpPr>
            <a:spLocks noGrp="1"/>
          </p:cNvSpPr>
          <p:nvPr/>
        </p:nvSpPr>
        <p:spPr>
          <a:xfrm>
            <a:off x="8777476" y="3680804"/>
            <a:ext cx="2095500" cy="584200"/>
          </a:xfrm>
          <a:prstGeom prst="roundRect">
            <a:avLst>
              <a:gd name="adj" fmla="val 10870"/>
            </a:avLst>
          </a:prstGeom>
          <a:solidFill>
            <a:srgbClr val="EEF3F7"/>
          </a:solidFill>
          <a:ln w="10478">
            <a:solidFill>
              <a:srgbClr val="AEBECD"/>
            </a:solidFill>
            <a:prstDash val="solid"/>
          </a:ln>
        </p:spPr>
      </p:sp>
      <p:sp>
        <p:nvSpPr>
          <p:cNvPr id="518" name="Node_C3_Tag">
            <a:extLst>
              <a:ext uri="{FF2B5EF4-FFF2-40B4-BE49-F238E27FC236}">
                <a16:creationId xmlns:a16="http://schemas.microsoft.com/office/drawing/2014/main" id="{A3914467-9ACA-4F89-ACD1-81B392EF20AB}"/>
              </a:ext>
            </a:extLst>
          </p:cNvPr>
          <p:cNvSpPr>
            <a:spLocks noGrp="1"/>
          </p:cNvSpPr>
          <p:nvPr/>
        </p:nvSpPr>
        <p:spPr>
          <a:xfrm>
            <a:off x="8853676" y="3864954"/>
            <a:ext cx="304800" cy="215900"/>
          </a:xfrm>
          <a:prstGeom prst="roundRect">
            <a:avLst>
              <a:gd name="adj" fmla="val 23529"/>
            </a:avLst>
          </a:prstGeom>
          <a:solidFill>
            <a:srgbClr val="E3EAF2"/>
          </a:solidFill>
          <a:ln w="0">
            <a:solidFill>
              <a:srgbClr val="E3EAF2"/>
            </a:solidFill>
            <a:prstDash val="solid"/>
          </a:ln>
        </p:spPr>
      </p:sp>
      <p:sp>
        <p:nvSpPr>
          <p:cNvPr id="519" name="Node_C3_TagText">
            <a:extLst>
              <a:ext uri="{FF2B5EF4-FFF2-40B4-BE49-F238E27FC236}">
                <a16:creationId xmlns:a16="http://schemas.microsoft.com/office/drawing/2014/main" id="{97EFE584-835A-47E1-8A6E-5E20B2CDF9B8}"/>
              </a:ext>
            </a:extLst>
          </p:cNvPr>
          <p:cNvSpPr>
            <a:spLocks noGrp="1"/>
          </p:cNvSpPr>
          <p:nvPr/>
        </p:nvSpPr>
        <p:spPr>
          <a:xfrm>
            <a:off x="8853676" y="3864954"/>
            <a:ext cx="304800" cy="215900"/>
          </a:xfrm>
          <a:prstGeom prst="rect">
            <a:avLst/>
          </a:prstGeom>
          <a:noFill/>
          <a:ln w="0">
            <a:noFill/>
            <a:prstDash val="solid"/>
          </a:ln>
        </p:spPr>
        <p:txBody>
          <a:bodyPr lIns="0" tIns="0" rIns="0" bIns="0" anchor="ctr">
            <a:noAutofit/>
          </a:bodyPr>
          <a:lstStyle/>
          <a:p>
            <a:pPr algn="ctr">
              <a:lnSpc>
                <a:spcPct val="100000"/>
              </a:lnSpc>
              <a:buNone/>
              <a:defRPr sz="975" b="1">
                <a:solidFill>
                  <a:srgbClr val="365C80"/>
                </a:solidFill>
                <a:latin typeface="Arial"/>
                <a:ea typeface="Arial"/>
                <a:cs typeface="Arial"/>
              </a:defRPr>
            </a:pPr>
            <a:r>
              <a:rPr sz="650" b="1">
                <a:solidFill>
                  <a:srgbClr val="365C80"/>
                </a:solidFill>
                <a:latin typeface="Arial"/>
                <a:ea typeface="Arial"/>
                <a:cs typeface="Arial"/>
              </a:rPr>
              <a:t>C3</a:t>
            </a:r>
          </a:p>
        </p:txBody>
      </p:sp>
      <p:sp>
        <p:nvSpPr>
          <p:cNvPr id="520" name="Node_C3_CN">
            <a:extLst>
              <a:ext uri="{FF2B5EF4-FFF2-40B4-BE49-F238E27FC236}">
                <a16:creationId xmlns:a16="http://schemas.microsoft.com/office/drawing/2014/main" id="{F8FDCFFF-0133-41CC-9A92-82111BE01D78}"/>
              </a:ext>
            </a:extLst>
          </p:cNvPr>
          <p:cNvSpPr>
            <a:spLocks noGrp="1"/>
          </p:cNvSpPr>
          <p:nvPr/>
        </p:nvSpPr>
        <p:spPr>
          <a:xfrm>
            <a:off x="9150653" y="3819175"/>
            <a:ext cx="1587500" cy="280416"/>
          </a:xfrm>
          <a:prstGeom prst="rect">
            <a:avLst/>
          </a:prstGeom>
          <a:noFill/>
          <a:ln w="0">
            <a:noFill/>
            <a:prstDash val="solid"/>
          </a:ln>
        </p:spPr>
        <p:txBody>
          <a:bodyPr lIns="0" tIns="0" rIns="0" bIns="0" anchor="ctr">
            <a:noAutofit/>
          </a:bodyPr>
          <a:lstStyle/>
          <a:p>
            <a:pPr algn="ctr">
              <a:lnSpc>
                <a:spcPct val="100000"/>
              </a:lnSpc>
              <a:buNone/>
              <a:defRPr sz="1500" b="1">
                <a:solidFill>
                  <a:srgbClr val="111827"/>
                </a:solidFill>
                <a:latin typeface="Microsoft YaHei"/>
                <a:ea typeface="Microsoft YaHei"/>
                <a:cs typeface="Microsoft YaHei"/>
              </a:defRPr>
            </a:pPr>
            <a:r>
              <a:rPr sz="1200" b="1">
                <a:solidFill>
                  <a:srgbClr val="111827"/>
                </a:solidFill>
                <a:latin typeface="Microsoft YaHei"/>
                <a:ea typeface="Microsoft YaHei"/>
                <a:cs typeface="Microsoft YaHei"/>
              </a:rPr>
              <a:t>DSO采购成本最小</a:t>
            </a:r>
          </a:p>
        </p:txBody>
      </p:sp>
      <p:cxnSp>
        <p:nvCxnSpPr>
          <p:cNvPr id="522" name="S4_BM_0">
            <a:extLst>
              <a:ext uri="{FF2B5EF4-FFF2-40B4-BE49-F238E27FC236}">
                <a16:creationId xmlns:a16="http://schemas.microsoft.com/office/drawing/2014/main" id="{2A5EEA98-5324-4D9C-9A06-4665DB5CA3A1}"/>
              </a:ext>
            </a:extLst>
          </p:cNvPr>
          <p:cNvCxnSpPr>
            <a:stCxn id="492" idx="3"/>
            <a:endCxn id="502" idx="1"/>
          </p:cNvCxnSpPr>
          <p:nvPr/>
        </p:nvCxnSpPr>
        <p:spPr>
          <a:xfrm>
            <a:off x="2459226" y="3382354"/>
            <a:ext cx="762000" cy="613274"/>
          </a:xfrm>
          <a:prstGeom prst="curvedConnector3">
            <a:avLst>
              <a:gd name="adj1" fmla="val 50000"/>
            </a:avLst>
          </a:prstGeom>
          <a:ln w="19050">
            <a:solidFill>
              <a:srgbClr val="365C80"/>
            </a:solidFill>
            <a:prstDash val="solid"/>
            <a:tailEnd type="triangle" w="sm" len="sm"/>
          </a:ln>
        </p:spPr>
      </p:cxnSp>
      <p:cxnSp>
        <p:nvCxnSpPr>
          <p:cNvPr id="523" name="S4_BM_1">
            <a:extLst>
              <a:ext uri="{FF2B5EF4-FFF2-40B4-BE49-F238E27FC236}">
                <a16:creationId xmlns:a16="http://schemas.microsoft.com/office/drawing/2014/main" id="{718F3531-78DF-437F-A811-550DCEB51E6B}"/>
              </a:ext>
            </a:extLst>
          </p:cNvPr>
          <p:cNvCxnSpPr>
            <a:stCxn id="497" idx="3"/>
            <a:endCxn id="502" idx="1"/>
          </p:cNvCxnSpPr>
          <p:nvPr/>
        </p:nvCxnSpPr>
        <p:spPr>
          <a:xfrm flipV="1">
            <a:off x="2459226" y="3995628"/>
            <a:ext cx="762000" cy="529726"/>
          </a:xfrm>
          <a:prstGeom prst="curvedConnector3">
            <a:avLst>
              <a:gd name="adj1" fmla="val 50000"/>
            </a:avLst>
          </a:prstGeom>
          <a:ln w="19050">
            <a:solidFill>
              <a:srgbClr val="365C80"/>
            </a:solidFill>
            <a:prstDash val="solid"/>
            <a:tailEnd type="triangle" w="sm" len="sm"/>
          </a:ln>
        </p:spPr>
      </p:cxnSp>
      <p:cxnSp>
        <p:nvCxnSpPr>
          <p:cNvPr id="524" name="S4_MP_0">
            <a:extLst>
              <a:ext uri="{FF2B5EF4-FFF2-40B4-BE49-F238E27FC236}">
                <a16:creationId xmlns:a16="http://schemas.microsoft.com/office/drawing/2014/main" id="{3AB7963A-5748-4B40-BBFB-CA7C0EF78E98}"/>
              </a:ext>
            </a:extLst>
          </p:cNvPr>
          <p:cNvCxnSpPr>
            <a:stCxn id="502" idx="3"/>
            <a:endCxn id="507" idx="1"/>
          </p:cNvCxnSpPr>
          <p:nvPr/>
        </p:nvCxnSpPr>
        <p:spPr>
          <a:xfrm flipV="1">
            <a:off x="5316726" y="3382354"/>
            <a:ext cx="762000" cy="613274"/>
          </a:xfrm>
          <a:prstGeom prst="curvedConnector3">
            <a:avLst>
              <a:gd name="adj1" fmla="val 50000"/>
            </a:avLst>
          </a:prstGeom>
          <a:ln w="19050">
            <a:solidFill>
              <a:srgbClr val="365C80"/>
            </a:solidFill>
            <a:prstDash val="solid"/>
            <a:tailEnd type="triangle" w="sm" len="sm"/>
          </a:ln>
        </p:spPr>
      </p:cxnSp>
      <p:cxnSp>
        <p:nvCxnSpPr>
          <p:cNvPr id="525" name="S4_MP_1">
            <a:extLst>
              <a:ext uri="{FF2B5EF4-FFF2-40B4-BE49-F238E27FC236}">
                <a16:creationId xmlns:a16="http://schemas.microsoft.com/office/drawing/2014/main" id="{97A4A35F-73F2-48D3-9D28-F569D27EE7A7}"/>
              </a:ext>
            </a:extLst>
          </p:cNvPr>
          <p:cNvCxnSpPr>
            <a:stCxn id="502" idx="3"/>
            <a:endCxn id="512" idx="1"/>
          </p:cNvCxnSpPr>
          <p:nvPr/>
        </p:nvCxnSpPr>
        <p:spPr>
          <a:xfrm>
            <a:off x="5316726" y="3995628"/>
            <a:ext cx="762000" cy="529726"/>
          </a:xfrm>
          <a:prstGeom prst="curvedConnector3">
            <a:avLst>
              <a:gd name="adj1" fmla="val 50000"/>
            </a:avLst>
          </a:prstGeom>
          <a:ln w="19050">
            <a:solidFill>
              <a:srgbClr val="365C80"/>
            </a:solidFill>
            <a:prstDash val="solid"/>
            <a:tailEnd type="triangle" w="sm" len="sm"/>
          </a:ln>
        </p:spPr>
      </p:cxnSp>
      <p:cxnSp>
        <p:nvCxnSpPr>
          <p:cNvPr id="526" name="S4_PC_0">
            <a:extLst>
              <a:ext uri="{FF2B5EF4-FFF2-40B4-BE49-F238E27FC236}">
                <a16:creationId xmlns:a16="http://schemas.microsoft.com/office/drawing/2014/main" id="{3D2582C8-7889-465E-84DA-83D636F0C589}"/>
              </a:ext>
            </a:extLst>
          </p:cNvPr>
          <p:cNvCxnSpPr>
            <a:stCxn id="507" idx="3"/>
            <a:endCxn id="517" idx="1"/>
          </p:cNvCxnSpPr>
          <p:nvPr/>
        </p:nvCxnSpPr>
        <p:spPr>
          <a:xfrm rot="16200000" flipH="1">
            <a:off x="8117076" y="3312504"/>
            <a:ext cx="590550" cy="730250"/>
          </a:xfrm>
          <a:prstGeom prst="curvedConnector3">
            <a:avLst>
              <a:gd name="adj1" fmla="val 50000"/>
            </a:avLst>
          </a:prstGeom>
          <a:ln w="19050">
            <a:solidFill>
              <a:srgbClr val="365C80"/>
            </a:solidFill>
            <a:prstDash val="solid"/>
            <a:tailEnd type="triangle" w="sm" len="sm"/>
          </a:ln>
        </p:spPr>
      </p:cxnSp>
      <p:cxnSp>
        <p:nvCxnSpPr>
          <p:cNvPr id="527" name="S4_PC_1">
            <a:extLst>
              <a:ext uri="{FF2B5EF4-FFF2-40B4-BE49-F238E27FC236}">
                <a16:creationId xmlns:a16="http://schemas.microsoft.com/office/drawing/2014/main" id="{77926380-508E-4DAB-8515-EA1B427832AB}"/>
              </a:ext>
            </a:extLst>
          </p:cNvPr>
          <p:cNvCxnSpPr>
            <a:stCxn id="512" idx="3"/>
            <a:endCxn id="517" idx="1"/>
          </p:cNvCxnSpPr>
          <p:nvPr/>
        </p:nvCxnSpPr>
        <p:spPr>
          <a:xfrm rot="5400000">
            <a:off x="8136126" y="3884004"/>
            <a:ext cx="552450" cy="730250"/>
          </a:xfrm>
          <a:prstGeom prst="curvedConnector3">
            <a:avLst>
              <a:gd name="adj1" fmla="val 50000"/>
            </a:avLst>
          </a:prstGeom>
          <a:ln w="19050">
            <a:solidFill>
              <a:srgbClr val="365C80"/>
            </a:solidFill>
            <a:prstDash val="solid"/>
            <a:tailEnd type="triangle" w="sm" len="sm"/>
          </a:ln>
        </p:spPr>
      </p:cxnSp>
      <p:sp>
        <p:nvSpPr>
          <p:cNvPr id="529" name="S4_Label_Title_0">
            <a:extLst>
              <a:ext uri="{FF2B5EF4-FFF2-40B4-BE49-F238E27FC236}">
                <a16:creationId xmlns:a16="http://schemas.microsoft.com/office/drawing/2014/main" id="{CAF538E7-0297-4DCC-8863-AFCC91AA34D5}"/>
              </a:ext>
            </a:extLst>
          </p:cNvPr>
          <p:cNvSpPr>
            <a:spLocks noGrp="1"/>
          </p:cNvSpPr>
          <p:nvPr/>
        </p:nvSpPr>
        <p:spPr>
          <a:xfrm>
            <a:off x="490726" y="5077804"/>
            <a:ext cx="1968500" cy="165100"/>
          </a:xfrm>
          <a:prstGeom prst="rect">
            <a:avLst/>
          </a:prstGeom>
          <a:noFill/>
          <a:ln w="0">
            <a:noFill/>
            <a:prstDash val="solid"/>
          </a:ln>
        </p:spPr>
        <p:txBody>
          <a:bodyPr lIns="0" tIns="0" rIns="0" bIns="0" anchor="ctr">
            <a:noAutofit/>
          </a:bodyPr>
          <a:lstStyle/>
          <a:p>
            <a:pPr algn="ctr">
              <a:lnSpc>
                <a:spcPct val="100000"/>
              </a:lnSpc>
              <a:buNone/>
              <a:defRPr sz="1275" b="1">
                <a:solidFill>
                  <a:srgbClr val="17365D"/>
                </a:solidFill>
                <a:latin typeface="Microsoft YaHei"/>
                <a:ea typeface="Microsoft YaHei"/>
                <a:cs typeface="Microsoft YaHei"/>
              </a:defRPr>
            </a:pPr>
            <a:r>
              <a:rPr sz="850" b="1">
                <a:solidFill>
                  <a:srgbClr val="17365D"/>
                </a:solidFill>
                <a:latin typeface="Microsoft YaHei"/>
                <a:ea typeface="Microsoft YaHei"/>
                <a:cs typeface="Microsoft YaHei"/>
              </a:rPr>
              <a:t>开放分支</a:t>
            </a:r>
          </a:p>
        </p:txBody>
      </p:sp>
      <p:sp>
        <p:nvSpPr>
          <p:cNvPr id="530" name="S4_Label_Body_0">
            <a:extLst>
              <a:ext uri="{FF2B5EF4-FFF2-40B4-BE49-F238E27FC236}">
                <a16:creationId xmlns:a16="http://schemas.microsoft.com/office/drawing/2014/main" id="{7F89E1C3-32F2-48E9-BD86-4D1A0B39B0E2}"/>
              </a:ext>
            </a:extLst>
          </p:cNvPr>
          <p:cNvSpPr>
            <a:spLocks noGrp="1"/>
          </p:cNvSpPr>
          <p:nvPr/>
        </p:nvSpPr>
        <p:spPr>
          <a:xfrm>
            <a:off x="490726" y="5249254"/>
            <a:ext cx="1968500" cy="152400"/>
          </a:xfrm>
          <a:prstGeom prst="rect">
            <a:avLst/>
          </a:prstGeom>
          <a:noFill/>
          <a:ln w="0">
            <a:noFill/>
            <a:prstDash val="solid"/>
          </a:ln>
        </p:spPr>
        <p:txBody>
          <a:bodyPr lIns="0" tIns="0" rIns="0" bIns="0" anchor="ctr">
            <a:noAutofit/>
          </a:bodyPr>
          <a:lstStyle/>
          <a:p>
            <a:pPr algn="ctr">
              <a:lnSpc>
                <a:spcPct val="100000"/>
              </a:lnSpc>
              <a:buNone/>
              <a:defRPr sz="1125" b="0">
                <a:solidFill>
                  <a:srgbClr val="5F6F82"/>
                </a:solidFill>
                <a:latin typeface="Microsoft YaHei"/>
                <a:ea typeface="Microsoft YaHei"/>
                <a:cs typeface="Microsoft YaHei"/>
              </a:defRPr>
            </a:pPr>
            <a:r>
              <a:rPr sz="750">
                <a:solidFill>
                  <a:srgbClr val="5F6F82"/>
                </a:solidFill>
                <a:latin typeface="Microsoft YaHei"/>
                <a:ea typeface="Microsoft YaHei"/>
                <a:cs typeface="Microsoft YaHei"/>
              </a:rPr>
              <a:t>2 种报价</a:t>
            </a:r>
          </a:p>
        </p:txBody>
      </p:sp>
      <p:sp>
        <p:nvSpPr>
          <p:cNvPr id="531" name="S4_Label_Title_1">
            <a:extLst>
              <a:ext uri="{FF2B5EF4-FFF2-40B4-BE49-F238E27FC236}">
                <a16:creationId xmlns:a16="http://schemas.microsoft.com/office/drawing/2014/main" id="{44558B14-2548-44E5-BA8F-3AA9121654E1}"/>
              </a:ext>
            </a:extLst>
          </p:cNvPr>
          <p:cNvSpPr>
            <a:spLocks noGrp="1"/>
          </p:cNvSpPr>
          <p:nvPr/>
        </p:nvSpPr>
        <p:spPr>
          <a:xfrm>
            <a:off x="3221226" y="4601554"/>
            <a:ext cx="2095500" cy="165100"/>
          </a:xfrm>
          <a:prstGeom prst="rect">
            <a:avLst/>
          </a:prstGeom>
          <a:noFill/>
          <a:ln w="0">
            <a:noFill/>
            <a:prstDash val="solid"/>
          </a:ln>
        </p:spPr>
        <p:txBody>
          <a:bodyPr lIns="0" tIns="0" rIns="0" bIns="0" anchor="ctr">
            <a:noAutofit/>
          </a:bodyPr>
          <a:lstStyle/>
          <a:p>
            <a:pPr algn="ctr">
              <a:lnSpc>
                <a:spcPct val="100000"/>
              </a:lnSpc>
              <a:buNone/>
              <a:defRPr sz="1275" b="1">
                <a:solidFill>
                  <a:srgbClr val="17365D"/>
                </a:solidFill>
                <a:latin typeface="Microsoft YaHei"/>
                <a:ea typeface="Microsoft YaHei"/>
                <a:cs typeface="Microsoft YaHei"/>
              </a:defRPr>
            </a:pPr>
            <a:r>
              <a:rPr sz="850" b="1">
                <a:solidFill>
                  <a:srgbClr val="17365D"/>
                </a:solidFill>
                <a:latin typeface="Microsoft YaHei"/>
                <a:ea typeface="Microsoft YaHei"/>
                <a:cs typeface="Microsoft YaHei"/>
              </a:rPr>
              <a:t>锁定主干</a:t>
            </a:r>
          </a:p>
        </p:txBody>
      </p:sp>
      <p:sp>
        <p:nvSpPr>
          <p:cNvPr id="532" name="S4_Label_Body_1">
            <a:extLst>
              <a:ext uri="{FF2B5EF4-FFF2-40B4-BE49-F238E27FC236}">
                <a16:creationId xmlns:a16="http://schemas.microsoft.com/office/drawing/2014/main" id="{ED6DF6E8-568C-43BA-97EA-7757309CD53C}"/>
              </a:ext>
            </a:extLst>
          </p:cNvPr>
          <p:cNvSpPr>
            <a:spLocks noGrp="1"/>
          </p:cNvSpPr>
          <p:nvPr/>
        </p:nvSpPr>
        <p:spPr>
          <a:xfrm>
            <a:off x="3221226" y="4773004"/>
            <a:ext cx="2095500" cy="152400"/>
          </a:xfrm>
          <a:prstGeom prst="rect">
            <a:avLst/>
          </a:prstGeom>
          <a:noFill/>
          <a:ln w="0">
            <a:noFill/>
            <a:prstDash val="solid"/>
          </a:ln>
        </p:spPr>
        <p:txBody>
          <a:bodyPr lIns="0" tIns="0" rIns="0" bIns="0" anchor="ctr">
            <a:noAutofit/>
          </a:bodyPr>
          <a:lstStyle/>
          <a:p>
            <a:pPr algn="ctr">
              <a:lnSpc>
                <a:spcPct val="100000"/>
              </a:lnSpc>
              <a:buNone/>
              <a:defRPr sz="1125" b="0">
                <a:solidFill>
                  <a:srgbClr val="5F6F82"/>
                </a:solidFill>
                <a:latin typeface="Microsoft YaHei"/>
                <a:ea typeface="Microsoft YaHei"/>
                <a:cs typeface="Microsoft YaHei"/>
              </a:defRPr>
            </a:pPr>
            <a:r>
              <a:rPr sz="750">
                <a:solidFill>
                  <a:srgbClr val="5F6F82"/>
                </a:solidFill>
                <a:latin typeface="Microsoft YaHei"/>
                <a:ea typeface="Microsoft YaHei"/>
                <a:cs typeface="Microsoft YaHei"/>
              </a:rPr>
              <a:t>M2 不参与枚举</a:t>
            </a:r>
          </a:p>
        </p:txBody>
      </p:sp>
      <p:sp>
        <p:nvSpPr>
          <p:cNvPr id="533" name="S4_Label_Title_2">
            <a:extLst>
              <a:ext uri="{FF2B5EF4-FFF2-40B4-BE49-F238E27FC236}">
                <a16:creationId xmlns:a16="http://schemas.microsoft.com/office/drawing/2014/main" id="{84F03E57-C23F-427D-B449-1AC97C0E80B0}"/>
              </a:ext>
            </a:extLst>
          </p:cNvPr>
          <p:cNvSpPr>
            <a:spLocks noGrp="1"/>
          </p:cNvSpPr>
          <p:nvPr/>
        </p:nvSpPr>
        <p:spPr>
          <a:xfrm>
            <a:off x="6078726" y="5077804"/>
            <a:ext cx="1968500" cy="165100"/>
          </a:xfrm>
          <a:prstGeom prst="rect">
            <a:avLst/>
          </a:prstGeom>
          <a:noFill/>
          <a:ln w="0">
            <a:noFill/>
            <a:prstDash val="solid"/>
          </a:ln>
        </p:spPr>
        <p:txBody>
          <a:bodyPr lIns="0" tIns="0" rIns="0" bIns="0" anchor="ctr">
            <a:noAutofit/>
          </a:bodyPr>
          <a:lstStyle/>
          <a:p>
            <a:pPr algn="ctr">
              <a:lnSpc>
                <a:spcPct val="100000"/>
              </a:lnSpc>
              <a:buNone/>
              <a:defRPr sz="1275" b="1">
                <a:solidFill>
                  <a:srgbClr val="17365D"/>
                </a:solidFill>
                <a:latin typeface="Microsoft YaHei"/>
                <a:ea typeface="Microsoft YaHei"/>
                <a:cs typeface="Microsoft YaHei"/>
              </a:defRPr>
            </a:pPr>
            <a:r>
              <a:rPr sz="850" b="1">
                <a:solidFill>
                  <a:srgbClr val="17365D"/>
                </a:solidFill>
                <a:latin typeface="Microsoft YaHei"/>
                <a:ea typeface="Microsoft YaHei"/>
                <a:cs typeface="Microsoft YaHei"/>
              </a:rPr>
              <a:t>开放分支</a:t>
            </a:r>
          </a:p>
        </p:txBody>
      </p:sp>
      <p:sp>
        <p:nvSpPr>
          <p:cNvPr id="534" name="S4_Label_Body_2">
            <a:extLst>
              <a:ext uri="{FF2B5EF4-FFF2-40B4-BE49-F238E27FC236}">
                <a16:creationId xmlns:a16="http://schemas.microsoft.com/office/drawing/2014/main" id="{5A01BF90-92C0-4DDD-B7A8-506FEE7F6D6D}"/>
              </a:ext>
            </a:extLst>
          </p:cNvPr>
          <p:cNvSpPr>
            <a:spLocks noGrp="1"/>
          </p:cNvSpPr>
          <p:nvPr/>
        </p:nvSpPr>
        <p:spPr>
          <a:xfrm>
            <a:off x="6078726" y="5249254"/>
            <a:ext cx="1968500" cy="152400"/>
          </a:xfrm>
          <a:prstGeom prst="rect">
            <a:avLst/>
          </a:prstGeom>
          <a:noFill/>
          <a:ln w="0">
            <a:noFill/>
            <a:prstDash val="solid"/>
          </a:ln>
        </p:spPr>
        <p:txBody>
          <a:bodyPr lIns="0" tIns="0" rIns="0" bIns="0" anchor="ctr">
            <a:noAutofit/>
          </a:bodyPr>
          <a:lstStyle/>
          <a:p>
            <a:pPr algn="ctr">
              <a:lnSpc>
                <a:spcPct val="100000"/>
              </a:lnSpc>
              <a:buNone/>
              <a:defRPr sz="1125" b="0">
                <a:solidFill>
                  <a:srgbClr val="5F6F82"/>
                </a:solidFill>
                <a:latin typeface="Microsoft YaHei"/>
                <a:ea typeface="Microsoft YaHei"/>
                <a:cs typeface="Microsoft YaHei"/>
              </a:defRPr>
            </a:pPr>
            <a:r>
              <a:rPr sz="750">
                <a:solidFill>
                  <a:srgbClr val="5F6F82"/>
                </a:solidFill>
                <a:latin typeface="Microsoft YaHei"/>
                <a:ea typeface="Microsoft YaHei"/>
                <a:cs typeface="Microsoft YaHei"/>
              </a:rPr>
              <a:t>2 种支付</a:t>
            </a:r>
          </a:p>
        </p:txBody>
      </p:sp>
      <p:sp>
        <p:nvSpPr>
          <p:cNvPr id="535" name="S4_Label_Title_3">
            <a:extLst>
              <a:ext uri="{FF2B5EF4-FFF2-40B4-BE49-F238E27FC236}">
                <a16:creationId xmlns:a16="http://schemas.microsoft.com/office/drawing/2014/main" id="{2966210A-BD44-4F05-BC18-DB26E01395E8}"/>
              </a:ext>
            </a:extLst>
          </p:cNvPr>
          <p:cNvSpPr>
            <a:spLocks noGrp="1"/>
          </p:cNvSpPr>
          <p:nvPr/>
        </p:nvSpPr>
        <p:spPr>
          <a:xfrm>
            <a:off x="8777476" y="4601554"/>
            <a:ext cx="2095500" cy="165100"/>
          </a:xfrm>
          <a:prstGeom prst="rect">
            <a:avLst/>
          </a:prstGeom>
          <a:noFill/>
          <a:ln w="0">
            <a:noFill/>
            <a:prstDash val="solid"/>
          </a:ln>
        </p:spPr>
        <p:txBody>
          <a:bodyPr lIns="0" tIns="0" rIns="0" bIns="0" anchor="ctr">
            <a:noAutofit/>
          </a:bodyPr>
          <a:lstStyle/>
          <a:p>
            <a:pPr algn="ctr">
              <a:lnSpc>
                <a:spcPct val="100000"/>
              </a:lnSpc>
              <a:buNone/>
              <a:defRPr sz="1275" b="1">
                <a:solidFill>
                  <a:srgbClr val="17365D"/>
                </a:solidFill>
                <a:latin typeface="Microsoft YaHei"/>
                <a:ea typeface="Microsoft YaHei"/>
                <a:cs typeface="Microsoft YaHei"/>
              </a:defRPr>
            </a:pPr>
            <a:r>
              <a:rPr sz="850" b="1">
                <a:solidFill>
                  <a:srgbClr val="17365D"/>
                </a:solidFill>
                <a:latin typeface="Microsoft YaHei"/>
                <a:ea typeface="Microsoft YaHei"/>
                <a:cs typeface="Microsoft YaHei"/>
              </a:rPr>
              <a:t>锁定主干</a:t>
            </a:r>
          </a:p>
        </p:txBody>
      </p:sp>
      <p:sp>
        <p:nvSpPr>
          <p:cNvPr id="536" name="S4_Label_Body_3">
            <a:extLst>
              <a:ext uri="{FF2B5EF4-FFF2-40B4-BE49-F238E27FC236}">
                <a16:creationId xmlns:a16="http://schemas.microsoft.com/office/drawing/2014/main" id="{40F7F078-1AF3-4398-A312-319C1065B23B}"/>
              </a:ext>
            </a:extLst>
          </p:cNvPr>
          <p:cNvSpPr>
            <a:spLocks noGrp="1"/>
          </p:cNvSpPr>
          <p:nvPr/>
        </p:nvSpPr>
        <p:spPr>
          <a:xfrm>
            <a:off x="8777476" y="4773004"/>
            <a:ext cx="2095500" cy="152400"/>
          </a:xfrm>
          <a:prstGeom prst="rect">
            <a:avLst/>
          </a:prstGeom>
          <a:noFill/>
          <a:ln w="0">
            <a:noFill/>
            <a:prstDash val="solid"/>
          </a:ln>
        </p:spPr>
        <p:txBody>
          <a:bodyPr lIns="0" tIns="0" rIns="0" bIns="0" anchor="ctr">
            <a:noAutofit/>
          </a:bodyPr>
          <a:lstStyle/>
          <a:p>
            <a:pPr algn="ctr">
              <a:lnSpc>
                <a:spcPct val="100000"/>
              </a:lnSpc>
              <a:buNone/>
              <a:defRPr sz="1125" b="0">
                <a:solidFill>
                  <a:srgbClr val="5F6F82"/>
                </a:solidFill>
                <a:latin typeface="Microsoft YaHei"/>
                <a:ea typeface="Microsoft YaHei"/>
                <a:cs typeface="Microsoft YaHei"/>
              </a:defRPr>
            </a:pPr>
            <a:r>
              <a:rPr sz="750">
                <a:solidFill>
                  <a:srgbClr val="5F6F82"/>
                </a:solidFill>
                <a:latin typeface="Microsoft YaHei"/>
                <a:ea typeface="Microsoft YaHei"/>
                <a:cs typeface="Microsoft YaHei"/>
              </a:rPr>
              <a:t>C3 不参与枚举</a:t>
            </a:r>
          </a:p>
        </p:txBody>
      </p:sp>
      <p:pic>
        <p:nvPicPr>
          <p:cNvPr id="29" name="图片 28">
            <a:extLst>
              <a:ext uri="{FF2B5EF4-FFF2-40B4-BE49-F238E27FC236}">
                <a16:creationId xmlns:a16="http://schemas.microsoft.com/office/drawing/2014/main" id="{63D717B8-F889-4D90-B64F-BF6B6F771784}"/>
              </a:ext>
            </a:extLst>
          </p:cNvPr>
          <p:cNvPicPr>
            <a:picLocks noChangeAspect="1"/>
          </p:cNvPicPr>
          <p:nvPr/>
        </p:nvPicPr>
        <p:blipFill>
          <a:blip r:embed="rId2"/>
          <a:stretch>
            <a:fillRect/>
          </a:stretch>
        </p:blipFill>
        <p:spPr>
          <a:xfrm>
            <a:off x="2427476" y="3048749"/>
            <a:ext cx="6239746" cy="3296110"/>
          </a:xfrm>
          <a:prstGeom prst="rect">
            <a:avLst/>
          </a:prstGeom>
        </p:spPr>
      </p:pic>
    </p:spTree>
    <p:extLst>
      <p:ext uri="{BB962C8B-B14F-4D97-AF65-F5344CB8AC3E}">
        <p14:creationId xmlns:p14="http://schemas.microsoft.com/office/powerpoint/2010/main" val="3320933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文本框 102">
            <a:extLst>
              <a:ext uri="{FF2B5EF4-FFF2-40B4-BE49-F238E27FC236}">
                <a16:creationId xmlns:a16="http://schemas.microsoft.com/office/drawing/2014/main" id="{400C34DB-7243-4EB8-8C6C-330E2C7686F0}"/>
              </a:ext>
            </a:extLst>
          </p:cNvPr>
          <p:cNvSpPr txBox="1"/>
          <p:nvPr/>
        </p:nvSpPr>
        <p:spPr>
          <a:xfrm>
            <a:off x="398615" y="144773"/>
            <a:ext cx="117933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2.4 </a:t>
            </a:r>
            <a:r>
              <a:rPr lang="zh-CN" altLang="en-US" sz="2800" spc="0">
                <a:solidFill>
                  <a:schemeClr val="tx1"/>
                </a:solidFill>
                <a:effectLst/>
                <a:sym typeface="微软雅黑" panose="020B0503020204020204" pitchFamily="34" charset="-122"/>
              </a:rPr>
              <a:t>初步考虑</a:t>
            </a:r>
            <a:r>
              <a:rPr lang="en-US" altLang="zh-CN" sz="2800" spc="0">
                <a:solidFill>
                  <a:schemeClr val="tx1"/>
                </a:solidFill>
                <a:effectLst/>
                <a:sym typeface="微软雅黑" panose="020B0503020204020204" pitchFamily="34" charset="-122"/>
              </a:rPr>
              <a:t>—LLM</a:t>
            </a:r>
            <a:r>
              <a:rPr lang="zh-CN" altLang="en-US" sz="2800" spc="0">
                <a:solidFill>
                  <a:schemeClr val="tx1"/>
                </a:solidFill>
                <a:effectLst/>
                <a:sym typeface="微软雅黑" panose="020B0503020204020204" pitchFamily="34" charset="-122"/>
              </a:rPr>
              <a:t>如何增强设计</a:t>
            </a:r>
          </a:p>
        </p:txBody>
      </p:sp>
      <p:grpSp>
        <p:nvGrpSpPr>
          <p:cNvPr id="104" name="组合 103">
            <a:extLst>
              <a:ext uri="{FF2B5EF4-FFF2-40B4-BE49-F238E27FC236}">
                <a16:creationId xmlns:a16="http://schemas.microsoft.com/office/drawing/2014/main" id="{1FDF6480-662B-47C1-960A-0F035233A7D0}"/>
              </a:ext>
            </a:extLst>
          </p:cNvPr>
          <p:cNvGrpSpPr/>
          <p:nvPr/>
        </p:nvGrpSpPr>
        <p:grpSpPr>
          <a:xfrm>
            <a:off x="308924" y="734752"/>
            <a:ext cx="11574151" cy="522605"/>
            <a:chOff x="308924" y="734752"/>
            <a:chExt cx="11574151" cy="522605"/>
          </a:xfrm>
        </p:grpSpPr>
        <p:sp>
          <p:nvSpPr>
            <p:cNvPr id="105" name="矩形 22">
              <a:extLst>
                <a:ext uri="{FF2B5EF4-FFF2-40B4-BE49-F238E27FC236}">
                  <a16:creationId xmlns:a16="http://schemas.microsoft.com/office/drawing/2014/main" id="{A89B10C8-6D5D-4023-B8D0-8E10E2951065}"/>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106" name="文本框 105">
              <a:extLst>
                <a:ext uri="{FF2B5EF4-FFF2-40B4-BE49-F238E27FC236}">
                  <a16:creationId xmlns:a16="http://schemas.microsoft.com/office/drawing/2014/main" id="{3DE43E9C-68AE-4CCA-9E9F-99522BBE6E92}"/>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使用</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LLM-Agent</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读取文献，生成</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Cross-Consistency Assessment</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的规则冲突约束</a:t>
              </a:r>
              <a:endParaRPr sz="22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sp>
        <p:nvSpPr>
          <p:cNvPr id="69" name="S7_Col_Box_0">
            <a:extLst>
              <a:ext uri="{FF2B5EF4-FFF2-40B4-BE49-F238E27FC236}">
                <a16:creationId xmlns:a16="http://schemas.microsoft.com/office/drawing/2014/main" id="{06745145-16CB-48F9-97D0-376F1EE0C0BD}"/>
              </a:ext>
            </a:extLst>
          </p:cNvPr>
          <p:cNvSpPr>
            <a:spLocks noGrp="1"/>
          </p:cNvSpPr>
          <p:nvPr/>
        </p:nvSpPr>
        <p:spPr>
          <a:xfrm>
            <a:off x="1040161" y="1504275"/>
            <a:ext cx="2959167" cy="1754734"/>
          </a:xfrm>
          <a:prstGeom prst="roundRect">
            <a:avLst>
              <a:gd name="adj" fmla="val 2588"/>
            </a:avLst>
          </a:prstGeom>
          <a:noFill/>
          <a:ln w="15240">
            <a:solidFill>
              <a:srgbClr val="8F1D2C"/>
            </a:solidFill>
            <a:prstDash val="solid"/>
          </a:ln>
        </p:spPr>
      </p:sp>
      <p:sp>
        <p:nvSpPr>
          <p:cNvPr id="70" name="S7_Col_Code_0">
            <a:extLst>
              <a:ext uri="{FF2B5EF4-FFF2-40B4-BE49-F238E27FC236}">
                <a16:creationId xmlns:a16="http://schemas.microsoft.com/office/drawing/2014/main" id="{118FC571-986B-4F2F-AA8B-4E7FC4B2B86D}"/>
              </a:ext>
            </a:extLst>
          </p:cNvPr>
          <p:cNvSpPr>
            <a:spLocks noGrp="1"/>
          </p:cNvSpPr>
          <p:nvPr/>
        </p:nvSpPr>
        <p:spPr>
          <a:xfrm>
            <a:off x="1164757" y="1608104"/>
            <a:ext cx="2699591" cy="166129"/>
          </a:xfrm>
          <a:prstGeom prst="rect">
            <a:avLst/>
          </a:prstGeom>
          <a:noFill/>
          <a:ln w="0">
            <a:noFill/>
            <a:prstDash val="solid"/>
          </a:ln>
        </p:spPr>
        <p:txBody>
          <a:bodyPr wrap="square" lIns="0" tIns="0" rIns="0" bIns="0" anchor="ctr">
            <a:noAutofit/>
          </a:bodyPr>
          <a:lstStyle/>
          <a:p>
            <a:pPr algn="l">
              <a:defRPr sz="1125" b="1" i="0">
                <a:solidFill>
                  <a:srgbClr val="8F1D2C"/>
                </a:solidFill>
                <a:latin typeface="Arial"/>
                <a:ea typeface="Arial"/>
                <a:cs typeface="Arial"/>
              </a:defRPr>
            </a:pPr>
            <a:r>
              <a:rPr sz="1400" b="1">
                <a:solidFill>
                  <a:srgbClr val="002060"/>
                </a:solidFill>
                <a:latin typeface="Arial"/>
                <a:ea typeface="Arial"/>
                <a:cs typeface="Arial"/>
              </a:rPr>
              <a:t>A  HARD EXCLUSION</a:t>
            </a:r>
          </a:p>
        </p:txBody>
      </p:sp>
      <p:sp>
        <p:nvSpPr>
          <p:cNvPr id="71" name="S7_Col_Title_0">
            <a:extLst>
              <a:ext uri="{FF2B5EF4-FFF2-40B4-BE49-F238E27FC236}">
                <a16:creationId xmlns:a16="http://schemas.microsoft.com/office/drawing/2014/main" id="{8292386C-5881-47A0-8342-AC68C40452C6}"/>
              </a:ext>
            </a:extLst>
          </p:cNvPr>
          <p:cNvSpPr>
            <a:spLocks noGrp="1"/>
          </p:cNvSpPr>
          <p:nvPr/>
        </p:nvSpPr>
        <p:spPr>
          <a:xfrm>
            <a:off x="1164757" y="1826148"/>
            <a:ext cx="2699591" cy="218044"/>
          </a:xfrm>
          <a:prstGeom prst="rect">
            <a:avLst/>
          </a:prstGeom>
          <a:noFill/>
          <a:ln w="0">
            <a:noFill/>
            <a:prstDash val="solid"/>
          </a:ln>
        </p:spPr>
        <p:txBody>
          <a:bodyPr wrap="square" lIns="0" tIns="0" rIns="0" bIns="0" anchor="ctr">
            <a:normAutofit/>
          </a:bodyPr>
          <a:lstStyle/>
          <a:p>
            <a:pPr algn="l">
              <a:defRPr sz="1650" b="1" i="0">
                <a:solidFill>
                  <a:srgbClr val="111827"/>
                </a:solidFill>
                <a:latin typeface="Microsoft YaHei"/>
                <a:ea typeface="Microsoft YaHei"/>
                <a:cs typeface="Microsoft YaHei"/>
              </a:defRPr>
            </a:pPr>
            <a:r>
              <a:rPr lang="zh-CN" altLang="en-US" sz="1050" b="1">
                <a:solidFill>
                  <a:srgbClr val="C00000"/>
                </a:solidFill>
                <a:latin typeface="Microsoft YaHei"/>
                <a:ea typeface="Microsoft YaHei"/>
                <a:cs typeface="Microsoft YaHei"/>
              </a:rPr>
              <a:t>强约束</a:t>
            </a:r>
            <a:r>
              <a:rPr sz="1050" b="1">
                <a:solidFill>
                  <a:srgbClr val="C00000"/>
                </a:solidFill>
                <a:latin typeface="Microsoft YaHei"/>
                <a:ea typeface="Microsoft YaHei"/>
                <a:cs typeface="Microsoft YaHei"/>
              </a:rPr>
              <a:t>｜</a:t>
            </a:r>
            <a:r>
              <a:rPr lang="zh-CN" altLang="en-US" sz="1050" b="1">
                <a:solidFill>
                  <a:srgbClr val="C00000"/>
                </a:solidFill>
                <a:latin typeface="Microsoft YaHei"/>
                <a:ea typeface="Microsoft YaHei"/>
                <a:cs typeface="Microsoft YaHei"/>
              </a:rPr>
              <a:t>两个规则</a:t>
            </a:r>
            <a:r>
              <a:rPr sz="1050" b="1">
                <a:solidFill>
                  <a:srgbClr val="C00000"/>
                </a:solidFill>
                <a:latin typeface="Microsoft YaHei"/>
                <a:ea typeface="Microsoft YaHei"/>
                <a:cs typeface="Microsoft YaHei"/>
              </a:rPr>
              <a:t>不能同时选</a:t>
            </a:r>
          </a:p>
        </p:txBody>
      </p:sp>
      <p:sp>
        <p:nvSpPr>
          <p:cNvPr id="72" name="S7_Col_Rule_0">
            <a:extLst>
              <a:ext uri="{FF2B5EF4-FFF2-40B4-BE49-F238E27FC236}">
                <a16:creationId xmlns:a16="http://schemas.microsoft.com/office/drawing/2014/main" id="{322FFF51-CCA7-4197-99FD-EC609EA49787}"/>
              </a:ext>
            </a:extLst>
          </p:cNvPr>
          <p:cNvSpPr>
            <a:spLocks noGrp="1"/>
          </p:cNvSpPr>
          <p:nvPr/>
        </p:nvSpPr>
        <p:spPr>
          <a:xfrm>
            <a:off x="1164757" y="2111682"/>
            <a:ext cx="2709974" cy="0"/>
          </a:xfrm>
          <a:prstGeom prst="line">
            <a:avLst/>
          </a:prstGeom>
          <a:noFill/>
          <a:ln w="20955">
            <a:solidFill>
              <a:srgbClr val="8F1D2C"/>
            </a:solidFill>
            <a:prstDash val="solid"/>
          </a:ln>
        </p:spPr>
      </p:sp>
      <p:sp>
        <p:nvSpPr>
          <p:cNvPr id="73" name="S7_Col_Formula_0">
            <a:extLst>
              <a:ext uri="{FF2B5EF4-FFF2-40B4-BE49-F238E27FC236}">
                <a16:creationId xmlns:a16="http://schemas.microsoft.com/office/drawing/2014/main" id="{D429A860-B126-4320-AD75-A8A04514FE32}"/>
              </a:ext>
            </a:extLst>
          </p:cNvPr>
          <p:cNvSpPr>
            <a:spLocks noGrp="1"/>
          </p:cNvSpPr>
          <p:nvPr/>
        </p:nvSpPr>
        <p:spPr>
          <a:xfrm>
            <a:off x="1164757" y="2205130"/>
            <a:ext cx="2699591" cy="321874"/>
          </a:xfrm>
          <a:prstGeom prst="rect">
            <a:avLst/>
          </a:prstGeom>
          <a:noFill/>
          <a:ln w="0">
            <a:noFill/>
            <a:prstDash val="solid"/>
          </a:ln>
        </p:spPr>
        <p:txBody>
          <a:bodyPr wrap="square" lIns="0" tIns="0" rIns="0" bIns="0" anchor="ctr">
            <a:noAutofit/>
          </a:bodyPr>
          <a:lstStyle/>
          <a:p>
            <a:pPr algn="ctr">
              <a:defRPr sz="2250" b="1" i="0">
                <a:solidFill>
                  <a:srgbClr val="8F1D2C"/>
                </a:solidFill>
                <a:latin typeface="Arial"/>
                <a:ea typeface="Arial"/>
                <a:cs typeface="Arial"/>
              </a:defRPr>
            </a:pPr>
            <a:r>
              <a:rPr sz="2400" b="1">
                <a:solidFill>
                  <a:srgbClr val="002060"/>
                </a:solidFill>
                <a:latin typeface="Times New Roman" panose="02020603050405020304" pitchFamily="18" charset="0"/>
                <a:ea typeface="Arial"/>
                <a:cs typeface="Times New Roman" panose="02020603050405020304" pitchFamily="18" charset="0"/>
              </a:rPr>
              <a:t>xₐ + xᵦ ≤ 1</a:t>
            </a:r>
          </a:p>
        </p:txBody>
      </p:sp>
      <p:sp>
        <p:nvSpPr>
          <p:cNvPr id="74" name="S7_Col_Examples_0">
            <a:extLst>
              <a:ext uri="{FF2B5EF4-FFF2-40B4-BE49-F238E27FC236}">
                <a16:creationId xmlns:a16="http://schemas.microsoft.com/office/drawing/2014/main" id="{D8A7B381-34CC-4B44-8B72-6890D8F65E06}"/>
              </a:ext>
            </a:extLst>
          </p:cNvPr>
          <p:cNvSpPr>
            <a:spLocks noGrp="1"/>
          </p:cNvSpPr>
          <p:nvPr/>
        </p:nvSpPr>
        <p:spPr>
          <a:xfrm>
            <a:off x="1216672" y="2584111"/>
            <a:ext cx="2595761" cy="674898"/>
          </a:xfrm>
          <a:prstGeom prst="rect">
            <a:avLst/>
          </a:prstGeom>
          <a:noFill/>
          <a:ln w="0">
            <a:noFill/>
            <a:prstDash val="solid"/>
          </a:ln>
        </p:spPr>
        <p:txBody>
          <a:bodyPr wrap="square" lIns="0" tIns="0" rIns="0" bIns="0" anchor="ctr">
            <a:normAutofit/>
          </a:bodyPr>
          <a:lstStyle/>
          <a:p>
            <a:pPr algn="l">
              <a:defRPr sz="1238" b="0" i="0">
                <a:solidFill>
                  <a:srgbClr val="111827"/>
                </a:solidFill>
                <a:latin typeface="Microsoft YaHei"/>
                <a:ea typeface="Microsoft YaHei"/>
                <a:cs typeface="Microsoft YaHei"/>
              </a:defRPr>
            </a:pPr>
            <a:r>
              <a:rPr sz="1000">
                <a:solidFill>
                  <a:srgbClr val="002060"/>
                </a:solidFill>
                <a:latin typeface="Microsoft YaHei"/>
                <a:ea typeface="Microsoft YaHei"/>
                <a:cs typeface="Microsoft YaHei"/>
              </a:rPr>
              <a:t>• </a:t>
            </a:r>
            <a:r>
              <a:rPr lang="zh-CN" altLang="en-US" sz="1000">
                <a:solidFill>
                  <a:srgbClr val="002060"/>
                </a:solidFill>
                <a:latin typeface="Microsoft YaHei"/>
                <a:ea typeface="Microsoft YaHei"/>
                <a:cs typeface="Microsoft YaHei"/>
              </a:rPr>
              <a:t>集中池</a:t>
            </a:r>
            <a:r>
              <a:rPr sz="1000">
                <a:solidFill>
                  <a:srgbClr val="002060"/>
                </a:solidFill>
                <a:latin typeface="Microsoft YaHei"/>
                <a:ea typeface="Microsoft YaHei"/>
                <a:cs typeface="Microsoft YaHei"/>
              </a:rPr>
              <a:t> × </a:t>
            </a:r>
            <a:r>
              <a:rPr lang="zh-CN" altLang="en-US" sz="1000">
                <a:solidFill>
                  <a:srgbClr val="002060"/>
                </a:solidFill>
                <a:latin typeface="Microsoft YaHei"/>
                <a:ea typeface="Microsoft YaHei"/>
                <a:cs typeface="Microsoft YaHei"/>
              </a:rPr>
              <a:t>双边协商</a:t>
            </a:r>
            <a:endParaRPr sz="1000">
              <a:solidFill>
                <a:srgbClr val="002060"/>
              </a:solidFill>
              <a:latin typeface="Microsoft YaHei"/>
              <a:ea typeface="Microsoft YaHei"/>
              <a:cs typeface="Microsoft YaHei"/>
            </a:endParaRPr>
          </a:p>
          <a:p>
            <a:pPr algn="l">
              <a:defRPr sz="1238" b="0" i="0">
                <a:solidFill>
                  <a:srgbClr val="111827"/>
                </a:solidFill>
                <a:latin typeface="Microsoft YaHei"/>
                <a:ea typeface="Microsoft YaHei"/>
                <a:cs typeface="Microsoft YaHei"/>
              </a:defRPr>
            </a:pPr>
            <a:r>
              <a:rPr sz="1000">
                <a:solidFill>
                  <a:srgbClr val="002060"/>
                </a:solidFill>
                <a:latin typeface="Microsoft YaHei"/>
                <a:ea typeface="Microsoft YaHei"/>
                <a:cs typeface="Microsoft YaHei"/>
              </a:rPr>
              <a:t>• </a:t>
            </a:r>
            <a:r>
              <a:rPr lang="zh-CN" altLang="en-US" sz="1000">
                <a:solidFill>
                  <a:srgbClr val="002060"/>
                </a:solidFill>
                <a:latin typeface="Microsoft YaHei"/>
                <a:ea typeface="Microsoft YaHei"/>
                <a:cs typeface="Microsoft YaHei"/>
              </a:rPr>
              <a:t>Ｐ２Ｐ</a:t>
            </a:r>
            <a:r>
              <a:rPr sz="1000">
                <a:solidFill>
                  <a:srgbClr val="002060"/>
                </a:solidFill>
                <a:latin typeface="Microsoft YaHei"/>
                <a:ea typeface="Microsoft YaHei"/>
                <a:cs typeface="Microsoft YaHei"/>
              </a:rPr>
              <a:t> × </a:t>
            </a:r>
            <a:r>
              <a:rPr lang="en-US" altLang="zh-CN" sz="1000">
                <a:solidFill>
                  <a:srgbClr val="002060"/>
                </a:solidFill>
                <a:latin typeface="Microsoft YaHei"/>
                <a:ea typeface="Microsoft YaHei"/>
                <a:cs typeface="Microsoft YaHei"/>
              </a:rPr>
              <a:t>DSO</a:t>
            </a:r>
            <a:r>
              <a:rPr lang="zh-CN" altLang="en-US" sz="1000">
                <a:solidFill>
                  <a:srgbClr val="002060"/>
                </a:solidFill>
                <a:latin typeface="Microsoft YaHei"/>
                <a:ea typeface="Microsoft YaHei"/>
                <a:cs typeface="Microsoft YaHei"/>
              </a:rPr>
              <a:t>采购成本最小</a:t>
            </a:r>
            <a:endParaRPr lang="en-US" altLang="zh-CN" sz="1000">
              <a:solidFill>
                <a:srgbClr val="002060"/>
              </a:solidFill>
              <a:latin typeface="Microsoft YaHei"/>
              <a:ea typeface="Microsoft YaHei"/>
              <a:cs typeface="Microsoft YaHei"/>
            </a:endParaRPr>
          </a:p>
          <a:p>
            <a:pPr algn="l">
              <a:defRPr sz="1238" b="0" i="0">
                <a:solidFill>
                  <a:srgbClr val="111827"/>
                </a:solidFill>
                <a:latin typeface="Microsoft YaHei"/>
                <a:ea typeface="Microsoft YaHei"/>
                <a:cs typeface="Microsoft YaHei"/>
              </a:defRPr>
            </a:pPr>
            <a:r>
              <a:rPr sz="1000">
                <a:solidFill>
                  <a:srgbClr val="002060"/>
                </a:solidFill>
                <a:latin typeface="Microsoft YaHei"/>
                <a:ea typeface="Microsoft YaHei"/>
                <a:cs typeface="Microsoft YaHei"/>
              </a:rPr>
              <a:t>• 限价单 × 单买方采购</a:t>
            </a:r>
          </a:p>
        </p:txBody>
      </p:sp>
      <p:sp>
        <p:nvSpPr>
          <p:cNvPr id="76" name="S7_Col_Box_1">
            <a:extLst>
              <a:ext uri="{FF2B5EF4-FFF2-40B4-BE49-F238E27FC236}">
                <a16:creationId xmlns:a16="http://schemas.microsoft.com/office/drawing/2014/main" id="{668D4431-1A50-4E6A-BE14-695F69EA08B0}"/>
              </a:ext>
            </a:extLst>
          </p:cNvPr>
          <p:cNvSpPr>
            <a:spLocks noGrp="1"/>
          </p:cNvSpPr>
          <p:nvPr/>
        </p:nvSpPr>
        <p:spPr>
          <a:xfrm>
            <a:off x="4362734" y="1504275"/>
            <a:ext cx="2959167" cy="1754734"/>
          </a:xfrm>
          <a:prstGeom prst="roundRect">
            <a:avLst>
              <a:gd name="adj" fmla="val 2588"/>
            </a:avLst>
          </a:prstGeom>
          <a:noFill/>
          <a:ln w="15240">
            <a:solidFill>
              <a:srgbClr val="B13A4A"/>
            </a:solidFill>
            <a:prstDash val="solid"/>
          </a:ln>
        </p:spPr>
      </p:sp>
      <p:sp>
        <p:nvSpPr>
          <p:cNvPr id="77" name="S7_Col_Code_1">
            <a:extLst>
              <a:ext uri="{FF2B5EF4-FFF2-40B4-BE49-F238E27FC236}">
                <a16:creationId xmlns:a16="http://schemas.microsoft.com/office/drawing/2014/main" id="{DC1E9C90-EBD7-4F90-867E-842A86D884AD}"/>
              </a:ext>
            </a:extLst>
          </p:cNvPr>
          <p:cNvSpPr>
            <a:spLocks noGrp="1"/>
          </p:cNvSpPr>
          <p:nvPr/>
        </p:nvSpPr>
        <p:spPr>
          <a:xfrm>
            <a:off x="4487331" y="1608104"/>
            <a:ext cx="2699591" cy="166129"/>
          </a:xfrm>
          <a:prstGeom prst="rect">
            <a:avLst/>
          </a:prstGeom>
          <a:noFill/>
          <a:ln w="0">
            <a:noFill/>
            <a:prstDash val="solid"/>
          </a:ln>
        </p:spPr>
        <p:txBody>
          <a:bodyPr wrap="square" lIns="0" tIns="0" rIns="0" bIns="0" anchor="ctr">
            <a:noAutofit/>
          </a:bodyPr>
          <a:lstStyle/>
          <a:p>
            <a:pPr algn="l">
              <a:defRPr sz="1125" b="1" i="0">
                <a:solidFill>
                  <a:srgbClr val="B13A4A"/>
                </a:solidFill>
                <a:latin typeface="Arial"/>
                <a:ea typeface="Arial"/>
                <a:cs typeface="Arial"/>
              </a:defRPr>
            </a:pPr>
            <a:r>
              <a:rPr sz="1400" b="1">
                <a:solidFill>
                  <a:srgbClr val="002060"/>
                </a:solidFill>
                <a:latin typeface="Arial"/>
                <a:ea typeface="Arial"/>
                <a:cs typeface="Arial"/>
              </a:rPr>
              <a:t>B  CONDITIONAL</a:t>
            </a:r>
            <a:r>
              <a:rPr lang="en-US" altLang="zh-CN" sz="1400" b="1">
                <a:solidFill>
                  <a:srgbClr val="002060"/>
                </a:solidFill>
                <a:latin typeface="Arial"/>
                <a:ea typeface="Arial"/>
                <a:cs typeface="Arial"/>
              </a:rPr>
              <a:t>(</a:t>
            </a:r>
            <a:r>
              <a:rPr lang="zh-CN" altLang="en-US" sz="1400" b="1">
                <a:solidFill>
                  <a:srgbClr val="002060"/>
                </a:solidFill>
                <a:latin typeface="Arial"/>
                <a:ea typeface="Arial"/>
                <a:cs typeface="Arial"/>
              </a:rPr>
              <a:t>基础</a:t>
            </a:r>
            <a:r>
              <a:rPr lang="en-US" altLang="zh-CN" sz="1400" b="1">
                <a:solidFill>
                  <a:srgbClr val="002060"/>
                </a:solidFill>
                <a:latin typeface="Arial"/>
                <a:ea typeface="Arial"/>
                <a:cs typeface="Arial"/>
              </a:rPr>
              <a:t>)</a:t>
            </a:r>
            <a:endParaRPr sz="1400" b="1">
              <a:solidFill>
                <a:srgbClr val="002060"/>
              </a:solidFill>
              <a:latin typeface="Arial"/>
              <a:ea typeface="Arial"/>
              <a:cs typeface="Arial"/>
            </a:endParaRPr>
          </a:p>
        </p:txBody>
      </p:sp>
      <p:sp>
        <p:nvSpPr>
          <p:cNvPr id="78" name="S7_Col_Title_1">
            <a:extLst>
              <a:ext uri="{FF2B5EF4-FFF2-40B4-BE49-F238E27FC236}">
                <a16:creationId xmlns:a16="http://schemas.microsoft.com/office/drawing/2014/main" id="{022929F5-B51D-45EB-9400-E1C74E6D77F2}"/>
              </a:ext>
            </a:extLst>
          </p:cNvPr>
          <p:cNvSpPr>
            <a:spLocks noGrp="1"/>
          </p:cNvSpPr>
          <p:nvPr/>
        </p:nvSpPr>
        <p:spPr>
          <a:xfrm>
            <a:off x="4487331" y="1826148"/>
            <a:ext cx="2699591" cy="218044"/>
          </a:xfrm>
          <a:prstGeom prst="rect">
            <a:avLst/>
          </a:prstGeom>
          <a:noFill/>
          <a:ln w="0">
            <a:noFill/>
            <a:prstDash val="solid"/>
          </a:ln>
        </p:spPr>
        <p:txBody>
          <a:bodyPr wrap="square" lIns="0" tIns="0" rIns="0" bIns="0" anchor="ctr">
            <a:normAutofit/>
          </a:bodyPr>
          <a:lstStyle/>
          <a:p>
            <a:pPr algn="l">
              <a:defRPr sz="1650" b="1" i="0">
                <a:solidFill>
                  <a:srgbClr val="111827"/>
                </a:solidFill>
                <a:latin typeface="Microsoft YaHei"/>
                <a:ea typeface="Microsoft YaHei"/>
                <a:cs typeface="Microsoft YaHei"/>
              </a:defRPr>
            </a:pPr>
            <a:r>
              <a:rPr sz="1050" b="1">
                <a:solidFill>
                  <a:srgbClr val="C00000"/>
                </a:solidFill>
                <a:latin typeface="Microsoft YaHei"/>
                <a:ea typeface="Microsoft YaHei"/>
                <a:cs typeface="Microsoft YaHei"/>
              </a:rPr>
              <a:t>条件兼容｜</a:t>
            </a:r>
            <a:r>
              <a:rPr lang="zh-CN" altLang="en-US" sz="1050" b="1">
                <a:solidFill>
                  <a:srgbClr val="C00000"/>
                </a:solidFill>
                <a:latin typeface="Microsoft YaHei"/>
                <a:ea typeface="Microsoft YaHei"/>
                <a:cs typeface="Microsoft YaHei"/>
              </a:rPr>
              <a:t>两个缺乏必须要第三个</a:t>
            </a:r>
            <a:endParaRPr sz="1050" b="1">
              <a:solidFill>
                <a:srgbClr val="C00000"/>
              </a:solidFill>
              <a:latin typeface="Microsoft YaHei"/>
              <a:ea typeface="Microsoft YaHei"/>
              <a:cs typeface="Microsoft YaHei"/>
            </a:endParaRPr>
          </a:p>
        </p:txBody>
      </p:sp>
      <p:sp>
        <p:nvSpPr>
          <p:cNvPr id="79" name="S7_Col_Rule_1">
            <a:extLst>
              <a:ext uri="{FF2B5EF4-FFF2-40B4-BE49-F238E27FC236}">
                <a16:creationId xmlns:a16="http://schemas.microsoft.com/office/drawing/2014/main" id="{E93AB198-DCB9-46EC-BC9F-A6AB71BC87CD}"/>
              </a:ext>
            </a:extLst>
          </p:cNvPr>
          <p:cNvSpPr>
            <a:spLocks noGrp="1"/>
          </p:cNvSpPr>
          <p:nvPr/>
        </p:nvSpPr>
        <p:spPr>
          <a:xfrm>
            <a:off x="4487331" y="2111682"/>
            <a:ext cx="2709974" cy="0"/>
          </a:xfrm>
          <a:prstGeom prst="line">
            <a:avLst/>
          </a:prstGeom>
          <a:noFill/>
          <a:ln w="20955">
            <a:solidFill>
              <a:srgbClr val="B13A4A"/>
            </a:solidFill>
            <a:prstDash val="solid"/>
          </a:ln>
        </p:spPr>
      </p:sp>
      <p:sp>
        <p:nvSpPr>
          <p:cNvPr id="80" name="S7_Col_Formula_1">
            <a:extLst>
              <a:ext uri="{FF2B5EF4-FFF2-40B4-BE49-F238E27FC236}">
                <a16:creationId xmlns:a16="http://schemas.microsoft.com/office/drawing/2014/main" id="{2CC10027-F029-4832-A1C1-3E422CCE4B80}"/>
              </a:ext>
            </a:extLst>
          </p:cNvPr>
          <p:cNvSpPr>
            <a:spLocks noGrp="1"/>
          </p:cNvSpPr>
          <p:nvPr/>
        </p:nvSpPr>
        <p:spPr>
          <a:xfrm>
            <a:off x="4487331" y="2205130"/>
            <a:ext cx="2699591" cy="321874"/>
          </a:xfrm>
          <a:prstGeom prst="rect">
            <a:avLst/>
          </a:prstGeom>
          <a:noFill/>
          <a:ln w="0">
            <a:noFill/>
            <a:prstDash val="solid"/>
          </a:ln>
        </p:spPr>
        <p:txBody>
          <a:bodyPr wrap="square" lIns="0" tIns="0" rIns="0" bIns="0" anchor="ctr">
            <a:noAutofit/>
          </a:bodyPr>
          <a:lstStyle/>
          <a:p>
            <a:pPr algn="ctr">
              <a:defRPr sz="2250" b="1" i="0">
                <a:solidFill>
                  <a:srgbClr val="B13A4A"/>
                </a:solidFill>
                <a:latin typeface="Arial"/>
                <a:ea typeface="Arial"/>
                <a:cs typeface="Arial"/>
              </a:defRPr>
            </a:pPr>
            <a:r>
              <a:rPr sz="2400" b="1">
                <a:solidFill>
                  <a:srgbClr val="002060"/>
                </a:solidFill>
                <a:latin typeface="Times New Roman" panose="02020603050405020304" pitchFamily="18" charset="0"/>
                <a:ea typeface="Arial"/>
                <a:cs typeface="Times New Roman" panose="02020603050405020304" pitchFamily="18" charset="0"/>
              </a:rPr>
              <a:t>xₐ + xᵦ − 1 ≤ zₐᵤₓ</a:t>
            </a:r>
          </a:p>
        </p:txBody>
      </p:sp>
      <p:sp>
        <p:nvSpPr>
          <p:cNvPr id="81" name="S7_Col_Examples_1">
            <a:extLst>
              <a:ext uri="{FF2B5EF4-FFF2-40B4-BE49-F238E27FC236}">
                <a16:creationId xmlns:a16="http://schemas.microsoft.com/office/drawing/2014/main" id="{80CE95B7-4934-4A03-9B83-7FA29D98DF0D}"/>
              </a:ext>
            </a:extLst>
          </p:cNvPr>
          <p:cNvSpPr>
            <a:spLocks noGrp="1"/>
          </p:cNvSpPr>
          <p:nvPr/>
        </p:nvSpPr>
        <p:spPr>
          <a:xfrm>
            <a:off x="4539246" y="2584111"/>
            <a:ext cx="2595761" cy="674898"/>
          </a:xfrm>
          <a:prstGeom prst="rect">
            <a:avLst/>
          </a:prstGeom>
          <a:noFill/>
          <a:ln w="0">
            <a:noFill/>
            <a:prstDash val="solid"/>
          </a:ln>
        </p:spPr>
        <p:txBody>
          <a:bodyPr wrap="square" lIns="0" tIns="0" rIns="0" bIns="0" anchor="ctr">
            <a:normAutofit/>
          </a:bodyPr>
          <a:lstStyle/>
          <a:p>
            <a:pPr algn="l">
              <a:defRPr sz="1238" b="0" i="0">
                <a:solidFill>
                  <a:srgbClr val="111827"/>
                </a:solidFill>
                <a:latin typeface="Microsoft YaHei"/>
                <a:ea typeface="Microsoft YaHei"/>
                <a:cs typeface="Microsoft YaHei"/>
              </a:defRPr>
            </a:pPr>
            <a:r>
              <a:rPr sz="1000">
                <a:solidFill>
                  <a:srgbClr val="002060"/>
                </a:solidFill>
                <a:latin typeface="Microsoft YaHei"/>
                <a:ea typeface="Microsoft YaHei"/>
                <a:cs typeface="Microsoft YaHei"/>
              </a:rPr>
              <a:t>• 区块报价 + CDA → 批量适配</a:t>
            </a:r>
          </a:p>
          <a:p>
            <a:pPr algn="l">
              <a:defRPr sz="1238" b="0" i="0">
                <a:solidFill>
                  <a:srgbClr val="111827"/>
                </a:solidFill>
                <a:latin typeface="Microsoft YaHei"/>
                <a:ea typeface="Microsoft YaHei"/>
                <a:cs typeface="Microsoft YaHei"/>
              </a:defRPr>
            </a:pPr>
            <a:r>
              <a:rPr sz="1000">
                <a:solidFill>
                  <a:srgbClr val="002060"/>
                </a:solidFill>
                <a:latin typeface="Microsoft YaHei"/>
                <a:ea typeface="Microsoft YaHei"/>
                <a:cs typeface="Microsoft YaHei"/>
              </a:rPr>
              <a:t>• P2P + 完整OPF → 协调者/C8</a:t>
            </a:r>
          </a:p>
          <a:p>
            <a:pPr algn="l">
              <a:defRPr sz="1238" b="0" i="0">
                <a:solidFill>
                  <a:srgbClr val="111827"/>
                </a:solidFill>
                <a:latin typeface="Microsoft YaHei"/>
                <a:ea typeface="Microsoft YaHei"/>
                <a:cs typeface="Microsoft YaHei"/>
              </a:defRPr>
            </a:pPr>
            <a:r>
              <a:rPr sz="1000">
                <a:solidFill>
                  <a:srgbClr val="002060"/>
                </a:solidFill>
                <a:latin typeface="Microsoft YaHei"/>
                <a:ea typeface="Microsoft YaHei"/>
                <a:cs typeface="Microsoft YaHei"/>
              </a:rPr>
              <a:t>• 策略报价 → 鲁棒性检验</a:t>
            </a:r>
          </a:p>
        </p:txBody>
      </p:sp>
      <p:sp>
        <p:nvSpPr>
          <p:cNvPr id="83" name="S7_Col_Box_2">
            <a:extLst>
              <a:ext uri="{FF2B5EF4-FFF2-40B4-BE49-F238E27FC236}">
                <a16:creationId xmlns:a16="http://schemas.microsoft.com/office/drawing/2014/main" id="{197A3833-BDA9-46B6-AEA5-BF59610A5C35}"/>
              </a:ext>
            </a:extLst>
          </p:cNvPr>
          <p:cNvSpPr>
            <a:spLocks noGrp="1"/>
          </p:cNvSpPr>
          <p:nvPr/>
        </p:nvSpPr>
        <p:spPr>
          <a:xfrm>
            <a:off x="7685308" y="1504275"/>
            <a:ext cx="2959167" cy="1754734"/>
          </a:xfrm>
          <a:prstGeom prst="roundRect">
            <a:avLst>
              <a:gd name="adj" fmla="val 2588"/>
            </a:avLst>
          </a:prstGeom>
          <a:noFill/>
          <a:ln w="15240">
            <a:solidFill>
              <a:srgbClr val="17365D"/>
            </a:solidFill>
            <a:prstDash val="solid"/>
          </a:ln>
        </p:spPr>
      </p:sp>
      <p:sp>
        <p:nvSpPr>
          <p:cNvPr id="84" name="S7_Col_Code_2">
            <a:extLst>
              <a:ext uri="{FF2B5EF4-FFF2-40B4-BE49-F238E27FC236}">
                <a16:creationId xmlns:a16="http://schemas.microsoft.com/office/drawing/2014/main" id="{EE6ABECB-F242-4C5C-A132-D807F766237D}"/>
              </a:ext>
            </a:extLst>
          </p:cNvPr>
          <p:cNvSpPr>
            <a:spLocks noGrp="1"/>
          </p:cNvSpPr>
          <p:nvPr/>
        </p:nvSpPr>
        <p:spPr>
          <a:xfrm>
            <a:off x="7809905" y="1608104"/>
            <a:ext cx="2699591" cy="166129"/>
          </a:xfrm>
          <a:prstGeom prst="rect">
            <a:avLst/>
          </a:prstGeom>
          <a:noFill/>
          <a:ln w="0">
            <a:noFill/>
            <a:prstDash val="solid"/>
          </a:ln>
        </p:spPr>
        <p:txBody>
          <a:bodyPr wrap="square" lIns="0" tIns="0" rIns="0" bIns="0" anchor="ctr">
            <a:normAutofit fontScale="92500" lnSpcReduction="20000"/>
          </a:bodyPr>
          <a:lstStyle/>
          <a:p>
            <a:pPr algn="l">
              <a:defRPr sz="1125" b="1" i="0">
                <a:solidFill>
                  <a:srgbClr val="17365D"/>
                </a:solidFill>
                <a:latin typeface="Arial"/>
                <a:ea typeface="Arial"/>
                <a:cs typeface="Arial"/>
              </a:defRPr>
            </a:pPr>
            <a:r>
              <a:rPr sz="1400" b="1">
                <a:solidFill>
                  <a:srgbClr val="002060"/>
                </a:solidFill>
                <a:latin typeface="Arial"/>
                <a:ea typeface="Arial"/>
                <a:cs typeface="Arial"/>
              </a:rPr>
              <a:t>C  REQUIRED</a:t>
            </a:r>
          </a:p>
        </p:txBody>
      </p:sp>
      <p:sp>
        <p:nvSpPr>
          <p:cNvPr id="85" name="S7_Col_Title_2">
            <a:extLst>
              <a:ext uri="{FF2B5EF4-FFF2-40B4-BE49-F238E27FC236}">
                <a16:creationId xmlns:a16="http://schemas.microsoft.com/office/drawing/2014/main" id="{0E3DBAA4-5741-4D6A-BD3E-AA314D1BC62F}"/>
              </a:ext>
            </a:extLst>
          </p:cNvPr>
          <p:cNvSpPr>
            <a:spLocks noGrp="1"/>
          </p:cNvSpPr>
          <p:nvPr/>
        </p:nvSpPr>
        <p:spPr>
          <a:xfrm>
            <a:off x="7809905" y="1826148"/>
            <a:ext cx="2699591" cy="218044"/>
          </a:xfrm>
          <a:prstGeom prst="rect">
            <a:avLst/>
          </a:prstGeom>
          <a:noFill/>
          <a:ln w="0">
            <a:noFill/>
            <a:prstDash val="solid"/>
          </a:ln>
        </p:spPr>
        <p:txBody>
          <a:bodyPr wrap="square" lIns="0" tIns="0" rIns="0" bIns="0" anchor="ctr">
            <a:normAutofit/>
          </a:bodyPr>
          <a:lstStyle/>
          <a:p>
            <a:pPr algn="l">
              <a:defRPr sz="1650" b="1" i="0">
                <a:solidFill>
                  <a:srgbClr val="111827"/>
                </a:solidFill>
                <a:latin typeface="Microsoft YaHei"/>
                <a:ea typeface="Microsoft YaHei"/>
                <a:cs typeface="Microsoft YaHei"/>
              </a:defRPr>
            </a:pPr>
            <a:r>
              <a:rPr sz="1050" b="1">
                <a:solidFill>
                  <a:srgbClr val="C00000"/>
                </a:solidFill>
                <a:latin typeface="Microsoft YaHei"/>
                <a:ea typeface="Microsoft YaHei"/>
                <a:cs typeface="Microsoft YaHei"/>
              </a:rPr>
              <a:t>强依赖｜</a:t>
            </a:r>
            <a:r>
              <a:rPr lang="zh-CN" altLang="en-US" sz="1050" b="1">
                <a:solidFill>
                  <a:srgbClr val="C00000"/>
                </a:solidFill>
                <a:latin typeface="Microsoft YaHei"/>
                <a:ea typeface="Microsoft YaHei"/>
                <a:cs typeface="Microsoft YaHei"/>
              </a:rPr>
              <a:t>必须链接下个点</a:t>
            </a:r>
            <a:endParaRPr sz="1050" b="1">
              <a:solidFill>
                <a:srgbClr val="C00000"/>
              </a:solidFill>
              <a:latin typeface="Microsoft YaHei"/>
              <a:ea typeface="Microsoft YaHei"/>
              <a:cs typeface="Microsoft YaHei"/>
            </a:endParaRPr>
          </a:p>
        </p:txBody>
      </p:sp>
      <p:sp>
        <p:nvSpPr>
          <p:cNvPr id="86" name="S7_Col_Rule_2">
            <a:extLst>
              <a:ext uri="{FF2B5EF4-FFF2-40B4-BE49-F238E27FC236}">
                <a16:creationId xmlns:a16="http://schemas.microsoft.com/office/drawing/2014/main" id="{16C8A1CC-1FC5-4D14-A1BB-A17D6A473AD0}"/>
              </a:ext>
            </a:extLst>
          </p:cNvPr>
          <p:cNvSpPr>
            <a:spLocks noGrp="1"/>
          </p:cNvSpPr>
          <p:nvPr/>
        </p:nvSpPr>
        <p:spPr>
          <a:xfrm>
            <a:off x="7809905" y="2111682"/>
            <a:ext cx="2709974" cy="0"/>
          </a:xfrm>
          <a:prstGeom prst="line">
            <a:avLst/>
          </a:prstGeom>
          <a:noFill/>
          <a:ln w="20955">
            <a:solidFill>
              <a:srgbClr val="17365D"/>
            </a:solidFill>
            <a:prstDash val="solid"/>
          </a:ln>
        </p:spPr>
      </p:sp>
      <p:sp>
        <p:nvSpPr>
          <p:cNvPr id="87" name="S7_Col_Formula_2">
            <a:extLst>
              <a:ext uri="{FF2B5EF4-FFF2-40B4-BE49-F238E27FC236}">
                <a16:creationId xmlns:a16="http://schemas.microsoft.com/office/drawing/2014/main" id="{B98F6497-3F74-4021-84B7-62BA0E5C6047}"/>
              </a:ext>
            </a:extLst>
          </p:cNvPr>
          <p:cNvSpPr>
            <a:spLocks noGrp="1"/>
          </p:cNvSpPr>
          <p:nvPr/>
        </p:nvSpPr>
        <p:spPr>
          <a:xfrm>
            <a:off x="7809905" y="2205130"/>
            <a:ext cx="2699591" cy="321874"/>
          </a:xfrm>
          <a:prstGeom prst="rect">
            <a:avLst/>
          </a:prstGeom>
          <a:noFill/>
          <a:ln w="0">
            <a:noFill/>
            <a:prstDash val="solid"/>
          </a:ln>
        </p:spPr>
        <p:txBody>
          <a:bodyPr wrap="square" lIns="0" tIns="0" rIns="0" bIns="0" anchor="ctr">
            <a:noAutofit/>
          </a:bodyPr>
          <a:lstStyle/>
          <a:p>
            <a:pPr algn="ctr">
              <a:defRPr sz="2250" b="1" i="0">
                <a:solidFill>
                  <a:srgbClr val="17365D"/>
                </a:solidFill>
                <a:latin typeface="Arial"/>
                <a:ea typeface="Arial"/>
                <a:cs typeface="Arial"/>
              </a:defRPr>
            </a:pPr>
            <a:r>
              <a:rPr sz="2400" b="1">
                <a:solidFill>
                  <a:srgbClr val="002060"/>
                </a:solidFill>
                <a:latin typeface="Times New Roman" panose="02020603050405020304" pitchFamily="18" charset="0"/>
                <a:ea typeface="Arial"/>
                <a:cs typeface="Times New Roman" panose="02020603050405020304" pitchFamily="18" charset="0"/>
              </a:rPr>
              <a:t>xₐ ≤ Σᵦ∈B(a) xᵦ</a:t>
            </a:r>
          </a:p>
        </p:txBody>
      </p:sp>
      <p:sp>
        <p:nvSpPr>
          <p:cNvPr id="88" name="S7_Col_Examples_2">
            <a:extLst>
              <a:ext uri="{FF2B5EF4-FFF2-40B4-BE49-F238E27FC236}">
                <a16:creationId xmlns:a16="http://schemas.microsoft.com/office/drawing/2014/main" id="{FCBA860B-7358-4364-B449-43C8F360F425}"/>
              </a:ext>
            </a:extLst>
          </p:cNvPr>
          <p:cNvSpPr>
            <a:spLocks noGrp="1"/>
          </p:cNvSpPr>
          <p:nvPr/>
        </p:nvSpPr>
        <p:spPr>
          <a:xfrm>
            <a:off x="7861820" y="2584111"/>
            <a:ext cx="2595761" cy="674898"/>
          </a:xfrm>
          <a:prstGeom prst="rect">
            <a:avLst/>
          </a:prstGeom>
          <a:noFill/>
          <a:ln w="0">
            <a:noFill/>
            <a:prstDash val="solid"/>
          </a:ln>
        </p:spPr>
        <p:txBody>
          <a:bodyPr wrap="square" lIns="0" tIns="0" rIns="0" bIns="0" anchor="ctr">
            <a:normAutofit/>
          </a:bodyPr>
          <a:lstStyle/>
          <a:p>
            <a:pPr algn="l">
              <a:defRPr sz="1238" b="0" i="0">
                <a:solidFill>
                  <a:srgbClr val="111827"/>
                </a:solidFill>
                <a:latin typeface="Microsoft YaHei"/>
                <a:ea typeface="Microsoft YaHei"/>
                <a:cs typeface="Microsoft YaHei"/>
              </a:defRPr>
            </a:pPr>
            <a:r>
              <a:rPr sz="1000">
                <a:solidFill>
                  <a:srgbClr val="002060"/>
                </a:solidFill>
                <a:latin typeface="Microsoft YaHei"/>
                <a:ea typeface="Microsoft YaHei"/>
                <a:cs typeface="Microsoft YaHei"/>
              </a:rPr>
              <a:t>• 拥塞管理 → N3/N4</a:t>
            </a:r>
          </a:p>
          <a:p>
            <a:pPr algn="l">
              <a:defRPr sz="1238" b="0" i="0">
                <a:solidFill>
                  <a:srgbClr val="111827"/>
                </a:solidFill>
                <a:latin typeface="Microsoft YaHei"/>
                <a:ea typeface="Microsoft YaHei"/>
                <a:cs typeface="Microsoft YaHei"/>
              </a:defRPr>
            </a:pPr>
            <a:r>
              <a:rPr sz="1000">
                <a:solidFill>
                  <a:srgbClr val="002060"/>
                </a:solidFill>
                <a:latin typeface="Microsoft YaHei"/>
                <a:ea typeface="Microsoft YaHei"/>
                <a:cs typeface="Microsoft YaHei"/>
              </a:rPr>
              <a:t>• DLMP → 网络感知 + OPF</a:t>
            </a:r>
          </a:p>
          <a:p>
            <a:pPr algn="l">
              <a:defRPr sz="1238" b="0" i="0">
                <a:solidFill>
                  <a:srgbClr val="111827"/>
                </a:solidFill>
                <a:latin typeface="Microsoft YaHei"/>
                <a:ea typeface="Microsoft YaHei"/>
                <a:cs typeface="Microsoft YaHei"/>
              </a:defRPr>
            </a:pPr>
            <a:r>
              <a:rPr sz="1000">
                <a:solidFill>
                  <a:srgbClr val="002060"/>
                </a:solidFill>
                <a:latin typeface="Microsoft YaHei"/>
                <a:ea typeface="Microsoft YaHei"/>
                <a:cs typeface="Microsoft YaHei"/>
              </a:rPr>
              <a:t>• 容量+激活 → B4 + 多阶段</a:t>
            </a:r>
          </a:p>
        </p:txBody>
      </p:sp>
      <p:sp>
        <p:nvSpPr>
          <p:cNvPr id="140" name="S9N_Q3">
            <a:extLst>
              <a:ext uri="{FF2B5EF4-FFF2-40B4-BE49-F238E27FC236}">
                <a16:creationId xmlns:a16="http://schemas.microsoft.com/office/drawing/2014/main" id="{9B4AB884-1078-4919-A0F8-874A7DA11748}"/>
              </a:ext>
            </a:extLst>
          </p:cNvPr>
          <p:cNvSpPr>
            <a:spLocks noGrp="1"/>
          </p:cNvSpPr>
          <p:nvPr/>
        </p:nvSpPr>
        <p:spPr>
          <a:xfrm>
            <a:off x="582963" y="3866416"/>
            <a:ext cx="1666875" cy="714375"/>
          </a:xfrm>
          <a:prstGeom prst="roundRect">
            <a:avLst>
              <a:gd name="adj" fmla="val 10667"/>
            </a:avLst>
          </a:prstGeom>
          <a:solidFill>
            <a:srgbClr val="F8FAFC"/>
          </a:solidFill>
          <a:ln w="13335">
            <a:solidFill>
              <a:srgbClr val="17365D"/>
            </a:solidFill>
            <a:prstDash val="solid"/>
          </a:ln>
        </p:spPr>
      </p:sp>
      <p:sp>
        <p:nvSpPr>
          <p:cNvPr id="141" name="S9ID_Q3">
            <a:extLst>
              <a:ext uri="{FF2B5EF4-FFF2-40B4-BE49-F238E27FC236}">
                <a16:creationId xmlns:a16="http://schemas.microsoft.com/office/drawing/2014/main" id="{1FC65E05-7D8F-4BD2-A8E2-ABF80936A3FB}"/>
              </a:ext>
            </a:extLst>
          </p:cNvPr>
          <p:cNvSpPr>
            <a:spLocks noGrp="1"/>
          </p:cNvSpPr>
          <p:nvPr/>
        </p:nvSpPr>
        <p:spPr>
          <a:xfrm>
            <a:off x="697263" y="3952141"/>
            <a:ext cx="361950" cy="219075"/>
          </a:xfrm>
          <a:prstGeom prst="rect">
            <a:avLst/>
          </a:prstGeom>
          <a:noFill/>
          <a:ln w="0">
            <a:noFill/>
            <a:prstDash val="solid"/>
          </a:ln>
        </p:spPr>
        <p:txBody>
          <a:bodyPr wrap="none" lIns="0" tIns="0" rIns="0" bIns="0" anchor="ctr">
            <a:normAutofit/>
          </a:bodyPr>
          <a:lstStyle/>
          <a:p>
            <a:pPr algn="l">
              <a:defRPr sz="1125" b="1" i="0">
                <a:solidFill>
                  <a:srgbClr val="17365D"/>
                </a:solidFill>
                <a:latin typeface="Arial"/>
                <a:ea typeface="Arial"/>
                <a:cs typeface="Arial"/>
              </a:defRPr>
            </a:pPr>
            <a:r>
              <a:rPr sz="1125" b="1" i="0">
                <a:solidFill>
                  <a:srgbClr val="17365D"/>
                </a:solidFill>
                <a:latin typeface="Arial"/>
                <a:ea typeface="Arial"/>
                <a:cs typeface="Arial"/>
              </a:rPr>
              <a:t>Q3</a:t>
            </a:r>
          </a:p>
        </p:txBody>
      </p:sp>
      <p:sp>
        <p:nvSpPr>
          <p:cNvPr id="142" name="S9T_Q3">
            <a:extLst>
              <a:ext uri="{FF2B5EF4-FFF2-40B4-BE49-F238E27FC236}">
                <a16:creationId xmlns:a16="http://schemas.microsoft.com/office/drawing/2014/main" id="{FEED5E58-802B-40A0-80C1-3FA8DD982F76}"/>
              </a:ext>
            </a:extLst>
          </p:cNvPr>
          <p:cNvSpPr>
            <a:spLocks noGrp="1"/>
          </p:cNvSpPr>
          <p:nvPr/>
        </p:nvSpPr>
        <p:spPr>
          <a:xfrm>
            <a:off x="697263" y="4190266"/>
            <a:ext cx="1438275" cy="285750"/>
          </a:xfrm>
          <a:prstGeom prst="rect">
            <a:avLst/>
          </a:prstGeom>
          <a:noFill/>
          <a:ln w="0">
            <a:noFill/>
            <a:prstDash val="solid"/>
          </a:ln>
        </p:spPr>
        <p:txBody>
          <a:bodyPr wrap="square" lIns="0" tIns="0" rIns="0" bIns="0" anchor="ctr">
            <a:normAutofit/>
          </a:bodyPr>
          <a:lstStyle/>
          <a:p>
            <a:pPr algn="ctr">
              <a:defRPr sz="1238" b="1" i="0">
                <a:solidFill>
                  <a:srgbClr val="111827"/>
                </a:solidFill>
                <a:latin typeface="Microsoft YaHei"/>
                <a:ea typeface="Microsoft YaHei"/>
                <a:cs typeface="Microsoft YaHei"/>
              </a:defRPr>
            </a:pPr>
            <a:r>
              <a:rPr sz="1238" b="1" i="0">
                <a:solidFill>
                  <a:srgbClr val="111827"/>
                </a:solidFill>
                <a:latin typeface="Microsoft YaHei"/>
                <a:ea typeface="Microsoft YaHei"/>
                <a:cs typeface="Microsoft YaHei"/>
              </a:rPr>
              <a:t>容量预留 + 激活</a:t>
            </a:r>
          </a:p>
        </p:txBody>
      </p:sp>
      <p:sp>
        <p:nvSpPr>
          <p:cNvPr id="143" name="S9N_B1">
            <a:extLst>
              <a:ext uri="{FF2B5EF4-FFF2-40B4-BE49-F238E27FC236}">
                <a16:creationId xmlns:a16="http://schemas.microsoft.com/office/drawing/2014/main" id="{A106CF92-05CB-4C35-9EF8-4198E5F0CB68}"/>
              </a:ext>
            </a:extLst>
          </p:cNvPr>
          <p:cNvSpPr>
            <a:spLocks noGrp="1"/>
          </p:cNvSpPr>
          <p:nvPr/>
        </p:nvSpPr>
        <p:spPr>
          <a:xfrm>
            <a:off x="3535713" y="3866416"/>
            <a:ext cx="1666875" cy="714375"/>
          </a:xfrm>
          <a:prstGeom prst="roundRect">
            <a:avLst>
              <a:gd name="adj" fmla="val 10667"/>
            </a:avLst>
          </a:prstGeom>
          <a:solidFill>
            <a:srgbClr val="F8FAFC"/>
          </a:solidFill>
          <a:ln w="13335">
            <a:solidFill>
              <a:srgbClr val="8F1D2C"/>
            </a:solidFill>
            <a:prstDash val="solid"/>
          </a:ln>
        </p:spPr>
      </p:sp>
      <p:sp>
        <p:nvSpPr>
          <p:cNvPr id="144" name="S9ID_B1">
            <a:extLst>
              <a:ext uri="{FF2B5EF4-FFF2-40B4-BE49-F238E27FC236}">
                <a16:creationId xmlns:a16="http://schemas.microsoft.com/office/drawing/2014/main" id="{F4E6165F-2800-467F-82CF-BC23672CFC1D}"/>
              </a:ext>
            </a:extLst>
          </p:cNvPr>
          <p:cNvSpPr>
            <a:spLocks noGrp="1"/>
          </p:cNvSpPr>
          <p:nvPr/>
        </p:nvSpPr>
        <p:spPr>
          <a:xfrm>
            <a:off x="3650013" y="3952141"/>
            <a:ext cx="361950" cy="219075"/>
          </a:xfrm>
          <a:prstGeom prst="rect">
            <a:avLst/>
          </a:prstGeom>
          <a:noFill/>
          <a:ln w="0">
            <a:noFill/>
            <a:prstDash val="solid"/>
          </a:ln>
        </p:spPr>
        <p:txBody>
          <a:bodyPr wrap="none" lIns="0" tIns="0" rIns="0" bIns="0" anchor="ctr">
            <a:normAutofit/>
          </a:bodyPr>
          <a:lstStyle/>
          <a:p>
            <a:pPr algn="l">
              <a:defRPr sz="1125" b="1" i="0">
                <a:solidFill>
                  <a:srgbClr val="8F1D2C"/>
                </a:solidFill>
                <a:latin typeface="Arial"/>
                <a:ea typeface="Arial"/>
                <a:cs typeface="Arial"/>
              </a:defRPr>
            </a:pPr>
            <a:r>
              <a:rPr sz="1125" b="1" i="0">
                <a:solidFill>
                  <a:srgbClr val="8F1D2C"/>
                </a:solidFill>
                <a:latin typeface="Arial"/>
                <a:ea typeface="Arial"/>
                <a:cs typeface="Arial"/>
              </a:rPr>
              <a:t>B1</a:t>
            </a:r>
          </a:p>
        </p:txBody>
      </p:sp>
      <p:sp>
        <p:nvSpPr>
          <p:cNvPr id="145" name="S9T_B1">
            <a:extLst>
              <a:ext uri="{FF2B5EF4-FFF2-40B4-BE49-F238E27FC236}">
                <a16:creationId xmlns:a16="http://schemas.microsoft.com/office/drawing/2014/main" id="{3729B4B2-5BFD-43B5-A5AC-E7FFEF228A9D}"/>
              </a:ext>
            </a:extLst>
          </p:cNvPr>
          <p:cNvSpPr>
            <a:spLocks noGrp="1"/>
          </p:cNvSpPr>
          <p:nvPr/>
        </p:nvSpPr>
        <p:spPr>
          <a:xfrm>
            <a:off x="3650013" y="4190266"/>
            <a:ext cx="1438275" cy="285750"/>
          </a:xfrm>
          <a:prstGeom prst="rect">
            <a:avLst/>
          </a:prstGeom>
          <a:noFill/>
          <a:ln w="0">
            <a:noFill/>
            <a:prstDash val="solid"/>
          </a:ln>
        </p:spPr>
        <p:txBody>
          <a:bodyPr wrap="square" lIns="0" tIns="0" rIns="0" bIns="0" anchor="ctr">
            <a:normAutofit/>
          </a:bodyPr>
          <a:lstStyle/>
          <a:p>
            <a:pPr algn="ctr">
              <a:defRPr sz="1238" b="1" i="0">
                <a:solidFill>
                  <a:srgbClr val="111827"/>
                </a:solidFill>
                <a:latin typeface="Microsoft YaHei"/>
                <a:ea typeface="Microsoft YaHei"/>
                <a:cs typeface="Microsoft YaHei"/>
              </a:defRPr>
            </a:pPr>
            <a:r>
              <a:rPr sz="1238" b="1" i="0">
                <a:solidFill>
                  <a:srgbClr val="111827"/>
                </a:solidFill>
                <a:latin typeface="Microsoft YaHei"/>
                <a:ea typeface="Microsoft YaHei"/>
                <a:cs typeface="Microsoft YaHei"/>
              </a:rPr>
              <a:t>单部电量报价</a:t>
            </a:r>
          </a:p>
        </p:txBody>
      </p:sp>
      <p:sp>
        <p:nvSpPr>
          <p:cNvPr id="146" name="S9N_M5">
            <a:extLst>
              <a:ext uri="{FF2B5EF4-FFF2-40B4-BE49-F238E27FC236}">
                <a16:creationId xmlns:a16="http://schemas.microsoft.com/office/drawing/2014/main" id="{66681B62-961F-4F9A-AF13-9576E10FEBCB}"/>
              </a:ext>
            </a:extLst>
          </p:cNvPr>
          <p:cNvSpPr>
            <a:spLocks noGrp="1"/>
          </p:cNvSpPr>
          <p:nvPr/>
        </p:nvSpPr>
        <p:spPr>
          <a:xfrm>
            <a:off x="6488463" y="3866416"/>
            <a:ext cx="1666875" cy="714375"/>
          </a:xfrm>
          <a:prstGeom prst="roundRect">
            <a:avLst>
              <a:gd name="adj" fmla="val 10667"/>
            </a:avLst>
          </a:prstGeom>
          <a:solidFill>
            <a:srgbClr val="F8FAFC"/>
          </a:solidFill>
          <a:ln w="13335">
            <a:solidFill>
              <a:srgbClr val="8F1D2C"/>
            </a:solidFill>
            <a:prstDash val="solid"/>
          </a:ln>
        </p:spPr>
      </p:sp>
      <p:sp>
        <p:nvSpPr>
          <p:cNvPr id="147" name="S9ID_M5">
            <a:extLst>
              <a:ext uri="{FF2B5EF4-FFF2-40B4-BE49-F238E27FC236}">
                <a16:creationId xmlns:a16="http://schemas.microsoft.com/office/drawing/2014/main" id="{4A2D4566-3034-4B82-993D-ADEE76E67632}"/>
              </a:ext>
            </a:extLst>
          </p:cNvPr>
          <p:cNvSpPr>
            <a:spLocks noGrp="1"/>
          </p:cNvSpPr>
          <p:nvPr/>
        </p:nvSpPr>
        <p:spPr>
          <a:xfrm>
            <a:off x="6602763" y="3952141"/>
            <a:ext cx="361950" cy="219075"/>
          </a:xfrm>
          <a:prstGeom prst="rect">
            <a:avLst/>
          </a:prstGeom>
          <a:noFill/>
          <a:ln w="0">
            <a:noFill/>
            <a:prstDash val="solid"/>
          </a:ln>
        </p:spPr>
        <p:txBody>
          <a:bodyPr wrap="none" lIns="0" tIns="0" rIns="0" bIns="0" anchor="ctr">
            <a:normAutofit/>
          </a:bodyPr>
          <a:lstStyle/>
          <a:p>
            <a:pPr algn="l">
              <a:defRPr sz="1125" b="1" i="0">
                <a:solidFill>
                  <a:srgbClr val="8F1D2C"/>
                </a:solidFill>
                <a:latin typeface="Arial"/>
                <a:ea typeface="Arial"/>
                <a:cs typeface="Arial"/>
              </a:defRPr>
            </a:pPr>
            <a:r>
              <a:rPr sz="1125" b="1" i="0">
                <a:solidFill>
                  <a:srgbClr val="8F1D2C"/>
                </a:solidFill>
                <a:latin typeface="Arial"/>
                <a:ea typeface="Arial"/>
                <a:cs typeface="Arial"/>
              </a:rPr>
              <a:t>M5</a:t>
            </a:r>
          </a:p>
        </p:txBody>
      </p:sp>
      <p:sp>
        <p:nvSpPr>
          <p:cNvPr id="148" name="S9T_M5">
            <a:extLst>
              <a:ext uri="{FF2B5EF4-FFF2-40B4-BE49-F238E27FC236}">
                <a16:creationId xmlns:a16="http://schemas.microsoft.com/office/drawing/2014/main" id="{A131FBC0-60BF-4B18-BEE5-9CE0DDDD2997}"/>
              </a:ext>
            </a:extLst>
          </p:cNvPr>
          <p:cNvSpPr>
            <a:spLocks noGrp="1"/>
          </p:cNvSpPr>
          <p:nvPr/>
        </p:nvSpPr>
        <p:spPr>
          <a:xfrm>
            <a:off x="6602763" y="4190266"/>
            <a:ext cx="1438275" cy="285750"/>
          </a:xfrm>
          <a:prstGeom prst="rect">
            <a:avLst/>
          </a:prstGeom>
          <a:noFill/>
          <a:ln w="0">
            <a:noFill/>
            <a:prstDash val="solid"/>
          </a:ln>
        </p:spPr>
        <p:txBody>
          <a:bodyPr wrap="square" lIns="0" tIns="0" rIns="0" bIns="0" anchor="ctr">
            <a:normAutofit/>
          </a:bodyPr>
          <a:lstStyle/>
          <a:p>
            <a:pPr algn="ctr">
              <a:defRPr sz="1238" b="1" i="0">
                <a:solidFill>
                  <a:srgbClr val="111827"/>
                </a:solidFill>
                <a:latin typeface="Microsoft YaHei"/>
                <a:ea typeface="Microsoft YaHei"/>
                <a:cs typeface="Microsoft YaHei"/>
              </a:defRPr>
            </a:pPr>
            <a:r>
              <a:rPr sz="1238" b="1" i="0">
                <a:solidFill>
                  <a:srgbClr val="111827"/>
                </a:solidFill>
                <a:latin typeface="Microsoft YaHei"/>
                <a:ea typeface="Microsoft YaHei"/>
                <a:cs typeface="Microsoft YaHei"/>
              </a:rPr>
              <a:t>P2P 双边匹配</a:t>
            </a:r>
          </a:p>
        </p:txBody>
      </p:sp>
      <p:sp>
        <p:nvSpPr>
          <p:cNvPr id="149" name="S9N_P5">
            <a:extLst>
              <a:ext uri="{FF2B5EF4-FFF2-40B4-BE49-F238E27FC236}">
                <a16:creationId xmlns:a16="http://schemas.microsoft.com/office/drawing/2014/main" id="{C6EE61BA-A3AE-4CA2-8DC8-EFA82CD442BC}"/>
              </a:ext>
            </a:extLst>
          </p:cNvPr>
          <p:cNvSpPr>
            <a:spLocks noGrp="1"/>
          </p:cNvSpPr>
          <p:nvPr/>
        </p:nvSpPr>
        <p:spPr>
          <a:xfrm>
            <a:off x="9441213" y="3866416"/>
            <a:ext cx="1666875" cy="714375"/>
          </a:xfrm>
          <a:prstGeom prst="roundRect">
            <a:avLst>
              <a:gd name="adj" fmla="val 10667"/>
            </a:avLst>
          </a:prstGeom>
          <a:solidFill>
            <a:srgbClr val="F8FAFC"/>
          </a:solidFill>
          <a:ln w="13335">
            <a:solidFill>
              <a:srgbClr val="8F1D2C"/>
            </a:solidFill>
            <a:prstDash val="solid"/>
          </a:ln>
        </p:spPr>
      </p:sp>
      <p:sp>
        <p:nvSpPr>
          <p:cNvPr id="150" name="S9ID_P5">
            <a:extLst>
              <a:ext uri="{FF2B5EF4-FFF2-40B4-BE49-F238E27FC236}">
                <a16:creationId xmlns:a16="http://schemas.microsoft.com/office/drawing/2014/main" id="{F3F65D7D-B70C-4AB3-87E4-D6043FD76399}"/>
              </a:ext>
            </a:extLst>
          </p:cNvPr>
          <p:cNvSpPr>
            <a:spLocks noGrp="1"/>
          </p:cNvSpPr>
          <p:nvPr/>
        </p:nvSpPr>
        <p:spPr>
          <a:xfrm>
            <a:off x="9555513" y="3952141"/>
            <a:ext cx="361950" cy="219075"/>
          </a:xfrm>
          <a:prstGeom prst="rect">
            <a:avLst/>
          </a:prstGeom>
          <a:noFill/>
          <a:ln w="0">
            <a:noFill/>
            <a:prstDash val="solid"/>
          </a:ln>
        </p:spPr>
        <p:txBody>
          <a:bodyPr wrap="none" lIns="0" tIns="0" rIns="0" bIns="0" anchor="ctr">
            <a:normAutofit/>
          </a:bodyPr>
          <a:lstStyle/>
          <a:p>
            <a:pPr algn="l">
              <a:defRPr sz="1125" b="1" i="0">
                <a:solidFill>
                  <a:srgbClr val="8F1D2C"/>
                </a:solidFill>
                <a:latin typeface="Arial"/>
                <a:ea typeface="Arial"/>
                <a:cs typeface="Arial"/>
              </a:defRPr>
            </a:pPr>
            <a:r>
              <a:rPr sz="1125" b="1" i="0">
                <a:solidFill>
                  <a:srgbClr val="8F1D2C"/>
                </a:solidFill>
                <a:latin typeface="Arial"/>
                <a:ea typeface="Arial"/>
                <a:cs typeface="Arial"/>
              </a:rPr>
              <a:t>P5</a:t>
            </a:r>
          </a:p>
        </p:txBody>
      </p:sp>
      <p:sp>
        <p:nvSpPr>
          <p:cNvPr id="151" name="S9T_P5">
            <a:extLst>
              <a:ext uri="{FF2B5EF4-FFF2-40B4-BE49-F238E27FC236}">
                <a16:creationId xmlns:a16="http://schemas.microsoft.com/office/drawing/2014/main" id="{4FBEF655-0430-4E9A-AF6E-15257B85C46D}"/>
              </a:ext>
            </a:extLst>
          </p:cNvPr>
          <p:cNvSpPr>
            <a:spLocks noGrp="1"/>
          </p:cNvSpPr>
          <p:nvPr/>
        </p:nvSpPr>
        <p:spPr>
          <a:xfrm>
            <a:off x="9555513" y="4190266"/>
            <a:ext cx="1438275" cy="285750"/>
          </a:xfrm>
          <a:prstGeom prst="rect">
            <a:avLst/>
          </a:prstGeom>
          <a:noFill/>
          <a:ln w="0">
            <a:noFill/>
            <a:prstDash val="solid"/>
          </a:ln>
        </p:spPr>
        <p:txBody>
          <a:bodyPr wrap="square" lIns="0" tIns="0" rIns="0" bIns="0" anchor="ctr">
            <a:normAutofit/>
          </a:bodyPr>
          <a:lstStyle/>
          <a:p>
            <a:pPr algn="ctr">
              <a:defRPr sz="1238" b="1" i="0">
                <a:solidFill>
                  <a:srgbClr val="111827"/>
                </a:solidFill>
                <a:latin typeface="Microsoft YaHei"/>
                <a:ea typeface="Microsoft YaHei"/>
                <a:cs typeface="Microsoft YaHei"/>
              </a:defRPr>
            </a:pPr>
            <a:r>
              <a:rPr sz="1238" b="1" i="0">
                <a:solidFill>
                  <a:srgbClr val="111827"/>
                </a:solidFill>
                <a:latin typeface="Microsoft YaHei"/>
                <a:ea typeface="Microsoft YaHei"/>
                <a:cs typeface="Microsoft YaHei"/>
              </a:rPr>
              <a:t>节点 / 分区价格</a:t>
            </a:r>
          </a:p>
        </p:txBody>
      </p:sp>
      <p:sp>
        <p:nvSpPr>
          <p:cNvPr id="152" name="S9N_M2">
            <a:extLst>
              <a:ext uri="{FF2B5EF4-FFF2-40B4-BE49-F238E27FC236}">
                <a16:creationId xmlns:a16="http://schemas.microsoft.com/office/drawing/2014/main" id="{86118A7B-342C-4868-9830-C9A7287BDE2C}"/>
              </a:ext>
            </a:extLst>
          </p:cNvPr>
          <p:cNvSpPr>
            <a:spLocks noGrp="1"/>
          </p:cNvSpPr>
          <p:nvPr/>
        </p:nvSpPr>
        <p:spPr>
          <a:xfrm>
            <a:off x="3535713" y="5866666"/>
            <a:ext cx="1666875" cy="714375"/>
          </a:xfrm>
          <a:prstGeom prst="roundRect">
            <a:avLst>
              <a:gd name="adj" fmla="val 10667"/>
            </a:avLst>
          </a:prstGeom>
          <a:solidFill>
            <a:srgbClr val="F8FAFC"/>
          </a:solidFill>
          <a:ln w="13335">
            <a:solidFill>
              <a:srgbClr val="17365D"/>
            </a:solidFill>
            <a:prstDash val="solid"/>
          </a:ln>
        </p:spPr>
      </p:sp>
      <p:sp>
        <p:nvSpPr>
          <p:cNvPr id="153" name="S9ID_M2">
            <a:extLst>
              <a:ext uri="{FF2B5EF4-FFF2-40B4-BE49-F238E27FC236}">
                <a16:creationId xmlns:a16="http://schemas.microsoft.com/office/drawing/2014/main" id="{A158786C-A50A-44EC-A86A-482501DACEFE}"/>
              </a:ext>
            </a:extLst>
          </p:cNvPr>
          <p:cNvSpPr>
            <a:spLocks noGrp="1"/>
          </p:cNvSpPr>
          <p:nvPr/>
        </p:nvSpPr>
        <p:spPr>
          <a:xfrm>
            <a:off x="3650013" y="5952391"/>
            <a:ext cx="361950" cy="219075"/>
          </a:xfrm>
          <a:prstGeom prst="rect">
            <a:avLst/>
          </a:prstGeom>
          <a:noFill/>
          <a:ln w="0">
            <a:noFill/>
            <a:prstDash val="solid"/>
          </a:ln>
        </p:spPr>
        <p:txBody>
          <a:bodyPr wrap="none" lIns="0" tIns="0" rIns="0" bIns="0" anchor="ctr">
            <a:normAutofit/>
          </a:bodyPr>
          <a:lstStyle/>
          <a:p>
            <a:pPr algn="l">
              <a:defRPr sz="1125" b="1" i="0">
                <a:solidFill>
                  <a:srgbClr val="17365D"/>
                </a:solidFill>
                <a:latin typeface="Arial"/>
                <a:ea typeface="Arial"/>
                <a:cs typeface="Arial"/>
              </a:defRPr>
            </a:pPr>
            <a:r>
              <a:rPr sz="1125" b="1" i="0">
                <a:solidFill>
                  <a:srgbClr val="17365D"/>
                </a:solidFill>
                <a:latin typeface="Arial"/>
                <a:ea typeface="Arial"/>
                <a:cs typeface="Arial"/>
              </a:rPr>
              <a:t>M2</a:t>
            </a:r>
          </a:p>
        </p:txBody>
      </p:sp>
      <p:sp>
        <p:nvSpPr>
          <p:cNvPr id="154" name="S9T_M2">
            <a:extLst>
              <a:ext uri="{FF2B5EF4-FFF2-40B4-BE49-F238E27FC236}">
                <a16:creationId xmlns:a16="http://schemas.microsoft.com/office/drawing/2014/main" id="{7E600F90-C9B8-43FD-97C8-E267955666AB}"/>
              </a:ext>
            </a:extLst>
          </p:cNvPr>
          <p:cNvSpPr>
            <a:spLocks noGrp="1"/>
          </p:cNvSpPr>
          <p:nvPr/>
        </p:nvSpPr>
        <p:spPr>
          <a:xfrm>
            <a:off x="3650013" y="6190516"/>
            <a:ext cx="1438275" cy="285750"/>
          </a:xfrm>
          <a:prstGeom prst="rect">
            <a:avLst/>
          </a:prstGeom>
          <a:noFill/>
          <a:ln w="0">
            <a:noFill/>
            <a:prstDash val="solid"/>
          </a:ln>
        </p:spPr>
        <p:txBody>
          <a:bodyPr wrap="square" lIns="0" tIns="0" rIns="0" bIns="0" anchor="ctr">
            <a:normAutofit/>
          </a:bodyPr>
          <a:lstStyle/>
          <a:p>
            <a:pPr algn="ctr">
              <a:defRPr sz="1238" b="1" i="0">
                <a:solidFill>
                  <a:srgbClr val="111827"/>
                </a:solidFill>
                <a:latin typeface="Microsoft YaHei"/>
                <a:ea typeface="Microsoft YaHei"/>
                <a:cs typeface="Microsoft YaHei"/>
              </a:defRPr>
            </a:pPr>
            <a:r>
              <a:rPr sz="1238" b="1" i="0">
                <a:solidFill>
                  <a:srgbClr val="111827"/>
                </a:solidFill>
                <a:latin typeface="Microsoft YaHei"/>
                <a:ea typeface="Microsoft YaHei"/>
                <a:cs typeface="Microsoft YaHei"/>
              </a:rPr>
              <a:t>DSO 单买方采购</a:t>
            </a:r>
          </a:p>
        </p:txBody>
      </p:sp>
      <p:sp>
        <p:nvSpPr>
          <p:cNvPr id="155" name="S9N_P3">
            <a:extLst>
              <a:ext uri="{FF2B5EF4-FFF2-40B4-BE49-F238E27FC236}">
                <a16:creationId xmlns:a16="http://schemas.microsoft.com/office/drawing/2014/main" id="{0C2B233E-A4F5-4684-A4C7-BA66A3ADBB8D}"/>
              </a:ext>
            </a:extLst>
          </p:cNvPr>
          <p:cNvSpPr>
            <a:spLocks noGrp="1"/>
          </p:cNvSpPr>
          <p:nvPr/>
        </p:nvSpPr>
        <p:spPr>
          <a:xfrm>
            <a:off x="6488463" y="5866666"/>
            <a:ext cx="1666875" cy="714375"/>
          </a:xfrm>
          <a:prstGeom prst="roundRect">
            <a:avLst>
              <a:gd name="adj" fmla="val 10667"/>
            </a:avLst>
          </a:prstGeom>
          <a:solidFill>
            <a:srgbClr val="F8FAFC"/>
          </a:solidFill>
          <a:ln w="13335">
            <a:solidFill>
              <a:srgbClr val="17365D"/>
            </a:solidFill>
            <a:prstDash val="solid"/>
          </a:ln>
        </p:spPr>
      </p:sp>
      <p:sp>
        <p:nvSpPr>
          <p:cNvPr id="156" name="S9ID_P3">
            <a:extLst>
              <a:ext uri="{FF2B5EF4-FFF2-40B4-BE49-F238E27FC236}">
                <a16:creationId xmlns:a16="http://schemas.microsoft.com/office/drawing/2014/main" id="{61A92F3A-DEE1-48DA-A8F2-3B14126A79AC}"/>
              </a:ext>
            </a:extLst>
          </p:cNvPr>
          <p:cNvSpPr>
            <a:spLocks noGrp="1"/>
          </p:cNvSpPr>
          <p:nvPr/>
        </p:nvSpPr>
        <p:spPr>
          <a:xfrm>
            <a:off x="6602763" y="5952391"/>
            <a:ext cx="361950" cy="219075"/>
          </a:xfrm>
          <a:prstGeom prst="rect">
            <a:avLst/>
          </a:prstGeom>
          <a:noFill/>
          <a:ln w="0">
            <a:noFill/>
            <a:prstDash val="solid"/>
          </a:ln>
        </p:spPr>
        <p:txBody>
          <a:bodyPr wrap="none" lIns="0" tIns="0" rIns="0" bIns="0" anchor="ctr">
            <a:normAutofit/>
          </a:bodyPr>
          <a:lstStyle/>
          <a:p>
            <a:pPr algn="l">
              <a:defRPr sz="1125" b="1" i="0">
                <a:solidFill>
                  <a:srgbClr val="17365D"/>
                </a:solidFill>
                <a:latin typeface="Arial"/>
                <a:ea typeface="Arial"/>
                <a:cs typeface="Arial"/>
              </a:defRPr>
            </a:pPr>
            <a:r>
              <a:rPr sz="1125" b="1" i="0">
                <a:solidFill>
                  <a:srgbClr val="17365D"/>
                </a:solidFill>
                <a:latin typeface="Arial"/>
                <a:ea typeface="Arial"/>
                <a:cs typeface="Arial"/>
              </a:rPr>
              <a:t>P3</a:t>
            </a:r>
          </a:p>
        </p:txBody>
      </p:sp>
      <p:sp>
        <p:nvSpPr>
          <p:cNvPr id="157" name="S9T_P3">
            <a:extLst>
              <a:ext uri="{FF2B5EF4-FFF2-40B4-BE49-F238E27FC236}">
                <a16:creationId xmlns:a16="http://schemas.microsoft.com/office/drawing/2014/main" id="{DC599C0B-F25C-4000-A51F-BAFBA87D2E7F}"/>
              </a:ext>
            </a:extLst>
          </p:cNvPr>
          <p:cNvSpPr>
            <a:spLocks noGrp="1"/>
          </p:cNvSpPr>
          <p:nvPr/>
        </p:nvSpPr>
        <p:spPr>
          <a:xfrm>
            <a:off x="6602763" y="6190516"/>
            <a:ext cx="1438275" cy="285750"/>
          </a:xfrm>
          <a:prstGeom prst="rect">
            <a:avLst/>
          </a:prstGeom>
          <a:noFill/>
          <a:ln w="0">
            <a:noFill/>
            <a:prstDash val="solid"/>
          </a:ln>
        </p:spPr>
        <p:txBody>
          <a:bodyPr wrap="square" lIns="0" tIns="0" rIns="0" bIns="0" anchor="ctr">
            <a:normAutofit/>
          </a:bodyPr>
          <a:lstStyle/>
          <a:p>
            <a:pPr algn="ctr">
              <a:defRPr sz="1238" b="1" i="0">
                <a:solidFill>
                  <a:srgbClr val="111827"/>
                </a:solidFill>
                <a:latin typeface="Microsoft YaHei"/>
                <a:ea typeface="Microsoft YaHei"/>
                <a:cs typeface="Microsoft YaHei"/>
              </a:defRPr>
            </a:pPr>
            <a:r>
              <a:rPr sz="1238" b="1" i="0">
                <a:solidFill>
                  <a:srgbClr val="111827"/>
                </a:solidFill>
                <a:latin typeface="Microsoft YaHei"/>
                <a:ea typeface="Microsoft YaHei"/>
                <a:cs typeface="Microsoft YaHei"/>
              </a:rPr>
              <a:t>双边协商价格</a:t>
            </a:r>
          </a:p>
        </p:txBody>
      </p:sp>
      <p:sp>
        <p:nvSpPr>
          <p:cNvPr id="158" name="S9N_C8">
            <a:extLst>
              <a:ext uri="{FF2B5EF4-FFF2-40B4-BE49-F238E27FC236}">
                <a16:creationId xmlns:a16="http://schemas.microsoft.com/office/drawing/2014/main" id="{2F08E860-A032-4F33-B183-64CE644C0BBB}"/>
              </a:ext>
            </a:extLst>
          </p:cNvPr>
          <p:cNvSpPr>
            <a:spLocks noGrp="1"/>
          </p:cNvSpPr>
          <p:nvPr/>
        </p:nvSpPr>
        <p:spPr>
          <a:xfrm>
            <a:off x="9441213" y="5866666"/>
            <a:ext cx="1666875" cy="714375"/>
          </a:xfrm>
          <a:prstGeom prst="roundRect">
            <a:avLst>
              <a:gd name="adj" fmla="val 10667"/>
            </a:avLst>
          </a:prstGeom>
          <a:solidFill>
            <a:srgbClr val="F8FAFC"/>
          </a:solidFill>
          <a:ln w="13335">
            <a:solidFill>
              <a:srgbClr val="17365D"/>
            </a:solidFill>
            <a:prstDash val="solid"/>
          </a:ln>
        </p:spPr>
      </p:sp>
      <p:sp>
        <p:nvSpPr>
          <p:cNvPr id="159" name="S9ID_C8">
            <a:extLst>
              <a:ext uri="{FF2B5EF4-FFF2-40B4-BE49-F238E27FC236}">
                <a16:creationId xmlns:a16="http://schemas.microsoft.com/office/drawing/2014/main" id="{40ED8501-568A-4878-A38A-6C9634905301}"/>
              </a:ext>
            </a:extLst>
          </p:cNvPr>
          <p:cNvSpPr>
            <a:spLocks noGrp="1"/>
          </p:cNvSpPr>
          <p:nvPr/>
        </p:nvSpPr>
        <p:spPr>
          <a:xfrm>
            <a:off x="9555513" y="5952391"/>
            <a:ext cx="361950" cy="219075"/>
          </a:xfrm>
          <a:prstGeom prst="rect">
            <a:avLst/>
          </a:prstGeom>
          <a:noFill/>
          <a:ln w="0">
            <a:noFill/>
            <a:prstDash val="solid"/>
          </a:ln>
        </p:spPr>
        <p:txBody>
          <a:bodyPr wrap="none" lIns="0" tIns="0" rIns="0" bIns="0" anchor="ctr">
            <a:normAutofit/>
          </a:bodyPr>
          <a:lstStyle/>
          <a:p>
            <a:pPr algn="l">
              <a:defRPr sz="1125" b="1" i="0">
                <a:solidFill>
                  <a:srgbClr val="17365D"/>
                </a:solidFill>
                <a:latin typeface="Arial"/>
                <a:ea typeface="Arial"/>
                <a:cs typeface="Arial"/>
              </a:defRPr>
            </a:pPr>
            <a:r>
              <a:rPr sz="1125" b="1" i="0">
                <a:solidFill>
                  <a:srgbClr val="17365D"/>
                </a:solidFill>
                <a:latin typeface="Arial"/>
                <a:ea typeface="Arial"/>
                <a:cs typeface="Arial"/>
              </a:rPr>
              <a:t>C8</a:t>
            </a:r>
          </a:p>
        </p:txBody>
      </p:sp>
      <p:sp>
        <p:nvSpPr>
          <p:cNvPr id="160" name="S9T_C8">
            <a:extLst>
              <a:ext uri="{FF2B5EF4-FFF2-40B4-BE49-F238E27FC236}">
                <a16:creationId xmlns:a16="http://schemas.microsoft.com/office/drawing/2014/main" id="{F4277C12-A837-43F9-B0F8-4F55ADD27156}"/>
              </a:ext>
            </a:extLst>
          </p:cNvPr>
          <p:cNvSpPr>
            <a:spLocks noGrp="1"/>
          </p:cNvSpPr>
          <p:nvPr/>
        </p:nvSpPr>
        <p:spPr>
          <a:xfrm>
            <a:off x="9555513" y="6190516"/>
            <a:ext cx="1438275" cy="285750"/>
          </a:xfrm>
          <a:prstGeom prst="rect">
            <a:avLst/>
          </a:prstGeom>
          <a:noFill/>
          <a:ln w="0">
            <a:noFill/>
            <a:prstDash val="solid"/>
          </a:ln>
        </p:spPr>
        <p:txBody>
          <a:bodyPr wrap="square" lIns="0" tIns="0" rIns="0" bIns="0" anchor="ctr">
            <a:normAutofit/>
          </a:bodyPr>
          <a:lstStyle/>
          <a:p>
            <a:pPr algn="ctr">
              <a:defRPr sz="1238" b="1" i="0">
                <a:solidFill>
                  <a:srgbClr val="111827"/>
                </a:solidFill>
                <a:latin typeface="Microsoft YaHei"/>
                <a:ea typeface="Microsoft YaHei"/>
                <a:cs typeface="Microsoft YaHei"/>
              </a:defRPr>
            </a:pPr>
            <a:r>
              <a:rPr sz="1238" b="1" i="0">
                <a:solidFill>
                  <a:srgbClr val="111827"/>
                </a:solidFill>
                <a:latin typeface="Microsoft YaHei"/>
                <a:ea typeface="Microsoft YaHei"/>
                <a:cs typeface="Microsoft YaHei"/>
              </a:rPr>
              <a:t>网络安全后处理</a:t>
            </a:r>
          </a:p>
        </p:txBody>
      </p:sp>
      <p:sp>
        <p:nvSpPr>
          <p:cNvPr id="161" name="S9Req1">
            <a:extLst>
              <a:ext uri="{FF2B5EF4-FFF2-40B4-BE49-F238E27FC236}">
                <a16:creationId xmlns:a16="http://schemas.microsoft.com/office/drawing/2014/main" id="{C7FB857F-635C-4AC7-B38D-B483611F5E03}"/>
              </a:ext>
            </a:extLst>
          </p:cNvPr>
          <p:cNvSpPr>
            <a:spLocks noGrp="1"/>
          </p:cNvSpPr>
          <p:nvPr/>
        </p:nvSpPr>
        <p:spPr>
          <a:xfrm>
            <a:off x="2249838" y="4218841"/>
            <a:ext cx="1285875" cy="9525"/>
          </a:xfrm>
          <a:prstGeom prst="line">
            <a:avLst/>
          </a:prstGeom>
          <a:noFill/>
          <a:ln w="28575">
            <a:solidFill>
              <a:srgbClr val="8F1D2C"/>
            </a:solidFill>
            <a:prstDash val="solid"/>
          </a:ln>
        </p:spPr>
      </p:sp>
      <p:sp>
        <p:nvSpPr>
          <p:cNvPr id="162" name="S9Req1T">
            <a:extLst>
              <a:ext uri="{FF2B5EF4-FFF2-40B4-BE49-F238E27FC236}">
                <a16:creationId xmlns:a16="http://schemas.microsoft.com/office/drawing/2014/main" id="{CD7F55A7-CCE8-4E4C-A710-31F93E7A8A72}"/>
              </a:ext>
            </a:extLst>
          </p:cNvPr>
          <p:cNvSpPr>
            <a:spLocks noGrp="1"/>
          </p:cNvSpPr>
          <p:nvPr/>
        </p:nvSpPr>
        <p:spPr>
          <a:xfrm>
            <a:off x="2345088" y="3894991"/>
            <a:ext cx="1143000" cy="228600"/>
          </a:xfrm>
          <a:prstGeom prst="rect">
            <a:avLst/>
          </a:prstGeom>
          <a:noFill/>
          <a:ln w="0">
            <a:noFill/>
            <a:prstDash val="solid"/>
          </a:ln>
        </p:spPr>
        <p:txBody>
          <a:bodyPr wrap="none" lIns="0" tIns="0" rIns="0" bIns="0" anchor="ctr">
            <a:normAutofit/>
          </a:bodyPr>
          <a:lstStyle/>
          <a:p>
            <a:pPr algn="ctr">
              <a:defRPr sz="975" b="1" i="0">
                <a:solidFill>
                  <a:srgbClr val="8F1D2C"/>
                </a:solidFill>
                <a:latin typeface="Microsoft YaHei"/>
                <a:ea typeface="Microsoft YaHei"/>
                <a:cs typeface="Microsoft YaHei"/>
              </a:defRPr>
            </a:pPr>
            <a:r>
              <a:rPr sz="975" b="1" i="0">
                <a:solidFill>
                  <a:srgbClr val="8F1D2C"/>
                </a:solidFill>
                <a:latin typeface="Microsoft YaHei"/>
                <a:ea typeface="Microsoft YaHei"/>
                <a:cs typeface="Microsoft YaHei"/>
              </a:rPr>
              <a:t>requires 双部承诺</a:t>
            </a:r>
          </a:p>
        </p:txBody>
      </p:sp>
      <p:sp>
        <p:nvSpPr>
          <p:cNvPr id="163" name="S9Exc1">
            <a:extLst>
              <a:ext uri="{FF2B5EF4-FFF2-40B4-BE49-F238E27FC236}">
                <a16:creationId xmlns:a16="http://schemas.microsoft.com/office/drawing/2014/main" id="{9A2E6A3F-04AA-40FD-9060-7A50466D2781}"/>
              </a:ext>
            </a:extLst>
          </p:cNvPr>
          <p:cNvSpPr>
            <a:spLocks noGrp="1"/>
          </p:cNvSpPr>
          <p:nvPr/>
        </p:nvSpPr>
        <p:spPr>
          <a:xfrm>
            <a:off x="5202588" y="4218841"/>
            <a:ext cx="1285875" cy="9525"/>
          </a:xfrm>
          <a:prstGeom prst="line">
            <a:avLst/>
          </a:prstGeom>
          <a:noFill/>
          <a:ln w="28575">
            <a:solidFill>
              <a:srgbClr val="8F1D2C"/>
            </a:solidFill>
            <a:prstDash val="dash"/>
          </a:ln>
        </p:spPr>
      </p:sp>
      <p:sp>
        <p:nvSpPr>
          <p:cNvPr id="164" name="S9Exc1T">
            <a:extLst>
              <a:ext uri="{FF2B5EF4-FFF2-40B4-BE49-F238E27FC236}">
                <a16:creationId xmlns:a16="http://schemas.microsoft.com/office/drawing/2014/main" id="{FA3487C0-5DEF-4A06-A364-B4C1A297EDE6}"/>
              </a:ext>
            </a:extLst>
          </p:cNvPr>
          <p:cNvSpPr>
            <a:spLocks noGrp="1"/>
          </p:cNvSpPr>
          <p:nvPr/>
        </p:nvSpPr>
        <p:spPr>
          <a:xfrm>
            <a:off x="5354988" y="3894991"/>
            <a:ext cx="971550" cy="228600"/>
          </a:xfrm>
          <a:prstGeom prst="rect">
            <a:avLst/>
          </a:prstGeom>
          <a:noFill/>
          <a:ln w="0">
            <a:noFill/>
            <a:prstDash val="solid"/>
          </a:ln>
        </p:spPr>
        <p:txBody>
          <a:bodyPr wrap="none" lIns="0" tIns="0" rIns="0" bIns="0" anchor="ctr">
            <a:normAutofit/>
          </a:bodyPr>
          <a:lstStyle/>
          <a:p>
            <a:pPr algn="ctr">
              <a:defRPr sz="975" b="1" i="0">
                <a:solidFill>
                  <a:srgbClr val="8F1D2C"/>
                </a:solidFill>
                <a:latin typeface="Arial"/>
                <a:ea typeface="Arial"/>
                <a:cs typeface="Arial"/>
              </a:defRPr>
            </a:pPr>
            <a:r>
              <a:rPr sz="975" b="1" i="0">
                <a:solidFill>
                  <a:srgbClr val="8F1D2C"/>
                </a:solidFill>
                <a:latin typeface="Arial"/>
                <a:ea typeface="Arial"/>
                <a:cs typeface="Arial"/>
              </a:rPr>
              <a:t>excludes</a:t>
            </a:r>
          </a:p>
        </p:txBody>
      </p:sp>
      <p:sp>
        <p:nvSpPr>
          <p:cNvPr id="165" name="S9Exc2">
            <a:extLst>
              <a:ext uri="{FF2B5EF4-FFF2-40B4-BE49-F238E27FC236}">
                <a16:creationId xmlns:a16="http://schemas.microsoft.com/office/drawing/2014/main" id="{49257DF4-E1FB-409D-9928-C46D749859B2}"/>
              </a:ext>
            </a:extLst>
          </p:cNvPr>
          <p:cNvSpPr>
            <a:spLocks noGrp="1"/>
          </p:cNvSpPr>
          <p:nvPr/>
        </p:nvSpPr>
        <p:spPr>
          <a:xfrm>
            <a:off x="8155338" y="4218841"/>
            <a:ext cx="1285875" cy="9525"/>
          </a:xfrm>
          <a:prstGeom prst="line">
            <a:avLst/>
          </a:prstGeom>
          <a:noFill/>
          <a:ln w="28575">
            <a:solidFill>
              <a:srgbClr val="8F1D2C"/>
            </a:solidFill>
            <a:prstDash val="dash"/>
          </a:ln>
        </p:spPr>
      </p:sp>
      <p:sp>
        <p:nvSpPr>
          <p:cNvPr id="166" name="S9Exc2T">
            <a:extLst>
              <a:ext uri="{FF2B5EF4-FFF2-40B4-BE49-F238E27FC236}">
                <a16:creationId xmlns:a16="http://schemas.microsoft.com/office/drawing/2014/main" id="{9365D500-DAA0-4896-8BF3-45AB3A39C7A6}"/>
              </a:ext>
            </a:extLst>
          </p:cNvPr>
          <p:cNvSpPr>
            <a:spLocks noGrp="1"/>
          </p:cNvSpPr>
          <p:nvPr/>
        </p:nvSpPr>
        <p:spPr>
          <a:xfrm>
            <a:off x="8212488" y="3894991"/>
            <a:ext cx="1181100" cy="228600"/>
          </a:xfrm>
          <a:prstGeom prst="rect">
            <a:avLst/>
          </a:prstGeom>
          <a:noFill/>
          <a:ln w="0">
            <a:noFill/>
            <a:prstDash val="solid"/>
          </a:ln>
        </p:spPr>
        <p:txBody>
          <a:bodyPr wrap="none" lIns="0" tIns="0" rIns="0" bIns="0" anchor="ctr">
            <a:normAutofit/>
          </a:bodyPr>
          <a:lstStyle/>
          <a:p>
            <a:pPr algn="ctr">
              <a:defRPr sz="975" b="1" i="0">
                <a:solidFill>
                  <a:srgbClr val="8F1D2C"/>
                </a:solidFill>
                <a:latin typeface="Arial"/>
                <a:ea typeface="Arial"/>
                <a:cs typeface="Arial"/>
              </a:defRPr>
            </a:pPr>
            <a:r>
              <a:rPr sz="975" b="1" i="0">
                <a:solidFill>
                  <a:srgbClr val="8F1D2C"/>
                </a:solidFill>
                <a:latin typeface="Arial"/>
                <a:ea typeface="Arial"/>
                <a:cs typeface="Arial"/>
              </a:rPr>
              <a:t>pricing mismatch</a:t>
            </a:r>
          </a:p>
        </p:txBody>
      </p:sp>
      <p:sp>
        <p:nvSpPr>
          <p:cNvPr id="167" name="S9Implies">
            <a:extLst>
              <a:ext uri="{FF2B5EF4-FFF2-40B4-BE49-F238E27FC236}">
                <a16:creationId xmlns:a16="http://schemas.microsoft.com/office/drawing/2014/main" id="{7302EF3A-5579-4BEA-84BF-5D96B031A30C}"/>
              </a:ext>
            </a:extLst>
          </p:cNvPr>
          <p:cNvSpPr>
            <a:spLocks noGrp="1"/>
          </p:cNvSpPr>
          <p:nvPr/>
        </p:nvSpPr>
        <p:spPr>
          <a:xfrm>
            <a:off x="4364388" y="4580791"/>
            <a:ext cx="9525" cy="1285875"/>
          </a:xfrm>
          <a:prstGeom prst="line">
            <a:avLst/>
          </a:prstGeom>
          <a:noFill/>
          <a:ln w="28575">
            <a:solidFill>
              <a:srgbClr val="17365D"/>
            </a:solidFill>
            <a:prstDash val="solid"/>
          </a:ln>
        </p:spPr>
      </p:sp>
      <p:sp>
        <p:nvSpPr>
          <p:cNvPr id="168" name="S9ImpliesT">
            <a:extLst>
              <a:ext uri="{FF2B5EF4-FFF2-40B4-BE49-F238E27FC236}">
                <a16:creationId xmlns:a16="http://schemas.microsoft.com/office/drawing/2014/main" id="{761D3098-A38E-4470-BD7B-76C725DBD242}"/>
              </a:ext>
            </a:extLst>
          </p:cNvPr>
          <p:cNvSpPr>
            <a:spLocks noGrp="1"/>
          </p:cNvSpPr>
          <p:nvPr/>
        </p:nvSpPr>
        <p:spPr>
          <a:xfrm>
            <a:off x="4459638" y="5104666"/>
            <a:ext cx="857250" cy="228600"/>
          </a:xfrm>
          <a:prstGeom prst="rect">
            <a:avLst/>
          </a:prstGeom>
          <a:noFill/>
          <a:ln w="0">
            <a:noFill/>
            <a:prstDash val="solid"/>
          </a:ln>
        </p:spPr>
        <p:txBody>
          <a:bodyPr wrap="none" lIns="0" tIns="0" rIns="0" bIns="0" anchor="ctr">
            <a:normAutofit/>
          </a:bodyPr>
          <a:lstStyle/>
          <a:p>
            <a:pPr algn="l">
              <a:defRPr sz="975" b="0" i="0">
                <a:solidFill>
                  <a:srgbClr val="17365D"/>
                </a:solidFill>
                <a:latin typeface="Arial"/>
                <a:ea typeface="Arial"/>
                <a:cs typeface="Arial"/>
              </a:defRPr>
            </a:pPr>
            <a:r>
              <a:rPr sz="975" b="0" i="0">
                <a:solidFill>
                  <a:srgbClr val="17365D"/>
                </a:solidFill>
                <a:latin typeface="Arial"/>
                <a:ea typeface="Arial"/>
                <a:cs typeface="Arial"/>
              </a:rPr>
              <a:t>governance</a:t>
            </a:r>
          </a:p>
        </p:txBody>
      </p:sp>
      <p:sp>
        <p:nvSpPr>
          <p:cNvPr id="169" name="S9P2P">
            <a:extLst>
              <a:ext uri="{FF2B5EF4-FFF2-40B4-BE49-F238E27FC236}">
                <a16:creationId xmlns:a16="http://schemas.microsoft.com/office/drawing/2014/main" id="{5DE69B1A-BA29-4279-9B23-BCC70169111C}"/>
              </a:ext>
            </a:extLst>
          </p:cNvPr>
          <p:cNvSpPr>
            <a:spLocks noGrp="1"/>
          </p:cNvSpPr>
          <p:nvPr/>
        </p:nvSpPr>
        <p:spPr>
          <a:xfrm>
            <a:off x="7317138" y="4580791"/>
            <a:ext cx="9525" cy="1285875"/>
          </a:xfrm>
          <a:prstGeom prst="line">
            <a:avLst/>
          </a:prstGeom>
          <a:noFill/>
          <a:ln w="28575">
            <a:solidFill>
              <a:srgbClr val="17365D"/>
            </a:solidFill>
            <a:prstDash val="solid"/>
          </a:ln>
        </p:spPr>
      </p:sp>
      <p:sp>
        <p:nvSpPr>
          <p:cNvPr id="170" name="S9P2PT">
            <a:extLst>
              <a:ext uri="{FF2B5EF4-FFF2-40B4-BE49-F238E27FC236}">
                <a16:creationId xmlns:a16="http://schemas.microsoft.com/office/drawing/2014/main" id="{DB4751C3-8C66-4BE2-BECC-10078C7474D9}"/>
              </a:ext>
            </a:extLst>
          </p:cNvPr>
          <p:cNvSpPr>
            <a:spLocks noGrp="1"/>
          </p:cNvSpPr>
          <p:nvPr/>
        </p:nvSpPr>
        <p:spPr>
          <a:xfrm>
            <a:off x="7431438" y="5152291"/>
            <a:ext cx="904875" cy="228600"/>
          </a:xfrm>
          <a:prstGeom prst="rect">
            <a:avLst/>
          </a:prstGeom>
          <a:noFill/>
          <a:ln w="0">
            <a:noFill/>
            <a:prstDash val="solid"/>
          </a:ln>
        </p:spPr>
        <p:txBody>
          <a:bodyPr wrap="none" lIns="0" tIns="0" rIns="0" bIns="0" anchor="ctr">
            <a:normAutofit/>
          </a:bodyPr>
          <a:lstStyle/>
          <a:p>
            <a:pPr algn="l">
              <a:defRPr sz="975" b="0" i="0">
                <a:solidFill>
                  <a:srgbClr val="17365D"/>
                </a:solidFill>
                <a:latin typeface="Arial"/>
                <a:ea typeface="Arial"/>
                <a:cs typeface="Arial"/>
              </a:defRPr>
            </a:pPr>
            <a:r>
              <a:rPr sz="975" b="0" i="0">
                <a:solidFill>
                  <a:srgbClr val="17365D"/>
                </a:solidFill>
                <a:latin typeface="Arial"/>
                <a:ea typeface="Arial"/>
                <a:cs typeface="Arial"/>
              </a:rPr>
              <a:t>requires P3</a:t>
            </a:r>
          </a:p>
        </p:txBody>
      </p:sp>
      <p:sp>
        <p:nvSpPr>
          <p:cNvPr id="171" name="S9C8">
            <a:extLst>
              <a:ext uri="{FF2B5EF4-FFF2-40B4-BE49-F238E27FC236}">
                <a16:creationId xmlns:a16="http://schemas.microsoft.com/office/drawing/2014/main" id="{7C398579-96B2-485F-9F66-08A9053266C4}"/>
              </a:ext>
            </a:extLst>
          </p:cNvPr>
          <p:cNvSpPr>
            <a:spLocks noGrp="1"/>
          </p:cNvSpPr>
          <p:nvPr/>
        </p:nvSpPr>
        <p:spPr>
          <a:xfrm>
            <a:off x="8155338" y="6219091"/>
            <a:ext cx="1285875" cy="9525"/>
          </a:xfrm>
          <a:prstGeom prst="line">
            <a:avLst/>
          </a:prstGeom>
          <a:noFill/>
          <a:ln w="28575">
            <a:solidFill>
              <a:srgbClr val="17365D"/>
            </a:solidFill>
            <a:prstDash val="dash"/>
          </a:ln>
        </p:spPr>
      </p:sp>
      <p:sp>
        <p:nvSpPr>
          <p:cNvPr id="172" name="S9C8T">
            <a:extLst>
              <a:ext uri="{FF2B5EF4-FFF2-40B4-BE49-F238E27FC236}">
                <a16:creationId xmlns:a16="http://schemas.microsoft.com/office/drawing/2014/main" id="{FD079300-5E1C-44D6-A2AA-428A6A7570A8}"/>
              </a:ext>
            </a:extLst>
          </p:cNvPr>
          <p:cNvSpPr>
            <a:spLocks noGrp="1"/>
          </p:cNvSpPr>
          <p:nvPr/>
        </p:nvSpPr>
        <p:spPr>
          <a:xfrm>
            <a:off x="8317263" y="6333391"/>
            <a:ext cx="904875" cy="228600"/>
          </a:xfrm>
          <a:prstGeom prst="rect">
            <a:avLst/>
          </a:prstGeom>
          <a:noFill/>
          <a:ln w="0">
            <a:noFill/>
            <a:prstDash val="solid"/>
          </a:ln>
        </p:spPr>
        <p:txBody>
          <a:bodyPr wrap="none" lIns="0" tIns="0" rIns="0" bIns="0" anchor="ctr">
            <a:normAutofit/>
          </a:bodyPr>
          <a:lstStyle/>
          <a:p>
            <a:pPr algn="ctr">
              <a:defRPr sz="975" b="0" i="0">
                <a:solidFill>
                  <a:srgbClr val="17365D"/>
                </a:solidFill>
                <a:latin typeface="Arial"/>
                <a:ea typeface="Arial"/>
                <a:cs typeface="Arial"/>
              </a:defRPr>
            </a:pPr>
            <a:r>
              <a:rPr sz="975" b="0" i="0">
                <a:solidFill>
                  <a:srgbClr val="17365D"/>
                </a:solidFill>
                <a:latin typeface="Arial"/>
                <a:ea typeface="Arial"/>
                <a:cs typeface="Arial"/>
              </a:rPr>
              <a:t>optional</a:t>
            </a:r>
          </a:p>
        </p:txBody>
      </p:sp>
      <p:sp>
        <p:nvSpPr>
          <p:cNvPr id="2" name="箭头: 下 1">
            <a:extLst>
              <a:ext uri="{FF2B5EF4-FFF2-40B4-BE49-F238E27FC236}">
                <a16:creationId xmlns:a16="http://schemas.microsoft.com/office/drawing/2014/main" id="{364A3CEE-C95E-46AF-ABBB-024598FE1E77}"/>
              </a:ext>
            </a:extLst>
          </p:cNvPr>
          <p:cNvSpPr/>
          <p:nvPr/>
        </p:nvSpPr>
        <p:spPr>
          <a:xfrm>
            <a:off x="5623904" y="3429000"/>
            <a:ext cx="357510" cy="297352"/>
          </a:xfrm>
          <a:prstGeom prst="downArrow">
            <a:avLst/>
          </a:prstGeom>
          <a:ln/>
        </p:spPr>
        <p:style>
          <a:lnRef idx="2">
            <a:schemeClr val="dk1">
              <a:shade val="50000"/>
            </a:schemeClr>
          </a:lnRef>
          <a:fillRef idx="1">
            <a:schemeClr val="dk1"/>
          </a:fillRef>
          <a:effectRef idx="0">
            <a:schemeClr val="dk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pic>
        <p:nvPicPr>
          <p:cNvPr id="5" name="图片 4">
            <a:extLst>
              <a:ext uri="{FF2B5EF4-FFF2-40B4-BE49-F238E27FC236}">
                <a16:creationId xmlns:a16="http://schemas.microsoft.com/office/drawing/2014/main" id="{E22844C2-FAEE-4DC7-990C-2EC91F2FD60D}"/>
              </a:ext>
            </a:extLst>
          </p:cNvPr>
          <p:cNvPicPr>
            <a:picLocks noChangeAspect="1"/>
          </p:cNvPicPr>
          <p:nvPr/>
        </p:nvPicPr>
        <p:blipFill>
          <a:blip r:embed="rId3"/>
          <a:stretch>
            <a:fillRect/>
          </a:stretch>
        </p:blipFill>
        <p:spPr>
          <a:xfrm>
            <a:off x="505148" y="2954585"/>
            <a:ext cx="10952532" cy="3710420"/>
          </a:xfrm>
          <a:prstGeom prst="rect">
            <a:avLst/>
          </a:prstGeom>
        </p:spPr>
      </p:pic>
    </p:spTree>
    <p:extLst>
      <p:ext uri="{BB962C8B-B14F-4D97-AF65-F5344CB8AC3E}">
        <p14:creationId xmlns:p14="http://schemas.microsoft.com/office/powerpoint/2010/main" val="4075460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文本框 102">
            <a:extLst>
              <a:ext uri="{FF2B5EF4-FFF2-40B4-BE49-F238E27FC236}">
                <a16:creationId xmlns:a16="http://schemas.microsoft.com/office/drawing/2014/main" id="{400C34DB-7243-4EB8-8C6C-330E2C7686F0}"/>
              </a:ext>
            </a:extLst>
          </p:cNvPr>
          <p:cNvSpPr txBox="1"/>
          <p:nvPr/>
        </p:nvSpPr>
        <p:spPr>
          <a:xfrm>
            <a:off x="398615" y="144773"/>
            <a:ext cx="117933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2.4 </a:t>
            </a:r>
            <a:r>
              <a:rPr lang="zh-CN" altLang="en-US" sz="2800" spc="0">
                <a:solidFill>
                  <a:schemeClr val="tx1"/>
                </a:solidFill>
                <a:effectLst/>
                <a:sym typeface="微软雅黑" panose="020B0503020204020204" pitchFamily="34" charset="-122"/>
              </a:rPr>
              <a:t>初步考虑</a:t>
            </a:r>
            <a:r>
              <a:rPr lang="en-US" altLang="zh-CN" sz="2800" spc="0">
                <a:solidFill>
                  <a:schemeClr val="tx1"/>
                </a:solidFill>
                <a:effectLst/>
                <a:sym typeface="微软雅黑" panose="020B0503020204020204" pitchFamily="34" charset="-122"/>
              </a:rPr>
              <a:t>—LLM</a:t>
            </a:r>
            <a:r>
              <a:rPr lang="zh-CN" altLang="en-US" sz="2800" spc="0">
                <a:solidFill>
                  <a:schemeClr val="tx1"/>
                </a:solidFill>
                <a:effectLst/>
                <a:sym typeface="微软雅黑" panose="020B0503020204020204" pitchFamily="34" charset="-122"/>
              </a:rPr>
              <a:t>如何增强设计</a:t>
            </a:r>
          </a:p>
        </p:txBody>
      </p:sp>
      <p:grpSp>
        <p:nvGrpSpPr>
          <p:cNvPr id="104" name="组合 103">
            <a:extLst>
              <a:ext uri="{FF2B5EF4-FFF2-40B4-BE49-F238E27FC236}">
                <a16:creationId xmlns:a16="http://schemas.microsoft.com/office/drawing/2014/main" id="{1FDF6480-662B-47C1-960A-0F035233A7D0}"/>
              </a:ext>
            </a:extLst>
          </p:cNvPr>
          <p:cNvGrpSpPr/>
          <p:nvPr/>
        </p:nvGrpSpPr>
        <p:grpSpPr>
          <a:xfrm>
            <a:off x="308924" y="734752"/>
            <a:ext cx="11574151" cy="522605"/>
            <a:chOff x="308924" y="734752"/>
            <a:chExt cx="11574151" cy="522605"/>
          </a:xfrm>
        </p:grpSpPr>
        <p:sp>
          <p:nvSpPr>
            <p:cNvPr id="105" name="矩形 22">
              <a:extLst>
                <a:ext uri="{FF2B5EF4-FFF2-40B4-BE49-F238E27FC236}">
                  <a16:creationId xmlns:a16="http://schemas.microsoft.com/office/drawing/2014/main" id="{A89B10C8-6D5D-4023-B8D0-8E10E2951065}"/>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106" name="文本框 105">
              <a:extLst>
                <a:ext uri="{FF2B5EF4-FFF2-40B4-BE49-F238E27FC236}">
                  <a16:creationId xmlns:a16="http://schemas.microsoft.com/office/drawing/2014/main" id="{3DE43E9C-68AE-4CCA-9E9F-99522BBE6E92}"/>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２</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使用</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LLM-Agent</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给异质化</a:t>
              </a:r>
              <a:r>
                <a:rPr lang="en-US" altLang="zh-CN"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Units</a:t>
              </a: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打分</a:t>
              </a:r>
              <a:endParaRPr sz="22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pic>
        <p:nvPicPr>
          <p:cNvPr id="4" name="图片 3">
            <a:extLst>
              <a:ext uri="{FF2B5EF4-FFF2-40B4-BE49-F238E27FC236}">
                <a16:creationId xmlns:a16="http://schemas.microsoft.com/office/drawing/2014/main" id="{DB90BF77-FD89-4C30-95D3-FE41ED43DFD2}"/>
              </a:ext>
            </a:extLst>
          </p:cNvPr>
          <p:cNvPicPr>
            <a:picLocks noChangeAspect="1"/>
          </p:cNvPicPr>
          <p:nvPr/>
        </p:nvPicPr>
        <p:blipFill>
          <a:blip r:embed="rId3"/>
          <a:stretch>
            <a:fillRect/>
          </a:stretch>
        </p:blipFill>
        <p:spPr>
          <a:xfrm>
            <a:off x="3928424" y="1508849"/>
            <a:ext cx="8203005" cy="3348812"/>
          </a:xfrm>
          <a:prstGeom prst="rect">
            <a:avLst/>
          </a:prstGeom>
        </p:spPr>
      </p:pic>
      <p:sp>
        <p:nvSpPr>
          <p:cNvPr id="254" name="S11Output">
            <a:extLst>
              <a:ext uri="{FF2B5EF4-FFF2-40B4-BE49-F238E27FC236}">
                <a16:creationId xmlns:a16="http://schemas.microsoft.com/office/drawing/2014/main" id="{66CB6F18-FECC-4182-B2CB-F461A55D0477}"/>
              </a:ext>
            </a:extLst>
          </p:cNvPr>
          <p:cNvSpPr>
            <a:spLocks noGrp="1"/>
          </p:cNvSpPr>
          <p:nvPr/>
        </p:nvSpPr>
        <p:spPr>
          <a:xfrm>
            <a:off x="308924" y="1602105"/>
            <a:ext cx="3476625" cy="3143250"/>
          </a:xfrm>
          <a:prstGeom prst="roundRect">
            <a:avLst>
              <a:gd name="adj" fmla="val 2424"/>
            </a:avLst>
          </a:prstGeom>
          <a:solidFill>
            <a:srgbClr val="F8FAFC"/>
          </a:solidFill>
          <a:ln w="12383">
            <a:solidFill>
              <a:srgbClr val="17365D"/>
            </a:solidFill>
            <a:prstDash val="solid"/>
          </a:ln>
        </p:spPr>
      </p:sp>
      <p:sp>
        <p:nvSpPr>
          <p:cNvPr id="255" name="S11OutputTitle">
            <a:extLst>
              <a:ext uri="{FF2B5EF4-FFF2-40B4-BE49-F238E27FC236}">
                <a16:creationId xmlns:a16="http://schemas.microsoft.com/office/drawing/2014/main" id="{4C8B96B0-5272-4B0F-BBBA-906539DCEBB7}"/>
              </a:ext>
            </a:extLst>
          </p:cNvPr>
          <p:cNvSpPr>
            <a:spLocks noGrp="1"/>
          </p:cNvSpPr>
          <p:nvPr/>
        </p:nvSpPr>
        <p:spPr>
          <a:xfrm>
            <a:off x="547049" y="1792605"/>
            <a:ext cx="3000375" cy="285750"/>
          </a:xfrm>
          <a:prstGeom prst="rect">
            <a:avLst/>
          </a:prstGeom>
          <a:noFill/>
          <a:ln w="0">
            <a:noFill/>
            <a:prstDash val="solid"/>
          </a:ln>
        </p:spPr>
        <p:txBody>
          <a:bodyPr wrap="none" lIns="0" tIns="0" rIns="0" bIns="0" anchor="ctr">
            <a:normAutofit/>
          </a:bodyPr>
          <a:lstStyle/>
          <a:p>
            <a:pPr algn="ctr">
              <a:defRPr sz="1725" b="1" i="0">
                <a:solidFill>
                  <a:srgbClr val="17365D"/>
                </a:solidFill>
                <a:latin typeface="Arial"/>
                <a:ea typeface="Arial"/>
                <a:cs typeface="Arial"/>
              </a:defRPr>
            </a:pPr>
            <a:r>
              <a:rPr sz="1725" b="1" i="0">
                <a:solidFill>
                  <a:srgbClr val="17365D"/>
                </a:solidFill>
                <a:latin typeface="Arial"/>
                <a:ea typeface="Arial"/>
                <a:cs typeface="Arial"/>
              </a:rPr>
              <a:t>ScenarioVector</a:t>
            </a:r>
          </a:p>
        </p:txBody>
      </p:sp>
      <p:sp>
        <p:nvSpPr>
          <p:cNvPr id="256" name="S11P_0_box">
            <a:extLst>
              <a:ext uri="{FF2B5EF4-FFF2-40B4-BE49-F238E27FC236}">
                <a16:creationId xmlns:a16="http://schemas.microsoft.com/office/drawing/2014/main" id="{990A6A84-F3BF-45A8-A1F4-681E219825B0}"/>
              </a:ext>
            </a:extLst>
          </p:cNvPr>
          <p:cNvSpPr>
            <a:spLocks noGrp="1"/>
          </p:cNvSpPr>
          <p:nvPr/>
        </p:nvSpPr>
        <p:spPr>
          <a:xfrm>
            <a:off x="499424" y="2268855"/>
            <a:ext cx="1428750" cy="304800"/>
          </a:xfrm>
          <a:prstGeom prst="roundRect">
            <a:avLst>
              <a:gd name="adj" fmla="val 50000"/>
            </a:avLst>
          </a:prstGeom>
          <a:solidFill>
            <a:srgbClr val="E9EFF6"/>
          </a:solidFill>
          <a:ln w="0">
            <a:solidFill>
              <a:srgbClr val="E9EFF6"/>
            </a:solidFill>
            <a:prstDash val="solid"/>
          </a:ln>
        </p:spPr>
      </p:sp>
      <p:sp>
        <p:nvSpPr>
          <p:cNvPr id="257" name="S11P_0">
            <a:extLst>
              <a:ext uri="{FF2B5EF4-FFF2-40B4-BE49-F238E27FC236}">
                <a16:creationId xmlns:a16="http://schemas.microsoft.com/office/drawing/2014/main" id="{007F48E0-440F-41DB-9927-9D3DED626EEF}"/>
              </a:ext>
            </a:extLst>
          </p:cNvPr>
          <p:cNvSpPr>
            <a:spLocks noGrp="1"/>
          </p:cNvSpPr>
          <p:nvPr/>
        </p:nvSpPr>
        <p:spPr>
          <a:xfrm>
            <a:off x="575624" y="2297430"/>
            <a:ext cx="1276350" cy="247650"/>
          </a:xfrm>
          <a:prstGeom prst="rect">
            <a:avLst/>
          </a:prstGeom>
          <a:noFill/>
          <a:ln w="0">
            <a:noFill/>
            <a:prstDash val="solid"/>
          </a:ln>
        </p:spPr>
        <p:txBody>
          <a:bodyPr wrap="none" lIns="0" tIns="0" rIns="0" bIns="0" anchor="ctr">
            <a:normAutofit/>
          </a:bodyPr>
          <a:lstStyle/>
          <a:p>
            <a:pPr algn="ctr">
              <a:defRPr sz="1050" b="1" i="0">
                <a:solidFill>
                  <a:srgbClr val="17365D"/>
                </a:solidFill>
                <a:latin typeface="Microsoft YaHei"/>
                <a:ea typeface="Microsoft YaHei"/>
                <a:cs typeface="Microsoft YaHei"/>
              </a:defRPr>
            </a:pPr>
            <a:r>
              <a:rPr sz="1050" b="1" i="0">
                <a:solidFill>
                  <a:srgbClr val="17365D"/>
                </a:solidFill>
                <a:latin typeface="Microsoft YaHei"/>
                <a:ea typeface="Microsoft YaHei"/>
                <a:cs typeface="Microsoft YaHei"/>
              </a:rPr>
              <a:t>network_coupling</a:t>
            </a:r>
          </a:p>
        </p:txBody>
      </p:sp>
      <p:sp>
        <p:nvSpPr>
          <p:cNvPr id="258" name="S11P_1_box">
            <a:extLst>
              <a:ext uri="{FF2B5EF4-FFF2-40B4-BE49-F238E27FC236}">
                <a16:creationId xmlns:a16="http://schemas.microsoft.com/office/drawing/2014/main" id="{7A9AF089-D640-4FFC-9136-3DD9782DA441}"/>
              </a:ext>
            </a:extLst>
          </p:cNvPr>
          <p:cNvSpPr>
            <a:spLocks noGrp="1"/>
          </p:cNvSpPr>
          <p:nvPr/>
        </p:nvSpPr>
        <p:spPr>
          <a:xfrm>
            <a:off x="2071049" y="2268855"/>
            <a:ext cx="1428750" cy="304800"/>
          </a:xfrm>
          <a:prstGeom prst="roundRect">
            <a:avLst>
              <a:gd name="adj" fmla="val 50000"/>
            </a:avLst>
          </a:prstGeom>
          <a:solidFill>
            <a:srgbClr val="E9EFF6"/>
          </a:solidFill>
          <a:ln w="0">
            <a:solidFill>
              <a:srgbClr val="E9EFF6"/>
            </a:solidFill>
            <a:prstDash val="solid"/>
          </a:ln>
        </p:spPr>
      </p:sp>
      <p:sp>
        <p:nvSpPr>
          <p:cNvPr id="259" name="S11P_1">
            <a:extLst>
              <a:ext uri="{FF2B5EF4-FFF2-40B4-BE49-F238E27FC236}">
                <a16:creationId xmlns:a16="http://schemas.microsoft.com/office/drawing/2014/main" id="{FC7444E3-6929-49A7-8B78-5B7DBAD4C197}"/>
              </a:ext>
            </a:extLst>
          </p:cNvPr>
          <p:cNvSpPr>
            <a:spLocks noGrp="1"/>
          </p:cNvSpPr>
          <p:nvPr/>
        </p:nvSpPr>
        <p:spPr>
          <a:xfrm>
            <a:off x="2147249" y="2297430"/>
            <a:ext cx="1276350" cy="247650"/>
          </a:xfrm>
          <a:prstGeom prst="rect">
            <a:avLst/>
          </a:prstGeom>
          <a:noFill/>
          <a:ln w="0">
            <a:noFill/>
            <a:prstDash val="solid"/>
          </a:ln>
        </p:spPr>
        <p:txBody>
          <a:bodyPr wrap="none" lIns="0" tIns="0" rIns="0" bIns="0" anchor="ctr">
            <a:normAutofit fontScale="96246"/>
          </a:bodyPr>
          <a:lstStyle/>
          <a:p>
            <a:pPr algn="ctr">
              <a:defRPr sz="1050" b="1" i="0">
                <a:solidFill>
                  <a:srgbClr val="17365D"/>
                </a:solidFill>
                <a:latin typeface="Microsoft YaHei"/>
                <a:ea typeface="Microsoft YaHei"/>
                <a:cs typeface="Microsoft YaHei"/>
              </a:defRPr>
            </a:pPr>
            <a:r>
              <a:rPr sz="1050" b="1" i="0">
                <a:solidFill>
                  <a:srgbClr val="17365D"/>
                </a:solidFill>
                <a:latin typeface="Microsoft YaHei"/>
                <a:ea typeface="Microsoft YaHei"/>
                <a:cs typeface="Microsoft YaHei"/>
              </a:rPr>
              <a:t>resource_heterogeneity</a:t>
            </a:r>
          </a:p>
        </p:txBody>
      </p:sp>
      <p:sp>
        <p:nvSpPr>
          <p:cNvPr id="260" name="S11P_2_box">
            <a:extLst>
              <a:ext uri="{FF2B5EF4-FFF2-40B4-BE49-F238E27FC236}">
                <a16:creationId xmlns:a16="http://schemas.microsoft.com/office/drawing/2014/main" id="{29A3881D-546F-48F0-BCE9-4D97DCAE5F70}"/>
              </a:ext>
            </a:extLst>
          </p:cNvPr>
          <p:cNvSpPr>
            <a:spLocks noGrp="1"/>
          </p:cNvSpPr>
          <p:nvPr/>
        </p:nvSpPr>
        <p:spPr>
          <a:xfrm>
            <a:off x="499424" y="2726055"/>
            <a:ext cx="1428750" cy="304800"/>
          </a:xfrm>
          <a:prstGeom prst="roundRect">
            <a:avLst>
              <a:gd name="adj" fmla="val 50000"/>
            </a:avLst>
          </a:prstGeom>
          <a:solidFill>
            <a:srgbClr val="E9EFF6"/>
          </a:solidFill>
          <a:ln w="0">
            <a:solidFill>
              <a:srgbClr val="E9EFF6"/>
            </a:solidFill>
            <a:prstDash val="solid"/>
          </a:ln>
        </p:spPr>
      </p:sp>
      <p:sp>
        <p:nvSpPr>
          <p:cNvPr id="261" name="S11P_2">
            <a:extLst>
              <a:ext uri="{FF2B5EF4-FFF2-40B4-BE49-F238E27FC236}">
                <a16:creationId xmlns:a16="http://schemas.microsoft.com/office/drawing/2014/main" id="{1D11D820-633C-4044-8130-51E16BBBEFC6}"/>
              </a:ext>
            </a:extLst>
          </p:cNvPr>
          <p:cNvSpPr>
            <a:spLocks noGrp="1"/>
          </p:cNvSpPr>
          <p:nvPr/>
        </p:nvSpPr>
        <p:spPr>
          <a:xfrm>
            <a:off x="575624" y="2754630"/>
            <a:ext cx="1276350" cy="247650"/>
          </a:xfrm>
          <a:prstGeom prst="rect">
            <a:avLst/>
          </a:prstGeom>
          <a:noFill/>
          <a:ln w="0">
            <a:noFill/>
            <a:prstDash val="solid"/>
          </a:ln>
        </p:spPr>
        <p:txBody>
          <a:bodyPr wrap="none" lIns="0" tIns="0" rIns="0" bIns="0" anchor="ctr">
            <a:normAutofit/>
          </a:bodyPr>
          <a:lstStyle/>
          <a:p>
            <a:pPr algn="ctr">
              <a:defRPr sz="1050" b="1" i="0">
                <a:solidFill>
                  <a:srgbClr val="17365D"/>
                </a:solidFill>
                <a:latin typeface="Microsoft YaHei"/>
                <a:ea typeface="Microsoft YaHei"/>
                <a:cs typeface="Microsoft YaHei"/>
              </a:defRPr>
            </a:pPr>
            <a:r>
              <a:rPr sz="1050" b="1" i="0">
                <a:solidFill>
                  <a:srgbClr val="17365D"/>
                </a:solidFill>
                <a:latin typeface="Microsoft YaHei"/>
                <a:ea typeface="Microsoft YaHei"/>
                <a:cs typeface="Microsoft YaHei"/>
              </a:rPr>
              <a:t>market_thickness</a:t>
            </a:r>
          </a:p>
        </p:txBody>
      </p:sp>
      <p:sp>
        <p:nvSpPr>
          <p:cNvPr id="262" name="S11P_3_box">
            <a:extLst>
              <a:ext uri="{FF2B5EF4-FFF2-40B4-BE49-F238E27FC236}">
                <a16:creationId xmlns:a16="http://schemas.microsoft.com/office/drawing/2014/main" id="{E7F213E2-97FC-4AB0-9C1F-B0E6D9AB5BB8}"/>
              </a:ext>
            </a:extLst>
          </p:cNvPr>
          <p:cNvSpPr>
            <a:spLocks noGrp="1"/>
          </p:cNvSpPr>
          <p:nvPr/>
        </p:nvSpPr>
        <p:spPr>
          <a:xfrm>
            <a:off x="2071049" y="2726055"/>
            <a:ext cx="1428750" cy="304800"/>
          </a:xfrm>
          <a:prstGeom prst="roundRect">
            <a:avLst>
              <a:gd name="adj" fmla="val 50000"/>
            </a:avLst>
          </a:prstGeom>
          <a:solidFill>
            <a:srgbClr val="E9EFF6"/>
          </a:solidFill>
          <a:ln w="0">
            <a:solidFill>
              <a:srgbClr val="E9EFF6"/>
            </a:solidFill>
            <a:prstDash val="solid"/>
          </a:ln>
        </p:spPr>
      </p:sp>
      <p:sp>
        <p:nvSpPr>
          <p:cNvPr id="263" name="S11P_3">
            <a:extLst>
              <a:ext uri="{FF2B5EF4-FFF2-40B4-BE49-F238E27FC236}">
                <a16:creationId xmlns:a16="http://schemas.microsoft.com/office/drawing/2014/main" id="{65487DD2-7CE6-43E8-963A-6583D9DD06BB}"/>
              </a:ext>
            </a:extLst>
          </p:cNvPr>
          <p:cNvSpPr>
            <a:spLocks noGrp="1"/>
          </p:cNvSpPr>
          <p:nvPr/>
        </p:nvSpPr>
        <p:spPr>
          <a:xfrm>
            <a:off x="2147249" y="2754630"/>
            <a:ext cx="1276350" cy="247650"/>
          </a:xfrm>
          <a:prstGeom prst="rect">
            <a:avLst/>
          </a:prstGeom>
          <a:noFill/>
          <a:ln w="0">
            <a:noFill/>
            <a:prstDash val="solid"/>
          </a:ln>
        </p:spPr>
        <p:txBody>
          <a:bodyPr wrap="none" lIns="0" tIns="0" rIns="0" bIns="0" anchor="ctr">
            <a:normAutofit/>
          </a:bodyPr>
          <a:lstStyle/>
          <a:p>
            <a:pPr algn="ctr">
              <a:defRPr sz="1050" b="1" i="0">
                <a:solidFill>
                  <a:srgbClr val="17365D"/>
                </a:solidFill>
                <a:latin typeface="Microsoft YaHei"/>
                <a:ea typeface="Microsoft YaHei"/>
                <a:cs typeface="Microsoft YaHei"/>
              </a:defRPr>
            </a:pPr>
            <a:r>
              <a:rPr sz="1050" b="1" i="0">
                <a:solidFill>
                  <a:srgbClr val="17365D"/>
                </a:solidFill>
                <a:latin typeface="Microsoft YaHei"/>
                <a:ea typeface="Microsoft YaHei"/>
                <a:cs typeface="Microsoft YaHei"/>
              </a:rPr>
              <a:t>DSO_authority</a:t>
            </a:r>
          </a:p>
        </p:txBody>
      </p:sp>
      <p:sp>
        <p:nvSpPr>
          <p:cNvPr id="264" name="S11P_4_box">
            <a:extLst>
              <a:ext uri="{FF2B5EF4-FFF2-40B4-BE49-F238E27FC236}">
                <a16:creationId xmlns:a16="http://schemas.microsoft.com/office/drawing/2014/main" id="{34CC3899-0756-4F62-A43E-76EE481C4634}"/>
              </a:ext>
            </a:extLst>
          </p:cNvPr>
          <p:cNvSpPr>
            <a:spLocks noGrp="1"/>
          </p:cNvSpPr>
          <p:nvPr/>
        </p:nvSpPr>
        <p:spPr>
          <a:xfrm>
            <a:off x="499424" y="3183255"/>
            <a:ext cx="1428750" cy="304800"/>
          </a:xfrm>
          <a:prstGeom prst="roundRect">
            <a:avLst>
              <a:gd name="adj" fmla="val 50000"/>
            </a:avLst>
          </a:prstGeom>
          <a:solidFill>
            <a:srgbClr val="E9EFF6"/>
          </a:solidFill>
          <a:ln w="0">
            <a:solidFill>
              <a:srgbClr val="E9EFF6"/>
            </a:solidFill>
            <a:prstDash val="solid"/>
          </a:ln>
        </p:spPr>
      </p:sp>
      <p:sp>
        <p:nvSpPr>
          <p:cNvPr id="265" name="S11P_4">
            <a:extLst>
              <a:ext uri="{FF2B5EF4-FFF2-40B4-BE49-F238E27FC236}">
                <a16:creationId xmlns:a16="http://schemas.microsoft.com/office/drawing/2014/main" id="{A5603949-C24D-4A2A-AC4B-85AFF13F3B78}"/>
              </a:ext>
            </a:extLst>
          </p:cNvPr>
          <p:cNvSpPr>
            <a:spLocks noGrp="1"/>
          </p:cNvSpPr>
          <p:nvPr/>
        </p:nvSpPr>
        <p:spPr>
          <a:xfrm>
            <a:off x="575624" y="3211830"/>
            <a:ext cx="1276350" cy="247650"/>
          </a:xfrm>
          <a:prstGeom prst="rect">
            <a:avLst/>
          </a:prstGeom>
          <a:noFill/>
          <a:ln w="0">
            <a:noFill/>
            <a:prstDash val="solid"/>
          </a:ln>
        </p:spPr>
        <p:txBody>
          <a:bodyPr wrap="none" lIns="0" tIns="0" rIns="0" bIns="0" anchor="ctr">
            <a:normAutofit/>
          </a:bodyPr>
          <a:lstStyle/>
          <a:p>
            <a:pPr algn="ctr">
              <a:defRPr sz="1050" b="1" i="0">
                <a:solidFill>
                  <a:srgbClr val="17365D"/>
                </a:solidFill>
                <a:latin typeface="Microsoft YaHei"/>
                <a:ea typeface="Microsoft YaHei"/>
                <a:cs typeface="Microsoft YaHei"/>
              </a:defRPr>
            </a:pPr>
            <a:r>
              <a:rPr sz="1050" b="1" i="0">
                <a:solidFill>
                  <a:srgbClr val="17365D"/>
                </a:solidFill>
                <a:latin typeface="Microsoft YaHei"/>
                <a:ea typeface="Microsoft YaHei"/>
                <a:cs typeface="Microsoft YaHei"/>
              </a:rPr>
              <a:t>preference_privacy</a:t>
            </a:r>
          </a:p>
        </p:txBody>
      </p:sp>
      <p:sp>
        <p:nvSpPr>
          <p:cNvPr id="266" name="S11P_5_box">
            <a:extLst>
              <a:ext uri="{FF2B5EF4-FFF2-40B4-BE49-F238E27FC236}">
                <a16:creationId xmlns:a16="http://schemas.microsoft.com/office/drawing/2014/main" id="{78C133CA-BE35-4B2A-8025-009F2D0BEC83}"/>
              </a:ext>
            </a:extLst>
          </p:cNvPr>
          <p:cNvSpPr>
            <a:spLocks noGrp="1"/>
          </p:cNvSpPr>
          <p:nvPr/>
        </p:nvSpPr>
        <p:spPr>
          <a:xfrm>
            <a:off x="2071049" y="3183255"/>
            <a:ext cx="1428750" cy="304800"/>
          </a:xfrm>
          <a:prstGeom prst="roundRect">
            <a:avLst>
              <a:gd name="adj" fmla="val 50000"/>
            </a:avLst>
          </a:prstGeom>
          <a:solidFill>
            <a:srgbClr val="E9EFF6"/>
          </a:solidFill>
          <a:ln w="0">
            <a:solidFill>
              <a:srgbClr val="E9EFF6"/>
            </a:solidFill>
            <a:prstDash val="solid"/>
          </a:ln>
        </p:spPr>
      </p:sp>
      <p:sp>
        <p:nvSpPr>
          <p:cNvPr id="267" name="S11P_5">
            <a:extLst>
              <a:ext uri="{FF2B5EF4-FFF2-40B4-BE49-F238E27FC236}">
                <a16:creationId xmlns:a16="http://schemas.microsoft.com/office/drawing/2014/main" id="{3DF93A05-3BE7-4DC2-B215-2BC458EC3C66}"/>
              </a:ext>
            </a:extLst>
          </p:cNvPr>
          <p:cNvSpPr>
            <a:spLocks noGrp="1"/>
          </p:cNvSpPr>
          <p:nvPr/>
        </p:nvSpPr>
        <p:spPr>
          <a:xfrm>
            <a:off x="2147249" y="3211830"/>
            <a:ext cx="1276350" cy="247650"/>
          </a:xfrm>
          <a:prstGeom prst="rect">
            <a:avLst/>
          </a:prstGeom>
          <a:noFill/>
          <a:ln w="0">
            <a:noFill/>
            <a:prstDash val="solid"/>
          </a:ln>
        </p:spPr>
        <p:txBody>
          <a:bodyPr wrap="none" lIns="0" tIns="0" rIns="0" bIns="0" anchor="ctr">
            <a:normAutofit/>
          </a:bodyPr>
          <a:lstStyle/>
          <a:p>
            <a:pPr algn="ctr">
              <a:defRPr sz="1050" b="1" i="0">
                <a:solidFill>
                  <a:srgbClr val="17365D"/>
                </a:solidFill>
                <a:latin typeface="Microsoft YaHei"/>
                <a:ea typeface="Microsoft YaHei"/>
                <a:cs typeface="Microsoft YaHei"/>
              </a:defRPr>
            </a:pPr>
            <a:r>
              <a:rPr sz="1050" b="1" i="0">
                <a:solidFill>
                  <a:srgbClr val="17365D"/>
                </a:solidFill>
                <a:latin typeface="Microsoft YaHei"/>
                <a:ea typeface="Microsoft YaHei"/>
                <a:cs typeface="Microsoft YaHei"/>
              </a:rPr>
              <a:t>time_criticality</a:t>
            </a:r>
          </a:p>
        </p:txBody>
      </p:sp>
      <p:sp>
        <p:nvSpPr>
          <p:cNvPr id="268" name="S11P_6_box">
            <a:extLst>
              <a:ext uri="{FF2B5EF4-FFF2-40B4-BE49-F238E27FC236}">
                <a16:creationId xmlns:a16="http://schemas.microsoft.com/office/drawing/2014/main" id="{62DFC9EF-91BF-4803-B4D3-2B7FBCF55465}"/>
              </a:ext>
            </a:extLst>
          </p:cNvPr>
          <p:cNvSpPr>
            <a:spLocks noGrp="1"/>
          </p:cNvSpPr>
          <p:nvPr/>
        </p:nvSpPr>
        <p:spPr>
          <a:xfrm>
            <a:off x="499424" y="3640455"/>
            <a:ext cx="1428750" cy="304800"/>
          </a:xfrm>
          <a:prstGeom prst="roundRect">
            <a:avLst>
              <a:gd name="adj" fmla="val 50000"/>
            </a:avLst>
          </a:prstGeom>
          <a:solidFill>
            <a:srgbClr val="E9EFF6"/>
          </a:solidFill>
          <a:ln w="0">
            <a:solidFill>
              <a:srgbClr val="E9EFF6"/>
            </a:solidFill>
            <a:prstDash val="solid"/>
          </a:ln>
        </p:spPr>
      </p:sp>
      <p:sp>
        <p:nvSpPr>
          <p:cNvPr id="269" name="S11P_6">
            <a:extLst>
              <a:ext uri="{FF2B5EF4-FFF2-40B4-BE49-F238E27FC236}">
                <a16:creationId xmlns:a16="http://schemas.microsoft.com/office/drawing/2014/main" id="{99C6D737-6A8B-4295-A51E-5C6007376FFE}"/>
              </a:ext>
            </a:extLst>
          </p:cNvPr>
          <p:cNvSpPr>
            <a:spLocks noGrp="1"/>
          </p:cNvSpPr>
          <p:nvPr/>
        </p:nvSpPr>
        <p:spPr>
          <a:xfrm>
            <a:off x="575624" y="3669030"/>
            <a:ext cx="1276350" cy="247650"/>
          </a:xfrm>
          <a:prstGeom prst="rect">
            <a:avLst/>
          </a:prstGeom>
          <a:noFill/>
          <a:ln w="0">
            <a:noFill/>
            <a:prstDash val="solid"/>
          </a:ln>
        </p:spPr>
        <p:txBody>
          <a:bodyPr wrap="none" lIns="0" tIns="0" rIns="0" bIns="0" anchor="ctr">
            <a:normAutofit/>
          </a:bodyPr>
          <a:lstStyle/>
          <a:p>
            <a:pPr algn="ctr">
              <a:defRPr sz="1050" b="1" i="0">
                <a:solidFill>
                  <a:srgbClr val="17365D"/>
                </a:solidFill>
                <a:latin typeface="Microsoft YaHei"/>
                <a:ea typeface="Microsoft YaHei"/>
                <a:cs typeface="Microsoft YaHei"/>
              </a:defRPr>
            </a:pPr>
            <a:r>
              <a:rPr sz="1050" b="1" i="0">
                <a:solidFill>
                  <a:srgbClr val="17365D"/>
                </a:solidFill>
                <a:latin typeface="Microsoft YaHei"/>
                <a:ea typeface="Microsoft YaHei"/>
                <a:cs typeface="Microsoft YaHei"/>
              </a:rPr>
              <a:t>hierarchy_need</a:t>
            </a:r>
          </a:p>
        </p:txBody>
      </p:sp>
      <p:sp>
        <p:nvSpPr>
          <p:cNvPr id="270" name="S11P_7_box">
            <a:extLst>
              <a:ext uri="{FF2B5EF4-FFF2-40B4-BE49-F238E27FC236}">
                <a16:creationId xmlns:a16="http://schemas.microsoft.com/office/drawing/2014/main" id="{27A97FC8-EEA0-48AB-8E6F-AAFD90381186}"/>
              </a:ext>
            </a:extLst>
          </p:cNvPr>
          <p:cNvSpPr>
            <a:spLocks noGrp="1"/>
          </p:cNvSpPr>
          <p:nvPr/>
        </p:nvSpPr>
        <p:spPr>
          <a:xfrm>
            <a:off x="2071049" y="3640455"/>
            <a:ext cx="1428750" cy="304800"/>
          </a:xfrm>
          <a:prstGeom prst="roundRect">
            <a:avLst>
              <a:gd name="adj" fmla="val 50000"/>
            </a:avLst>
          </a:prstGeom>
          <a:solidFill>
            <a:srgbClr val="E9EFF6"/>
          </a:solidFill>
          <a:ln w="0">
            <a:solidFill>
              <a:srgbClr val="E9EFF6"/>
            </a:solidFill>
            <a:prstDash val="solid"/>
          </a:ln>
        </p:spPr>
      </p:sp>
      <p:sp>
        <p:nvSpPr>
          <p:cNvPr id="271" name="S11P_7">
            <a:extLst>
              <a:ext uri="{FF2B5EF4-FFF2-40B4-BE49-F238E27FC236}">
                <a16:creationId xmlns:a16="http://schemas.microsoft.com/office/drawing/2014/main" id="{F650E26E-B81A-4D39-B08A-6EBF85ED22F8}"/>
              </a:ext>
            </a:extLst>
          </p:cNvPr>
          <p:cNvSpPr>
            <a:spLocks noGrp="1"/>
          </p:cNvSpPr>
          <p:nvPr/>
        </p:nvSpPr>
        <p:spPr>
          <a:xfrm>
            <a:off x="2147249" y="3669030"/>
            <a:ext cx="1276350" cy="247650"/>
          </a:xfrm>
          <a:prstGeom prst="rect">
            <a:avLst/>
          </a:prstGeom>
          <a:noFill/>
          <a:ln w="0">
            <a:noFill/>
            <a:prstDash val="solid"/>
          </a:ln>
        </p:spPr>
        <p:txBody>
          <a:bodyPr wrap="none" lIns="0" tIns="0" rIns="0" bIns="0" anchor="ctr">
            <a:normAutofit/>
          </a:bodyPr>
          <a:lstStyle/>
          <a:p>
            <a:pPr algn="ctr">
              <a:defRPr sz="1050" b="1" i="0">
                <a:solidFill>
                  <a:srgbClr val="17365D"/>
                </a:solidFill>
                <a:latin typeface="Microsoft YaHei"/>
                <a:ea typeface="Microsoft YaHei"/>
                <a:cs typeface="Microsoft YaHei"/>
              </a:defRPr>
            </a:pPr>
            <a:r>
              <a:rPr sz="1050" b="1" i="0">
                <a:solidFill>
                  <a:srgbClr val="17365D"/>
                </a:solidFill>
                <a:latin typeface="Microsoft YaHei"/>
                <a:ea typeface="Microsoft YaHei"/>
                <a:cs typeface="Microsoft YaHei"/>
              </a:rPr>
              <a:t>auditability</a:t>
            </a:r>
          </a:p>
        </p:txBody>
      </p:sp>
      <p:sp>
        <p:nvSpPr>
          <p:cNvPr id="272" name="S11P_8_box">
            <a:extLst>
              <a:ext uri="{FF2B5EF4-FFF2-40B4-BE49-F238E27FC236}">
                <a16:creationId xmlns:a16="http://schemas.microsoft.com/office/drawing/2014/main" id="{06168BE6-5930-46CE-985A-DBD71FEB421A}"/>
              </a:ext>
            </a:extLst>
          </p:cNvPr>
          <p:cNvSpPr>
            <a:spLocks noGrp="1"/>
          </p:cNvSpPr>
          <p:nvPr/>
        </p:nvSpPr>
        <p:spPr>
          <a:xfrm>
            <a:off x="499424" y="4097655"/>
            <a:ext cx="1428750" cy="304800"/>
          </a:xfrm>
          <a:prstGeom prst="roundRect">
            <a:avLst>
              <a:gd name="adj" fmla="val 50000"/>
            </a:avLst>
          </a:prstGeom>
          <a:solidFill>
            <a:srgbClr val="E9EFF6"/>
          </a:solidFill>
          <a:ln w="0">
            <a:solidFill>
              <a:srgbClr val="E9EFF6"/>
            </a:solidFill>
            <a:prstDash val="solid"/>
          </a:ln>
        </p:spPr>
      </p:sp>
      <p:sp>
        <p:nvSpPr>
          <p:cNvPr id="273" name="S11P_8">
            <a:extLst>
              <a:ext uri="{FF2B5EF4-FFF2-40B4-BE49-F238E27FC236}">
                <a16:creationId xmlns:a16="http://schemas.microsoft.com/office/drawing/2014/main" id="{BC6E1FAB-F942-4395-9CA9-C99E949F6F36}"/>
              </a:ext>
            </a:extLst>
          </p:cNvPr>
          <p:cNvSpPr>
            <a:spLocks noGrp="1"/>
          </p:cNvSpPr>
          <p:nvPr/>
        </p:nvSpPr>
        <p:spPr>
          <a:xfrm>
            <a:off x="575624" y="4126230"/>
            <a:ext cx="1276350" cy="247650"/>
          </a:xfrm>
          <a:prstGeom prst="rect">
            <a:avLst/>
          </a:prstGeom>
          <a:noFill/>
          <a:ln w="0">
            <a:noFill/>
            <a:prstDash val="solid"/>
          </a:ln>
        </p:spPr>
        <p:txBody>
          <a:bodyPr wrap="none" lIns="0" tIns="0" rIns="0" bIns="0" anchor="ctr">
            <a:normAutofit/>
          </a:bodyPr>
          <a:lstStyle/>
          <a:p>
            <a:pPr algn="ctr">
              <a:defRPr sz="1050" b="1" i="0">
                <a:solidFill>
                  <a:srgbClr val="17365D"/>
                </a:solidFill>
                <a:latin typeface="Microsoft YaHei"/>
                <a:ea typeface="Microsoft YaHei"/>
                <a:cs typeface="Microsoft YaHei"/>
              </a:defRPr>
            </a:pPr>
            <a:r>
              <a:rPr sz="1050" b="1" i="0">
                <a:solidFill>
                  <a:srgbClr val="17365D"/>
                </a:solidFill>
                <a:latin typeface="Microsoft YaHei"/>
                <a:ea typeface="Microsoft YaHei"/>
                <a:cs typeface="Microsoft YaHei"/>
              </a:rPr>
              <a:t>scale</a:t>
            </a:r>
          </a:p>
        </p:txBody>
      </p:sp>
      <p:sp>
        <p:nvSpPr>
          <p:cNvPr id="6" name="箭头: 右 5">
            <a:extLst>
              <a:ext uri="{FF2B5EF4-FFF2-40B4-BE49-F238E27FC236}">
                <a16:creationId xmlns:a16="http://schemas.microsoft.com/office/drawing/2014/main" id="{FB300D47-B865-4D09-B168-69EAEA91AAC5}"/>
              </a:ext>
            </a:extLst>
          </p:cNvPr>
          <p:cNvSpPr/>
          <p:nvPr/>
        </p:nvSpPr>
        <p:spPr>
          <a:xfrm>
            <a:off x="3690299" y="3030855"/>
            <a:ext cx="441863" cy="304800"/>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pic>
        <p:nvPicPr>
          <p:cNvPr id="7" name="图片 6">
            <a:extLst>
              <a:ext uri="{FF2B5EF4-FFF2-40B4-BE49-F238E27FC236}">
                <a16:creationId xmlns:a16="http://schemas.microsoft.com/office/drawing/2014/main" id="{93D376DB-2CA5-4A29-95E4-721CC1C5C002}"/>
              </a:ext>
            </a:extLst>
          </p:cNvPr>
          <p:cNvPicPr>
            <a:picLocks noChangeAspect="1"/>
          </p:cNvPicPr>
          <p:nvPr/>
        </p:nvPicPr>
        <p:blipFill>
          <a:blip r:embed="rId4"/>
          <a:stretch>
            <a:fillRect/>
          </a:stretch>
        </p:blipFill>
        <p:spPr>
          <a:xfrm>
            <a:off x="2827865" y="4431030"/>
            <a:ext cx="6226468" cy="2351096"/>
          </a:xfrm>
          <a:prstGeom prst="rect">
            <a:avLst/>
          </a:prstGeom>
        </p:spPr>
      </p:pic>
      <p:sp>
        <p:nvSpPr>
          <p:cNvPr id="274" name="箭头: 右 273">
            <a:extLst>
              <a:ext uri="{FF2B5EF4-FFF2-40B4-BE49-F238E27FC236}">
                <a16:creationId xmlns:a16="http://schemas.microsoft.com/office/drawing/2014/main" id="{84C9380B-9A94-4966-A749-2AD21DB7B4EF}"/>
              </a:ext>
            </a:extLst>
          </p:cNvPr>
          <p:cNvSpPr/>
          <p:nvPr/>
        </p:nvSpPr>
        <p:spPr>
          <a:xfrm rot="8998904">
            <a:off x="9100941" y="4491191"/>
            <a:ext cx="441863" cy="304800"/>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l" defTabSz="457200"/>
            <a:endParaRPr lang="zh-CN" altLang="en-US" sz="10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772385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文本框 102">
            <a:extLst>
              <a:ext uri="{FF2B5EF4-FFF2-40B4-BE49-F238E27FC236}">
                <a16:creationId xmlns:a16="http://schemas.microsoft.com/office/drawing/2014/main" id="{400C34DB-7243-4EB8-8C6C-330E2C7686F0}"/>
              </a:ext>
            </a:extLst>
          </p:cNvPr>
          <p:cNvSpPr txBox="1"/>
          <p:nvPr/>
        </p:nvSpPr>
        <p:spPr>
          <a:xfrm>
            <a:off x="398615" y="144773"/>
            <a:ext cx="117933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3.1 </a:t>
            </a:r>
            <a:r>
              <a:rPr lang="zh-CN" altLang="en-US" sz="2800" spc="0">
                <a:solidFill>
                  <a:schemeClr val="tx1"/>
                </a:solidFill>
                <a:effectLst/>
                <a:sym typeface="微软雅黑" panose="020B0503020204020204" pitchFamily="34" charset="-122"/>
              </a:rPr>
              <a:t>目前及后续的选课</a:t>
            </a:r>
          </a:p>
        </p:txBody>
      </p:sp>
      <p:grpSp>
        <p:nvGrpSpPr>
          <p:cNvPr id="104" name="组合 103">
            <a:extLst>
              <a:ext uri="{FF2B5EF4-FFF2-40B4-BE49-F238E27FC236}">
                <a16:creationId xmlns:a16="http://schemas.microsoft.com/office/drawing/2014/main" id="{1FDF6480-662B-47C1-960A-0F035233A7D0}"/>
              </a:ext>
            </a:extLst>
          </p:cNvPr>
          <p:cNvGrpSpPr/>
          <p:nvPr/>
        </p:nvGrpSpPr>
        <p:grpSpPr>
          <a:xfrm>
            <a:off x="308924" y="734752"/>
            <a:ext cx="11574151" cy="522605"/>
            <a:chOff x="308924" y="734752"/>
            <a:chExt cx="11574151" cy="522605"/>
          </a:xfrm>
        </p:grpSpPr>
        <p:sp>
          <p:nvSpPr>
            <p:cNvPr id="105" name="矩形 22">
              <a:extLst>
                <a:ext uri="{FF2B5EF4-FFF2-40B4-BE49-F238E27FC236}">
                  <a16:creationId xmlns:a16="http://schemas.microsoft.com/office/drawing/2014/main" id="{A89B10C8-6D5D-4023-B8D0-8E10E2951065}"/>
                </a:ext>
              </a:extLst>
            </p:cNvPr>
            <p:cNvSpPr/>
            <p:nvPr/>
          </p:nvSpPr>
          <p:spPr>
            <a:xfrm>
              <a:off x="308924" y="734752"/>
              <a:ext cx="11574151" cy="522605"/>
            </a:xfrm>
            <a:prstGeom prst="roundRect">
              <a:avLst>
                <a:gd name="adj" fmla="val 11215"/>
              </a:avLst>
            </a:prstGeom>
            <a:gradFill>
              <a:gsLst>
                <a:gs pos="28000">
                  <a:srgbClr val="2B49AD"/>
                </a:gs>
                <a:gs pos="100000">
                  <a:srgbClr val="0070C0"/>
                </a:gs>
              </a:gsLst>
              <a:path path="circle">
                <a:fillToRect r="100000" b="100000"/>
              </a:path>
            </a:gradFill>
            <a:ln w="12700" cap="flat" cmpd="sng" algn="ctr">
              <a:noFill/>
              <a:prstDash val="solid"/>
              <a:miter lim="800000"/>
            </a:ln>
            <a:effectLst/>
          </p:spPr>
          <p:txBody>
            <a:bodyPr rtlCol="0" anchor="ctr"/>
            <a:lstStyle/>
            <a:p>
              <a:pPr algn="just" defTabSz="914400">
                <a:defRPr/>
              </a:pPr>
              <a:endParaRPr lang="zh-CN" altLang="en-US" b="1" kern="0">
                <a:solidFill>
                  <a:prstClr val="white"/>
                </a:solidFill>
                <a:latin typeface="HarmonyOS Sans SC" pitchFamily="2" charset="-122"/>
                <a:ea typeface="HarmonyOS Sans SC" pitchFamily="2" charset="-122"/>
              </a:endParaRPr>
            </a:p>
          </p:txBody>
        </p:sp>
        <p:sp>
          <p:nvSpPr>
            <p:cNvPr id="106" name="文本框 105">
              <a:extLst>
                <a:ext uri="{FF2B5EF4-FFF2-40B4-BE49-F238E27FC236}">
                  <a16:creationId xmlns:a16="http://schemas.microsoft.com/office/drawing/2014/main" id="{3DE43E9C-68AE-4CCA-9E9F-99522BBE6E92}"/>
                </a:ext>
              </a:extLst>
            </p:cNvPr>
            <p:cNvSpPr txBox="1"/>
            <p:nvPr/>
          </p:nvSpPr>
          <p:spPr>
            <a:xfrm>
              <a:off x="308925" y="765638"/>
              <a:ext cx="11574150" cy="454660"/>
            </a:xfrm>
            <a:prstGeom prst="rect">
              <a:avLst/>
            </a:prstGeom>
            <a:noFill/>
          </p:spPr>
          <p:txBody>
            <a:bodyPr wrap="square" rtlCol="0" anchor="t">
              <a:noAutofit/>
            </a:bodyPr>
            <a:lstStyle/>
            <a:p>
              <a:pPr indent="0" algn="ctr">
                <a:lnSpc>
                  <a:spcPct val="100000"/>
                </a:lnSpc>
                <a:buFont typeface="Wingdings" panose="05000000000000000000" charset="0"/>
                <a:buNone/>
              </a:pPr>
              <a:r>
                <a:rPr lang="zh-CN" altLang="en-US" sz="22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四门研究生课</a:t>
              </a:r>
              <a:endParaRPr sz="2200" b="1"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pic>
        <p:nvPicPr>
          <p:cNvPr id="2" name="图片 1">
            <a:extLst>
              <a:ext uri="{FF2B5EF4-FFF2-40B4-BE49-F238E27FC236}">
                <a16:creationId xmlns:a16="http://schemas.microsoft.com/office/drawing/2014/main" id="{3253F79E-7E1A-4C70-891F-9B1B1A0FC174}"/>
              </a:ext>
            </a:extLst>
          </p:cNvPr>
          <p:cNvPicPr>
            <a:picLocks noChangeAspect="1"/>
          </p:cNvPicPr>
          <p:nvPr/>
        </p:nvPicPr>
        <p:blipFill>
          <a:blip r:embed="rId2"/>
          <a:stretch>
            <a:fillRect/>
          </a:stretch>
        </p:blipFill>
        <p:spPr>
          <a:xfrm>
            <a:off x="208344" y="1464090"/>
            <a:ext cx="6458673" cy="2216705"/>
          </a:xfrm>
          <a:prstGeom prst="rect">
            <a:avLst/>
          </a:prstGeom>
        </p:spPr>
      </p:pic>
      <p:pic>
        <p:nvPicPr>
          <p:cNvPr id="3" name="图片 2">
            <a:extLst>
              <a:ext uri="{FF2B5EF4-FFF2-40B4-BE49-F238E27FC236}">
                <a16:creationId xmlns:a16="http://schemas.microsoft.com/office/drawing/2014/main" id="{EBC8C80E-64F4-4BE2-A36A-D4B8E577B469}"/>
              </a:ext>
            </a:extLst>
          </p:cNvPr>
          <p:cNvPicPr>
            <a:picLocks noChangeAspect="1"/>
          </p:cNvPicPr>
          <p:nvPr/>
        </p:nvPicPr>
        <p:blipFill>
          <a:blip r:embed="rId3"/>
          <a:stretch>
            <a:fillRect/>
          </a:stretch>
        </p:blipFill>
        <p:spPr>
          <a:xfrm>
            <a:off x="208344" y="3973413"/>
            <a:ext cx="6667017" cy="2149835"/>
          </a:xfrm>
          <a:prstGeom prst="rect">
            <a:avLst/>
          </a:prstGeom>
        </p:spPr>
      </p:pic>
      <p:pic>
        <p:nvPicPr>
          <p:cNvPr id="5" name="图片 4">
            <a:extLst>
              <a:ext uri="{FF2B5EF4-FFF2-40B4-BE49-F238E27FC236}">
                <a16:creationId xmlns:a16="http://schemas.microsoft.com/office/drawing/2014/main" id="{06665EE9-8C05-4CD7-8303-EC79748E37E6}"/>
              </a:ext>
            </a:extLst>
          </p:cNvPr>
          <p:cNvPicPr>
            <a:picLocks noChangeAspect="1"/>
          </p:cNvPicPr>
          <p:nvPr/>
        </p:nvPicPr>
        <p:blipFill>
          <a:blip r:embed="rId4"/>
          <a:stretch>
            <a:fillRect/>
          </a:stretch>
        </p:blipFill>
        <p:spPr>
          <a:xfrm>
            <a:off x="4523301" y="2723581"/>
            <a:ext cx="7359774" cy="1661400"/>
          </a:xfrm>
          <a:prstGeom prst="rect">
            <a:avLst/>
          </a:prstGeom>
        </p:spPr>
      </p:pic>
    </p:spTree>
    <p:extLst>
      <p:ext uri="{BB962C8B-B14F-4D97-AF65-F5344CB8AC3E}">
        <p14:creationId xmlns:p14="http://schemas.microsoft.com/office/powerpoint/2010/main" val="3547944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8615" y="144773"/>
            <a:ext cx="11488585" cy="523220"/>
          </a:xfrm>
          <a:prstGeom prst="rect">
            <a:avLst/>
          </a:prstGeom>
          <a:noFill/>
          <a:effectLst>
            <a:outerShdw blurRad="63500" sx="102000" sy="102000" algn="ctr" rotWithShape="0">
              <a:prstClr val="black">
                <a:alpha val="40000"/>
              </a:prstClr>
            </a:outerShdw>
          </a:effectLst>
        </p:spPr>
        <p:txBody>
          <a:bodyPr wrap="square">
            <a:noAutofit/>
          </a:bodyPr>
          <a:lstStyle>
            <a:defPPr>
              <a:defRPr lang="en-US"/>
            </a:defPPr>
            <a:lvl1pPr lvl="0" indent="0">
              <a:spcBef>
                <a:spcPct val="0"/>
              </a:spcBef>
              <a:buNone/>
              <a:defRPr sz="2400" b="1" spc="6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defRPr/>
            </a:pPr>
            <a:r>
              <a:rPr lang="en-US" altLang="zh-CN" sz="2800" spc="0">
                <a:solidFill>
                  <a:schemeClr val="tx1"/>
                </a:solidFill>
                <a:effectLst/>
                <a:sym typeface="微软雅黑" panose="020B0503020204020204" pitchFamily="34" charset="-122"/>
              </a:rPr>
              <a:t>3.2 </a:t>
            </a:r>
            <a:r>
              <a:rPr lang="zh-CN" altLang="en-US" sz="2800" spc="0">
                <a:solidFill>
                  <a:schemeClr val="tx1"/>
                </a:solidFill>
                <a:effectLst/>
                <a:sym typeface="微软雅黑" panose="020B0503020204020204" pitchFamily="34" charset="-122"/>
              </a:rPr>
              <a:t>与钟老师的汇报</a:t>
            </a:r>
          </a:p>
        </p:txBody>
      </p:sp>
      <p:sp>
        <p:nvSpPr>
          <p:cNvPr id="8" name="矩形 7">
            <a:extLst>
              <a:ext uri="{FF2B5EF4-FFF2-40B4-BE49-F238E27FC236}">
                <a16:creationId xmlns:a16="http://schemas.microsoft.com/office/drawing/2014/main" id="{5D9ED8D4-1B17-4766-9571-34EC8EB6436D}"/>
              </a:ext>
            </a:extLst>
          </p:cNvPr>
          <p:cNvSpPr/>
          <p:nvPr/>
        </p:nvSpPr>
        <p:spPr>
          <a:xfrm>
            <a:off x="0" y="923289"/>
            <a:ext cx="12001500" cy="1135054"/>
          </a:xfrm>
          <a:prstGeom prst="rect">
            <a:avLst/>
          </a:prstGeom>
        </p:spPr>
        <p:txBody>
          <a:bodyPr wrap="square">
            <a:spAutoFit/>
          </a:bodyPr>
          <a:lstStyle/>
          <a:p>
            <a:pPr marL="800100" lvl="1" indent="-342900" algn="just">
              <a:lnSpc>
                <a:spcPct val="120000"/>
              </a:lnSpc>
              <a:buFont typeface="Wingdings" panose="05000000000000000000" pitchFamily="2" charset="2"/>
              <a:buChar char="n"/>
              <a:defRPr/>
            </a:pPr>
            <a:r>
              <a:rPr lang="en-US" altLang="zh-CN" sz="2000" b="1">
                <a:latin typeface="Times New Roman" panose="02020603050405020304" pitchFamily="18" charset="0"/>
                <a:ea typeface="微软雅黑" panose="020B0503020204020204" pitchFamily="34" charset="-122"/>
                <a:cs typeface="Times New Roman" panose="02020603050405020304" pitchFamily="18" charset="0"/>
                <a:sym typeface="+mn-lt"/>
              </a:rPr>
              <a:t>i 8.27</a:t>
            </a:r>
            <a:r>
              <a:rPr lang="zh-CN" altLang="en-US" sz="2000" b="1">
                <a:latin typeface="Times New Roman" panose="02020603050405020304" pitchFamily="18" charset="0"/>
                <a:ea typeface="微软雅黑" panose="020B0503020204020204" pitchFamily="34" charset="-122"/>
                <a:cs typeface="Times New Roman" panose="02020603050405020304" pitchFamily="18" charset="0"/>
                <a:sym typeface="+mn-lt"/>
              </a:rPr>
              <a:t>前往香港后向钟老师汇报 </a:t>
            </a:r>
            <a:r>
              <a:rPr lang="en-US" altLang="zh-CN" sz="2000" b="1">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2000" b="1">
                <a:latin typeface="Times New Roman" panose="02020603050405020304" pitchFamily="18" charset="0"/>
                <a:ea typeface="微软雅黑" panose="020B0503020204020204" pitchFamily="34" charset="-122"/>
                <a:cs typeface="Times New Roman" panose="02020603050405020304" pitchFamily="18" charset="0"/>
                <a:sym typeface="+mn-lt"/>
              </a:rPr>
              <a:t>听说去</a:t>
            </a:r>
            <a:r>
              <a:rPr lang="en-US" altLang="zh-CN" sz="2000" b="1">
                <a:latin typeface="Times New Roman" panose="02020603050405020304" pitchFamily="18" charset="0"/>
                <a:ea typeface="微软雅黑" panose="020B0503020204020204" pitchFamily="34" charset="-122"/>
                <a:cs typeface="Times New Roman" panose="02020603050405020304" pitchFamily="18" charset="0"/>
                <a:sym typeface="+mn-lt"/>
              </a:rPr>
              <a:t>visting </a:t>
            </a:r>
            <a:r>
              <a:rPr lang="zh-CN" altLang="en-US" sz="2000" b="1">
                <a:latin typeface="Times New Roman" panose="02020603050405020304" pitchFamily="18" charset="0"/>
                <a:ea typeface="微软雅黑" panose="020B0503020204020204" pitchFamily="34" charset="-122"/>
                <a:cs typeface="Times New Roman" panose="02020603050405020304" pitchFamily="18" charset="0"/>
                <a:sym typeface="+mn-lt"/>
              </a:rPr>
              <a:t>看返回后随时汇报 大模型分析她的文章</a:t>
            </a:r>
            <a:endParaRPr lang="en-US" altLang="zh-CN" sz="2000" b="1">
              <a:latin typeface="Times New Roman" panose="02020603050405020304" pitchFamily="18" charset="0"/>
              <a:ea typeface="微软雅黑" panose="020B0503020204020204" pitchFamily="34" charset="-122"/>
              <a:cs typeface="Times New Roman" panose="02020603050405020304" pitchFamily="18" charset="0"/>
              <a:sym typeface="+mn-lt"/>
            </a:endParaRPr>
          </a:p>
          <a:p>
            <a:pPr marL="800100" lvl="1" indent="-342900" algn="just">
              <a:lnSpc>
                <a:spcPct val="120000"/>
              </a:lnSpc>
              <a:buFont typeface="Wingdings" panose="05000000000000000000" pitchFamily="2" charset="2"/>
              <a:buChar char="n"/>
              <a:defRPr/>
            </a:pPr>
            <a:r>
              <a:rPr lang="en-US" altLang="zh-CN" sz="2000" b="1">
                <a:latin typeface="Times New Roman" panose="02020603050405020304" pitchFamily="18" charset="0"/>
                <a:ea typeface="微软雅黑" panose="020B0503020204020204" pitchFamily="34" charset="-122"/>
                <a:cs typeface="Times New Roman" panose="02020603050405020304" pitchFamily="18" charset="0"/>
                <a:sym typeface="+mn-lt"/>
              </a:rPr>
              <a:t>ii 9.19</a:t>
            </a:r>
            <a:r>
              <a:rPr lang="zh-CN" altLang="en-US" sz="2000" b="1">
                <a:latin typeface="Times New Roman" panose="02020603050405020304" pitchFamily="18" charset="0"/>
                <a:ea typeface="微软雅黑" panose="020B0503020204020204" pitchFamily="34" charset="-122"/>
                <a:cs typeface="Times New Roman" panose="02020603050405020304" pitchFamily="18" charset="0"/>
                <a:sym typeface="+mn-lt"/>
              </a:rPr>
              <a:t>后的研究详细汇报</a:t>
            </a:r>
            <a:endParaRPr lang="en-US" altLang="zh-CN" sz="2000" b="1">
              <a:latin typeface="Times New Roman" panose="02020603050405020304" pitchFamily="18" charset="0"/>
              <a:ea typeface="微软雅黑" panose="020B0503020204020204" pitchFamily="34" charset="-122"/>
              <a:cs typeface="Times New Roman" panose="02020603050405020304" pitchFamily="18" charset="0"/>
              <a:sym typeface="+mn-lt"/>
            </a:endParaRPr>
          </a:p>
          <a:p>
            <a:pPr lvl="1" algn="just">
              <a:lnSpc>
                <a:spcPct val="120000"/>
              </a:lnSpc>
              <a:defRPr/>
            </a:pPr>
            <a:r>
              <a:rPr lang="zh-CN" altLang="en-US" b="1">
                <a:solidFill>
                  <a:schemeClr val="tx1">
                    <a:lumMod val="65000"/>
                    <a:lumOff val="3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目预计有部分进展，汇报的度和郭老师提前讨论。</a:t>
            </a:r>
            <a:endParaRPr lang="en-US" altLang="zh-CN" sz="2000" b="1">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Tree>
    <p:custDataLst>
      <p:tags r:id="rId1"/>
    </p:custDataLst>
    <p:extLst>
      <p:ext uri="{BB962C8B-B14F-4D97-AF65-F5344CB8AC3E}">
        <p14:creationId xmlns:p14="http://schemas.microsoft.com/office/powerpoint/2010/main" val="12337163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hape 1290">
            <a:extLst>
              <a:ext uri="{FF2B5EF4-FFF2-40B4-BE49-F238E27FC236}">
                <a16:creationId xmlns:a16="http://schemas.microsoft.com/office/drawing/2014/main" id="{4EF720C4-2ED0-4667-BB5C-CB204AFA0A79}"/>
              </a:ext>
            </a:extLst>
          </p:cNvPr>
          <p:cNvPicPr preferRelativeResize="0"/>
          <p:nvPr/>
        </p:nvPicPr>
        <p:blipFill>
          <a:blip r:embed="rId2">
            <a:extLst>
              <a:ext uri="{28A0092B-C50C-407E-A947-70E740481C1C}">
                <a14:useLocalDpi xmlns:a14="http://schemas.microsoft.com/office/drawing/2010/main" val="0"/>
              </a:ext>
            </a:extLst>
          </a:blip>
          <a:stretch>
            <a:fillRect/>
          </a:stretch>
        </p:blipFill>
        <p:spPr>
          <a:xfrm>
            <a:off x="-96813" y="-823891"/>
            <a:ext cx="12385651" cy="8566742"/>
          </a:xfrm>
          <a:prstGeom prst="rect">
            <a:avLst/>
          </a:prstGeom>
          <a:noFill/>
          <a:ln>
            <a:noFill/>
          </a:ln>
        </p:spPr>
      </p:pic>
      <p:sp>
        <p:nvSpPr>
          <p:cNvPr id="4" name="Shape 1274">
            <a:extLst>
              <a:ext uri="{FF2B5EF4-FFF2-40B4-BE49-F238E27FC236}">
                <a16:creationId xmlns:a16="http://schemas.microsoft.com/office/drawing/2014/main" id="{DC5795DB-8133-4958-9FC6-39F14F1AC950}"/>
              </a:ext>
            </a:extLst>
          </p:cNvPr>
          <p:cNvSpPr/>
          <p:nvPr/>
        </p:nvSpPr>
        <p:spPr>
          <a:xfrm>
            <a:off x="0" y="0"/>
            <a:ext cx="12211684" cy="6858000"/>
          </a:xfrm>
          <a:prstGeom prst="rect">
            <a:avLst/>
          </a:prstGeom>
          <a:solidFill>
            <a:schemeClr val="lt1">
              <a:alpha val="50000"/>
            </a:schemeClr>
          </a:solidFill>
          <a:ln>
            <a:noFill/>
          </a:ln>
        </p:spPr>
        <p:txBody>
          <a:bodyPr lIns="45713" tIns="22850" rIns="45713" bIns="22850" anchor="ctr" anchorCtr="0">
            <a:noAutofit/>
          </a:bodyPr>
          <a:lstStyle/>
          <a:p>
            <a:pPr algn="ctr"/>
            <a:endParaRPr>
              <a:solidFill>
                <a:schemeClr val="lt1"/>
              </a:solidFill>
              <a:latin typeface="Montserrat" panose="02000505000000020004"/>
              <a:ea typeface="Montserrat" panose="02000505000000020004"/>
              <a:cs typeface="Montserrat" panose="02000505000000020004"/>
              <a:sym typeface="Montserrat" panose="02000505000000020004"/>
            </a:endParaRPr>
          </a:p>
        </p:txBody>
      </p:sp>
      <p:sp>
        <p:nvSpPr>
          <p:cNvPr id="5" name="Shape 1275">
            <a:extLst>
              <a:ext uri="{FF2B5EF4-FFF2-40B4-BE49-F238E27FC236}">
                <a16:creationId xmlns:a16="http://schemas.microsoft.com/office/drawing/2014/main" id="{FA17E7EB-904B-4B95-9532-88ED97799DBA}"/>
              </a:ext>
            </a:extLst>
          </p:cNvPr>
          <p:cNvSpPr txBox="1"/>
          <p:nvPr/>
        </p:nvSpPr>
        <p:spPr>
          <a:xfrm>
            <a:off x="3725209" y="1780280"/>
            <a:ext cx="4758674" cy="553998"/>
          </a:xfrm>
          <a:prstGeom prst="rect">
            <a:avLst/>
          </a:prstGeom>
          <a:noFill/>
          <a:ln>
            <a:noFill/>
          </a:ln>
        </p:spPr>
        <p:txBody>
          <a:bodyPr lIns="45713" tIns="22850" rIns="45713" bIns="22850" anchor="t" anchorCtr="0">
            <a:noAutofit/>
          </a:bodyPr>
          <a:lstStyle/>
          <a:p>
            <a:pPr algn="ctr">
              <a:buSzPct val="25000"/>
            </a:pPr>
            <a:r>
              <a:rPr lang="zh-CN" altLang="en-US" sz="3300">
                <a:solidFill>
                  <a:schemeClr val="tx1">
                    <a:lumMod val="75000"/>
                    <a:lumOff val="25000"/>
                  </a:schemeClr>
                </a:solidFill>
                <a:latin typeface="微软雅黑" panose="020B0503020204020204" pitchFamily="34" charset="-122"/>
                <a:ea typeface="微软雅黑" panose="020B0503020204020204" pitchFamily="34" charset="-122"/>
                <a:cs typeface="Montserrat" panose="02000505000000020004"/>
                <a:sym typeface="Montserrat" panose="02000505000000020004"/>
              </a:rPr>
              <a:t>学科交融 智慧能源</a:t>
            </a:r>
            <a:endParaRPr lang="en-US" sz="3300">
              <a:solidFill>
                <a:schemeClr val="tx1">
                  <a:lumMod val="75000"/>
                  <a:lumOff val="25000"/>
                </a:schemeClr>
              </a:solidFill>
              <a:latin typeface="微软雅黑" panose="020B0503020204020204" pitchFamily="34" charset="-122"/>
              <a:ea typeface="微软雅黑" panose="020B0503020204020204" pitchFamily="34" charset="-122"/>
              <a:cs typeface="Montserrat" panose="02000505000000020004"/>
              <a:sym typeface="Montserrat" panose="02000505000000020004"/>
            </a:endParaRPr>
          </a:p>
        </p:txBody>
      </p:sp>
      <p:sp>
        <p:nvSpPr>
          <p:cNvPr id="12" name="Shape 1275">
            <a:extLst>
              <a:ext uri="{FF2B5EF4-FFF2-40B4-BE49-F238E27FC236}">
                <a16:creationId xmlns:a16="http://schemas.microsoft.com/office/drawing/2014/main" id="{D075E81D-7387-49F5-AFE7-15BF1CE86617}"/>
              </a:ext>
            </a:extLst>
          </p:cNvPr>
          <p:cNvSpPr txBox="1"/>
          <p:nvPr/>
        </p:nvSpPr>
        <p:spPr>
          <a:xfrm>
            <a:off x="1825675" y="2355899"/>
            <a:ext cx="8675785" cy="553998"/>
          </a:xfrm>
          <a:prstGeom prst="rect">
            <a:avLst/>
          </a:prstGeom>
          <a:noFill/>
          <a:ln>
            <a:noFill/>
          </a:ln>
        </p:spPr>
        <p:txBody>
          <a:bodyPr lIns="45713" tIns="22850" rIns="45713" bIns="22850" anchor="t" anchorCtr="0">
            <a:noAutofit/>
          </a:bodyPr>
          <a:lstStyle/>
          <a:p>
            <a:pPr algn="ctr">
              <a:buSzPct val="25000"/>
            </a:pPr>
            <a:r>
              <a:rPr lang="en-US" altLang="zh-CN" sz="1200">
                <a:solidFill>
                  <a:schemeClr val="tx1">
                    <a:lumMod val="75000"/>
                    <a:lumOff val="25000"/>
                  </a:schemeClr>
                </a:solidFill>
                <a:latin typeface="Corbel Light" panose="020B0303020204020204" pitchFamily="34" charset="0"/>
                <a:ea typeface="宋体" panose="02010600030101010101" pitchFamily="2" charset="-122"/>
                <a:cs typeface="Montserrat" panose="02000505000000020004"/>
                <a:sym typeface="Montserrat" panose="02000505000000020004"/>
              </a:rPr>
              <a:t>Integrate information technology and energy technology, realize the coupling of information flow and energy flow, and build an even and intelligent energy ecosystem. Discipline integration helps us promote intelligent energy technology</a:t>
            </a:r>
            <a:endParaRPr lang="en-US" sz="1200">
              <a:solidFill>
                <a:schemeClr val="tx1">
                  <a:lumMod val="75000"/>
                  <a:lumOff val="25000"/>
                </a:schemeClr>
              </a:solidFill>
              <a:latin typeface="Corbel Light" panose="020B0303020204020204" pitchFamily="34" charset="0"/>
              <a:ea typeface="宋体" panose="02010600030101010101" pitchFamily="2" charset="-122"/>
              <a:cs typeface="Montserrat" panose="02000505000000020004"/>
              <a:sym typeface="Montserrat" panose="02000505000000020004"/>
            </a:endParaRPr>
          </a:p>
        </p:txBody>
      </p:sp>
      <p:sp>
        <p:nvSpPr>
          <p:cNvPr id="13" name="Shape 1275">
            <a:extLst>
              <a:ext uri="{FF2B5EF4-FFF2-40B4-BE49-F238E27FC236}">
                <a16:creationId xmlns:a16="http://schemas.microsoft.com/office/drawing/2014/main" id="{58B9B506-5797-4138-8E94-8842DD065E74}"/>
              </a:ext>
            </a:extLst>
          </p:cNvPr>
          <p:cNvSpPr txBox="1"/>
          <p:nvPr/>
        </p:nvSpPr>
        <p:spPr>
          <a:xfrm>
            <a:off x="3784230" y="2756099"/>
            <a:ext cx="4758674" cy="553998"/>
          </a:xfrm>
          <a:prstGeom prst="rect">
            <a:avLst/>
          </a:prstGeom>
          <a:noFill/>
          <a:ln>
            <a:noFill/>
          </a:ln>
        </p:spPr>
        <p:txBody>
          <a:bodyPr lIns="45713" tIns="22850" rIns="45713" bIns="22850" anchor="t" anchorCtr="0">
            <a:noAutofit/>
          </a:bodyPr>
          <a:lstStyle/>
          <a:p>
            <a:pPr algn="ctr">
              <a:buSzPct val="25000"/>
            </a:pPr>
            <a:r>
              <a:rPr lang="en-US" altLang="zh-CN" sz="2800">
                <a:solidFill>
                  <a:schemeClr val="tx1">
                    <a:lumMod val="75000"/>
                    <a:lumOff val="25000"/>
                  </a:schemeClr>
                </a:solidFill>
                <a:latin typeface="Corbel Light" panose="020B0303020204020204" pitchFamily="34" charset="0"/>
                <a:ea typeface="微软雅黑" panose="020B0503020204020204" pitchFamily="34" charset="-122"/>
                <a:cs typeface="Montserrat" panose="02000505000000020004"/>
                <a:sym typeface="Montserrat" panose="02000505000000020004"/>
              </a:rPr>
              <a:t>Thanks</a:t>
            </a:r>
            <a:endParaRPr lang="en-US" sz="2800">
              <a:solidFill>
                <a:schemeClr val="tx1">
                  <a:lumMod val="75000"/>
                  <a:lumOff val="25000"/>
                </a:schemeClr>
              </a:solidFill>
              <a:latin typeface="Corbel Light" panose="020B0303020204020204" pitchFamily="34" charset="0"/>
              <a:ea typeface="微软雅黑" panose="020B0503020204020204" pitchFamily="34" charset="-122"/>
              <a:cs typeface="Montserrat" panose="02000505000000020004"/>
              <a:sym typeface="Montserrat" panose="02000505000000020004"/>
            </a:endParaRPr>
          </a:p>
        </p:txBody>
      </p:sp>
      <p:sp>
        <p:nvSpPr>
          <p:cNvPr id="14" name="Shape 1275">
            <a:extLst>
              <a:ext uri="{FF2B5EF4-FFF2-40B4-BE49-F238E27FC236}">
                <a16:creationId xmlns:a16="http://schemas.microsoft.com/office/drawing/2014/main" id="{70CA2791-2CCA-49CB-A2DE-6B76DF34F562}"/>
              </a:ext>
            </a:extLst>
          </p:cNvPr>
          <p:cNvSpPr txBox="1"/>
          <p:nvPr/>
        </p:nvSpPr>
        <p:spPr>
          <a:xfrm>
            <a:off x="3716663" y="5450433"/>
            <a:ext cx="4758674" cy="553998"/>
          </a:xfrm>
          <a:prstGeom prst="rect">
            <a:avLst/>
          </a:prstGeom>
          <a:noFill/>
          <a:ln>
            <a:noFill/>
          </a:ln>
        </p:spPr>
        <p:txBody>
          <a:bodyPr lIns="45713" tIns="22850" rIns="45713" bIns="22850" anchor="t" anchorCtr="0">
            <a:noAutofit/>
          </a:bodyPr>
          <a:lstStyle/>
          <a:p>
            <a:pPr algn="ctr">
              <a:buSzPct val="25000"/>
            </a:pPr>
            <a:endParaRPr lang="en-US" sz="3300">
              <a:latin typeface="微软雅黑" panose="020B0503020204020204" pitchFamily="34" charset="-122"/>
              <a:ea typeface="微软雅黑" panose="020B0503020204020204" pitchFamily="34" charset="-122"/>
              <a:cs typeface="Montserrat" panose="02000505000000020004"/>
              <a:sym typeface="Montserrat" panose="02000505000000020004"/>
            </a:endParaRPr>
          </a:p>
        </p:txBody>
      </p:sp>
    </p:spTree>
    <p:extLst>
      <p:ext uri="{BB962C8B-B14F-4D97-AF65-F5344CB8AC3E}">
        <p14:creationId xmlns:p14="http://schemas.microsoft.com/office/powerpoint/2010/main" val="3766834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2.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3.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4.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5.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6.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7.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8.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9.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10.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11.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12.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13.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14.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15.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16.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17.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18.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19.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ags/tag20.xml><?xml version="1.0" encoding="utf-8"?>
<p:tagLst xmlns:a="http://schemas.openxmlformats.org/drawingml/2006/main" xmlns:r="http://schemas.openxmlformats.org/officeDocument/2006/relationships" xmlns:p="http://schemas.openxmlformats.org/presentationml/2006/main">
  <p:tag name="ISLIDE.ICON" val="#5819;#64278;#119664;#39878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lIns="0" rIns="0" rtlCol="0" anchor="ctr"/>
      <a:lstStyle>
        <a:defPPr algn="l" defTabSz="457200">
          <a:defRPr sz="1000" b="1" dirty="0">
            <a:solidFill>
              <a:schemeClr val="tx1"/>
            </a:solidFill>
            <a:latin typeface="Arial" panose="020B0604020202020204" pitchFamily="34" charset="0"/>
            <a:ea typeface="微软雅黑" panose="020B0503020204020204" pitchFamily="34" charset="-122"/>
            <a:cs typeface="Arial" panose="020B0604020202020204" pitchFamily="34" charset="0"/>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8189</TotalTime>
  <Words>5605</Words>
  <Application>Microsoft Office PowerPoint</Application>
  <PresentationFormat>宽屏</PresentationFormat>
  <Paragraphs>777</Paragraphs>
  <Slides>27</Slides>
  <Notes>22</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27</vt:i4>
      </vt:variant>
    </vt:vector>
  </HeadingPairs>
  <TitlesOfParts>
    <vt:vector size="44" baseType="lpstr">
      <vt:lpstr>Arial Unicode MS</vt:lpstr>
      <vt:lpstr>HarmonyOS Sans SC</vt:lpstr>
      <vt:lpstr>JetBrains Mono</vt:lpstr>
      <vt:lpstr>Montserrat</vt:lpstr>
      <vt:lpstr>Noto Sans</vt:lpstr>
      <vt:lpstr>等线</vt:lpstr>
      <vt:lpstr>等线 Light</vt:lpstr>
      <vt:lpstr>宋体</vt:lpstr>
      <vt:lpstr>Microsoft YaHei</vt:lpstr>
      <vt:lpstr>Microsoft YaHei</vt:lpstr>
      <vt:lpstr>Arial</vt:lpstr>
      <vt:lpstr>Calibri</vt:lpstr>
      <vt:lpstr>Consolas</vt:lpstr>
      <vt:lpstr>Corbel Light</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诗意 付</dc:creator>
  <cp:lastModifiedBy>Yuxuan Zhou</cp:lastModifiedBy>
  <cp:revision>761</cp:revision>
  <dcterms:created xsi:type="dcterms:W3CDTF">2024-05-23T05:52:56Z</dcterms:created>
  <dcterms:modified xsi:type="dcterms:W3CDTF">2026-08-24T07:26:22Z</dcterms:modified>
</cp:coreProperties>
</file>